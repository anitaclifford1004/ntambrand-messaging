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27_5ABC417.xml" ContentType="application/vnd.ms-powerpoint.comments+xml"/>
  <Override PartName="/ppt/notesSlides/notesSlide8.xml" ContentType="application/vnd.openxmlformats-officedocument.presentationml.notesSlide+xml"/>
  <Override PartName="/ppt/comments/modernComment_10C_318E13A0.xml" ContentType="application/vnd.ms-powerpoint.comments+xml"/>
  <Override PartName="/ppt/notesSlides/notesSlide9.xml" ContentType="application/vnd.openxmlformats-officedocument.presentationml.notesSlide+xml"/>
  <Override PartName="/ppt/comments/modernComment_138_63AE7C52.xml" ContentType="application/vnd.ms-powerpoint.comments+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59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6"/>
  </p:notesMasterIdLst>
  <p:sldIdLst>
    <p:sldId id="257" r:id="rId2"/>
    <p:sldId id="2147483626" r:id="rId3"/>
    <p:sldId id="305" r:id="rId4"/>
    <p:sldId id="307" r:id="rId5"/>
    <p:sldId id="259" r:id="rId6"/>
    <p:sldId id="260" r:id="rId7"/>
    <p:sldId id="306" r:id="rId8"/>
    <p:sldId id="263" r:id="rId9"/>
    <p:sldId id="298" r:id="rId10"/>
    <p:sldId id="300" r:id="rId11"/>
    <p:sldId id="301" r:id="rId12"/>
    <p:sldId id="295" r:id="rId13"/>
    <p:sldId id="296" r:id="rId14"/>
    <p:sldId id="395" r:id="rId15"/>
    <p:sldId id="302" r:id="rId16"/>
    <p:sldId id="267" r:id="rId17"/>
    <p:sldId id="268" r:id="rId18"/>
    <p:sldId id="269" r:id="rId19"/>
    <p:sldId id="271" r:id="rId20"/>
    <p:sldId id="272" r:id="rId21"/>
    <p:sldId id="309" r:id="rId22"/>
    <p:sldId id="273" r:id="rId23"/>
    <p:sldId id="294" r:id="rId24"/>
    <p:sldId id="275" r:id="rId25"/>
    <p:sldId id="277" r:id="rId26"/>
    <p:sldId id="276" r:id="rId27"/>
    <p:sldId id="278" r:id="rId28"/>
    <p:sldId id="279" r:id="rId29"/>
    <p:sldId id="310" r:id="rId30"/>
    <p:sldId id="311" r:id="rId31"/>
    <p:sldId id="312" r:id="rId32"/>
    <p:sldId id="284" r:id="rId33"/>
    <p:sldId id="375" r:id="rId34"/>
    <p:sldId id="303" r:id="rId35"/>
    <p:sldId id="286" r:id="rId36"/>
    <p:sldId id="347" r:id="rId37"/>
    <p:sldId id="341" r:id="rId38"/>
    <p:sldId id="342" r:id="rId39"/>
    <p:sldId id="343" r:id="rId40"/>
    <p:sldId id="344" r:id="rId41"/>
    <p:sldId id="345" r:id="rId42"/>
    <p:sldId id="346" r:id="rId43"/>
    <p:sldId id="291" r:id="rId44"/>
    <p:sldId id="29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5B28804-6E99-C53D-45B1-107596B9C1A7}" name="Claire Hamilton" initials="CH" userId="S::claire.hamilton@ogilvy.com::06aaa446-2205-4cc5-947d-f9349d371e5d" providerId="AD"/>
  <p188:author id="{565E4175-5935-EC3B-CB92-3CEF70F8F8BC}" name="Bidnam Lee" initials="BL" userId="S::bidnam.lee@ogilvy.com::f6c15576-2104-488b-b322-49db8ae3e946" providerId="AD"/>
  <p188:author id="{191992C9-52E6-01B0-DF41-733D08AF6195}" name="Tatiana Lindenberg" initials="TL" userId="S::tatiana.lindenberg@ogilvy.com::dd351318-8428-4e7e-9c1f-9f74ca1b708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6"/>
  </p:normalViewPr>
  <p:slideViewPr>
    <p:cSldViewPr snapToGrid="0">
      <p:cViewPr varScale="1">
        <p:scale>
          <a:sx n="105" d="100"/>
          <a:sy n="105"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modernComment_10C_318E13A0.xml><?xml version="1.0" encoding="utf-8"?>
<p188:cmLst xmlns:a="http://schemas.openxmlformats.org/drawingml/2006/main" xmlns:r="http://schemas.openxmlformats.org/officeDocument/2006/relationships" xmlns:p188="http://schemas.microsoft.com/office/powerpoint/2018/8/main">
  <p188:cm id="{26314F92-BFC8-2E41-BB63-785B7E4919A8}" authorId="{565E4175-5935-EC3B-CB92-3CEF70F8F8BC}" status="resolved" created="2026-08-26T18:31:49.450">
    <pc:sldMkLst xmlns:pc="http://schemas.microsoft.com/office/powerpoint/2013/main/command">
      <pc:docMk/>
      <pc:sldMk cId="831394720" sldId="268"/>
    </pc:sldMkLst>
    <p188:replyLst>
      <p188:reply id="{AC47A770-7C99-1844-9B39-6E2B6120E81F}" authorId="{E5B28804-6E99-C53D-45B1-107596B9C1A7}" created="2026-08-26T19:30:27.614">
        <p188:txBody>
          <a:bodyPr/>
          <a:lstStyle/>
          <a:p>
            <a:r>
              <a:rPr lang="en-US"/>
              <a:t>I would keep this but move through 15-17 quickly</a:t>
            </a:r>
          </a:p>
        </p188:txBody>
      </p188:reply>
      <p188:reply id="{784C965C-A056-9E42-8317-F32D408DE545}" authorId="{565E4175-5935-EC3B-CB92-3CEF70F8F8BC}" created="2026-08-26T21:08:45.123">
        <p188:txBody>
          <a:bodyPr/>
          <a:lstStyle/>
          <a:p>
            <a:r>
              <a:rPr lang="en-US"/>
              <a:t>sweet </a:t>
            </a:r>
          </a:p>
        </p188:txBody>
      </p188:reply>
    </p188:replyLst>
    <p188:txBody>
      <a:bodyPr/>
      <a:lstStyle/>
      <a:p>
        <a:r>
          <a:rPr lang="en-US"/>
          <a:t>could be a cut candidate</a:t>
        </a:r>
      </a:p>
    </p188:txBody>
  </p188:cm>
</p188:cmLst>
</file>

<file path=ppt/comments/modernComment_127_5ABC417.xml><?xml version="1.0" encoding="utf-8"?>
<p188:cmLst xmlns:a="http://schemas.openxmlformats.org/drawingml/2006/main" xmlns:r="http://schemas.openxmlformats.org/officeDocument/2006/relationships" xmlns:p188="http://schemas.microsoft.com/office/powerpoint/2018/8/main">
  <p188:cm id="{778CFB53-AC87-F14C-90FA-30C534BF9103}" authorId="{565E4175-5935-EC3B-CB92-3CEF70F8F8BC}" status="resolved" created="2026-08-26T18:21:29.033">
    <pc:sldMkLst xmlns:pc="http://schemas.microsoft.com/office/powerpoint/2013/main/command">
      <pc:docMk/>
      <pc:sldMk cId="95142935" sldId="295"/>
    </pc:sldMkLst>
    <p188:replyLst>
      <p188:reply id="{CF30D060-69AF-44DA-BFEC-C440C7486AB8}" authorId="{191992C9-52E6-01B0-DF41-733D08AF6195}" created="2026-08-28T01:45:42.035">
        <p188:txBody>
          <a:bodyPr/>
          <a:lstStyle/>
          <a:p>
            <a:r>
              <a:rPr lang="en-US"/>
              <a:t>this is super fast, i think it is worth keeping because of the flow</a:t>
            </a:r>
          </a:p>
        </p188:txBody>
        <p188:extLst>
          <p:ext xmlns:p="http://schemas.openxmlformats.org/presentationml/2006/main" uri="{57CB4572-C831-44C2-8A1C-0ADB6CCDFE69}">
            <p223:reactions xmlns:p223="http://schemas.microsoft.com/office/powerpoint/2022/03/main">
              <p223:rxn type="👍">
                <p223:instance time="2026-08-28T12:53:25.428" authorId="{565E4175-5935-EC3B-CB92-3CEF70F8F8BC}"/>
              </p223:rxn>
            </p223:reactions>
          </p:ext>
        </p188:extLst>
      </p188:reply>
      <p188:reply id="{13B813B2-7567-8D4B-9C00-EF034410F603}" authorId="{565E4175-5935-EC3B-CB92-3CEF70F8F8BC}" created="2026-08-28T12:53:34.797">
        <p188:txBody>
          <a:bodyPr/>
          <a:lstStyle/>
          <a:p>
            <a:r>
              <a:rPr lang="en-US"/>
              <a:t>sounds good! </a:t>
            </a:r>
          </a:p>
        </p188:txBody>
      </p188:reply>
    </p188:replyLst>
    <p188:txBody>
      <a:bodyPr/>
      <a:lstStyle/>
      <a:p>
        <a:r>
          <a:rPr lang="en-US"/>
          <a:t>Maybe this can be VO'd on the slide before or after?</a:t>
        </a:r>
      </a:p>
    </p188:txBody>
    <p188:extLst>
      <p:ext xmlns:p="http://schemas.openxmlformats.org/presentationml/2006/main" uri="{57CB4572-C831-44C2-8A1C-0ADB6CCDFE69}">
        <p223:reactions xmlns:p223="http://schemas.microsoft.com/office/powerpoint/2022/03/main">
          <p223:rxn type="👍">
            <p223:instance time="2026-08-26T19:29:23.990" authorId="{E5B28804-6E99-C53D-45B1-107596B9C1A7}"/>
          </p223:rxn>
        </p223:reactions>
      </p:ext>
    </p188:extLst>
  </p188:cm>
</p188:cmLst>
</file>

<file path=ppt/comments/modernComment_138_63AE7C52.xml><?xml version="1.0" encoding="utf-8"?>
<p188:cmLst xmlns:a="http://schemas.openxmlformats.org/drawingml/2006/main" xmlns:r="http://schemas.openxmlformats.org/officeDocument/2006/relationships" xmlns:p188="http://schemas.microsoft.com/office/powerpoint/2018/8/main">
  <p188:cm id="{96068D1B-ACE0-374F-B8B9-C521743935AF}" authorId="{E5B28804-6E99-C53D-45B1-107596B9C1A7}" status="resolved" created="2026-08-26T19:32:32.730">
    <pc:sldMkLst xmlns:pc="http://schemas.microsoft.com/office/powerpoint/2013/main/command">
      <pc:docMk/>
      <pc:sldMk cId="1672379474" sldId="312"/>
    </pc:sldMkLst>
    <p188:replyLst>
      <p188:reply id="{86DDED34-00DC-F841-8DBB-9AF7241CC9FF}" authorId="{565E4175-5935-EC3B-CB92-3CEF70F8F8BC}" created="2026-08-28T17:11:53.524">
        <p188:txBody>
          <a:bodyPr/>
          <a:lstStyle/>
          <a:p>
            <a:r>
              <a:rPr lang="en-US"/>
              <a:t>I think i'll keep the previous slides cause they do so much to build the case for the reco? appreciate the suggestion though! get where it's coming from</a:t>
            </a:r>
          </a:p>
        </p188:txBody>
      </p188:reply>
    </p188:replyLst>
    <p188:txBody>
      <a:bodyPr/>
      <a:lstStyle/>
      <a:p>
        <a:r>
          <a:rPr lang="en-US"/>
          <a:t>Up to you [@Bidnam Lee], but for time's sake you could always hide 26-30 and just land immediately here to talk about findings (using voiceover to fill in a bit of color).</a:t>
        </a:r>
      </a:p>
    </p188:txBody>
  </p188:cm>
</p188:cmLst>
</file>

<file path=ppt/comments/modernComment_159_0.xml><?xml version="1.0" encoding="utf-8"?>
<p188:cmLst xmlns:a="http://schemas.openxmlformats.org/drawingml/2006/main" xmlns:r="http://schemas.openxmlformats.org/officeDocument/2006/relationships" xmlns:p188="http://schemas.microsoft.com/office/powerpoint/2018/8/main">
  <p188:cm id="{5902F1D0-6F76-437E-9D95-21A87CD6DA9D}" authorId="{191992C9-52E6-01B0-DF41-733D08AF6195}" status="resolved" created="2026-08-28T17:30:34.923">
    <pc:sldMkLst xmlns:pc="http://schemas.microsoft.com/office/powerpoint/2013/main/command">
      <pc:docMk/>
      <pc:sldMk cId="0" sldId="345"/>
    </pc:sldMkLst>
    <p188:replyLst>
      <p188:reply id="{F31C9B22-A5E3-DD45-BBCD-9E003DFDE521}" authorId="{565E4175-5935-EC3B-CB92-3CEF70F8F8BC}" created="2026-08-28T17:50:56.454">
        <p188:txBody>
          <a:bodyPr/>
          <a:lstStyle/>
          <a:p>
            <a:r>
              <a:rPr lang="en-US"/>
              <a:t>yep, adjusted language here -- sequence is illustrative</a:t>
            </a:r>
          </a:p>
        </p188:txBody>
      </p188:reply>
    </p188:replyLst>
    <p188:txBody>
      <a:bodyPr/>
      <a:lstStyle/>
      <a:p>
        <a:r>
          <a:rPr lang="en-US"/>
          <a:t>[@Bidnam Lee] I dont think this slide is accurate. They probably would not launch this before 2028.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C791F-698E-4643-BDE6-4EA5C47A9A95}" type="datetimeFigureOut">
              <a:rPr lang="en-US" smtClean="0"/>
              <a:t>9/14/26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C8F99-E6D3-4047-99DE-E36FED355C33}" type="slidenum">
              <a:rPr lang="en-US" smtClean="0"/>
              <a:t>‹#›</a:t>
            </a:fld>
            <a:endParaRPr lang="en-US"/>
          </a:p>
        </p:txBody>
      </p:sp>
    </p:spTree>
    <p:extLst>
      <p:ext uri="{BB962C8B-B14F-4D97-AF65-F5344CB8AC3E}">
        <p14:creationId xmlns:p14="http://schemas.microsoft.com/office/powerpoint/2010/main" val="2959042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46643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4464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1091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CD1E4C-FF02-8E4B-AA45-2DC248934E5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5289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822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5107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sz="1200" b="0" i="1" kern="1200">
                <a:solidFill>
                  <a:schemeClr val="tx1"/>
                </a:solidFill>
                <a:effectLst/>
                <a:latin typeface="+mn-lt"/>
                <a:ea typeface="+mn-ea"/>
                <a:cs typeface="+mn-cs"/>
              </a:rPr>
              <a:t>"What we've heard from customers is like they want financial value out of the product...”</a:t>
            </a:r>
            <a:br>
              <a:rPr lang="en-US" sz="1200" b="0" i="1" kern="1200">
                <a:solidFill>
                  <a:schemeClr val="tx1"/>
                </a:solidFill>
                <a:effectLst/>
                <a:latin typeface="+mn-lt"/>
                <a:ea typeface="+mn-ea"/>
                <a:cs typeface="+mn-cs"/>
              </a:rPr>
            </a:br>
            <a:r>
              <a:rPr lang="en-US" sz="1200" b="0" i="1" kern="1200">
                <a:solidFill>
                  <a:schemeClr val="tx1"/>
                </a:solidFill>
                <a:effectLst/>
                <a:latin typeface="+mn-lt"/>
                <a:ea typeface="+mn-ea"/>
                <a:cs typeface="+mn-cs"/>
              </a:rPr>
              <a:t>“...where we're building our differentiation is really around the family banking side of the house, the ATM access... I think that's going to be really important with all of this... making sure that the narrative comes through and how we talk about these products and the problems, the real-world problems we're trying to solve.””</a:t>
            </a:r>
            <a:br>
              <a:rPr lang="en-US" sz="1200" b="0" i="1" kern="1200">
                <a:solidFill>
                  <a:schemeClr val="tx1"/>
                </a:solidFill>
                <a:effectLst/>
                <a:latin typeface="+mn-lt"/>
                <a:ea typeface="+mn-ea"/>
                <a:cs typeface="+mn-cs"/>
              </a:rPr>
            </a:br>
            <a:r>
              <a:rPr lang="en-US" sz="1200" b="0" i="1" kern="1200">
                <a:solidFill>
                  <a:schemeClr val="tx1"/>
                </a:solidFill>
                <a:effectLst/>
                <a:latin typeface="+mn-lt"/>
                <a:ea typeface="+mn-ea"/>
                <a:cs typeface="+mn-cs"/>
              </a:rPr>
              <a:t>“"I think what we learned through the process was our current deposit suite is very much a, as some of our leaders like to use the phrase, a dog's breakfast. It's a bit fragmented, a bit complex, a bit overcrowded. We have too many products. There's very little distinction between the products, which creates for very difficult sales conversations in the field..."</a:t>
            </a:r>
            <a:br>
              <a:rPr lang="en-US"/>
            </a:br>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666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8778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b="1"/>
              <a:t>Keep</a:t>
            </a:r>
            <a:r>
              <a:rPr lang="en-US"/>
              <a:t> checking as a core entry point without making it the only route to recognition.</a:t>
            </a:r>
          </a:p>
          <a:p>
            <a:pPr marL="171450" indent="-171450">
              <a:buFont typeface="Arial"/>
              <a:buChar char="•"/>
            </a:pPr>
            <a:r>
              <a:rPr lang="en-US" b="1"/>
              <a:t>Align</a:t>
            </a:r>
            <a:r>
              <a:rPr lang="en-US"/>
              <a:t> checking names to whether the products signal progression or serve distinct needs.</a:t>
            </a:r>
          </a:p>
          <a:p>
            <a:pPr marL="171450" indent="-171450">
              <a:buFont typeface="Arial"/>
              <a:buChar char="•"/>
            </a:pPr>
            <a:r>
              <a:rPr lang="en-US" b="1"/>
              <a:t>Connect</a:t>
            </a:r>
            <a:r>
              <a:rPr lang="en-US"/>
              <a:t> cards and lending selectively through benefits that make broader relationship value visible.</a:t>
            </a:r>
          </a:p>
          <a:p>
            <a:pPr marL="171450" indent="-171450">
              <a:buFont typeface="Arial"/>
              <a:buChar char="•"/>
            </a:pPr>
            <a:r>
              <a:rPr lang="en-US" b="1"/>
              <a:t>Allow</a:t>
            </a:r>
            <a:r>
              <a:rPr lang="en-US"/>
              <a:t> recognition to begin with membership or activity before balances are large.</a:t>
            </a:r>
          </a:p>
          <a:p>
            <a:pPr marL="171450" indent="-171450">
              <a:buFont typeface="Arial"/>
              <a:buChar char="•"/>
            </a:pPr>
            <a:r>
              <a:rPr lang="en-US" b="1"/>
              <a:t>Clarify</a:t>
            </a:r>
            <a:r>
              <a:rPr lang="en-US"/>
              <a:t> the roles of premium checking, Private Client, and Private Bank while weighing any new name against its education cost.</a:t>
            </a:r>
          </a:p>
          <a:p>
            <a:pPr marL="171450" indent="-171450">
              <a:buFont typeface="Arial"/>
              <a:buChar char="•"/>
            </a:pPr>
            <a:r>
              <a:rPr lang="en-US" b="1"/>
              <a:t>1</a:t>
            </a:r>
            <a:r>
              <a:rPr lang="en-US"/>
              <a:t> Checking is the usual gateway, but primacy often comes later. </a:t>
            </a:r>
            <a:r>
              <a:rPr lang="en-US" b="1"/>
              <a:t>2</a:t>
            </a:r>
            <a:r>
              <a:rPr lang="en-US"/>
              <a:t> Checking names signal either progression or fit. </a:t>
            </a:r>
            <a:r>
              <a:rPr lang="en-US" b="1"/>
              <a:t>3</a:t>
            </a:r>
            <a:r>
              <a:rPr lang="en-US"/>
              <a:t> Cards and lending usually stay separate, with targeted benefits connecting them. </a:t>
            </a:r>
            <a:r>
              <a:rPr lang="en-US" b="1"/>
              <a:t>4</a:t>
            </a:r>
            <a:r>
              <a:rPr lang="en-US"/>
              <a:t> Recognition can begin before customers consolidate large balances. </a:t>
            </a:r>
            <a:r>
              <a:rPr lang="en-US" b="1"/>
              <a:t>5</a:t>
            </a:r>
            <a:r>
              <a:rPr lang="en-US"/>
              <a:t> Premier and Private Client are familiar labels used for different upper-affluent structures.</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0612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46713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rPr lang="en-US" sz="1200" b="1" i="0">
                <a:effectLst/>
                <a:latin typeface="WPP"/>
              </a:rPr>
              <a:t>Strategic Loyalty Principle:</a:t>
            </a:r>
            <a:r>
              <a:rPr lang="en-US" sz="1200" b="0" i="0">
                <a:effectLst/>
                <a:latin typeface="WPP"/>
              </a:rPr>
              <a:t> The strongest programs make participation visible, give customers a sense of progress, and connect benefits to the broader brand experience rather than treating loyalty as a separate rewards catalog.</a:t>
            </a:r>
          </a:p>
          <a:p>
            <a:pPr>
              <a:buNone/>
            </a:pPr>
            <a:br>
              <a:rPr lang="en-US"/>
            </a:br>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943929-FD0C-9C41-870B-F99B9DFBA0B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36730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6769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8804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6644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125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9009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1317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9/10/26</a:t>
            </a:fld>
            <a:endParaRPr lang="en-US"/>
          </a:p>
        </p:txBody>
      </p:sp>
      <p:sp>
        <p:nvSpPr>
          <p:cNvPr id="3" name="Footer Placeholder 2"/>
          <p:cNvSpPr>
            <a:spLocks noGrp="1"/>
          </p:cNvSpPr>
          <p:nvPr>
            <p:ph type="ftr" sz="quarter" idx="11"/>
          </p:nvPr>
        </p:nvSpPr>
        <p:spPr/>
        <p:txBody>
          <a:bodyPr/>
          <a:lstStyle/>
          <a:p>
            <a:endParaRPr lang="en-US"/>
          </a:p>
        </p:txBody>
      </p:sp>
      <p:sp>
        <p:nvSpPr>
          <p:cNvPr id="90" name="Slide Number"/>
          <p:cNvSpPr>
            <a:spLocks noGrp="1"/>
          </p:cNvSpPr>
          <p:nvPr>
            <p:ph type="sldNum" sz="quarter" idx="12"/>
          </p:nvPr>
        </p:nvSpPr>
        <p:spPr>
          <a:xfrm>
            <a:off x="10957251" y="6473952"/>
            <a:ext cx="731702" cy="164592"/>
          </a:xfrm>
        </p:spPr>
        <p:txBody>
          <a:bodyPr lIns="0" tIns="0" rIns="0" bIns="0"/>
          <a:lstStyle/>
          <a:p>
            <a:pPr algn="r"/>
            <a:fld id="{B7C447A1-2E34-4F61-9F55-3C1A0E5D2B10}" type="slidenum">
              <a:rPr lang="en-US" sz="950" dirty="0">
                <a:solidFill>
                  <a:srgbClr val="9A9A9A"/>
                </a:solidFill>
                <a:latin typeface="Fira Mono"/>
              </a:rPr>
              <a:t>‹#›</a:t>
            </a:fld>
            <a:endParaRPr lang="en-US" sz="950">
              <a:solidFill>
                <a:srgbClr val="9A9A9A"/>
              </a:solidFill>
              <a:latin typeface="Fira Mono"/>
            </a:endParaRPr>
          </a:p>
        </p:txBody>
      </p:sp>
    </p:spTree>
    <p:extLst>
      <p:ext uri="{BB962C8B-B14F-4D97-AF65-F5344CB8AC3E}">
        <p14:creationId xmlns:p14="http://schemas.microsoft.com/office/powerpoint/2010/main" val="2392578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5631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1845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8659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621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97591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2" Type="http://schemas.microsoft.com/office/2018/10/relationships/comments" Target="../comments/modernComment_127_5ABC41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0C_318E13A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9.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pn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4.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19.png"/><Relationship Id="rId9"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138_63AE7C52.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image" Target="../media/image32.svg"/><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 Id="rId9" Type="http://schemas.openxmlformats.org/officeDocument/2006/relationships/image" Target="../media/image39.svg"/></Relationships>
</file>

<file path=ppt/slides/_rels/slide37.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microsoft.com/office/2018/10/relationships/comments" Target="../comments/modernComment_159_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7651"/>
        </a:solidFill>
        <a:effectLst/>
      </p:bgPr>
    </p:bg>
    <p:spTree>
      <p:nvGrpSpPr>
        <p:cNvPr id="1" name=""/>
        <p:cNvGrpSpPr/>
        <p:nvPr/>
      </p:nvGrpSpPr>
      <p:grpSpPr>
        <a:xfrm>
          <a:off x="0" y="0"/>
          <a:ext cx="0" cy="0"/>
          <a:chOff x="0" y="0"/>
          <a:chExt cx="0" cy="0"/>
        </a:xfrm>
      </p:grpSpPr>
      <p:sp>
        <p:nvSpPr>
          <p:cNvPr id="3" name="TextBox 2"/>
          <p:cNvSpPr txBox="1"/>
          <p:nvPr/>
        </p:nvSpPr>
        <p:spPr>
          <a:xfrm>
            <a:off x="503046" y="358054"/>
            <a:ext cx="707557"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14" normalizeH="0" baseline="0" noProof="0">
                <a:ln>
                  <a:noFill/>
                </a:ln>
                <a:solidFill>
                  <a:srgbClr val="FFFFFF"/>
                </a:solidFill>
                <a:effectLst/>
                <a:uLnTx/>
                <a:uFillTx/>
                <a:latin typeface="Fira Sans SemiBold"/>
                <a:ea typeface="+mn-ea"/>
                <a:cs typeface="+mn-cs"/>
              </a:rPr>
              <a:t>Citizens</a:t>
            </a:r>
          </a:p>
        </p:txBody>
      </p:sp>
      <p:sp>
        <p:nvSpPr>
          <p:cNvPr id="4" name="TextBox 3"/>
          <p:cNvSpPr txBox="1"/>
          <p:nvPr/>
        </p:nvSpPr>
        <p:spPr>
          <a:xfrm>
            <a:off x="503046" y="3607589"/>
            <a:ext cx="7132788" cy="1248430"/>
          </a:xfrm>
          <a:prstGeom prst="rect">
            <a:avLst/>
          </a:prstGeom>
          <a:noFill/>
        </p:spPr>
        <p:txBody>
          <a:bodyPr wrap="square" lIns="0" tIns="0" rIns="0" bIns="0" anchor="t">
            <a:noAutofit/>
          </a:bodyPr>
          <a:lstStyle/>
          <a:p>
            <a:pPr marL="0" marR="0" lvl="0" indent="0" algn="l" defTabSz="457200" rtl="0" eaLnBrk="1" fontAlgn="auto" latinLnBrk="0" hangingPunct="1">
              <a:lnSpc>
                <a:spcPts val="4844"/>
              </a:lnSpc>
              <a:spcBef>
                <a:spcPts val="0"/>
              </a:spcBef>
              <a:spcAft>
                <a:spcPts val="0"/>
              </a:spcAft>
              <a:buClrTx/>
              <a:buSzTx/>
              <a:buFontTx/>
              <a:buNone/>
              <a:tabLst/>
              <a:defRPr/>
            </a:pPr>
            <a:r>
              <a:rPr kumimoji="0" sz="4200" b="1" i="0" u="none" strike="noStrike" kern="1200" cap="none" spc="0" normalizeH="0" baseline="0" noProof="0">
                <a:ln>
                  <a:noFill/>
                </a:ln>
                <a:solidFill>
                  <a:srgbClr val="FFFFFF"/>
                </a:solidFill>
                <a:effectLst/>
                <a:uLnTx/>
                <a:uFillTx/>
                <a:latin typeface="Fira Sans Light"/>
                <a:ea typeface="+mn-ea"/>
                <a:cs typeface="+mn-cs"/>
              </a:rPr>
              <a:t>Citizens </a:t>
            </a:r>
            <a:r>
              <a:rPr kumimoji="0" lang="en-US" sz="4200" b="1" i="0" u="none" strike="noStrike" kern="1200" cap="none" spc="0" normalizeH="0" baseline="0" noProof="0">
                <a:ln>
                  <a:noFill/>
                </a:ln>
                <a:solidFill>
                  <a:srgbClr val="FFFFFF"/>
                </a:solidFill>
                <a:effectLst/>
                <a:uLnTx/>
                <a:uFillTx/>
                <a:latin typeface="Fira Sans Light"/>
                <a:ea typeface="+mn-ea"/>
                <a:cs typeface="+mn-cs"/>
              </a:rPr>
              <a:t>Consumer </a:t>
            </a:r>
            <a:r>
              <a:rPr kumimoji="0" sz="4200" b="1" i="0" u="none" strike="noStrike" kern="1200" cap="none" spc="0" normalizeH="0" baseline="0" noProof="0">
                <a:ln>
                  <a:noFill/>
                </a:ln>
                <a:solidFill>
                  <a:srgbClr val="FFFFFF"/>
                </a:solidFill>
                <a:effectLst/>
                <a:uLnTx/>
                <a:uFillTx/>
                <a:latin typeface="Fira Sans Light"/>
                <a:ea typeface="+mn-ea"/>
                <a:cs typeface="+mn-cs"/>
              </a:rPr>
              <a:t>Ecosystem &amp;</a:t>
            </a:r>
            <a:r>
              <a:rPr kumimoji="0" lang="en-US" sz="4200" b="1" i="0" u="none" strike="noStrike" kern="1200" cap="none" spc="0" normalizeH="0" baseline="0" noProof="0">
                <a:ln>
                  <a:noFill/>
                </a:ln>
                <a:solidFill>
                  <a:srgbClr val="FFFFFF"/>
                </a:solidFill>
                <a:effectLst/>
                <a:uLnTx/>
                <a:uFillTx/>
                <a:latin typeface="Fira Sans Light"/>
                <a:ea typeface="+mn-ea"/>
                <a:cs typeface="+mn-cs"/>
              </a:rPr>
              <a:t> </a:t>
            </a:r>
            <a:r>
              <a:rPr kumimoji="0" sz="4200" b="1" i="0" u="none" strike="noStrike" kern="1200" cap="none" spc="0" normalizeH="0" baseline="0" noProof="0">
                <a:ln>
                  <a:noFill/>
                </a:ln>
                <a:solidFill>
                  <a:srgbClr val="FFFFFF"/>
                </a:solidFill>
                <a:effectLst/>
                <a:uLnTx/>
                <a:uFillTx/>
                <a:latin typeface="Fira Sans Light"/>
                <a:ea typeface="+mn-ea"/>
                <a:cs typeface="+mn-cs"/>
              </a:rPr>
              <a:t>Loyalty Synthesis</a:t>
            </a:r>
          </a:p>
        </p:txBody>
      </p:sp>
      <p:sp>
        <p:nvSpPr>
          <p:cNvPr id="5" name="TextBox 4"/>
          <p:cNvSpPr txBox="1"/>
          <p:nvPr/>
        </p:nvSpPr>
        <p:spPr>
          <a:xfrm>
            <a:off x="503045" y="5067214"/>
            <a:ext cx="6950699"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0" normalizeH="0" baseline="0" noProof="0">
                <a:ln>
                  <a:noFill/>
                </a:ln>
                <a:solidFill>
                  <a:srgbClr val="FFFFFF"/>
                </a:solidFill>
                <a:effectLst/>
                <a:uLnTx/>
                <a:uFillTx/>
                <a:latin typeface="Fira Sans"/>
                <a:ea typeface="+mn-ea"/>
                <a:cs typeface="+mn-cs"/>
              </a:rPr>
              <a:t>Research synthesis and working discussion</a:t>
            </a:r>
            <a:r>
              <a:rPr kumimoji="0" lang="en-US" sz="1350" b="0" i="0" u="none" strike="noStrike" kern="1200" cap="none" spc="0" normalizeH="0" baseline="0" noProof="0">
                <a:ln>
                  <a:noFill/>
                </a:ln>
                <a:solidFill>
                  <a:srgbClr val="FFFFFF"/>
                </a:solidFill>
                <a:effectLst/>
                <a:uLnTx/>
                <a:uFillTx/>
                <a:latin typeface="Fira Sans"/>
                <a:ea typeface="+mn-ea"/>
                <a:cs typeface="+mn-cs"/>
              </a:rPr>
              <a:t> (Prepared for LOB Leads)</a:t>
            </a:r>
            <a:r>
              <a:rPr kumimoji="0" sz="1350" b="0" i="0" u="none" strike="noStrike" kern="1200" cap="none" spc="0" normalizeH="0" baseline="0" noProof="0">
                <a:ln>
                  <a:noFill/>
                </a:ln>
                <a:solidFill>
                  <a:srgbClr val="FFFFFF"/>
                </a:solidFill>
                <a:effectLst/>
                <a:uLnTx/>
                <a:uFillTx/>
                <a:latin typeface="Fira Sans"/>
                <a:ea typeface="+mn-ea"/>
                <a:cs typeface="+mn-cs"/>
              </a:rPr>
              <a:t>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BBFCA3C3-E876-AA3B-7FB4-7E215198193B}"/>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4EB4DF94-46CB-981E-5559-07B2919D7CF8}"/>
              </a:ext>
            </a:extLst>
          </p:cNvPr>
          <p:cNvSpPr txBox="1"/>
          <p:nvPr/>
        </p:nvSpPr>
        <p:spPr>
          <a:xfrm>
            <a:off x="503046" y="366045"/>
            <a:ext cx="1355205"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WHY WE'RE HERE</a:t>
            </a:r>
          </a:p>
        </p:txBody>
      </p:sp>
      <p:sp>
        <p:nvSpPr>
          <p:cNvPr id="92" name="TextBox 91">
            <a:extLst>
              <a:ext uri="{FF2B5EF4-FFF2-40B4-BE49-F238E27FC236}">
                <a16:creationId xmlns:a16="http://schemas.microsoft.com/office/drawing/2014/main" id="{B1F5002F-3523-8060-CE76-C85EEC9DA6EC}"/>
              </a:ext>
            </a:extLst>
          </p:cNvPr>
          <p:cNvSpPr txBox="1"/>
          <p:nvPr/>
        </p:nvSpPr>
        <p:spPr>
          <a:xfrm>
            <a:off x="503045" y="743648"/>
            <a:ext cx="10454205"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The goal of this project is to ensure Citizens’ future ecosystem of core consumer products is built to do two things</a:t>
            </a:r>
          </a:p>
          <a:p>
            <a:pPr marL="0" marR="0" lvl="0" indent="0" algn="l" defTabSz="457200" rtl="0" eaLnBrk="1" fontAlgn="auto" latinLnBrk="0" hangingPunct="1">
              <a:lnSpc>
                <a:spcPts val="3571"/>
              </a:lnSpc>
              <a:spcBef>
                <a:spcPts val="0"/>
              </a:spcBef>
              <a:spcAft>
                <a:spcPts val="0"/>
              </a:spcAft>
              <a:buClrTx/>
              <a:buSzTx/>
              <a:buFontTx/>
              <a:buNone/>
              <a:tabLst/>
              <a:defRPr/>
            </a:pPr>
            <a:endParaRPr kumimoji="0" lang="en-US" sz="2900" b="0" i="0" u="none" strike="noStrike" kern="1200" cap="none" spc="-14" normalizeH="0" baseline="0" noProof="0">
              <a:ln>
                <a:noFill/>
              </a:ln>
              <a:solidFill>
                <a:srgbClr val="232422"/>
              </a:solidFill>
              <a:effectLst/>
              <a:uLnTx/>
              <a:uFillTx/>
              <a:latin typeface="Fira Sans"/>
              <a:ea typeface="+mn-ea"/>
              <a:cs typeface="+mn-cs"/>
            </a:endParaRPr>
          </a:p>
        </p:txBody>
      </p:sp>
      <p:cxnSp>
        <p:nvCxnSpPr>
          <p:cNvPr id="112" name="Connector 111">
            <a:extLst>
              <a:ext uri="{FF2B5EF4-FFF2-40B4-BE49-F238E27FC236}">
                <a16:creationId xmlns:a16="http://schemas.microsoft.com/office/drawing/2014/main" id="{5FC800DB-5180-6035-5B91-74EF0A06B2C3}"/>
              </a:ext>
            </a:extLst>
          </p:cNvPr>
          <p:cNvCxnSpPr/>
          <p:nvPr/>
        </p:nvCxnSpPr>
        <p:spPr>
          <a:xfrm>
            <a:off x="503046" y="6414516"/>
            <a:ext cx="11185908" cy="0"/>
          </a:xfrm>
          <a:prstGeom prst="line">
            <a:avLst/>
          </a:prstGeom>
          <a:ln w="9144">
            <a:solidFill>
              <a:srgbClr val="DDDBCE"/>
            </a:solidFill>
          </a:ln>
          <a:effectLst/>
        </p:spPr>
      </p:cxnSp>
      <p:sp>
        <p:nvSpPr>
          <p:cNvPr id="90" name="Slide Number">
            <a:extLst>
              <a:ext uri="{FF2B5EF4-FFF2-40B4-BE49-F238E27FC236}">
                <a16:creationId xmlns:a16="http://schemas.microsoft.com/office/drawing/2014/main" id="{912AB8BC-22FF-08A2-BD35-1D39D5952A55}"/>
              </a:ext>
            </a:extLst>
          </p:cNvP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4" name="TextBox 94">
            <a:extLst>
              <a:ext uri="{FF2B5EF4-FFF2-40B4-BE49-F238E27FC236}">
                <a16:creationId xmlns:a16="http://schemas.microsoft.com/office/drawing/2014/main" id="{1E6F2714-D3BD-452D-6694-FD6276C9E612}"/>
              </a:ext>
            </a:extLst>
          </p:cNvPr>
          <p:cNvSpPr>
            <a:spLocks noGrp="1"/>
          </p:cNvSpPr>
          <p:nvPr/>
        </p:nvSpPr>
        <p:spPr>
          <a:xfrm>
            <a:off x="503015" y="2702984"/>
            <a:ext cx="1371600" cy="8001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5184">
                <a:solidFill>
                  <a:srgbClr val="007651"/>
                </a:solidFill>
                <a:latin typeface="Fira Sans Light"/>
                <a:ea typeface="Fira Sans Light"/>
                <a:cs typeface="Fira Sans Light"/>
              </a:defRPr>
            </a:pPr>
            <a:r>
              <a:rPr kumimoji="0" sz="5184" b="0" i="0" u="none" strike="noStrike" kern="1200" cap="none" spc="0" normalizeH="0" baseline="0" noProof="0">
                <a:ln>
                  <a:noFill/>
                </a:ln>
                <a:solidFill>
                  <a:srgbClr val="007651"/>
                </a:solidFill>
                <a:effectLst/>
                <a:uLnTx/>
                <a:uFillTx/>
                <a:latin typeface="Fira Sans Light"/>
                <a:ea typeface="Fira Sans Light"/>
                <a:cs typeface="Fira Sans Light"/>
              </a:rPr>
              <a:t>01</a:t>
            </a:r>
          </a:p>
        </p:txBody>
      </p:sp>
      <p:sp>
        <p:nvSpPr>
          <p:cNvPr id="5" name="TextBox 95">
            <a:extLst>
              <a:ext uri="{FF2B5EF4-FFF2-40B4-BE49-F238E27FC236}">
                <a16:creationId xmlns:a16="http://schemas.microsoft.com/office/drawing/2014/main" id="{906F8867-8A44-0E73-5DA8-FC7AE3D44653}"/>
              </a:ext>
            </a:extLst>
          </p:cNvPr>
          <p:cNvSpPr>
            <a:spLocks noGrp="1"/>
          </p:cNvSpPr>
          <p:nvPr/>
        </p:nvSpPr>
        <p:spPr>
          <a:xfrm>
            <a:off x="1874520" y="2845859"/>
            <a:ext cx="3238500" cy="20955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80">
                <a:solidFill>
                  <a:srgbClr val="007651"/>
                </a:solidFill>
                <a:latin typeface="Fira Sans SemiBold"/>
                <a:ea typeface="Fira Sans SemiBold"/>
                <a:cs typeface="Fira Sans SemiBold"/>
              </a:defRPr>
            </a:pPr>
            <a:r>
              <a:rPr kumimoji="0" sz="1080" b="0" i="0" u="none" strike="noStrike" kern="1200" cap="none" spc="0" normalizeH="0" baseline="0" noProof="0">
                <a:ln>
                  <a:noFill/>
                </a:ln>
                <a:solidFill>
                  <a:srgbClr val="007651"/>
                </a:solidFill>
                <a:effectLst/>
                <a:uLnTx/>
                <a:uFillTx/>
                <a:latin typeface="Fira Sans SemiBold"/>
                <a:ea typeface="Fira Sans SemiBold"/>
                <a:cs typeface="Fira Sans SemiBold"/>
              </a:rPr>
              <a:t>BUSINESS OUTCOMES</a:t>
            </a:r>
          </a:p>
        </p:txBody>
      </p:sp>
      <p:sp>
        <p:nvSpPr>
          <p:cNvPr id="6" name="TextBox 96">
            <a:extLst>
              <a:ext uri="{FF2B5EF4-FFF2-40B4-BE49-F238E27FC236}">
                <a16:creationId xmlns:a16="http://schemas.microsoft.com/office/drawing/2014/main" id="{DCFE36A9-B9E1-263C-B5F7-BF6C0C8DFDC2}"/>
              </a:ext>
            </a:extLst>
          </p:cNvPr>
          <p:cNvSpPr>
            <a:spLocks noGrp="1"/>
          </p:cNvSpPr>
          <p:nvPr/>
        </p:nvSpPr>
        <p:spPr>
          <a:xfrm>
            <a:off x="1874520" y="3039534"/>
            <a:ext cx="3286125" cy="43815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sz="2160">
                <a:solidFill>
                  <a:srgbClr val="232422"/>
                </a:solidFill>
                <a:latin typeface="Fira Sans Medium"/>
                <a:ea typeface="Fira Sans Medium"/>
                <a:cs typeface="Fira Sans Medium"/>
              </a:defRPr>
            </a:pPr>
            <a:r>
              <a:rPr kumimoji="0" sz="2160" b="0" i="0" u="none" strike="noStrike" kern="1200" cap="none" spc="0" normalizeH="0" baseline="0" noProof="0">
                <a:ln>
                  <a:noFill/>
                </a:ln>
                <a:solidFill>
                  <a:srgbClr val="232422"/>
                </a:solidFill>
                <a:effectLst/>
                <a:uLnTx/>
                <a:uFillTx/>
                <a:latin typeface="Fira Sans Medium"/>
                <a:ea typeface="Fira Sans Medium"/>
                <a:cs typeface="Fira Sans Medium"/>
              </a:rPr>
              <a:t>Grow the relationship</a:t>
            </a:r>
          </a:p>
        </p:txBody>
      </p:sp>
      <p:sp>
        <p:nvSpPr>
          <p:cNvPr id="7" name="TextBox 98">
            <a:extLst>
              <a:ext uri="{FF2B5EF4-FFF2-40B4-BE49-F238E27FC236}">
                <a16:creationId xmlns:a16="http://schemas.microsoft.com/office/drawing/2014/main" id="{804EC613-FE88-5060-EBCE-C2733F9378FE}"/>
              </a:ext>
            </a:extLst>
          </p:cNvPr>
          <p:cNvSpPr>
            <a:spLocks noGrp="1"/>
          </p:cNvSpPr>
          <p:nvPr/>
        </p:nvSpPr>
        <p:spPr>
          <a:xfrm>
            <a:off x="503015" y="4427813"/>
            <a:ext cx="1371600" cy="8001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5184">
                <a:solidFill>
                  <a:srgbClr val="007651"/>
                </a:solidFill>
                <a:latin typeface="Fira Sans Light"/>
                <a:ea typeface="Fira Sans Light"/>
                <a:cs typeface="Fira Sans Light"/>
              </a:defRPr>
            </a:pPr>
            <a:r>
              <a:rPr kumimoji="0" sz="5184" b="0" i="0" u="none" strike="noStrike" kern="1200" cap="none" spc="0" normalizeH="0" baseline="0" noProof="0">
                <a:ln>
                  <a:noFill/>
                </a:ln>
                <a:solidFill>
                  <a:srgbClr val="007651"/>
                </a:solidFill>
                <a:effectLst/>
                <a:uLnTx/>
                <a:uFillTx/>
                <a:latin typeface="Fira Sans Light"/>
                <a:ea typeface="Fira Sans Light"/>
                <a:cs typeface="Fira Sans Light"/>
              </a:rPr>
              <a:t>02</a:t>
            </a:r>
          </a:p>
        </p:txBody>
      </p:sp>
      <p:sp>
        <p:nvSpPr>
          <p:cNvPr id="8" name="TextBox 99">
            <a:extLst>
              <a:ext uri="{FF2B5EF4-FFF2-40B4-BE49-F238E27FC236}">
                <a16:creationId xmlns:a16="http://schemas.microsoft.com/office/drawing/2014/main" id="{7BE8FAE2-A170-7DAB-33BA-B0B30EF7DDA6}"/>
              </a:ext>
            </a:extLst>
          </p:cNvPr>
          <p:cNvSpPr>
            <a:spLocks noGrp="1"/>
          </p:cNvSpPr>
          <p:nvPr/>
        </p:nvSpPr>
        <p:spPr>
          <a:xfrm>
            <a:off x="1874520" y="4570688"/>
            <a:ext cx="3238500" cy="20955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80">
                <a:solidFill>
                  <a:srgbClr val="007651"/>
                </a:solidFill>
                <a:latin typeface="Fira Sans SemiBold"/>
                <a:ea typeface="Fira Sans SemiBold"/>
                <a:cs typeface="Fira Sans SemiBold"/>
              </a:defRPr>
            </a:pPr>
            <a:r>
              <a:rPr kumimoji="0" sz="1080" b="0" i="0" u="none" strike="noStrike" kern="1200" cap="none" spc="0" normalizeH="0" baseline="0" noProof="0">
                <a:ln>
                  <a:noFill/>
                </a:ln>
                <a:solidFill>
                  <a:srgbClr val="007651"/>
                </a:solidFill>
                <a:effectLst/>
                <a:uLnTx/>
                <a:uFillTx/>
                <a:latin typeface="Fira Sans SemiBold"/>
                <a:ea typeface="Fira Sans SemiBold"/>
                <a:cs typeface="Fira Sans SemiBold"/>
              </a:rPr>
              <a:t>CUSTOMER EXPERIENCE</a:t>
            </a:r>
          </a:p>
        </p:txBody>
      </p:sp>
      <p:sp>
        <p:nvSpPr>
          <p:cNvPr id="9" name="TextBox 100">
            <a:extLst>
              <a:ext uri="{FF2B5EF4-FFF2-40B4-BE49-F238E27FC236}">
                <a16:creationId xmlns:a16="http://schemas.microsoft.com/office/drawing/2014/main" id="{A53DC58D-517E-6265-0FA2-62CFFE908108}"/>
              </a:ext>
            </a:extLst>
          </p:cNvPr>
          <p:cNvSpPr>
            <a:spLocks noGrp="1"/>
          </p:cNvSpPr>
          <p:nvPr/>
        </p:nvSpPr>
        <p:spPr>
          <a:xfrm>
            <a:off x="1874520" y="4764363"/>
            <a:ext cx="3286125" cy="43815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sz="2160">
                <a:solidFill>
                  <a:srgbClr val="232422"/>
                </a:solidFill>
                <a:latin typeface="Fira Sans Medium"/>
                <a:ea typeface="Fira Sans Medium"/>
                <a:cs typeface="Fira Sans Medium"/>
              </a:defRPr>
            </a:pPr>
            <a:r>
              <a:rPr kumimoji="0" sz="2160" b="0" i="0" u="none" strike="noStrike" kern="1200" cap="none" spc="0" normalizeH="0" baseline="0" noProof="0">
                <a:ln>
                  <a:noFill/>
                </a:ln>
                <a:solidFill>
                  <a:srgbClr val="232422"/>
                </a:solidFill>
                <a:effectLst/>
                <a:uLnTx/>
                <a:uFillTx/>
                <a:latin typeface="Fira Sans Medium"/>
                <a:ea typeface="Fira Sans Medium"/>
                <a:cs typeface="Fira Sans Medium"/>
              </a:rPr>
              <a:t>Make the journey clear</a:t>
            </a:r>
          </a:p>
        </p:txBody>
      </p:sp>
      <p:sp>
        <p:nvSpPr>
          <p:cNvPr id="10" name="TextBox 101">
            <a:extLst>
              <a:ext uri="{FF2B5EF4-FFF2-40B4-BE49-F238E27FC236}">
                <a16:creationId xmlns:a16="http://schemas.microsoft.com/office/drawing/2014/main" id="{59653D4F-ABCB-E97D-A2E9-6798535198C9}"/>
              </a:ext>
            </a:extLst>
          </p:cNvPr>
          <p:cNvSpPr>
            <a:spLocks noGrp="1"/>
          </p:cNvSpPr>
          <p:nvPr/>
        </p:nvSpPr>
        <p:spPr>
          <a:xfrm>
            <a:off x="5257800" y="4561537"/>
            <a:ext cx="6431089" cy="857250"/>
          </a:xfrm>
          <a:prstGeom prst="rect">
            <a:avLst/>
          </a:prstGeom>
          <a:noFill/>
        </p:spPr>
        <p:txBody>
          <a:bodyPr wrap="square" lIns="0" tIns="0" rIns="0" bIns="0" anchor="t">
            <a:noAutofit/>
          </a:bodyPr>
          <a:lstStyle/>
          <a:p>
            <a:pPr marL="0" marR="0" lvl="0" indent="0" algn="l" defTabSz="914400" rtl="0" eaLnBrk="1" fontAlgn="auto" latinLnBrk="0" hangingPunct="1">
              <a:lnSpc>
                <a:spcPct val="122000"/>
              </a:lnSpc>
              <a:spcBef>
                <a:spcPts val="0"/>
              </a:spcBef>
              <a:spcAft>
                <a:spcPts val="0"/>
              </a:spcAft>
              <a:buClrTx/>
              <a:buSzTx/>
              <a:buFontTx/>
              <a:buNone/>
              <a:tabLst/>
              <a:defRPr sz="1368">
                <a:solidFill>
                  <a:srgbClr val="575757"/>
                </a:solidFill>
                <a:latin typeface="Fira Sans"/>
                <a:ea typeface="Fira Sans"/>
                <a:cs typeface="Fira Sans"/>
              </a:defRPr>
            </a:pPr>
            <a:r>
              <a:rPr kumimoji="0" sz="1368" b="0" i="0" u="none" strike="noStrike" kern="1200" cap="none" spc="0" normalizeH="0" baseline="0" noProof="0">
                <a:ln>
                  <a:noFill/>
                </a:ln>
                <a:solidFill>
                  <a:srgbClr val="575757"/>
                </a:solidFill>
                <a:effectLst/>
                <a:uLnTx/>
                <a:uFillTx/>
                <a:latin typeface="Fira Sans"/>
                <a:ea typeface="Fira Sans"/>
                <a:cs typeface="Fira Sans"/>
              </a:rPr>
              <a:t>Give customers clear entry points, meaningful next steps, and</a:t>
            </a:r>
          </a:p>
          <a:p>
            <a:pPr marL="0" marR="0" lvl="0" indent="0" algn="l" defTabSz="914400" rtl="0" eaLnBrk="1" fontAlgn="auto" latinLnBrk="0" hangingPunct="1">
              <a:lnSpc>
                <a:spcPct val="122000"/>
              </a:lnSpc>
              <a:spcBef>
                <a:spcPts val="0"/>
              </a:spcBef>
              <a:spcAft>
                <a:spcPts val="0"/>
              </a:spcAft>
              <a:buClrTx/>
              <a:buSzTx/>
              <a:buFontTx/>
              <a:buNone/>
              <a:tabLst/>
              <a:defRPr sz="1368">
                <a:solidFill>
                  <a:srgbClr val="575757"/>
                </a:solidFill>
                <a:latin typeface="Fira Sans"/>
                <a:ea typeface="Fira Sans"/>
                <a:cs typeface="Fira Sans"/>
              </a:defRPr>
            </a:pPr>
            <a:r>
              <a:rPr kumimoji="0" sz="1368" b="0" i="0" u="none" strike="noStrike" kern="1200" cap="none" spc="0" normalizeH="0" baseline="0" noProof="0">
                <a:ln>
                  <a:noFill/>
                </a:ln>
                <a:solidFill>
                  <a:srgbClr val="575757"/>
                </a:solidFill>
                <a:effectLst/>
                <a:uLnTx/>
                <a:uFillTx/>
                <a:latin typeface="Fira Sans"/>
                <a:ea typeface="Fira Sans"/>
                <a:cs typeface="Fira Sans"/>
              </a:rPr>
              <a:t>understandable recognition across products.</a:t>
            </a:r>
          </a:p>
        </p:txBody>
      </p:sp>
      <p:sp>
        <p:nvSpPr>
          <p:cNvPr id="11" name="TextBox 109">
            <a:extLst>
              <a:ext uri="{FF2B5EF4-FFF2-40B4-BE49-F238E27FC236}">
                <a16:creationId xmlns:a16="http://schemas.microsoft.com/office/drawing/2014/main" id="{908CE70E-5993-F8C3-D8BE-E597706F608C}"/>
              </a:ext>
            </a:extLst>
          </p:cNvPr>
          <p:cNvSpPr>
            <a:spLocks noGrp="1"/>
          </p:cNvSpPr>
          <p:nvPr/>
        </p:nvSpPr>
        <p:spPr>
          <a:xfrm>
            <a:off x="5257800" y="2836708"/>
            <a:ext cx="6431089" cy="857250"/>
          </a:xfrm>
          <a:prstGeom prst="rect">
            <a:avLst/>
          </a:prstGeom>
          <a:noFill/>
        </p:spPr>
        <p:txBody>
          <a:bodyPr wrap="square" lIns="0" tIns="0" rIns="0" bIns="0" anchor="t">
            <a:noAutofit/>
          </a:bodyPr>
          <a:lstStyle/>
          <a:p>
            <a:pPr marL="0" marR="0" lvl="0" indent="0" algn="l" defTabSz="914400" rtl="0" eaLnBrk="1" fontAlgn="auto" latinLnBrk="0" hangingPunct="1">
              <a:lnSpc>
                <a:spcPct val="122000"/>
              </a:lnSpc>
              <a:spcBef>
                <a:spcPts val="0"/>
              </a:spcBef>
              <a:spcAft>
                <a:spcPts val="0"/>
              </a:spcAft>
              <a:buClrTx/>
              <a:buSzTx/>
              <a:buFontTx/>
              <a:buNone/>
              <a:tabLst/>
              <a:defRPr sz="1368">
                <a:solidFill>
                  <a:srgbClr val="575757"/>
                </a:solidFill>
                <a:latin typeface="Fira Sans"/>
                <a:ea typeface="Fira Sans"/>
                <a:cs typeface="Fira Sans"/>
              </a:defRPr>
            </a:pPr>
            <a:r>
              <a:rPr kumimoji="0" sz="1368" b="0" i="0" u="none" strike="noStrike" kern="1200" cap="none" spc="0" normalizeH="0" baseline="0" noProof="0">
                <a:ln>
                  <a:noFill/>
                </a:ln>
                <a:solidFill>
                  <a:srgbClr val="575757"/>
                </a:solidFill>
                <a:effectLst/>
                <a:uLnTx/>
                <a:uFillTx/>
                <a:latin typeface="Fira Sans"/>
                <a:ea typeface="Fira Sans"/>
                <a:cs typeface="Fira Sans"/>
              </a:rPr>
              <a:t>Increase product adoption and use, strengthen primary</a:t>
            </a:r>
          </a:p>
          <a:p>
            <a:pPr marL="0" marR="0" lvl="0" indent="0" algn="l" defTabSz="914400" rtl="0" eaLnBrk="1" fontAlgn="auto" latinLnBrk="0" hangingPunct="1">
              <a:lnSpc>
                <a:spcPct val="122000"/>
              </a:lnSpc>
              <a:spcBef>
                <a:spcPts val="0"/>
              </a:spcBef>
              <a:spcAft>
                <a:spcPts val="0"/>
              </a:spcAft>
              <a:buClrTx/>
              <a:buSzTx/>
              <a:buFontTx/>
              <a:buNone/>
              <a:tabLst/>
              <a:defRPr sz="1368">
                <a:solidFill>
                  <a:srgbClr val="575757"/>
                </a:solidFill>
                <a:latin typeface="Fira Sans"/>
                <a:ea typeface="Fira Sans"/>
                <a:cs typeface="Fira Sans"/>
              </a:defRPr>
            </a:pPr>
            <a:r>
              <a:rPr kumimoji="0" sz="1368" b="0" i="0" u="none" strike="noStrike" kern="1200" cap="none" spc="0" normalizeH="0" baseline="0" noProof="0">
                <a:ln>
                  <a:noFill/>
                </a:ln>
                <a:solidFill>
                  <a:srgbClr val="575757"/>
                </a:solidFill>
                <a:effectLst/>
                <a:uLnTx/>
                <a:uFillTx/>
                <a:latin typeface="Fira Sans"/>
                <a:ea typeface="Fira Sans"/>
                <a:cs typeface="Fira Sans"/>
              </a:rPr>
              <a:t>relationships, and grow share of wallet and long-term value.</a:t>
            </a:r>
          </a:p>
        </p:txBody>
      </p:sp>
      <p:sp>
        <p:nvSpPr>
          <p:cNvPr id="12" name="Connector 120">
            <a:extLst>
              <a:ext uri="{FF2B5EF4-FFF2-40B4-BE49-F238E27FC236}">
                <a16:creationId xmlns:a16="http://schemas.microsoft.com/office/drawing/2014/main" id="{D32BBA71-1483-E578-27B7-18C5DBF26169}"/>
              </a:ext>
            </a:extLst>
          </p:cNvPr>
          <p:cNvSpPr>
            <a:spLocks noGrp="1"/>
          </p:cNvSpPr>
          <p:nvPr/>
        </p:nvSpPr>
        <p:spPr>
          <a:xfrm>
            <a:off x="503015" y="2286000"/>
            <a:ext cx="11185874" cy="0"/>
          </a:xfrm>
          <a:prstGeom prst="line">
            <a:avLst/>
          </a:prstGeom>
          <a:ln w="10478">
            <a:solidFill>
              <a:srgbClr val="23242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Connector 121">
            <a:extLst>
              <a:ext uri="{FF2B5EF4-FFF2-40B4-BE49-F238E27FC236}">
                <a16:creationId xmlns:a16="http://schemas.microsoft.com/office/drawing/2014/main" id="{07623445-A17B-83B4-0810-0D630F23E4F6}"/>
              </a:ext>
            </a:extLst>
          </p:cNvPr>
          <p:cNvSpPr>
            <a:spLocks noGrp="1"/>
          </p:cNvSpPr>
          <p:nvPr/>
        </p:nvSpPr>
        <p:spPr>
          <a:xfrm>
            <a:off x="503015" y="3968496"/>
            <a:ext cx="11185874" cy="0"/>
          </a:xfrm>
          <a:prstGeom prst="line">
            <a:avLst/>
          </a:prstGeom>
          <a:ln w="10478">
            <a:solidFill>
              <a:srgbClr val="23242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Connector 131">
            <a:extLst>
              <a:ext uri="{FF2B5EF4-FFF2-40B4-BE49-F238E27FC236}">
                <a16:creationId xmlns:a16="http://schemas.microsoft.com/office/drawing/2014/main" id="{2BC49C48-F730-6811-B201-9997013FC21B}"/>
              </a:ext>
            </a:extLst>
          </p:cNvPr>
          <p:cNvSpPr>
            <a:spLocks noGrp="1"/>
          </p:cNvSpPr>
          <p:nvPr/>
        </p:nvSpPr>
        <p:spPr>
          <a:xfrm>
            <a:off x="503015" y="5650992"/>
            <a:ext cx="11185874" cy="0"/>
          </a:xfrm>
          <a:prstGeom prst="line">
            <a:avLst/>
          </a:prstGeom>
          <a:ln w="7620">
            <a:solidFill>
              <a:schemeClr val="tx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7196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4EB5B06E-91FE-7E31-7194-31DED5A02A73}"/>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4AF0402B-ABB6-1E22-D345-119A3E228E2B}"/>
              </a:ext>
            </a:extLst>
          </p:cNvPr>
          <p:cNvSpPr txBox="1"/>
          <p:nvPr/>
        </p:nvSpPr>
        <p:spPr>
          <a:xfrm>
            <a:off x="503046" y="366045"/>
            <a:ext cx="1355205"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WHY WE'RE HERE</a:t>
            </a:r>
          </a:p>
        </p:txBody>
      </p:sp>
      <p:sp>
        <p:nvSpPr>
          <p:cNvPr id="92" name="TextBox 91">
            <a:extLst>
              <a:ext uri="{FF2B5EF4-FFF2-40B4-BE49-F238E27FC236}">
                <a16:creationId xmlns:a16="http://schemas.microsoft.com/office/drawing/2014/main" id="{F7E54BC8-E904-8217-2D40-276F7E21862C}"/>
              </a:ext>
            </a:extLst>
          </p:cNvPr>
          <p:cNvSpPr txBox="1"/>
          <p:nvPr/>
        </p:nvSpPr>
        <p:spPr>
          <a:xfrm>
            <a:off x="503046" y="743648"/>
            <a:ext cx="9036880"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Today we are focused on </a:t>
            </a:r>
            <a:r>
              <a:rPr kumimoji="0" sz="2900" b="0" i="0" u="none" strike="noStrike" kern="1200" cap="none" spc="-14" normalizeH="0" baseline="0" noProof="0">
                <a:ln>
                  <a:noFill/>
                </a:ln>
                <a:solidFill>
                  <a:srgbClr val="232422"/>
                </a:solidFill>
                <a:effectLst/>
                <a:uLnTx/>
                <a:uFillTx/>
                <a:latin typeface="Fira Sans"/>
                <a:ea typeface="+mn-ea"/>
                <a:cs typeface="+mn-cs"/>
              </a:rPr>
              <a:t>phase one</a:t>
            </a:r>
            <a:r>
              <a:rPr kumimoji="0" lang="en-US" sz="2900" b="0" i="0" u="none" strike="noStrike" kern="1200" cap="none" spc="-14" normalizeH="0" baseline="0" noProof="0">
                <a:ln>
                  <a:noFill/>
                </a:ln>
                <a:solidFill>
                  <a:srgbClr val="232422"/>
                </a:solidFill>
                <a:effectLst/>
                <a:uLnTx/>
                <a:uFillTx/>
                <a:latin typeface="Fira Sans"/>
                <a:ea typeface="+mn-ea"/>
                <a:cs typeface="+mn-cs"/>
              </a:rPr>
              <a:t>, which helps set the stage for what’s to come</a:t>
            </a:r>
          </a:p>
        </p:txBody>
      </p:sp>
      <p:sp>
        <p:nvSpPr>
          <p:cNvPr id="93" name="Rounded Rectangle 92">
            <a:extLst>
              <a:ext uri="{FF2B5EF4-FFF2-40B4-BE49-F238E27FC236}">
                <a16:creationId xmlns:a16="http://schemas.microsoft.com/office/drawing/2014/main" id="{4D00BBE0-BBED-1421-312D-AB5B65BC00A5}"/>
              </a:ext>
            </a:extLst>
          </p:cNvPr>
          <p:cNvSpPr/>
          <p:nvPr/>
        </p:nvSpPr>
        <p:spPr>
          <a:xfrm>
            <a:off x="503046" y="2706624"/>
            <a:ext cx="4168603" cy="2761214"/>
          </a:xfrm>
          <a:prstGeom prst="roundRect">
            <a:avLst>
              <a:gd name="adj" fmla="val 662"/>
            </a:avLst>
          </a:prstGeom>
          <a:solidFill>
            <a:srgbClr val="FFFFFF"/>
          </a:solidFill>
          <a:ln w="9144">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TextBox 93">
            <a:extLst>
              <a:ext uri="{FF2B5EF4-FFF2-40B4-BE49-F238E27FC236}">
                <a16:creationId xmlns:a16="http://schemas.microsoft.com/office/drawing/2014/main" id="{551710F7-3F36-2A00-DE6B-837C21512590}"/>
              </a:ext>
            </a:extLst>
          </p:cNvPr>
          <p:cNvSpPr txBox="1"/>
          <p:nvPr/>
        </p:nvSpPr>
        <p:spPr>
          <a:xfrm>
            <a:off x="786581" y="2935509"/>
            <a:ext cx="3781610"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86" normalizeH="0" baseline="0" noProof="0">
                <a:ln>
                  <a:noFill/>
                </a:ln>
                <a:solidFill>
                  <a:srgbClr val="007651"/>
                </a:solidFill>
                <a:effectLst/>
                <a:uLnTx/>
                <a:uFillTx/>
                <a:latin typeface="Fira Sans Medium"/>
                <a:ea typeface="+mn-ea"/>
                <a:cs typeface="+mn-cs"/>
              </a:rPr>
              <a:t>Phase 1</a:t>
            </a:r>
          </a:p>
        </p:txBody>
      </p:sp>
      <p:sp>
        <p:nvSpPr>
          <p:cNvPr id="95" name="TextBox 94">
            <a:extLst>
              <a:ext uri="{FF2B5EF4-FFF2-40B4-BE49-F238E27FC236}">
                <a16:creationId xmlns:a16="http://schemas.microsoft.com/office/drawing/2014/main" id="{E00E240A-EE33-F84F-F815-D36B46B5AFD8}"/>
              </a:ext>
            </a:extLst>
          </p:cNvPr>
          <p:cNvSpPr txBox="1"/>
          <p:nvPr/>
        </p:nvSpPr>
        <p:spPr>
          <a:xfrm>
            <a:off x="786581" y="3229077"/>
            <a:ext cx="3781610" cy="564916"/>
          </a:xfrm>
          <a:prstGeom prst="rect">
            <a:avLst/>
          </a:prstGeom>
          <a:noFill/>
        </p:spPr>
        <p:txBody>
          <a:bodyPr wrap="square" lIns="0" tIns="0" rIns="0" bIns="0" anchor="t">
            <a:noAutofit/>
          </a:bodyPr>
          <a:lstStyle/>
          <a:p>
            <a:pPr marL="0" marR="0" lvl="0" indent="0" algn="l" defTabSz="457200" rtl="0" eaLnBrk="1" fontAlgn="auto" latinLnBrk="0" hangingPunct="1">
              <a:lnSpc>
                <a:spcPts val="2152"/>
              </a:lnSpc>
              <a:spcBef>
                <a:spcPts val="0"/>
              </a:spcBef>
              <a:spcAft>
                <a:spcPts val="0"/>
              </a:spcAft>
              <a:buClrTx/>
              <a:buSzTx/>
              <a:buFontTx/>
              <a:buNone/>
              <a:tabLst/>
              <a:defRPr/>
            </a:pPr>
            <a:r>
              <a:rPr kumimoji="0" sz="1650" b="0" i="0" u="none" strike="noStrike" kern="1200" cap="none" spc="0" normalizeH="0" baseline="0" noProof="0">
                <a:ln>
                  <a:noFill/>
                </a:ln>
                <a:solidFill>
                  <a:srgbClr val="232422"/>
                </a:solidFill>
                <a:effectLst/>
                <a:uLnTx/>
                <a:uFillTx/>
                <a:latin typeface="Fira Sans Medium"/>
                <a:ea typeface="+mn-ea"/>
                <a:cs typeface="+mn-cs"/>
              </a:rPr>
              <a:t>Ecosystem Architecture, Loyalty</a:t>
            </a:r>
          </a:p>
          <a:p>
            <a:pPr marL="0" marR="0" lvl="0" indent="0" algn="l" defTabSz="457200" rtl="0" eaLnBrk="1" fontAlgn="auto" latinLnBrk="0" hangingPunct="1">
              <a:lnSpc>
                <a:spcPts val="2152"/>
              </a:lnSpc>
              <a:spcBef>
                <a:spcPts val="0"/>
              </a:spcBef>
              <a:spcAft>
                <a:spcPts val="0"/>
              </a:spcAft>
              <a:buClrTx/>
              <a:buSzTx/>
              <a:buFontTx/>
              <a:buNone/>
              <a:tabLst/>
              <a:defRPr/>
            </a:pPr>
            <a:r>
              <a:rPr kumimoji="0" sz="1650" b="0" i="0" u="none" strike="noStrike" kern="1200" cap="none" spc="0" normalizeH="0" baseline="0" noProof="0">
                <a:ln>
                  <a:noFill/>
                </a:ln>
                <a:solidFill>
                  <a:srgbClr val="232422"/>
                </a:solidFill>
                <a:effectLst/>
                <a:uLnTx/>
                <a:uFillTx/>
                <a:latin typeface="Fira Sans Medium"/>
                <a:ea typeface="+mn-ea"/>
                <a:cs typeface="+mn-cs"/>
              </a:rPr>
              <a:t>Analysis &amp; Implications</a:t>
            </a:r>
          </a:p>
        </p:txBody>
      </p:sp>
      <p:sp>
        <p:nvSpPr>
          <p:cNvPr id="96" name="Rounded Rectangle 95">
            <a:extLst>
              <a:ext uri="{FF2B5EF4-FFF2-40B4-BE49-F238E27FC236}">
                <a16:creationId xmlns:a16="http://schemas.microsoft.com/office/drawing/2014/main" id="{3774F9C0-97AD-A5D1-65B1-B68178F25077}"/>
              </a:ext>
            </a:extLst>
          </p:cNvPr>
          <p:cNvSpPr/>
          <p:nvPr/>
        </p:nvSpPr>
        <p:spPr>
          <a:xfrm>
            <a:off x="786581" y="3924641"/>
            <a:ext cx="3601533" cy="918509"/>
          </a:xfrm>
          <a:prstGeom prst="roundRect">
            <a:avLst>
              <a:gd name="adj" fmla="val 4166"/>
            </a:avLst>
          </a:prstGeom>
          <a:solidFill>
            <a:srgbClr val="007651">
              <a:alpha val="7000"/>
            </a:srgb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F5944FA0-A8EA-73E2-5255-39A18F49878F}"/>
              </a:ext>
            </a:extLst>
          </p:cNvPr>
          <p:cNvSpPr txBox="1"/>
          <p:nvPr/>
        </p:nvSpPr>
        <p:spPr>
          <a:xfrm>
            <a:off x="1092531" y="4111167"/>
            <a:ext cx="2915724" cy="282701"/>
          </a:xfrm>
          <a:prstGeom prst="rect">
            <a:avLst/>
          </a:prstGeom>
          <a:noFill/>
        </p:spPr>
        <p:txBody>
          <a:bodyPr wrap="square" lIns="0" tIns="0" rIns="0" bIns="0" anchor="t">
            <a:noAutofit/>
          </a:bodyPr>
          <a:lstStyle/>
          <a:p>
            <a:pPr marL="0" marR="0" lvl="0" indent="0" algn="l" defTabSz="457200" rtl="0" eaLnBrk="1" fontAlgn="auto" latinLnBrk="0" hangingPunct="1">
              <a:lnSpc>
                <a:spcPts val="1900"/>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Medium"/>
                <a:ea typeface="+mn-ea"/>
                <a:cs typeface="+mn-cs"/>
              </a:rPr>
              <a:t>Research synthesis</a:t>
            </a:r>
            <a:r>
              <a:rPr kumimoji="0" lang="en-US" sz="1300" b="0" i="0" u="none" strike="noStrike" kern="1200" cap="none" spc="0" normalizeH="0" baseline="0" noProof="0">
                <a:ln>
                  <a:noFill/>
                </a:ln>
                <a:solidFill>
                  <a:srgbClr val="232422"/>
                </a:solidFill>
                <a:effectLst/>
                <a:uLnTx/>
                <a:uFillTx/>
                <a:latin typeface="Fira Sans Medium"/>
                <a:ea typeface="+mn-ea"/>
                <a:cs typeface="+mn-cs"/>
              </a:rPr>
              <a:t> with ecosystem &amp; loyalty possibilities for Citizens</a:t>
            </a:r>
            <a:endParaRPr kumimoji="0" sz="1300" b="0" i="0" u="none" strike="noStrike" kern="1200" cap="none" spc="0" normalizeH="0" baseline="0" noProof="0">
              <a:ln>
                <a:noFill/>
              </a:ln>
              <a:solidFill>
                <a:srgbClr val="232422"/>
              </a:solidFill>
              <a:effectLst/>
              <a:uLnTx/>
              <a:uFillTx/>
              <a:latin typeface="Fira Sans Medium"/>
              <a:ea typeface="+mn-ea"/>
              <a:cs typeface="+mn-cs"/>
            </a:endParaRPr>
          </a:p>
        </p:txBody>
      </p:sp>
      <p:sp>
        <p:nvSpPr>
          <p:cNvPr id="101" name="TextBox 100">
            <a:extLst>
              <a:ext uri="{FF2B5EF4-FFF2-40B4-BE49-F238E27FC236}">
                <a16:creationId xmlns:a16="http://schemas.microsoft.com/office/drawing/2014/main" id="{88092F78-D9D1-3795-4BF2-7121DACD7759}"/>
              </a:ext>
            </a:extLst>
          </p:cNvPr>
          <p:cNvSpPr txBox="1"/>
          <p:nvPr/>
        </p:nvSpPr>
        <p:spPr>
          <a:xfrm>
            <a:off x="4739185" y="3201825"/>
            <a:ext cx="310974" cy="325526"/>
          </a:xfrm>
          <a:prstGeom prst="rect">
            <a:avLst/>
          </a:prstGeom>
          <a:noFill/>
        </p:spPr>
        <p:txBody>
          <a:bodyPr wrap="square" lIns="0" tIns="0" rIns="0" bIns="0" anchor="t">
            <a:noAutofit/>
          </a:bodyPr>
          <a:lstStyle/>
          <a:p>
            <a:pPr marL="0" marR="0" lvl="0" indent="0" algn="ctr" defTabSz="457200" rtl="0" eaLnBrk="1" fontAlgn="auto" latinLnBrk="0" hangingPunct="1">
              <a:lnSpc>
                <a:spcPts val="2419"/>
              </a:lnSpc>
              <a:spcBef>
                <a:spcPts val="0"/>
              </a:spcBef>
              <a:spcAft>
                <a:spcPts val="0"/>
              </a:spcAft>
              <a:buClrTx/>
              <a:buSzTx/>
              <a:buFontTx/>
              <a:buNone/>
              <a:tabLst/>
              <a:defRPr/>
            </a:pPr>
            <a:r>
              <a:rPr kumimoji="0" sz="1650" b="0" i="0" u="none" strike="noStrike" kern="1200" cap="none" spc="0" normalizeH="0" baseline="0" noProof="0">
                <a:ln>
                  <a:noFill/>
                </a:ln>
                <a:solidFill>
                  <a:srgbClr val="9A9A9A"/>
                </a:solidFill>
                <a:effectLst/>
                <a:uLnTx/>
                <a:uFillTx/>
                <a:latin typeface="Fira Sans"/>
                <a:ea typeface="+mn-ea"/>
                <a:cs typeface="+mn-cs"/>
              </a:rPr>
              <a:t>→</a:t>
            </a:r>
          </a:p>
        </p:txBody>
      </p:sp>
      <p:sp>
        <p:nvSpPr>
          <p:cNvPr id="102" name="Rounded Rectangle 101">
            <a:extLst>
              <a:ext uri="{FF2B5EF4-FFF2-40B4-BE49-F238E27FC236}">
                <a16:creationId xmlns:a16="http://schemas.microsoft.com/office/drawing/2014/main" id="{00992BB9-37A9-4A90-B05C-AA7F5CF9E6CD}"/>
              </a:ext>
            </a:extLst>
          </p:cNvPr>
          <p:cNvSpPr/>
          <p:nvPr/>
        </p:nvSpPr>
        <p:spPr>
          <a:xfrm>
            <a:off x="5092378" y="2889892"/>
            <a:ext cx="5306949" cy="997102"/>
          </a:xfrm>
          <a:prstGeom prst="roundRect">
            <a:avLst>
              <a:gd name="adj" fmla="val 662"/>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TextBox 102">
            <a:extLst>
              <a:ext uri="{FF2B5EF4-FFF2-40B4-BE49-F238E27FC236}">
                <a16:creationId xmlns:a16="http://schemas.microsoft.com/office/drawing/2014/main" id="{70475202-21B9-78E7-106D-043AB90B646D}"/>
              </a:ext>
            </a:extLst>
          </p:cNvPr>
          <p:cNvSpPr txBox="1"/>
          <p:nvPr/>
        </p:nvSpPr>
        <p:spPr>
          <a:xfrm>
            <a:off x="5251377" y="3001113"/>
            <a:ext cx="2646848"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86" normalizeH="0" baseline="0" noProof="0">
                <a:ln>
                  <a:noFill/>
                </a:ln>
                <a:solidFill>
                  <a:srgbClr val="9A9A9A"/>
                </a:solidFill>
                <a:effectLst/>
                <a:uLnTx/>
                <a:uFillTx/>
                <a:latin typeface="Fira Sans Medium"/>
                <a:ea typeface="+mn-ea"/>
                <a:cs typeface="+mn-cs"/>
              </a:rPr>
              <a:t>Phase 2</a:t>
            </a:r>
            <a:r>
              <a:rPr kumimoji="0" lang="en-US" sz="1100" b="0" i="0" u="none" strike="noStrike" kern="1200" cap="all" spc="86" normalizeH="0" baseline="0" noProof="0">
                <a:ln>
                  <a:noFill/>
                </a:ln>
                <a:solidFill>
                  <a:srgbClr val="9A9A9A"/>
                </a:solidFill>
                <a:effectLst/>
                <a:uLnTx/>
                <a:uFillTx/>
                <a:latin typeface="Fira Sans Medium"/>
                <a:ea typeface="+mn-ea"/>
                <a:cs typeface="+mn-cs"/>
              </a:rPr>
              <a:t> (TO BE SHARED IN R2)</a:t>
            </a:r>
          </a:p>
        </p:txBody>
      </p:sp>
      <p:sp>
        <p:nvSpPr>
          <p:cNvPr id="104" name="TextBox 103">
            <a:extLst>
              <a:ext uri="{FF2B5EF4-FFF2-40B4-BE49-F238E27FC236}">
                <a16:creationId xmlns:a16="http://schemas.microsoft.com/office/drawing/2014/main" id="{6B4D6FCA-B2A7-4337-087A-48CF4BB7A416}"/>
              </a:ext>
            </a:extLst>
          </p:cNvPr>
          <p:cNvSpPr txBox="1"/>
          <p:nvPr/>
        </p:nvSpPr>
        <p:spPr>
          <a:xfrm>
            <a:off x="5261442" y="3234332"/>
            <a:ext cx="2646848" cy="586039"/>
          </a:xfrm>
          <a:prstGeom prst="rect">
            <a:avLst/>
          </a:prstGeom>
          <a:noFill/>
        </p:spPr>
        <p:txBody>
          <a:bodyPr wrap="square" lIns="0" tIns="0" rIns="0" bIns="0" anchor="t">
            <a:noAutofit/>
          </a:bodyPr>
          <a:lstStyle/>
          <a:p>
            <a:pPr marL="0" marR="0" lvl="0" indent="0" algn="l" defTabSz="457200" rtl="0" eaLnBrk="1" fontAlgn="auto" latinLnBrk="0" hangingPunct="1">
              <a:lnSpc>
                <a:spcPts val="2235"/>
              </a:lnSpc>
              <a:spcBef>
                <a:spcPts val="0"/>
              </a:spcBef>
              <a:spcAft>
                <a:spcPts val="0"/>
              </a:spcAft>
              <a:buClrTx/>
              <a:buSzTx/>
              <a:buFontTx/>
              <a:buNone/>
              <a:tabLst/>
              <a:defRPr/>
            </a:pPr>
            <a:r>
              <a:rPr kumimoji="0" sz="1650" b="0" i="0" u="none" strike="noStrike" kern="1200" cap="none" spc="0" normalizeH="0" baseline="0" noProof="0">
                <a:ln>
                  <a:noFill/>
                </a:ln>
                <a:solidFill>
                  <a:srgbClr val="575757"/>
                </a:solidFill>
                <a:effectLst/>
                <a:uLnTx/>
                <a:uFillTx/>
                <a:latin typeface="Fira Sans"/>
                <a:ea typeface="+mn-ea"/>
                <a:cs typeface="+mn-cs"/>
              </a:rPr>
              <a:t>Checking Product</a:t>
            </a:r>
          </a:p>
          <a:p>
            <a:pPr marL="0" marR="0" lvl="0" indent="0" algn="l" defTabSz="457200" rtl="0" eaLnBrk="1" fontAlgn="auto" latinLnBrk="0" hangingPunct="1">
              <a:lnSpc>
                <a:spcPts val="2235"/>
              </a:lnSpc>
              <a:spcBef>
                <a:spcPts val="0"/>
              </a:spcBef>
              <a:spcAft>
                <a:spcPts val="0"/>
              </a:spcAft>
              <a:buClrTx/>
              <a:buSzTx/>
              <a:buFontTx/>
              <a:buNone/>
              <a:tabLst/>
              <a:defRPr/>
            </a:pPr>
            <a:r>
              <a:rPr kumimoji="0" sz="1650" b="0" i="0" u="none" strike="noStrike" kern="1200" cap="none" spc="0" normalizeH="0" baseline="0" noProof="0">
                <a:ln>
                  <a:noFill/>
                </a:ln>
                <a:solidFill>
                  <a:srgbClr val="575757"/>
                </a:solidFill>
                <a:effectLst/>
                <a:uLnTx/>
                <a:uFillTx/>
                <a:latin typeface="Fira Sans"/>
                <a:ea typeface="+mn-ea"/>
                <a:cs typeface="+mn-cs"/>
              </a:rPr>
              <a:t>Positioning</a:t>
            </a:r>
          </a:p>
        </p:txBody>
      </p:sp>
      <p:sp>
        <p:nvSpPr>
          <p:cNvPr id="105" name="TextBox 104">
            <a:extLst>
              <a:ext uri="{FF2B5EF4-FFF2-40B4-BE49-F238E27FC236}">
                <a16:creationId xmlns:a16="http://schemas.microsoft.com/office/drawing/2014/main" id="{5B110A30-0EE3-253A-4235-7F1C838E3532}"/>
              </a:ext>
            </a:extLst>
          </p:cNvPr>
          <p:cNvSpPr txBox="1"/>
          <p:nvPr/>
        </p:nvSpPr>
        <p:spPr>
          <a:xfrm>
            <a:off x="5167726" y="2627632"/>
            <a:ext cx="3830500" cy="416052"/>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sz="1100" b="0" i="1" u="none" strike="noStrike" kern="1200" cap="none" spc="0" normalizeH="0" baseline="0" noProof="0">
                <a:ln>
                  <a:noFill/>
                </a:ln>
                <a:solidFill>
                  <a:srgbClr val="575757"/>
                </a:solidFill>
                <a:effectLst/>
                <a:uLnTx/>
                <a:uFillTx/>
                <a:latin typeface="Fira Sans"/>
                <a:ea typeface="+mn-ea"/>
                <a:cs typeface="+mn-cs"/>
              </a:rPr>
              <a:t>Builds on what today confirms</a:t>
            </a:r>
            <a:r>
              <a:rPr kumimoji="0" lang="en-US" sz="1100" b="0" i="1" u="none" strike="noStrike" kern="1200" cap="none" spc="0" normalizeH="0" baseline="0" noProof="0">
                <a:ln>
                  <a:noFill/>
                </a:ln>
                <a:solidFill>
                  <a:srgbClr val="575757"/>
                </a:solidFill>
                <a:effectLst/>
                <a:uLnTx/>
                <a:uFillTx/>
                <a:latin typeface="Fira Sans"/>
                <a:ea typeface="+mn-ea"/>
                <a:cs typeface="+mn-cs"/>
              </a:rPr>
              <a:t> </a:t>
            </a:r>
            <a:r>
              <a:rPr kumimoji="0" sz="1100" b="0" i="1" u="none" strike="noStrike" kern="1200" cap="none" spc="0" normalizeH="0" baseline="0" noProof="0">
                <a:ln>
                  <a:noFill/>
                </a:ln>
                <a:solidFill>
                  <a:srgbClr val="575757"/>
                </a:solidFill>
                <a:effectLst/>
                <a:uLnTx/>
                <a:uFillTx/>
                <a:latin typeface="Fira Sans"/>
                <a:ea typeface="+mn-ea"/>
                <a:cs typeface="+mn-cs"/>
              </a:rPr>
              <a:t>or corrects.</a:t>
            </a:r>
          </a:p>
        </p:txBody>
      </p:sp>
      <p:cxnSp>
        <p:nvCxnSpPr>
          <p:cNvPr id="112" name="Connector 111">
            <a:extLst>
              <a:ext uri="{FF2B5EF4-FFF2-40B4-BE49-F238E27FC236}">
                <a16:creationId xmlns:a16="http://schemas.microsoft.com/office/drawing/2014/main" id="{610255D9-4FD5-0E7A-92BD-3B1E3EE421BB}"/>
              </a:ext>
            </a:extLst>
          </p:cNvPr>
          <p:cNvCxnSpPr/>
          <p:nvPr/>
        </p:nvCxnSpPr>
        <p:spPr>
          <a:xfrm>
            <a:off x="503046" y="6414516"/>
            <a:ext cx="11185908" cy="0"/>
          </a:xfrm>
          <a:prstGeom prst="line">
            <a:avLst/>
          </a:prstGeom>
          <a:ln w="9144">
            <a:solidFill>
              <a:srgbClr val="DDDBCE"/>
            </a:solidFill>
          </a:ln>
          <a:effectLst/>
        </p:spPr>
      </p:cxnSp>
      <p:sp>
        <p:nvSpPr>
          <p:cNvPr id="113" name="TextBox 112">
            <a:extLst>
              <a:ext uri="{FF2B5EF4-FFF2-40B4-BE49-F238E27FC236}">
                <a16:creationId xmlns:a16="http://schemas.microsoft.com/office/drawing/2014/main" id="{35F93CB5-DB08-1F0E-971D-0BE46EA66B9C}"/>
              </a:ext>
            </a:extLst>
          </p:cNvPr>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endParaRPr kumimoji="0" sz="800" b="0" i="0" u="none" strike="noStrike" kern="1200" cap="none" spc="0" normalizeH="0" baseline="0" noProof="0">
              <a:ln>
                <a:noFill/>
              </a:ln>
              <a:solidFill>
                <a:srgbClr val="9A9A9A"/>
              </a:solidFill>
              <a:effectLst/>
              <a:uLnTx/>
              <a:uFillTx/>
              <a:latin typeface="Fira Mono"/>
              <a:ea typeface="+mn-ea"/>
              <a:cs typeface="+mn-cs"/>
            </a:endParaRPr>
          </a:p>
        </p:txBody>
      </p:sp>
      <p:sp>
        <p:nvSpPr>
          <p:cNvPr id="90" name="Slide Number">
            <a:extLst>
              <a:ext uri="{FF2B5EF4-FFF2-40B4-BE49-F238E27FC236}">
                <a16:creationId xmlns:a16="http://schemas.microsoft.com/office/drawing/2014/main" id="{758DC6A7-8764-1F05-BF5C-662AFA69C79E}"/>
              </a:ext>
            </a:extLst>
          </p:cNvP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Rounded Rectangle 1">
            <a:extLst>
              <a:ext uri="{FF2B5EF4-FFF2-40B4-BE49-F238E27FC236}">
                <a16:creationId xmlns:a16="http://schemas.microsoft.com/office/drawing/2014/main" id="{19F89B52-81B3-686E-16D7-A05EC7666CE4}"/>
              </a:ext>
            </a:extLst>
          </p:cNvPr>
          <p:cNvSpPr/>
          <p:nvPr/>
        </p:nvSpPr>
        <p:spPr>
          <a:xfrm>
            <a:off x="5101525" y="4327778"/>
            <a:ext cx="5306949" cy="1106141"/>
          </a:xfrm>
          <a:prstGeom prst="roundRect">
            <a:avLst>
              <a:gd name="adj" fmla="val 662"/>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9" name="TextBox 108">
            <a:extLst>
              <a:ext uri="{FF2B5EF4-FFF2-40B4-BE49-F238E27FC236}">
                <a16:creationId xmlns:a16="http://schemas.microsoft.com/office/drawing/2014/main" id="{986567ED-CBC3-8D4B-757C-EDBDAEB86190}"/>
              </a:ext>
            </a:extLst>
          </p:cNvPr>
          <p:cNvSpPr txBox="1"/>
          <p:nvPr/>
        </p:nvSpPr>
        <p:spPr>
          <a:xfrm>
            <a:off x="5261442" y="4703467"/>
            <a:ext cx="2993558" cy="586039"/>
          </a:xfrm>
          <a:prstGeom prst="rect">
            <a:avLst/>
          </a:prstGeom>
          <a:noFill/>
        </p:spPr>
        <p:txBody>
          <a:bodyPr wrap="square" lIns="0" tIns="0" rIns="0" bIns="0" anchor="t">
            <a:noAutofit/>
          </a:bodyPr>
          <a:lstStyle/>
          <a:p>
            <a:pPr marL="0" marR="0" lvl="0" indent="0" algn="l" defTabSz="457200" rtl="0" eaLnBrk="1" fontAlgn="auto" latinLnBrk="0" hangingPunct="1">
              <a:lnSpc>
                <a:spcPts val="2235"/>
              </a:lnSpc>
              <a:spcBef>
                <a:spcPts val="0"/>
              </a:spcBef>
              <a:spcAft>
                <a:spcPts val="0"/>
              </a:spcAft>
              <a:buClrTx/>
              <a:buSzTx/>
              <a:buFontTx/>
              <a:buNone/>
              <a:tabLst/>
              <a:defRPr/>
            </a:pPr>
            <a:r>
              <a:rPr kumimoji="0" sz="1650" b="0" i="0" u="none" strike="noStrike" kern="1200" cap="none" spc="0" normalizeH="0" baseline="0" noProof="0">
                <a:ln>
                  <a:noFill/>
                </a:ln>
                <a:solidFill>
                  <a:srgbClr val="575757"/>
                </a:solidFill>
                <a:effectLst/>
                <a:uLnTx/>
                <a:uFillTx/>
                <a:latin typeface="Fira Sans"/>
                <a:ea typeface="+mn-ea"/>
                <a:cs typeface="+mn-cs"/>
              </a:rPr>
              <a:t>Naming: </a:t>
            </a:r>
            <a:br>
              <a:rPr kumimoji="0" lang="en-US" sz="1650" b="0" i="0" u="none" strike="noStrike" kern="1200" cap="none" spc="0" normalizeH="0" baseline="0" noProof="0">
                <a:ln>
                  <a:noFill/>
                </a:ln>
                <a:solidFill>
                  <a:srgbClr val="575757"/>
                </a:solidFill>
                <a:effectLst/>
                <a:uLnTx/>
                <a:uFillTx/>
                <a:latin typeface="Fira Sans"/>
                <a:ea typeface="+mn-ea"/>
                <a:cs typeface="+mn-cs"/>
              </a:rPr>
            </a:br>
            <a:r>
              <a:rPr kumimoji="0" sz="1650" b="0" i="0" u="none" strike="noStrike" kern="1200" cap="none" spc="0" normalizeH="0" baseline="0" noProof="0">
                <a:ln>
                  <a:noFill/>
                </a:ln>
                <a:solidFill>
                  <a:srgbClr val="575757"/>
                </a:solidFill>
                <a:effectLst/>
                <a:uLnTx/>
                <a:uFillTx/>
                <a:latin typeface="Fira Sans"/>
                <a:ea typeface="+mn-ea"/>
                <a:cs typeface="+mn-cs"/>
              </a:rPr>
              <a:t>Checking</a:t>
            </a:r>
            <a:r>
              <a:rPr kumimoji="0" lang="en-US" sz="1650" b="0" i="0" u="none" strike="noStrike" kern="1200" cap="none" spc="0" normalizeH="0" baseline="0" noProof="0">
                <a:ln>
                  <a:noFill/>
                </a:ln>
                <a:solidFill>
                  <a:srgbClr val="575757"/>
                </a:solidFill>
                <a:effectLst/>
                <a:uLnTx/>
                <a:uFillTx/>
                <a:latin typeface="Fira Sans"/>
                <a:ea typeface="+mn-ea"/>
                <a:cs typeface="+mn-cs"/>
              </a:rPr>
              <a:t> &amp; </a:t>
            </a:r>
            <a:r>
              <a:rPr kumimoji="0" sz="1650" b="0" i="0" u="none" strike="noStrike" kern="1200" cap="none" spc="0" normalizeH="0" baseline="0" noProof="0">
                <a:ln>
                  <a:noFill/>
                </a:ln>
                <a:solidFill>
                  <a:srgbClr val="575757"/>
                </a:solidFill>
                <a:effectLst/>
                <a:uLnTx/>
                <a:uFillTx/>
                <a:latin typeface="Fira Sans"/>
                <a:ea typeface="+mn-ea"/>
                <a:cs typeface="+mn-cs"/>
              </a:rPr>
              <a:t>Private</a:t>
            </a:r>
            <a:r>
              <a:rPr kumimoji="0" lang="en-US" sz="1650" b="0" i="0" u="none" strike="noStrike" kern="1200" cap="none" spc="0" normalizeH="0" baseline="0" noProof="0">
                <a:ln>
                  <a:noFill/>
                </a:ln>
                <a:solidFill>
                  <a:srgbClr val="575757"/>
                </a:solidFill>
                <a:effectLst/>
                <a:uLnTx/>
                <a:uFillTx/>
                <a:latin typeface="Fira Sans"/>
                <a:ea typeface="+mn-ea"/>
                <a:cs typeface="+mn-cs"/>
              </a:rPr>
              <a:t> </a:t>
            </a:r>
            <a:r>
              <a:rPr kumimoji="0" sz="1650" b="0" i="0" u="none" strike="noStrike" kern="1200" cap="none" spc="0" normalizeH="0" baseline="0" noProof="0">
                <a:ln>
                  <a:noFill/>
                </a:ln>
                <a:solidFill>
                  <a:srgbClr val="575757"/>
                </a:solidFill>
                <a:effectLst/>
                <a:uLnTx/>
                <a:uFillTx/>
                <a:latin typeface="Fira Sans"/>
                <a:ea typeface="+mn-ea"/>
                <a:cs typeface="+mn-cs"/>
              </a:rPr>
              <a:t>Client</a:t>
            </a:r>
          </a:p>
        </p:txBody>
      </p:sp>
      <p:sp>
        <p:nvSpPr>
          <p:cNvPr id="108" name="TextBox 107">
            <a:extLst>
              <a:ext uri="{FF2B5EF4-FFF2-40B4-BE49-F238E27FC236}">
                <a16:creationId xmlns:a16="http://schemas.microsoft.com/office/drawing/2014/main" id="{809FF36B-7B0F-F9BC-AA77-121C8DDA8524}"/>
              </a:ext>
            </a:extLst>
          </p:cNvPr>
          <p:cNvSpPr txBox="1"/>
          <p:nvPr/>
        </p:nvSpPr>
        <p:spPr>
          <a:xfrm>
            <a:off x="5269411" y="4436246"/>
            <a:ext cx="264704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86" normalizeH="0" baseline="0" noProof="0">
                <a:ln>
                  <a:noFill/>
                </a:ln>
                <a:solidFill>
                  <a:srgbClr val="9A9A9A"/>
                </a:solidFill>
                <a:effectLst/>
                <a:uLnTx/>
                <a:uFillTx/>
                <a:latin typeface="Fira Sans Medium"/>
                <a:ea typeface="+mn-ea"/>
                <a:cs typeface="+mn-cs"/>
              </a:rPr>
              <a:t>Phase 3</a:t>
            </a:r>
            <a:r>
              <a:rPr kumimoji="0" lang="en-US" sz="1100" b="0" i="0" u="none" strike="noStrike" kern="1200" cap="all" spc="86" normalizeH="0" baseline="0" noProof="0">
                <a:ln>
                  <a:noFill/>
                </a:ln>
                <a:solidFill>
                  <a:srgbClr val="9A9A9A"/>
                </a:solidFill>
                <a:effectLst/>
                <a:uLnTx/>
                <a:uFillTx/>
                <a:latin typeface="Fira Sans Medium"/>
                <a:ea typeface="+mn-ea"/>
                <a:cs typeface="+mn-cs"/>
              </a:rPr>
              <a:t> (TO BE SHARED IN R2)</a:t>
            </a:r>
            <a:endParaRPr kumimoji="0" lang="en-US" sz="1100" b="0" i="0" u="none" strike="noStrike" kern="1200" cap="all" spc="86" normalizeH="0" baseline="0" noProof="0">
              <a:ln>
                <a:noFill/>
              </a:ln>
              <a:solidFill>
                <a:srgbClr val="000000"/>
              </a:solidFill>
              <a:effectLst/>
              <a:uLnTx/>
              <a:uFillTx/>
              <a:latin typeface="Fira Sans Medium"/>
              <a:ea typeface="+mn-ea"/>
              <a:cs typeface="+mn-cs"/>
            </a:endParaRPr>
          </a:p>
          <a:p>
            <a:pPr marL="0" marR="0" lvl="0" indent="0" algn="l" defTabSz="457200" rtl="0" eaLnBrk="1" fontAlgn="auto" latinLnBrk="0" hangingPunct="1">
              <a:lnSpc>
                <a:spcPts val="1555"/>
              </a:lnSpc>
              <a:spcBef>
                <a:spcPts val="0"/>
              </a:spcBef>
              <a:spcAft>
                <a:spcPts val="0"/>
              </a:spcAft>
              <a:buClrTx/>
              <a:buSzTx/>
              <a:buFontTx/>
              <a:buNone/>
              <a:tabLst/>
              <a:defRPr/>
            </a:pPr>
            <a:endParaRPr kumimoji="0" lang="en-US" sz="1100" b="0" i="0" u="none" strike="noStrike" kern="1200" cap="all" spc="86" normalizeH="0" baseline="0" noProof="0">
              <a:ln>
                <a:noFill/>
              </a:ln>
              <a:solidFill>
                <a:srgbClr val="9A9A9A"/>
              </a:solidFill>
              <a:effectLst/>
              <a:uLnTx/>
              <a:uFillTx/>
              <a:latin typeface="Fira Sans Medium"/>
              <a:ea typeface="+mn-ea"/>
              <a:cs typeface="+mn-cs"/>
            </a:endParaRPr>
          </a:p>
        </p:txBody>
      </p:sp>
      <p:sp>
        <p:nvSpPr>
          <p:cNvPr id="110" name="TextBox 109">
            <a:extLst>
              <a:ext uri="{FF2B5EF4-FFF2-40B4-BE49-F238E27FC236}">
                <a16:creationId xmlns:a16="http://schemas.microsoft.com/office/drawing/2014/main" id="{86285B96-EB72-B813-9AA5-9ED15908081A}"/>
              </a:ext>
            </a:extLst>
          </p:cNvPr>
          <p:cNvSpPr txBox="1"/>
          <p:nvPr/>
        </p:nvSpPr>
        <p:spPr>
          <a:xfrm>
            <a:off x="5167726" y="4076297"/>
            <a:ext cx="5789525" cy="416052"/>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sz="1100" b="0" i="1" u="none" strike="noStrike" kern="1200" cap="none" spc="0" normalizeH="0" baseline="0" noProof="0">
                <a:ln>
                  <a:noFill/>
                </a:ln>
                <a:solidFill>
                  <a:srgbClr val="575757"/>
                </a:solidFill>
                <a:effectLst/>
                <a:uLnTx/>
                <a:uFillTx/>
                <a:latin typeface="Fira Sans"/>
                <a:ea typeface="+mn-ea"/>
                <a:cs typeface="+mn-cs"/>
              </a:rPr>
              <a:t>Builds on today’s read and the</a:t>
            </a:r>
            <a:r>
              <a:rPr kumimoji="0" lang="en-US" sz="1100" b="0" i="1" u="none" strike="noStrike" kern="1200" cap="none" spc="0" normalizeH="0" baseline="0" noProof="0">
                <a:ln>
                  <a:noFill/>
                </a:ln>
                <a:solidFill>
                  <a:srgbClr val="575757"/>
                </a:solidFill>
                <a:effectLst/>
                <a:uLnTx/>
                <a:uFillTx/>
                <a:latin typeface="Fira Sans"/>
                <a:ea typeface="+mn-ea"/>
                <a:cs typeface="+mn-cs"/>
              </a:rPr>
              <a:t> </a:t>
            </a:r>
            <a:r>
              <a:rPr kumimoji="0" sz="1100" b="0" i="1" u="none" strike="noStrike" kern="1200" cap="none" spc="0" normalizeH="0" baseline="0" noProof="0">
                <a:ln>
                  <a:noFill/>
                </a:ln>
                <a:solidFill>
                  <a:srgbClr val="575757"/>
                </a:solidFill>
                <a:effectLst/>
                <a:uLnTx/>
                <a:uFillTx/>
                <a:latin typeface="Fira Sans"/>
                <a:ea typeface="+mn-ea"/>
                <a:cs typeface="+mn-cs"/>
              </a:rPr>
              <a:t>positioning work.</a:t>
            </a:r>
          </a:p>
        </p:txBody>
      </p:sp>
      <p:sp>
        <p:nvSpPr>
          <p:cNvPr id="3" name="TextBox 2">
            <a:extLst>
              <a:ext uri="{FF2B5EF4-FFF2-40B4-BE49-F238E27FC236}">
                <a16:creationId xmlns:a16="http://schemas.microsoft.com/office/drawing/2014/main" id="{3538ED34-6D43-CB2B-732A-B2FEA0EE1181}"/>
              </a:ext>
            </a:extLst>
          </p:cNvPr>
          <p:cNvSpPr txBox="1"/>
          <p:nvPr/>
        </p:nvSpPr>
        <p:spPr>
          <a:xfrm>
            <a:off x="4742728" y="4696000"/>
            <a:ext cx="310974" cy="325526"/>
          </a:xfrm>
          <a:prstGeom prst="rect">
            <a:avLst/>
          </a:prstGeom>
          <a:noFill/>
        </p:spPr>
        <p:txBody>
          <a:bodyPr wrap="square" lIns="0" tIns="0" rIns="0" bIns="0" anchor="t">
            <a:noAutofit/>
          </a:bodyPr>
          <a:lstStyle/>
          <a:p>
            <a:pPr marL="0" marR="0" lvl="0" indent="0" algn="ctr" defTabSz="457200" rtl="0" eaLnBrk="1" fontAlgn="auto" latinLnBrk="0" hangingPunct="1">
              <a:lnSpc>
                <a:spcPts val="2419"/>
              </a:lnSpc>
              <a:spcBef>
                <a:spcPts val="0"/>
              </a:spcBef>
              <a:spcAft>
                <a:spcPts val="0"/>
              </a:spcAft>
              <a:buClrTx/>
              <a:buSzTx/>
              <a:buFontTx/>
              <a:buNone/>
              <a:tabLst/>
              <a:defRPr/>
            </a:pPr>
            <a:r>
              <a:rPr kumimoji="0" sz="1650" b="0" i="0" u="none" strike="noStrike" kern="1200" cap="none" spc="0" normalizeH="0" baseline="0" noProof="0">
                <a:ln>
                  <a:noFill/>
                </a:ln>
                <a:solidFill>
                  <a:srgbClr val="9A9A9A"/>
                </a:solidFill>
                <a:effectLst/>
                <a:uLnTx/>
                <a:uFillTx/>
                <a:latin typeface="Fira Sans"/>
                <a:ea typeface="+mn-ea"/>
                <a:cs typeface="+mn-cs"/>
              </a:rPr>
              <a:t>→</a:t>
            </a:r>
          </a:p>
        </p:txBody>
      </p:sp>
    </p:spTree>
    <p:extLst>
      <p:ext uri="{BB962C8B-B14F-4D97-AF65-F5344CB8AC3E}">
        <p14:creationId xmlns:p14="http://schemas.microsoft.com/office/powerpoint/2010/main" val="2468186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39B0C4E3-0C5F-DB06-3390-9E2EDC6579C9}"/>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7D310D1C-F6BC-AE96-F209-F947CA50C180}"/>
              </a:ext>
            </a:extLst>
          </p:cNvPr>
          <p:cNvSpPr txBox="1"/>
          <p:nvPr/>
        </p:nvSpPr>
        <p:spPr>
          <a:xfrm>
            <a:off x="503046" y="366045"/>
            <a:ext cx="1355205"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WHY WE'RE HERE</a:t>
            </a:r>
          </a:p>
        </p:txBody>
      </p:sp>
      <p:sp>
        <p:nvSpPr>
          <p:cNvPr id="92" name="TextBox 91">
            <a:extLst>
              <a:ext uri="{FF2B5EF4-FFF2-40B4-BE49-F238E27FC236}">
                <a16:creationId xmlns:a16="http://schemas.microsoft.com/office/drawing/2014/main" id="{AAF71236-C4D5-379A-4377-80E4B76A415B}"/>
              </a:ext>
            </a:extLst>
          </p:cNvPr>
          <p:cNvSpPr txBox="1"/>
          <p:nvPr/>
        </p:nvSpPr>
        <p:spPr>
          <a:xfrm>
            <a:off x="503046" y="743648"/>
            <a:ext cx="11745204"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We're</a:t>
            </a:r>
            <a:r>
              <a:rPr kumimoji="0" sz="2900" b="0" i="0" u="none" strike="noStrike" kern="1200" cap="none" spc="-14" normalizeH="0" baseline="0" noProof="0">
                <a:ln>
                  <a:noFill/>
                </a:ln>
                <a:solidFill>
                  <a:srgbClr val="232422"/>
                </a:solidFill>
                <a:effectLst/>
                <a:uLnTx/>
                <a:uFillTx/>
                <a:latin typeface="Fira Sans"/>
                <a:ea typeface="+mn-ea"/>
                <a:cs typeface="+mn-cs"/>
              </a:rPr>
              <a:t> sharing key insights from our ecosystem and</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loyalty research – and the choices they open for the new lineup</a:t>
            </a:r>
          </a:p>
        </p:txBody>
      </p:sp>
      <p:sp>
        <p:nvSpPr>
          <p:cNvPr id="93" name="TextBox 92">
            <a:extLst>
              <a:ext uri="{FF2B5EF4-FFF2-40B4-BE49-F238E27FC236}">
                <a16:creationId xmlns:a16="http://schemas.microsoft.com/office/drawing/2014/main" id="{6C315FD9-660B-C797-199B-7E39B5F5FA62}"/>
              </a:ext>
            </a:extLst>
          </p:cNvPr>
          <p:cNvSpPr txBox="1"/>
          <p:nvPr/>
        </p:nvSpPr>
        <p:spPr>
          <a:xfrm>
            <a:off x="503046" y="1848378"/>
            <a:ext cx="1174520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0" i="0" u="none" strike="noStrike" kern="1200" cap="all" spc="104" normalizeH="0" baseline="0" noProof="0">
                <a:ln>
                  <a:noFill/>
                </a:ln>
                <a:solidFill>
                  <a:srgbClr val="007651"/>
                </a:solidFill>
                <a:effectLst/>
                <a:uLnTx/>
                <a:uFillTx/>
                <a:latin typeface="Fira Sans SemiBold"/>
                <a:ea typeface="+mn-ea"/>
                <a:cs typeface="+mn-cs"/>
              </a:rPr>
              <a:t>What we synthesized</a:t>
            </a:r>
          </a:p>
        </p:txBody>
      </p:sp>
      <p:sp>
        <p:nvSpPr>
          <p:cNvPr id="94" name="Rounded Rectangle 93">
            <a:extLst>
              <a:ext uri="{FF2B5EF4-FFF2-40B4-BE49-F238E27FC236}">
                <a16:creationId xmlns:a16="http://schemas.microsoft.com/office/drawing/2014/main" id="{B0621AD1-93DB-2B51-0AD1-2ADA9C84BD3F}"/>
              </a:ext>
            </a:extLst>
          </p:cNvPr>
          <p:cNvSpPr/>
          <p:nvPr/>
        </p:nvSpPr>
        <p:spPr>
          <a:xfrm>
            <a:off x="503046" y="2189133"/>
            <a:ext cx="2087195" cy="4018483"/>
          </a:xfrm>
          <a:prstGeom prst="roundRect">
            <a:avLst>
              <a:gd name="adj" fmla="val 824"/>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 name="TextBox 94">
            <a:extLst>
              <a:ext uri="{FF2B5EF4-FFF2-40B4-BE49-F238E27FC236}">
                <a16:creationId xmlns:a16="http://schemas.microsoft.com/office/drawing/2014/main" id="{D823FE7A-59E8-0F53-74B1-5EEDB9332FA6}"/>
              </a:ext>
            </a:extLst>
          </p:cNvPr>
          <p:cNvSpPr txBox="1"/>
          <p:nvPr/>
        </p:nvSpPr>
        <p:spPr>
          <a:xfrm>
            <a:off x="682512" y="2310207"/>
            <a:ext cx="1814675"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800" b="0" i="0" u="none" strike="noStrike" kern="1200" cap="none" spc="0" normalizeH="0" baseline="0" noProof="0">
                <a:ln>
                  <a:noFill/>
                </a:ln>
                <a:solidFill>
                  <a:srgbClr val="007651"/>
                </a:solidFill>
                <a:effectLst/>
                <a:uLnTx/>
                <a:uFillTx/>
                <a:latin typeface="Fira Sans Medium"/>
                <a:ea typeface="+mn-ea"/>
                <a:cs typeface="+mn-cs"/>
              </a:rPr>
              <a:t>1</a:t>
            </a:r>
          </a:p>
        </p:txBody>
      </p:sp>
      <p:sp>
        <p:nvSpPr>
          <p:cNvPr id="96" name="TextBox 95">
            <a:extLst>
              <a:ext uri="{FF2B5EF4-FFF2-40B4-BE49-F238E27FC236}">
                <a16:creationId xmlns:a16="http://schemas.microsoft.com/office/drawing/2014/main" id="{0754DD88-7EB8-46A0-61F0-F44EA85EFBE3}"/>
              </a:ext>
            </a:extLst>
          </p:cNvPr>
          <p:cNvSpPr txBox="1"/>
          <p:nvPr/>
        </p:nvSpPr>
        <p:spPr>
          <a:xfrm>
            <a:off x="682512" y="2704119"/>
            <a:ext cx="1814675" cy="457200"/>
          </a:xfrm>
          <a:prstGeom prst="rect">
            <a:avLst/>
          </a:prstGeom>
          <a:noFill/>
        </p:spPr>
        <p:txBody>
          <a:bodyPr wrap="square" lIns="0" tIns="0" rIns="0" bIns="0" anchor="t">
            <a:noAutofit/>
          </a:bodyPr>
          <a:lstStyle/>
          <a:p>
            <a:pPr marL="0" marR="0" lvl="0" indent="0" algn="l" defTabSz="457200" rtl="0" eaLnBrk="1" fontAlgn="auto" latinLnBrk="0" hangingPunct="1">
              <a:lnSpc>
                <a:spcPts val="1728"/>
              </a:lnSpc>
              <a:spcBef>
                <a:spcPts val="0"/>
              </a:spcBef>
              <a:spcAft>
                <a:spcPts val="0"/>
              </a:spcAft>
              <a:buClrTx/>
              <a:buSzTx/>
              <a:buFontTx/>
              <a:buNone/>
              <a:tabLst/>
              <a:defRPr/>
            </a:pPr>
            <a:r>
              <a:rPr kumimoji="0" lang="en-US" sz="1400" b="0" i="0" u="none" strike="noStrike" kern="1200" cap="none" spc="0" normalizeH="0" baseline="0" noProof="0">
                <a:ln>
                  <a:noFill/>
                </a:ln>
                <a:solidFill>
                  <a:srgbClr val="232422"/>
                </a:solidFill>
                <a:effectLst/>
                <a:uLnTx/>
                <a:uFillTx/>
                <a:latin typeface="Fira Sans Medium"/>
                <a:ea typeface="+mn-ea"/>
                <a:cs typeface="+mn-cs"/>
              </a:rPr>
              <a:t>Stakeholder </a:t>
            </a:r>
            <a:br>
              <a:rPr kumimoji="0" lang="en-US" sz="1400" b="0" i="0" u="none" strike="noStrike" kern="1200" cap="none" spc="0" normalizeH="0" baseline="0" noProof="0">
                <a:ln>
                  <a:noFill/>
                </a:ln>
                <a:solidFill>
                  <a:srgbClr val="232422"/>
                </a:solidFill>
                <a:effectLst/>
                <a:uLnTx/>
                <a:uFillTx/>
                <a:latin typeface="Fira Sans Medium"/>
                <a:ea typeface="+mn-ea"/>
                <a:cs typeface="+mn-cs"/>
              </a:rPr>
            </a:br>
            <a:r>
              <a:rPr kumimoji="0" lang="en-US" sz="1400" b="0" i="0" u="none" strike="noStrike" kern="1200" cap="none" spc="0" normalizeH="0" baseline="0" noProof="0">
                <a:ln>
                  <a:noFill/>
                </a:ln>
                <a:solidFill>
                  <a:srgbClr val="232422"/>
                </a:solidFill>
                <a:effectLst/>
                <a:uLnTx/>
                <a:uFillTx/>
                <a:latin typeface="Fira Sans Medium"/>
                <a:ea typeface="+mn-ea"/>
                <a:cs typeface="+mn-cs"/>
              </a:rPr>
              <a:t>interviews</a:t>
            </a:r>
            <a:endParaRPr kumimoji="0" sz="1400" b="0" i="0" u="none" strike="noStrike" kern="1200" cap="none" spc="0" normalizeH="0" baseline="0" noProof="0">
              <a:ln>
                <a:noFill/>
              </a:ln>
              <a:solidFill>
                <a:srgbClr val="232422"/>
              </a:solidFill>
              <a:effectLst/>
              <a:uLnTx/>
              <a:uFillTx/>
              <a:latin typeface="Fira Sans Medium"/>
              <a:ea typeface="+mn-ea"/>
              <a:cs typeface="+mn-cs"/>
            </a:endParaRPr>
          </a:p>
        </p:txBody>
      </p:sp>
      <p:sp>
        <p:nvSpPr>
          <p:cNvPr id="98" name="Rounded Rectangle 97">
            <a:extLst>
              <a:ext uri="{FF2B5EF4-FFF2-40B4-BE49-F238E27FC236}">
                <a16:creationId xmlns:a16="http://schemas.microsoft.com/office/drawing/2014/main" id="{5C7DA54A-8D2B-B4DF-F5F4-4945DFE40ECB}"/>
              </a:ext>
            </a:extLst>
          </p:cNvPr>
          <p:cNvSpPr/>
          <p:nvPr/>
        </p:nvSpPr>
        <p:spPr>
          <a:xfrm>
            <a:off x="2718223" y="2189133"/>
            <a:ext cx="2087195" cy="4018483"/>
          </a:xfrm>
          <a:prstGeom prst="roundRect">
            <a:avLst>
              <a:gd name="adj" fmla="val 824"/>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 name="TextBox 98">
            <a:extLst>
              <a:ext uri="{FF2B5EF4-FFF2-40B4-BE49-F238E27FC236}">
                <a16:creationId xmlns:a16="http://schemas.microsoft.com/office/drawing/2014/main" id="{720CD187-6409-BD6C-9FD4-9B6DD12C7547}"/>
              </a:ext>
            </a:extLst>
          </p:cNvPr>
          <p:cNvSpPr txBox="1"/>
          <p:nvPr/>
        </p:nvSpPr>
        <p:spPr>
          <a:xfrm>
            <a:off x="2913280" y="2310207"/>
            <a:ext cx="1814675"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800" b="0" i="0" u="none" strike="noStrike" kern="1200" cap="none" spc="0" normalizeH="0" baseline="0" noProof="0">
                <a:ln>
                  <a:noFill/>
                </a:ln>
                <a:solidFill>
                  <a:srgbClr val="007651"/>
                </a:solidFill>
                <a:effectLst/>
                <a:uLnTx/>
                <a:uFillTx/>
                <a:latin typeface="Fira Sans Medium"/>
                <a:ea typeface="+mn-ea"/>
                <a:cs typeface="+mn-cs"/>
              </a:rPr>
              <a:t>2</a:t>
            </a:r>
          </a:p>
        </p:txBody>
      </p:sp>
      <p:sp>
        <p:nvSpPr>
          <p:cNvPr id="102" name="Rounded Rectangle 101">
            <a:extLst>
              <a:ext uri="{FF2B5EF4-FFF2-40B4-BE49-F238E27FC236}">
                <a16:creationId xmlns:a16="http://schemas.microsoft.com/office/drawing/2014/main" id="{6B094EE3-A74F-91E3-D1D6-54BC8997CE93}"/>
              </a:ext>
            </a:extLst>
          </p:cNvPr>
          <p:cNvSpPr/>
          <p:nvPr/>
        </p:nvSpPr>
        <p:spPr>
          <a:xfrm>
            <a:off x="4933400" y="2189133"/>
            <a:ext cx="2087195" cy="4018483"/>
          </a:xfrm>
          <a:prstGeom prst="roundRect">
            <a:avLst>
              <a:gd name="adj" fmla="val 824"/>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TextBox 102">
            <a:extLst>
              <a:ext uri="{FF2B5EF4-FFF2-40B4-BE49-F238E27FC236}">
                <a16:creationId xmlns:a16="http://schemas.microsoft.com/office/drawing/2014/main" id="{EFE4E8CD-5E17-DB5F-CB77-F58585023863}"/>
              </a:ext>
            </a:extLst>
          </p:cNvPr>
          <p:cNvSpPr txBox="1"/>
          <p:nvPr/>
        </p:nvSpPr>
        <p:spPr>
          <a:xfrm>
            <a:off x="5144049" y="2310207"/>
            <a:ext cx="1814675"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800" b="0" i="0" u="none" strike="noStrike" kern="1200" cap="none" spc="0" normalizeH="0" baseline="0" noProof="0">
                <a:ln>
                  <a:noFill/>
                </a:ln>
                <a:solidFill>
                  <a:srgbClr val="007651"/>
                </a:solidFill>
                <a:effectLst/>
                <a:uLnTx/>
                <a:uFillTx/>
                <a:latin typeface="Fira Sans Medium"/>
                <a:ea typeface="+mn-ea"/>
                <a:cs typeface="+mn-cs"/>
              </a:rPr>
              <a:t>3</a:t>
            </a:r>
          </a:p>
        </p:txBody>
      </p:sp>
      <p:sp>
        <p:nvSpPr>
          <p:cNvPr id="106" name="Rounded Rectangle 105">
            <a:extLst>
              <a:ext uri="{FF2B5EF4-FFF2-40B4-BE49-F238E27FC236}">
                <a16:creationId xmlns:a16="http://schemas.microsoft.com/office/drawing/2014/main" id="{AAE884AB-7019-A5FD-0C08-6E5A303957D6}"/>
              </a:ext>
            </a:extLst>
          </p:cNvPr>
          <p:cNvSpPr/>
          <p:nvPr/>
        </p:nvSpPr>
        <p:spPr>
          <a:xfrm>
            <a:off x="7148577" y="2189133"/>
            <a:ext cx="2087195" cy="4018483"/>
          </a:xfrm>
          <a:prstGeom prst="roundRect">
            <a:avLst>
              <a:gd name="adj" fmla="val 824"/>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7" name="TextBox 106">
            <a:extLst>
              <a:ext uri="{FF2B5EF4-FFF2-40B4-BE49-F238E27FC236}">
                <a16:creationId xmlns:a16="http://schemas.microsoft.com/office/drawing/2014/main" id="{46F4946B-9FEE-B227-AF64-C3EFFDA1FAB6}"/>
              </a:ext>
            </a:extLst>
          </p:cNvPr>
          <p:cNvSpPr txBox="1"/>
          <p:nvPr/>
        </p:nvSpPr>
        <p:spPr>
          <a:xfrm>
            <a:off x="7374818" y="2310207"/>
            <a:ext cx="1814675"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800" b="0" i="0" u="none" strike="noStrike" kern="1200" cap="none" spc="0" normalizeH="0" baseline="0" noProof="0">
                <a:ln>
                  <a:noFill/>
                </a:ln>
                <a:solidFill>
                  <a:srgbClr val="007651"/>
                </a:solidFill>
                <a:effectLst/>
                <a:uLnTx/>
                <a:uFillTx/>
                <a:latin typeface="Fira Sans Medium"/>
                <a:ea typeface="+mn-ea"/>
                <a:cs typeface="+mn-cs"/>
              </a:rPr>
              <a:t>4</a:t>
            </a:r>
          </a:p>
        </p:txBody>
      </p:sp>
      <p:sp>
        <p:nvSpPr>
          <p:cNvPr id="3" name="Rounded Rectangle 2">
            <a:extLst>
              <a:ext uri="{FF2B5EF4-FFF2-40B4-BE49-F238E27FC236}">
                <a16:creationId xmlns:a16="http://schemas.microsoft.com/office/drawing/2014/main" id="{2657F422-8703-5F2A-E32D-F6DEA1D4FB2E}"/>
              </a:ext>
            </a:extLst>
          </p:cNvPr>
          <p:cNvSpPr/>
          <p:nvPr/>
        </p:nvSpPr>
        <p:spPr>
          <a:xfrm>
            <a:off x="9363756" y="2189133"/>
            <a:ext cx="2087195" cy="4018483"/>
          </a:xfrm>
          <a:prstGeom prst="roundRect">
            <a:avLst>
              <a:gd name="adj" fmla="val 824"/>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3725BAD4-2C05-59B7-BB42-0E3FE5BA1577}"/>
              </a:ext>
            </a:extLst>
          </p:cNvPr>
          <p:cNvSpPr txBox="1"/>
          <p:nvPr/>
        </p:nvSpPr>
        <p:spPr>
          <a:xfrm>
            <a:off x="9543223" y="2310207"/>
            <a:ext cx="1814675"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lang="en-US" sz="1800" b="0" i="0" u="none" strike="noStrike" kern="1200" cap="none" spc="0" normalizeH="0" baseline="0" noProof="0">
                <a:ln>
                  <a:noFill/>
                </a:ln>
                <a:solidFill>
                  <a:srgbClr val="007651"/>
                </a:solidFill>
                <a:effectLst/>
                <a:uLnTx/>
                <a:uFillTx/>
                <a:latin typeface="Fira Sans Medium"/>
                <a:ea typeface="+mn-ea"/>
                <a:cs typeface="+mn-cs"/>
              </a:rPr>
              <a:t>5</a:t>
            </a:r>
            <a:endParaRPr kumimoji="0" sz="1800" b="0" i="0" u="none" strike="noStrike" kern="1200" cap="none" spc="0" normalizeH="0" baseline="0" noProof="0">
              <a:ln>
                <a:noFill/>
              </a:ln>
              <a:solidFill>
                <a:srgbClr val="007651"/>
              </a:solidFill>
              <a:effectLst/>
              <a:uLnTx/>
              <a:uFillTx/>
              <a:latin typeface="Fira Sans Medium"/>
              <a:ea typeface="+mn-ea"/>
              <a:cs typeface="+mn-cs"/>
            </a:endParaRPr>
          </a:p>
        </p:txBody>
      </p:sp>
      <p:sp>
        <p:nvSpPr>
          <p:cNvPr id="5" name="TextBox 4">
            <a:extLst>
              <a:ext uri="{FF2B5EF4-FFF2-40B4-BE49-F238E27FC236}">
                <a16:creationId xmlns:a16="http://schemas.microsoft.com/office/drawing/2014/main" id="{DEFB2A3E-C5FC-DC2F-4920-36493281A40E}"/>
              </a:ext>
            </a:extLst>
          </p:cNvPr>
          <p:cNvSpPr txBox="1"/>
          <p:nvPr/>
        </p:nvSpPr>
        <p:spPr>
          <a:xfrm>
            <a:off x="9517466" y="3202475"/>
            <a:ext cx="1602141"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Loyalty models </a:t>
            </a:r>
            <a:r>
              <a:rPr kumimoji="0" lang="en-US" sz="1200" b="0" i="0" u="none" strike="noStrike" kern="1200" cap="none" spc="0" normalizeH="0" baseline="0" noProof="0">
                <a:ln>
                  <a:noFill/>
                </a:ln>
                <a:solidFill>
                  <a:srgbClr val="575757"/>
                </a:solidFill>
                <a:effectLst/>
                <a:uLnTx/>
                <a:uFillTx/>
                <a:latin typeface="Fira Sans"/>
                <a:ea typeface="+mn-ea"/>
                <a:cs typeface="+mn-cs"/>
              </a:rPr>
              <a:t>within and </a:t>
            </a:r>
            <a:r>
              <a:rPr kumimoji="0" sz="1200" b="0" i="0" u="none" strike="noStrike" kern="1200" cap="none" spc="0" normalizeH="0" baseline="0" noProof="0">
                <a:ln>
                  <a:noFill/>
                </a:ln>
                <a:solidFill>
                  <a:srgbClr val="575757"/>
                </a:solidFill>
                <a:effectLst/>
                <a:uLnTx/>
                <a:uFillTx/>
                <a:latin typeface="Fira Sans"/>
                <a:ea typeface="+mn-ea"/>
                <a:cs typeface="+mn-cs"/>
              </a:rPr>
              <a:t>beyond</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banking, and what they change</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about recognition and value.</a:t>
            </a:r>
          </a:p>
        </p:txBody>
      </p:sp>
      <p:sp>
        <p:nvSpPr>
          <p:cNvPr id="6" name="TextBox 5">
            <a:extLst>
              <a:ext uri="{FF2B5EF4-FFF2-40B4-BE49-F238E27FC236}">
                <a16:creationId xmlns:a16="http://schemas.microsoft.com/office/drawing/2014/main" id="{812489C1-C4FC-48B7-B63B-38F502AA263A}"/>
              </a:ext>
            </a:extLst>
          </p:cNvPr>
          <p:cNvSpPr txBox="1"/>
          <p:nvPr/>
        </p:nvSpPr>
        <p:spPr>
          <a:xfrm>
            <a:off x="9509703" y="2704119"/>
            <a:ext cx="2087195" cy="296995"/>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32422"/>
                </a:solidFill>
                <a:effectLst/>
                <a:uLnTx/>
                <a:uFillTx/>
                <a:latin typeface="Fira Sans Medium"/>
                <a:ea typeface="+mn-ea"/>
                <a:cs typeface="+mn-cs"/>
              </a:rPr>
              <a:t>Cross-category</a:t>
            </a:r>
            <a:r>
              <a:rPr kumimoji="0" sz="1400" b="0" i="0" u="none" strike="noStrike" kern="1200" cap="none" spc="0" normalizeH="0" baseline="0" noProof="0">
                <a:ln>
                  <a:noFill/>
                </a:ln>
                <a:solidFill>
                  <a:srgbClr val="232422"/>
                </a:solidFill>
                <a:effectLst/>
                <a:uLnTx/>
                <a:uFillTx/>
                <a:latin typeface="Fira Sans Medium"/>
                <a:ea typeface="+mn-ea"/>
                <a:cs typeface="+mn-cs"/>
              </a:rPr>
              <a:t> </a:t>
            </a:r>
            <a:br>
              <a:rPr kumimoji="0" lang="en-US" sz="1400" b="0" i="0" u="none" strike="noStrike" kern="1200" cap="none" spc="0" normalizeH="0" baseline="0" noProof="0">
                <a:ln>
                  <a:noFill/>
                </a:ln>
                <a:solidFill>
                  <a:srgbClr val="232422"/>
                </a:solidFill>
                <a:effectLst/>
                <a:uLnTx/>
                <a:uFillTx/>
                <a:latin typeface="Fira Sans Medium"/>
                <a:ea typeface="+mn-ea"/>
                <a:cs typeface="+mn-cs"/>
              </a:rPr>
            </a:br>
            <a:r>
              <a:rPr kumimoji="0" sz="1400" b="0" i="0" u="none" strike="noStrike" kern="1200" cap="none" spc="0" normalizeH="0" baseline="0" noProof="0">
                <a:ln>
                  <a:noFill/>
                </a:ln>
                <a:solidFill>
                  <a:srgbClr val="232422"/>
                </a:solidFill>
                <a:effectLst/>
                <a:uLnTx/>
                <a:uFillTx/>
                <a:latin typeface="Fira Sans Medium"/>
                <a:ea typeface="+mn-ea"/>
                <a:cs typeface="+mn-cs"/>
              </a:rPr>
              <a:t>loyalty</a:t>
            </a:r>
          </a:p>
        </p:txBody>
      </p:sp>
      <p:sp>
        <p:nvSpPr>
          <p:cNvPr id="7" name="TextBox 6">
            <a:extLst>
              <a:ext uri="{FF2B5EF4-FFF2-40B4-BE49-F238E27FC236}">
                <a16:creationId xmlns:a16="http://schemas.microsoft.com/office/drawing/2014/main" id="{C71DA81C-C170-66C8-A1E2-E9686A73D84E}"/>
              </a:ext>
            </a:extLst>
          </p:cNvPr>
          <p:cNvSpPr txBox="1"/>
          <p:nvPr/>
        </p:nvSpPr>
        <p:spPr>
          <a:xfrm>
            <a:off x="7342085" y="2704119"/>
            <a:ext cx="1814675" cy="457200"/>
          </a:xfrm>
          <a:prstGeom prst="rect">
            <a:avLst/>
          </a:prstGeom>
          <a:noFill/>
        </p:spPr>
        <p:txBody>
          <a:bodyPr wrap="square" lIns="0" tIns="0" rIns="0" bIns="0" anchor="t">
            <a:noAutofit/>
          </a:bodyPr>
          <a:lstStyle/>
          <a:p>
            <a:pPr marL="0" marR="0" lvl="0" indent="0" algn="l" defTabSz="457200" rtl="0" eaLnBrk="1" fontAlgn="auto" latinLnBrk="0" hangingPunct="1">
              <a:lnSpc>
                <a:spcPts val="1728"/>
              </a:lnSpc>
              <a:spcBef>
                <a:spcPts val="0"/>
              </a:spcBef>
              <a:spcAft>
                <a:spcPts val="0"/>
              </a:spcAft>
              <a:buClrTx/>
              <a:buSzTx/>
              <a:buFontTx/>
              <a:buNone/>
              <a:tabLst/>
              <a:defRPr/>
            </a:pPr>
            <a:r>
              <a:rPr kumimoji="0" sz="1400" b="0" i="0" u="none" strike="noStrike" kern="1200" cap="none" spc="0" normalizeH="0" baseline="0" noProof="0">
                <a:ln>
                  <a:noFill/>
                </a:ln>
                <a:solidFill>
                  <a:srgbClr val="232422"/>
                </a:solidFill>
                <a:effectLst/>
                <a:uLnTx/>
                <a:uFillTx/>
                <a:latin typeface="Fira Sans Medium"/>
                <a:ea typeface="+mn-ea"/>
                <a:cs typeface="+mn-cs"/>
              </a:rPr>
              <a:t>Competitive &amp;</a:t>
            </a:r>
          </a:p>
          <a:p>
            <a:pPr marL="0" marR="0" lvl="0" indent="0" algn="l" defTabSz="457200" rtl="0" eaLnBrk="1" fontAlgn="auto" latinLnBrk="0" hangingPunct="1">
              <a:lnSpc>
                <a:spcPts val="1728"/>
              </a:lnSpc>
              <a:spcBef>
                <a:spcPts val="0"/>
              </a:spcBef>
              <a:spcAft>
                <a:spcPts val="0"/>
              </a:spcAft>
              <a:buClrTx/>
              <a:buSzTx/>
              <a:buFontTx/>
              <a:buNone/>
              <a:tabLst/>
              <a:defRPr/>
            </a:pPr>
            <a:r>
              <a:rPr kumimoji="0" sz="1400" b="0" i="0" u="none" strike="noStrike" kern="1200" cap="none" spc="0" normalizeH="0" baseline="0" noProof="0">
                <a:ln>
                  <a:noFill/>
                </a:ln>
                <a:solidFill>
                  <a:srgbClr val="232422"/>
                </a:solidFill>
                <a:effectLst/>
                <a:uLnTx/>
                <a:uFillTx/>
                <a:latin typeface="Fira Sans Medium"/>
                <a:ea typeface="+mn-ea"/>
                <a:cs typeface="+mn-cs"/>
              </a:rPr>
              <a:t>category analysis</a:t>
            </a:r>
          </a:p>
        </p:txBody>
      </p:sp>
      <p:sp>
        <p:nvSpPr>
          <p:cNvPr id="8" name="TextBox 7">
            <a:extLst>
              <a:ext uri="{FF2B5EF4-FFF2-40B4-BE49-F238E27FC236}">
                <a16:creationId xmlns:a16="http://schemas.microsoft.com/office/drawing/2014/main" id="{86374E35-CE38-9443-9AE4-602DFBB25B2F}"/>
              </a:ext>
            </a:extLst>
          </p:cNvPr>
          <p:cNvSpPr txBox="1"/>
          <p:nvPr/>
        </p:nvSpPr>
        <p:spPr>
          <a:xfrm>
            <a:off x="7342085" y="3202475"/>
            <a:ext cx="1699995"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Eight </a:t>
            </a:r>
            <a:r>
              <a:rPr kumimoji="0" lang="en-US" sz="1200" b="0" i="0" u="none" strike="noStrike" kern="1200" cap="none" spc="0" normalizeH="0" baseline="0" noProof="0">
                <a:ln>
                  <a:noFill/>
                </a:ln>
                <a:solidFill>
                  <a:srgbClr val="575757"/>
                </a:solidFill>
                <a:effectLst/>
                <a:uLnTx/>
                <a:uFillTx/>
                <a:latin typeface="Fira Sans"/>
                <a:ea typeface="+mn-ea"/>
                <a:cs typeface="+mn-cs"/>
              </a:rPr>
              <a:t>competitors </a:t>
            </a:r>
            <a:r>
              <a:rPr kumimoji="0" sz="1200" b="0" i="0" u="none" strike="noStrike" kern="1200" cap="none" spc="0" normalizeH="0" baseline="0" noProof="0">
                <a:ln>
                  <a:noFill/>
                </a:ln>
                <a:solidFill>
                  <a:srgbClr val="575757"/>
                </a:solidFill>
                <a:effectLst/>
                <a:uLnTx/>
                <a:uFillTx/>
                <a:latin typeface="Fira Sans"/>
                <a:ea typeface="+mn-ea"/>
                <a:cs typeface="+mn-cs"/>
              </a:rPr>
              <a:t>audited </a:t>
            </a:r>
            <a:r>
              <a:rPr kumimoji="0" lang="en-US" sz="1200" b="0" i="0" u="none" strike="noStrike" kern="1200" cap="none" spc="0" normalizeH="0" baseline="0" noProof="0">
                <a:ln>
                  <a:noFill/>
                </a:ln>
                <a:solidFill>
                  <a:srgbClr val="575757"/>
                </a:solidFill>
                <a:effectLst/>
                <a:uLnTx/>
                <a:uFillTx/>
                <a:latin typeface="Fira Sans"/>
                <a:ea typeface="+mn-ea"/>
                <a:cs typeface="+mn-cs"/>
              </a:rPr>
              <a:t>across the same four ecosystem layers</a:t>
            </a:r>
            <a:r>
              <a:rPr kumimoji="0" sz="1200" b="0" i="0" u="none" strike="noStrike" kern="1200" cap="none" spc="0" normalizeH="0" baseline="0" noProof="0">
                <a:ln>
                  <a:noFill/>
                </a:ln>
                <a:solidFill>
                  <a:srgbClr val="575757"/>
                </a:solidFill>
                <a:effectLst/>
                <a:uLnTx/>
                <a:uFillTx/>
                <a:latin typeface="Fira Sans"/>
                <a:ea typeface="+mn-ea"/>
                <a:cs typeface="+mn-cs"/>
              </a:rPr>
              <a:t>, with a</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documented evidence base.</a:t>
            </a:r>
          </a:p>
        </p:txBody>
      </p:sp>
      <p:sp>
        <p:nvSpPr>
          <p:cNvPr id="9" name="TextBox 8">
            <a:extLst>
              <a:ext uri="{FF2B5EF4-FFF2-40B4-BE49-F238E27FC236}">
                <a16:creationId xmlns:a16="http://schemas.microsoft.com/office/drawing/2014/main" id="{F65E92BF-14B3-2809-9E83-EBFE9CA17FAC}"/>
              </a:ext>
            </a:extLst>
          </p:cNvPr>
          <p:cNvSpPr txBox="1"/>
          <p:nvPr/>
        </p:nvSpPr>
        <p:spPr>
          <a:xfrm>
            <a:off x="5102021" y="2704119"/>
            <a:ext cx="1814675" cy="457200"/>
          </a:xfrm>
          <a:prstGeom prst="rect">
            <a:avLst/>
          </a:prstGeom>
          <a:noFill/>
        </p:spPr>
        <p:txBody>
          <a:bodyPr wrap="square" lIns="0" tIns="0" rIns="0" bIns="0" anchor="t">
            <a:noAutofit/>
          </a:bodyPr>
          <a:lstStyle/>
          <a:p>
            <a:pPr marL="0" marR="0" lvl="0" indent="0" algn="l" defTabSz="457200" rtl="0" eaLnBrk="1" fontAlgn="auto" latinLnBrk="0" hangingPunct="1">
              <a:lnSpc>
                <a:spcPts val="1728"/>
              </a:lnSpc>
              <a:spcBef>
                <a:spcPts val="0"/>
              </a:spcBef>
              <a:spcAft>
                <a:spcPts val="0"/>
              </a:spcAft>
              <a:buClrTx/>
              <a:buSzTx/>
              <a:buFontTx/>
              <a:buNone/>
              <a:tabLst/>
              <a:defRPr/>
            </a:pPr>
            <a:r>
              <a:rPr kumimoji="0" sz="1400" b="0" i="0" u="none" strike="noStrike" kern="1200" cap="none" spc="0" normalizeH="0" baseline="0" noProof="0">
                <a:ln>
                  <a:noFill/>
                </a:ln>
                <a:solidFill>
                  <a:srgbClr val="232422"/>
                </a:solidFill>
                <a:effectLst/>
                <a:uLnTx/>
                <a:uFillTx/>
                <a:latin typeface="Fira Sans Medium"/>
                <a:ea typeface="+mn-ea"/>
                <a:cs typeface="+mn-cs"/>
              </a:rPr>
              <a:t>Audience research –</a:t>
            </a:r>
          </a:p>
          <a:p>
            <a:pPr marL="0" marR="0" lvl="0" indent="0" algn="l" defTabSz="457200" rtl="0" eaLnBrk="1" fontAlgn="auto" latinLnBrk="0" hangingPunct="1">
              <a:lnSpc>
                <a:spcPts val="1728"/>
              </a:lnSpc>
              <a:spcBef>
                <a:spcPts val="0"/>
              </a:spcBef>
              <a:spcAft>
                <a:spcPts val="0"/>
              </a:spcAft>
              <a:buClrTx/>
              <a:buSzTx/>
              <a:buFontTx/>
              <a:buNone/>
              <a:tabLst/>
              <a:defRPr/>
            </a:pPr>
            <a:r>
              <a:rPr kumimoji="0" lang="en-US" sz="1400" b="0" i="0" u="none" strike="noStrike" kern="1200" cap="none" spc="0" normalizeH="0" baseline="0" noProof="0">
                <a:ln>
                  <a:noFill/>
                </a:ln>
                <a:solidFill>
                  <a:srgbClr val="232422"/>
                </a:solidFill>
                <a:effectLst/>
                <a:uLnTx/>
                <a:uFillTx/>
                <a:latin typeface="Fira Sans Medium"/>
                <a:ea typeface="+mn-ea"/>
                <a:cs typeface="+mn-cs"/>
              </a:rPr>
              <a:t>Wealth Builders</a:t>
            </a:r>
            <a:endParaRPr kumimoji="0" sz="1400" b="0" i="0" u="none" strike="noStrike" kern="1200" cap="none" spc="0" normalizeH="0" baseline="0" noProof="0">
              <a:ln>
                <a:noFill/>
              </a:ln>
              <a:solidFill>
                <a:srgbClr val="232422"/>
              </a:solidFill>
              <a:effectLst/>
              <a:uLnTx/>
              <a:uFillTx/>
              <a:latin typeface="Fira Sans Medium"/>
              <a:ea typeface="+mn-ea"/>
              <a:cs typeface="+mn-cs"/>
            </a:endParaRPr>
          </a:p>
        </p:txBody>
      </p:sp>
      <p:sp>
        <p:nvSpPr>
          <p:cNvPr id="10" name="TextBox 9">
            <a:extLst>
              <a:ext uri="{FF2B5EF4-FFF2-40B4-BE49-F238E27FC236}">
                <a16:creationId xmlns:a16="http://schemas.microsoft.com/office/drawing/2014/main" id="{D7BDE4AD-5610-24EB-369D-1E6B5468BD0E}"/>
              </a:ext>
            </a:extLst>
          </p:cNvPr>
          <p:cNvSpPr txBox="1"/>
          <p:nvPr/>
        </p:nvSpPr>
        <p:spPr>
          <a:xfrm>
            <a:off x="5102021" y="3202475"/>
            <a:ext cx="1699995" cy="919521"/>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Independent and Premium </a:t>
            </a:r>
            <a:r>
              <a:rPr kumimoji="0" sz="1200" b="0" i="0" u="none" strike="noStrike" kern="1200" cap="none" spc="0" normalizeH="0" baseline="0" noProof="0">
                <a:ln>
                  <a:noFill/>
                </a:ln>
                <a:solidFill>
                  <a:srgbClr val="575757"/>
                </a:solidFill>
                <a:effectLst/>
                <a:uLnTx/>
                <a:uFillTx/>
                <a:latin typeface="Fira Sans"/>
                <a:ea typeface="+mn-ea"/>
                <a:cs typeface="+mn-cs"/>
              </a:rPr>
              <a:t>Wealth</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Builder: assets, banking</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behavior, and advice</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preferences.</a:t>
            </a:r>
          </a:p>
        </p:txBody>
      </p:sp>
      <p:sp>
        <p:nvSpPr>
          <p:cNvPr id="11" name="TextBox 10">
            <a:extLst>
              <a:ext uri="{FF2B5EF4-FFF2-40B4-BE49-F238E27FC236}">
                <a16:creationId xmlns:a16="http://schemas.microsoft.com/office/drawing/2014/main" id="{D90EDAD7-9474-5ADE-ED89-4A0767A20D54}"/>
              </a:ext>
            </a:extLst>
          </p:cNvPr>
          <p:cNvSpPr txBox="1"/>
          <p:nvPr/>
        </p:nvSpPr>
        <p:spPr>
          <a:xfrm>
            <a:off x="2897763" y="2704119"/>
            <a:ext cx="1814675" cy="457200"/>
          </a:xfrm>
          <a:prstGeom prst="rect">
            <a:avLst/>
          </a:prstGeom>
          <a:noFill/>
        </p:spPr>
        <p:txBody>
          <a:bodyPr wrap="square" lIns="0" tIns="0" rIns="0" bIns="0" anchor="t">
            <a:noAutofit/>
          </a:bodyPr>
          <a:lstStyle/>
          <a:p>
            <a:pPr marL="0" marR="0" lvl="0" indent="0" algn="l" defTabSz="457200" rtl="0" eaLnBrk="1" fontAlgn="auto" latinLnBrk="0" hangingPunct="1">
              <a:lnSpc>
                <a:spcPts val="1728"/>
              </a:lnSpc>
              <a:spcBef>
                <a:spcPts val="0"/>
              </a:spcBef>
              <a:spcAft>
                <a:spcPts val="0"/>
              </a:spcAft>
              <a:buClrTx/>
              <a:buSzTx/>
              <a:buFontTx/>
              <a:buNone/>
              <a:tabLst/>
              <a:defRPr/>
            </a:pPr>
            <a:r>
              <a:rPr kumimoji="0" sz="1400" b="0" i="0" u="none" strike="noStrike" kern="1200" cap="none" spc="0" normalizeH="0" baseline="0" noProof="0">
                <a:ln>
                  <a:noFill/>
                </a:ln>
                <a:solidFill>
                  <a:srgbClr val="232422"/>
                </a:solidFill>
                <a:effectLst/>
                <a:uLnTx/>
                <a:uFillTx/>
                <a:latin typeface="Fira Sans Medium"/>
                <a:ea typeface="+mn-ea"/>
                <a:cs typeface="+mn-cs"/>
              </a:rPr>
              <a:t>Citizens product</a:t>
            </a:r>
          </a:p>
          <a:p>
            <a:pPr marL="0" marR="0" lvl="0" indent="0" algn="l" defTabSz="457200" rtl="0" eaLnBrk="1" fontAlgn="auto" latinLnBrk="0" hangingPunct="1">
              <a:lnSpc>
                <a:spcPts val="1728"/>
              </a:lnSpc>
              <a:spcBef>
                <a:spcPts val="0"/>
              </a:spcBef>
              <a:spcAft>
                <a:spcPts val="0"/>
              </a:spcAft>
              <a:buClrTx/>
              <a:buSzTx/>
              <a:buFontTx/>
              <a:buNone/>
              <a:tabLst/>
              <a:defRPr/>
            </a:pPr>
            <a:r>
              <a:rPr kumimoji="0" sz="1400" b="0" i="0" u="none" strike="noStrike" kern="1200" cap="none" spc="0" normalizeH="0" baseline="0" noProof="0">
                <a:ln>
                  <a:noFill/>
                </a:ln>
                <a:solidFill>
                  <a:srgbClr val="232422"/>
                </a:solidFill>
                <a:effectLst/>
                <a:uLnTx/>
                <a:uFillTx/>
                <a:latin typeface="Fira Sans Medium"/>
                <a:ea typeface="+mn-ea"/>
                <a:cs typeface="+mn-cs"/>
              </a:rPr>
              <a:t>ecosystem</a:t>
            </a:r>
          </a:p>
        </p:txBody>
      </p:sp>
      <p:sp>
        <p:nvSpPr>
          <p:cNvPr id="12" name="TextBox 11">
            <a:extLst>
              <a:ext uri="{FF2B5EF4-FFF2-40B4-BE49-F238E27FC236}">
                <a16:creationId xmlns:a16="http://schemas.microsoft.com/office/drawing/2014/main" id="{A60CB9A8-2658-68C8-BEA8-36E0199C7543}"/>
              </a:ext>
            </a:extLst>
          </p:cNvPr>
          <p:cNvSpPr txBox="1"/>
          <p:nvPr/>
        </p:nvSpPr>
        <p:spPr>
          <a:xfrm>
            <a:off x="2897763" y="3202475"/>
            <a:ext cx="1699995" cy="919521"/>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Checking, Private Client, cards,</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and </a:t>
            </a:r>
            <a:r>
              <a:rPr kumimoji="0" sz="1200" b="0" i="0" u="none" strike="noStrike" kern="1200" cap="none" spc="0" normalizeH="0" baseline="0" noProof="0" err="1">
                <a:ln>
                  <a:noFill/>
                </a:ln>
                <a:solidFill>
                  <a:srgbClr val="575757"/>
                </a:solidFill>
                <a:effectLst/>
                <a:uLnTx/>
                <a:uFillTx/>
                <a:latin typeface="Fira Sans"/>
                <a:ea typeface="+mn-ea"/>
                <a:cs typeface="+mn-cs"/>
              </a:rPr>
              <a:t>CitizensPlus</a:t>
            </a:r>
            <a:r>
              <a:rPr kumimoji="0" sz="1200" b="0" i="0" u="none" strike="noStrike" kern="1200" cap="none" spc="0" normalizeH="0" baseline="0" noProof="0">
                <a:ln>
                  <a:noFill/>
                </a:ln>
                <a:solidFill>
                  <a:srgbClr val="575757"/>
                </a:solidFill>
                <a:effectLst/>
                <a:uLnTx/>
                <a:uFillTx/>
                <a:latin typeface="Fira Sans"/>
                <a:ea typeface="+mn-ea"/>
                <a:cs typeface="+mn-cs"/>
              </a:rPr>
              <a:t>, mapped from</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published </a:t>
            </a:r>
            <a:r>
              <a:rPr kumimoji="0" lang="en-US" sz="1200" b="0" i="0" u="none" strike="noStrike" kern="1200" cap="none" spc="0" normalizeH="0" baseline="0" noProof="0">
                <a:ln>
                  <a:noFill/>
                </a:ln>
                <a:solidFill>
                  <a:srgbClr val="575757"/>
                </a:solidFill>
                <a:effectLst/>
                <a:uLnTx/>
                <a:uFillTx/>
                <a:latin typeface="Fira Sans"/>
                <a:ea typeface="+mn-ea"/>
                <a:cs typeface="+mn-cs"/>
              </a:rPr>
              <a:t>content </a:t>
            </a:r>
            <a:r>
              <a:rPr kumimoji="0" sz="1200" b="0" i="0" u="none" strike="noStrike" kern="1200" cap="none" spc="0" normalizeH="0" baseline="0" noProof="0">
                <a:ln>
                  <a:noFill/>
                </a:ln>
                <a:solidFill>
                  <a:srgbClr val="575757"/>
                </a:solidFill>
                <a:effectLst/>
                <a:uLnTx/>
                <a:uFillTx/>
                <a:latin typeface="Fira Sans"/>
                <a:ea typeface="+mn-ea"/>
                <a:cs typeface="+mn-cs"/>
              </a:rPr>
              <a:t>and </a:t>
            </a:r>
            <a:r>
              <a:rPr kumimoji="0" lang="en-US" sz="1200" b="0" i="0" u="none" strike="noStrike" kern="1200" cap="none" spc="0" normalizeH="0" baseline="0" noProof="0">
                <a:ln>
                  <a:noFill/>
                </a:ln>
                <a:solidFill>
                  <a:srgbClr val="575757"/>
                </a:solidFill>
                <a:effectLst/>
                <a:uLnTx/>
                <a:uFillTx/>
                <a:latin typeface="Fira Sans"/>
                <a:ea typeface="+mn-ea"/>
                <a:cs typeface="+mn-cs"/>
              </a:rPr>
              <a:t>provided </a:t>
            </a:r>
            <a:r>
              <a:rPr kumimoji="0" sz="1200" b="0" i="0" u="none" strike="noStrike" kern="1200" cap="none" spc="0" normalizeH="0" baseline="0" noProof="0">
                <a:ln>
                  <a:noFill/>
                </a:ln>
                <a:solidFill>
                  <a:srgbClr val="575757"/>
                </a:solidFill>
                <a:effectLst/>
                <a:uLnTx/>
                <a:uFillTx/>
                <a:latin typeface="Fira Sans"/>
                <a:ea typeface="+mn-ea"/>
                <a:cs typeface="+mn-cs"/>
              </a:rPr>
              <a:t>materials.</a:t>
            </a:r>
          </a:p>
        </p:txBody>
      </p:sp>
      <p:pic>
        <p:nvPicPr>
          <p:cNvPr id="112" name="Picture 111" descr="wells-fargo.png">
            <a:extLst>
              <a:ext uri="{FF2B5EF4-FFF2-40B4-BE49-F238E27FC236}">
                <a16:creationId xmlns:a16="http://schemas.microsoft.com/office/drawing/2014/main" id="{472D60C0-2C9A-9C0D-C3A7-01762F2745E6}"/>
              </a:ext>
            </a:extLst>
          </p:cNvPr>
          <p:cNvPicPr>
            <a:picLocks noChangeAspect="1"/>
          </p:cNvPicPr>
          <p:nvPr/>
        </p:nvPicPr>
        <p:blipFill>
          <a:blip r:embed="rId3"/>
          <a:stretch>
            <a:fillRect/>
          </a:stretch>
        </p:blipFill>
        <p:spPr>
          <a:xfrm>
            <a:off x="7451152" y="4631289"/>
            <a:ext cx="291012" cy="290939"/>
          </a:xfrm>
          <a:prstGeom prst="rect">
            <a:avLst/>
          </a:prstGeom>
        </p:spPr>
      </p:pic>
      <p:pic>
        <p:nvPicPr>
          <p:cNvPr id="113" name="Picture 112" descr="chase.png">
            <a:extLst>
              <a:ext uri="{FF2B5EF4-FFF2-40B4-BE49-F238E27FC236}">
                <a16:creationId xmlns:a16="http://schemas.microsoft.com/office/drawing/2014/main" id="{3B591F30-42A7-3F7D-CCAF-E97C209FF6FE}"/>
              </a:ext>
            </a:extLst>
          </p:cNvPr>
          <p:cNvPicPr>
            <a:picLocks noChangeAspect="1"/>
          </p:cNvPicPr>
          <p:nvPr/>
        </p:nvPicPr>
        <p:blipFill>
          <a:blip r:embed="rId4"/>
          <a:stretch>
            <a:fillRect/>
          </a:stretch>
        </p:blipFill>
        <p:spPr>
          <a:xfrm>
            <a:off x="7981757" y="5664182"/>
            <a:ext cx="729105" cy="135490"/>
          </a:xfrm>
          <a:prstGeom prst="rect">
            <a:avLst/>
          </a:prstGeom>
        </p:spPr>
      </p:pic>
      <p:pic>
        <p:nvPicPr>
          <p:cNvPr id="114" name="Picture 113" descr="bofa.png">
            <a:extLst>
              <a:ext uri="{FF2B5EF4-FFF2-40B4-BE49-F238E27FC236}">
                <a16:creationId xmlns:a16="http://schemas.microsoft.com/office/drawing/2014/main" id="{958D2F46-5FD1-E717-8E32-332F9DCC92DB}"/>
              </a:ext>
            </a:extLst>
          </p:cNvPr>
          <p:cNvPicPr>
            <a:picLocks noChangeAspect="1"/>
          </p:cNvPicPr>
          <p:nvPr/>
        </p:nvPicPr>
        <p:blipFill>
          <a:blip r:embed="rId5"/>
          <a:stretch>
            <a:fillRect/>
          </a:stretch>
        </p:blipFill>
        <p:spPr>
          <a:xfrm>
            <a:off x="7451152" y="4992610"/>
            <a:ext cx="1585060" cy="160679"/>
          </a:xfrm>
          <a:prstGeom prst="rect">
            <a:avLst/>
          </a:prstGeom>
        </p:spPr>
      </p:pic>
      <p:pic>
        <p:nvPicPr>
          <p:cNvPr id="115" name="Picture 114" descr="citi.png">
            <a:extLst>
              <a:ext uri="{FF2B5EF4-FFF2-40B4-BE49-F238E27FC236}">
                <a16:creationId xmlns:a16="http://schemas.microsoft.com/office/drawing/2014/main" id="{3A9DC5F2-0074-B264-F0B0-31364497348E}"/>
              </a:ext>
            </a:extLst>
          </p:cNvPr>
          <p:cNvPicPr>
            <a:picLocks noChangeAspect="1"/>
          </p:cNvPicPr>
          <p:nvPr/>
        </p:nvPicPr>
        <p:blipFill>
          <a:blip r:embed="rId6"/>
          <a:stretch>
            <a:fillRect/>
          </a:stretch>
        </p:blipFill>
        <p:spPr>
          <a:xfrm>
            <a:off x="7451152" y="5583226"/>
            <a:ext cx="359480" cy="233772"/>
          </a:xfrm>
          <a:prstGeom prst="rect">
            <a:avLst/>
          </a:prstGeom>
        </p:spPr>
      </p:pic>
      <p:pic>
        <p:nvPicPr>
          <p:cNvPr id="116" name="Picture 115" descr="pnc.png">
            <a:extLst>
              <a:ext uri="{FF2B5EF4-FFF2-40B4-BE49-F238E27FC236}">
                <a16:creationId xmlns:a16="http://schemas.microsoft.com/office/drawing/2014/main" id="{DAB6BEAA-4259-8386-0BF2-6752BCEB98C6}"/>
              </a:ext>
            </a:extLst>
          </p:cNvPr>
          <p:cNvPicPr>
            <a:picLocks noChangeAspect="1"/>
          </p:cNvPicPr>
          <p:nvPr/>
        </p:nvPicPr>
        <p:blipFill>
          <a:blip r:embed="rId7"/>
          <a:stretch>
            <a:fillRect/>
          </a:stretch>
        </p:blipFill>
        <p:spPr>
          <a:xfrm>
            <a:off x="7451152" y="5279266"/>
            <a:ext cx="604409" cy="182791"/>
          </a:xfrm>
          <a:prstGeom prst="rect">
            <a:avLst/>
          </a:prstGeom>
        </p:spPr>
      </p:pic>
      <p:pic>
        <p:nvPicPr>
          <p:cNvPr id="117" name="Picture 116" descr="keybank.png">
            <a:extLst>
              <a:ext uri="{FF2B5EF4-FFF2-40B4-BE49-F238E27FC236}">
                <a16:creationId xmlns:a16="http://schemas.microsoft.com/office/drawing/2014/main" id="{AADDE4EE-4383-396C-6CEF-AE1C3880F761}"/>
              </a:ext>
            </a:extLst>
          </p:cNvPr>
          <p:cNvPicPr>
            <a:picLocks noChangeAspect="1"/>
          </p:cNvPicPr>
          <p:nvPr/>
        </p:nvPicPr>
        <p:blipFill>
          <a:blip r:embed="rId8"/>
          <a:stretch>
            <a:fillRect/>
          </a:stretch>
        </p:blipFill>
        <p:spPr>
          <a:xfrm>
            <a:off x="7887309" y="4717784"/>
            <a:ext cx="878556" cy="155469"/>
          </a:xfrm>
          <a:prstGeom prst="rect">
            <a:avLst/>
          </a:prstGeom>
        </p:spPr>
      </p:pic>
      <p:pic>
        <p:nvPicPr>
          <p:cNvPr id="118" name="Picture 117" descr="td.png">
            <a:extLst>
              <a:ext uri="{FF2B5EF4-FFF2-40B4-BE49-F238E27FC236}">
                <a16:creationId xmlns:a16="http://schemas.microsoft.com/office/drawing/2014/main" id="{099AFB73-0D7B-6511-5BBC-E185DB9E51CF}"/>
              </a:ext>
            </a:extLst>
          </p:cNvPr>
          <p:cNvPicPr>
            <a:picLocks noChangeAspect="1"/>
          </p:cNvPicPr>
          <p:nvPr/>
        </p:nvPicPr>
        <p:blipFill>
          <a:blip r:embed="rId9"/>
          <a:stretch>
            <a:fillRect/>
          </a:stretch>
        </p:blipFill>
        <p:spPr>
          <a:xfrm>
            <a:off x="8156466" y="5278091"/>
            <a:ext cx="604409" cy="189213"/>
          </a:xfrm>
          <a:prstGeom prst="rect">
            <a:avLst/>
          </a:prstGeom>
        </p:spPr>
      </p:pic>
      <p:sp>
        <p:nvSpPr>
          <p:cNvPr id="122" name="TextBox 121">
            <a:extLst>
              <a:ext uri="{FF2B5EF4-FFF2-40B4-BE49-F238E27FC236}">
                <a16:creationId xmlns:a16="http://schemas.microsoft.com/office/drawing/2014/main" id="{765DA520-22B7-238F-B213-73864139C410}"/>
              </a:ext>
            </a:extLst>
          </p:cNvPr>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endParaRPr kumimoji="0" sz="800" b="0" i="0" u="none" strike="noStrike" kern="1200" cap="none" spc="0" normalizeH="0" baseline="0" noProof="0">
              <a:ln>
                <a:noFill/>
              </a:ln>
              <a:solidFill>
                <a:srgbClr val="9A9A9A"/>
              </a:solidFill>
              <a:effectLst/>
              <a:uLnTx/>
              <a:uFillTx/>
              <a:latin typeface="Fira Mono"/>
              <a:ea typeface="+mn-ea"/>
              <a:cs typeface="+mn-cs"/>
            </a:endParaRPr>
          </a:p>
        </p:txBody>
      </p:sp>
      <p:sp>
        <p:nvSpPr>
          <p:cNvPr id="90" name="Slide Number">
            <a:extLst>
              <a:ext uri="{FF2B5EF4-FFF2-40B4-BE49-F238E27FC236}">
                <a16:creationId xmlns:a16="http://schemas.microsoft.com/office/drawing/2014/main" id="{6B2ECB67-16B4-8EEA-6368-89EFA61E311F}"/>
              </a:ext>
            </a:extLst>
          </p:cNvP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pic>
        <p:nvPicPr>
          <p:cNvPr id="15" name="Picture 14" descr="Marriott Bonvoy Logo and symbol, meaning, history, PNG, brand">
            <a:extLst>
              <a:ext uri="{FF2B5EF4-FFF2-40B4-BE49-F238E27FC236}">
                <a16:creationId xmlns:a16="http://schemas.microsoft.com/office/drawing/2014/main" id="{EFD5F07C-2A40-F5E7-3A68-BE347039987A}"/>
              </a:ext>
            </a:extLst>
          </p:cNvPr>
          <p:cNvPicPr>
            <a:picLocks noChangeAspect="1"/>
          </p:cNvPicPr>
          <p:nvPr/>
        </p:nvPicPr>
        <p:blipFill>
          <a:blip r:embed="rId10"/>
          <a:stretch>
            <a:fillRect/>
          </a:stretch>
        </p:blipFill>
        <p:spPr>
          <a:xfrm>
            <a:off x="10377259" y="4383586"/>
            <a:ext cx="792820" cy="442782"/>
          </a:xfrm>
          <a:prstGeom prst="rect">
            <a:avLst/>
          </a:prstGeom>
        </p:spPr>
      </p:pic>
      <p:pic>
        <p:nvPicPr>
          <p:cNvPr id="19" name="Picture 18" descr="File:SoFi logo.svg - Wikimedia Commons">
            <a:extLst>
              <a:ext uri="{FF2B5EF4-FFF2-40B4-BE49-F238E27FC236}">
                <a16:creationId xmlns:a16="http://schemas.microsoft.com/office/drawing/2014/main" id="{967E13E1-9530-9373-FFF6-97B2D1F72101}"/>
              </a:ext>
            </a:extLst>
          </p:cNvPr>
          <p:cNvPicPr>
            <a:picLocks noChangeAspect="1"/>
          </p:cNvPicPr>
          <p:nvPr/>
        </p:nvPicPr>
        <p:blipFill>
          <a:blip r:embed="rId11"/>
          <a:stretch>
            <a:fillRect/>
          </a:stretch>
        </p:blipFill>
        <p:spPr>
          <a:xfrm>
            <a:off x="9538347" y="4523019"/>
            <a:ext cx="618916" cy="163916"/>
          </a:xfrm>
          <a:prstGeom prst="rect">
            <a:avLst/>
          </a:prstGeom>
        </p:spPr>
      </p:pic>
      <p:sp>
        <p:nvSpPr>
          <p:cNvPr id="14" name="TextBox 13">
            <a:extLst>
              <a:ext uri="{FF2B5EF4-FFF2-40B4-BE49-F238E27FC236}">
                <a16:creationId xmlns:a16="http://schemas.microsoft.com/office/drawing/2014/main" id="{9D4EBC6C-5E78-681B-DD87-F59D4541389E}"/>
              </a:ext>
            </a:extLst>
          </p:cNvPr>
          <p:cNvSpPr txBox="1"/>
          <p:nvPr/>
        </p:nvSpPr>
        <p:spPr>
          <a:xfrm>
            <a:off x="9478851" y="616898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6A6BE8D0-DA52-D79B-99B1-1B33C61D1C19}"/>
              </a:ext>
            </a:extLst>
          </p:cNvPr>
          <p:cNvSpPr txBox="1"/>
          <p:nvPr/>
        </p:nvSpPr>
        <p:spPr>
          <a:xfrm>
            <a:off x="709552" y="3761834"/>
            <a:ext cx="1317523" cy="204826"/>
          </a:xfrm>
          <a:prstGeom prst="rect">
            <a:avLst/>
          </a:prstGeom>
          <a:noFill/>
        </p:spPr>
        <p:txBody>
          <a:bodyPr wrap="square" lIns="0" tIns="0" rIns="0" bIns="0" anchor="t">
            <a:noAutofit/>
          </a:bodyPr>
          <a:lstStyle/>
          <a:p>
            <a:pPr marL="0" marR="0" lvl="0" indent="0" algn="l" defTabSz="457200" rtl="0" eaLnBrk="1" fontAlgn="auto" latinLnBrk="0" hangingPunct="1">
              <a:lnSpc>
                <a:spcPts val="1468"/>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Medium"/>
                <a:ea typeface="+mn-ea"/>
                <a:cs typeface="+mn-cs"/>
              </a:rPr>
              <a:t>Ted Rosenberg</a:t>
            </a:r>
          </a:p>
        </p:txBody>
      </p:sp>
      <p:sp>
        <p:nvSpPr>
          <p:cNvPr id="22" name="TextBox 21">
            <a:extLst>
              <a:ext uri="{FF2B5EF4-FFF2-40B4-BE49-F238E27FC236}">
                <a16:creationId xmlns:a16="http://schemas.microsoft.com/office/drawing/2014/main" id="{BCD289C9-C635-7606-EDEA-374BE48939C9}"/>
              </a:ext>
            </a:extLst>
          </p:cNvPr>
          <p:cNvSpPr txBox="1"/>
          <p:nvPr/>
        </p:nvSpPr>
        <p:spPr>
          <a:xfrm>
            <a:off x="709552" y="3928438"/>
            <a:ext cx="1317523" cy="327172"/>
          </a:xfrm>
          <a:prstGeom prst="rect">
            <a:avLst/>
          </a:prstGeom>
          <a:noFill/>
        </p:spPr>
        <p:txBody>
          <a:bodyPr wrap="square" lIns="0" tIns="0" rIns="0" bIns="0" anchor="t">
            <a:noAutofit/>
          </a:bodyPr>
          <a:lstStyle/>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SVP, Deposits</a:t>
            </a:r>
          </a:p>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Product Director</a:t>
            </a:r>
          </a:p>
        </p:txBody>
      </p:sp>
      <p:sp>
        <p:nvSpPr>
          <p:cNvPr id="23" name="TextBox 22">
            <a:extLst>
              <a:ext uri="{FF2B5EF4-FFF2-40B4-BE49-F238E27FC236}">
                <a16:creationId xmlns:a16="http://schemas.microsoft.com/office/drawing/2014/main" id="{114821DF-86DB-D62B-A6EE-AAF98D682506}"/>
              </a:ext>
            </a:extLst>
          </p:cNvPr>
          <p:cNvSpPr txBox="1"/>
          <p:nvPr/>
        </p:nvSpPr>
        <p:spPr>
          <a:xfrm>
            <a:off x="700550" y="5589225"/>
            <a:ext cx="1317523" cy="204826"/>
          </a:xfrm>
          <a:prstGeom prst="rect">
            <a:avLst/>
          </a:prstGeom>
          <a:noFill/>
        </p:spPr>
        <p:txBody>
          <a:bodyPr wrap="square" lIns="0" tIns="0" rIns="0" bIns="0" anchor="t">
            <a:noAutofit/>
          </a:bodyPr>
          <a:lstStyle/>
          <a:p>
            <a:pPr marL="0" marR="0" lvl="0" indent="0" algn="l" defTabSz="457200" rtl="0" eaLnBrk="1" fontAlgn="auto" latinLnBrk="0" hangingPunct="1">
              <a:lnSpc>
                <a:spcPts val="1468"/>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Medium"/>
                <a:ea typeface="+mn-ea"/>
                <a:cs typeface="+mn-cs"/>
              </a:rPr>
              <a:t>Jill Kamman</a:t>
            </a:r>
          </a:p>
        </p:txBody>
      </p:sp>
      <p:sp>
        <p:nvSpPr>
          <p:cNvPr id="24" name="TextBox 23">
            <a:extLst>
              <a:ext uri="{FF2B5EF4-FFF2-40B4-BE49-F238E27FC236}">
                <a16:creationId xmlns:a16="http://schemas.microsoft.com/office/drawing/2014/main" id="{1D098084-C063-17CC-9349-789BC7965CBA}"/>
              </a:ext>
            </a:extLst>
          </p:cNvPr>
          <p:cNvSpPr txBox="1"/>
          <p:nvPr/>
        </p:nvSpPr>
        <p:spPr>
          <a:xfrm>
            <a:off x="700550" y="5755829"/>
            <a:ext cx="1699750" cy="481614"/>
          </a:xfrm>
          <a:prstGeom prst="rect">
            <a:avLst/>
          </a:prstGeom>
          <a:noFill/>
        </p:spPr>
        <p:txBody>
          <a:bodyPr wrap="square" lIns="0" tIns="0" rIns="0" bIns="0" anchor="t">
            <a:noAutofit/>
          </a:bodyPr>
          <a:lstStyle/>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SVP, Deposits &amp; Customer</a:t>
            </a:r>
          </a:p>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Engagement Director</a:t>
            </a:r>
          </a:p>
        </p:txBody>
      </p:sp>
      <p:sp>
        <p:nvSpPr>
          <p:cNvPr id="25" name="TextBox 24">
            <a:extLst>
              <a:ext uri="{FF2B5EF4-FFF2-40B4-BE49-F238E27FC236}">
                <a16:creationId xmlns:a16="http://schemas.microsoft.com/office/drawing/2014/main" id="{5677C293-1501-6D06-6602-5C30B4D771E2}"/>
              </a:ext>
            </a:extLst>
          </p:cNvPr>
          <p:cNvSpPr txBox="1"/>
          <p:nvPr/>
        </p:nvSpPr>
        <p:spPr>
          <a:xfrm>
            <a:off x="696673" y="4324744"/>
            <a:ext cx="1317523" cy="204826"/>
          </a:xfrm>
          <a:prstGeom prst="rect">
            <a:avLst/>
          </a:prstGeom>
          <a:noFill/>
        </p:spPr>
        <p:txBody>
          <a:bodyPr wrap="square" lIns="0" tIns="0" rIns="0" bIns="0" anchor="t">
            <a:noAutofit/>
          </a:bodyPr>
          <a:lstStyle/>
          <a:p>
            <a:pPr marL="0" marR="0" lvl="0" indent="0" algn="l" defTabSz="457200" rtl="0" eaLnBrk="1" fontAlgn="auto" latinLnBrk="0" hangingPunct="1">
              <a:lnSpc>
                <a:spcPts val="1468"/>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Medium"/>
                <a:ea typeface="+mn-ea"/>
                <a:cs typeface="+mn-cs"/>
              </a:rPr>
              <a:t>Caitlin Lane</a:t>
            </a:r>
          </a:p>
        </p:txBody>
      </p:sp>
      <p:sp>
        <p:nvSpPr>
          <p:cNvPr id="26" name="TextBox 25">
            <a:extLst>
              <a:ext uri="{FF2B5EF4-FFF2-40B4-BE49-F238E27FC236}">
                <a16:creationId xmlns:a16="http://schemas.microsoft.com/office/drawing/2014/main" id="{1E5C75CE-6083-2097-C57D-9FD17FA37ACC}"/>
              </a:ext>
            </a:extLst>
          </p:cNvPr>
          <p:cNvSpPr txBox="1"/>
          <p:nvPr/>
        </p:nvSpPr>
        <p:spPr>
          <a:xfrm>
            <a:off x="696673" y="4491349"/>
            <a:ext cx="1317523" cy="327172"/>
          </a:xfrm>
          <a:prstGeom prst="rect">
            <a:avLst/>
          </a:prstGeom>
          <a:noFill/>
        </p:spPr>
        <p:txBody>
          <a:bodyPr wrap="square" lIns="0" tIns="0" rIns="0" bIns="0" anchor="t">
            <a:noAutofit/>
          </a:bodyPr>
          <a:lstStyle/>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SVP, Product</a:t>
            </a:r>
          </a:p>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Marketing Director</a:t>
            </a:r>
          </a:p>
        </p:txBody>
      </p:sp>
      <p:sp>
        <p:nvSpPr>
          <p:cNvPr id="27" name="TextBox 26">
            <a:extLst>
              <a:ext uri="{FF2B5EF4-FFF2-40B4-BE49-F238E27FC236}">
                <a16:creationId xmlns:a16="http://schemas.microsoft.com/office/drawing/2014/main" id="{EEFDA7CA-67C1-AF93-6E1F-D3B2C5C14371}"/>
              </a:ext>
            </a:extLst>
          </p:cNvPr>
          <p:cNvSpPr txBox="1"/>
          <p:nvPr/>
        </p:nvSpPr>
        <p:spPr>
          <a:xfrm>
            <a:off x="700550" y="4895642"/>
            <a:ext cx="1317523" cy="204826"/>
          </a:xfrm>
          <a:prstGeom prst="rect">
            <a:avLst/>
          </a:prstGeom>
          <a:noFill/>
        </p:spPr>
        <p:txBody>
          <a:bodyPr wrap="square" lIns="0" tIns="0" rIns="0" bIns="0" anchor="t">
            <a:noAutofit/>
          </a:bodyPr>
          <a:lstStyle/>
          <a:p>
            <a:pPr marL="0" marR="0" lvl="0" indent="0" algn="l" defTabSz="457200" rtl="0" eaLnBrk="1" fontAlgn="auto" latinLnBrk="0" hangingPunct="1">
              <a:lnSpc>
                <a:spcPts val="1468"/>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Medium"/>
                <a:ea typeface="+mn-ea"/>
                <a:cs typeface="+mn-cs"/>
              </a:rPr>
              <a:t>David Hixon</a:t>
            </a:r>
          </a:p>
        </p:txBody>
      </p:sp>
      <p:sp>
        <p:nvSpPr>
          <p:cNvPr id="28" name="TextBox 27">
            <a:extLst>
              <a:ext uri="{FF2B5EF4-FFF2-40B4-BE49-F238E27FC236}">
                <a16:creationId xmlns:a16="http://schemas.microsoft.com/office/drawing/2014/main" id="{A8B3735D-B24A-680D-C6A8-E7D123E34264}"/>
              </a:ext>
            </a:extLst>
          </p:cNvPr>
          <p:cNvSpPr txBox="1"/>
          <p:nvPr/>
        </p:nvSpPr>
        <p:spPr>
          <a:xfrm>
            <a:off x="700550" y="5062247"/>
            <a:ext cx="1317523" cy="481614"/>
          </a:xfrm>
          <a:prstGeom prst="rect">
            <a:avLst/>
          </a:prstGeom>
          <a:noFill/>
        </p:spPr>
        <p:txBody>
          <a:bodyPr wrap="square" lIns="0" tIns="0" rIns="0" bIns="0" anchor="t">
            <a:noAutofit/>
          </a:bodyPr>
          <a:lstStyle/>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SVP, Head of</a:t>
            </a:r>
          </a:p>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Consumer</a:t>
            </a:r>
          </a:p>
          <a:p>
            <a:pPr marL="0" marR="0" lvl="0" indent="0" algn="l" defTabSz="457200" rtl="0" eaLnBrk="1" fontAlgn="auto" latinLnBrk="0" hangingPunct="1">
              <a:lnSpc>
                <a:spcPts val="1216"/>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Product Marketing</a:t>
            </a:r>
          </a:p>
        </p:txBody>
      </p:sp>
      <p:sp>
        <p:nvSpPr>
          <p:cNvPr id="31" name="TextBox 30">
            <a:extLst>
              <a:ext uri="{FF2B5EF4-FFF2-40B4-BE49-F238E27FC236}">
                <a16:creationId xmlns:a16="http://schemas.microsoft.com/office/drawing/2014/main" id="{3C15DA2E-6FA6-079E-AA1D-E031662C7595}"/>
              </a:ext>
            </a:extLst>
          </p:cNvPr>
          <p:cNvSpPr txBox="1"/>
          <p:nvPr/>
        </p:nvSpPr>
        <p:spPr>
          <a:xfrm>
            <a:off x="707013" y="3202475"/>
            <a:ext cx="1699995" cy="919521"/>
          </a:xfrm>
          <a:prstGeom prst="rect">
            <a:avLst/>
          </a:prstGeom>
          <a:noFill/>
        </p:spPr>
        <p:txBody>
          <a:bodyPr wrap="square" lIns="0" tIns="0" rIns="0" bIns="0" anchor="t">
            <a:noAutofit/>
          </a:bodyPr>
          <a:lstStyle/>
          <a:p>
            <a:pPr marL="0" marR="0" lvl="0" indent="0" algn="l" defTabSz="457200" rtl="0" eaLnBrk="1" fontAlgn="auto" latinLnBrk="0" hangingPunct="1">
              <a:lnSpc>
                <a:spcPts val="1640"/>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Understanding Citizens’ goals &amp; ambitions</a:t>
            </a:r>
          </a:p>
        </p:txBody>
      </p:sp>
      <p:pic>
        <p:nvPicPr>
          <p:cNvPr id="32" name="Picture 31">
            <a:extLst>
              <a:ext uri="{FF2B5EF4-FFF2-40B4-BE49-F238E27FC236}">
                <a16:creationId xmlns:a16="http://schemas.microsoft.com/office/drawing/2014/main" id="{07F888C4-3141-8F9A-1BEE-45E4889D298E}"/>
              </a:ext>
            </a:extLst>
          </p:cNvPr>
          <p:cNvPicPr>
            <a:picLocks noChangeAspect="1"/>
          </p:cNvPicPr>
          <p:nvPr/>
        </p:nvPicPr>
        <p:blipFill>
          <a:blip r:embed="rId12"/>
          <a:stretch>
            <a:fillRect/>
          </a:stretch>
        </p:blipFill>
        <p:spPr>
          <a:xfrm>
            <a:off x="5111703" y="4697506"/>
            <a:ext cx="1714919" cy="959408"/>
          </a:xfrm>
          <a:prstGeom prst="rect">
            <a:avLst/>
          </a:prstGeom>
          <a:ln>
            <a:solidFill>
              <a:srgbClr val="217651"/>
            </a:solidFill>
          </a:ln>
          <a:effectLst>
            <a:outerShdw blurRad="50800" dist="38100" dir="2700000" algn="tl" rotWithShape="0">
              <a:prstClr val="black">
                <a:alpha val="40000"/>
              </a:prstClr>
            </a:outerShdw>
          </a:effectLst>
        </p:spPr>
      </p:pic>
      <p:pic>
        <p:nvPicPr>
          <p:cNvPr id="34" name="Picture 33">
            <a:extLst>
              <a:ext uri="{FF2B5EF4-FFF2-40B4-BE49-F238E27FC236}">
                <a16:creationId xmlns:a16="http://schemas.microsoft.com/office/drawing/2014/main" id="{097B61B6-9613-5500-D7FC-FE8C53C66CA7}"/>
              </a:ext>
            </a:extLst>
          </p:cNvPr>
          <p:cNvPicPr>
            <a:picLocks noChangeAspect="1"/>
          </p:cNvPicPr>
          <p:nvPr/>
        </p:nvPicPr>
        <p:blipFill>
          <a:blip r:embed="rId13"/>
          <a:stretch>
            <a:fillRect/>
          </a:stretch>
        </p:blipFill>
        <p:spPr>
          <a:xfrm>
            <a:off x="2868706" y="4677722"/>
            <a:ext cx="1775011" cy="968348"/>
          </a:xfrm>
          <a:prstGeom prst="rect">
            <a:avLst/>
          </a:prstGeom>
          <a:ln>
            <a:solidFill>
              <a:srgbClr val="217651"/>
            </a:solidFill>
          </a:ln>
          <a:effectLst>
            <a:outerShdw blurRad="50800" dist="38100" dir="2700000" algn="tl" rotWithShape="0">
              <a:prstClr val="black">
                <a:alpha val="40000"/>
              </a:prstClr>
            </a:outerShdw>
          </a:effectLst>
        </p:spPr>
      </p:pic>
      <p:cxnSp>
        <p:nvCxnSpPr>
          <p:cNvPr id="2" name="Connector 111">
            <a:extLst>
              <a:ext uri="{FF2B5EF4-FFF2-40B4-BE49-F238E27FC236}">
                <a16:creationId xmlns:a16="http://schemas.microsoft.com/office/drawing/2014/main" id="{0F2FF0C1-3BF9-7C81-E626-887AC0EA9AFD}"/>
              </a:ext>
            </a:extLst>
          </p:cNvPr>
          <p:cNvCxnSpPr/>
          <p:nvPr/>
        </p:nvCxnSpPr>
        <p:spPr>
          <a:xfrm>
            <a:off x="503046" y="6414516"/>
            <a:ext cx="11185908" cy="0"/>
          </a:xfrm>
          <a:prstGeom prst="line">
            <a:avLst/>
          </a:prstGeom>
          <a:ln w="9144">
            <a:solidFill>
              <a:srgbClr val="DDDBCE"/>
            </a:solidFill>
          </a:ln>
          <a:effectLst/>
        </p:spPr>
      </p:cxnSp>
      <p:pic>
        <p:nvPicPr>
          <p:cNvPr id="20" name="Picture 19">
            <a:extLst>
              <a:ext uri="{FF2B5EF4-FFF2-40B4-BE49-F238E27FC236}">
                <a16:creationId xmlns:a16="http://schemas.microsoft.com/office/drawing/2014/main" id="{F8773E0D-829E-3D3A-1549-8C9006DB1624}"/>
              </a:ext>
            </a:extLst>
          </p:cNvPr>
          <p:cNvPicPr>
            <a:picLocks noChangeAspect="1"/>
          </p:cNvPicPr>
          <p:nvPr/>
        </p:nvPicPr>
        <p:blipFill>
          <a:blip r:embed="rId14"/>
          <a:stretch>
            <a:fillRect/>
          </a:stretch>
        </p:blipFill>
        <p:spPr>
          <a:xfrm>
            <a:off x="9729958" y="5515659"/>
            <a:ext cx="1227293" cy="241623"/>
          </a:xfrm>
          <a:prstGeom prst="rect">
            <a:avLst/>
          </a:prstGeom>
        </p:spPr>
      </p:pic>
      <p:pic>
        <p:nvPicPr>
          <p:cNvPr id="29" name="Picture 28">
            <a:extLst>
              <a:ext uri="{FF2B5EF4-FFF2-40B4-BE49-F238E27FC236}">
                <a16:creationId xmlns:a16="http://schemas.microsoft.com/office/drawing/2014/main" id="{6990979A-9072-F7A6-7704-6301424303C9}"/>
              </a:ext>
            </a:extLst>
          </p:cNvPr>
          <p:cNvPicPr>
            <a:picLocks noChangeAspect="1"/>
          </p:cNvPicPr>
          <p:nvPr/>
        </p:nvPicPr>
        <p:blipFill>
          <a:blip r:embed="rId15"/>
          <a:stretch>
            <a:fillRect/>
          </a:stretch>
        </p:blipFill>
        <p:spPr>
          <a:xfrm>
            <a:off x="10645151" y="4954069"/>
            <a:ext cx="550341" cy="313723"/>
          </a:xfrm>
          <a:prstGeom prst="rect">
            <a:avLst/>
          </a:prstGeom>
        </p:spPr>
      </p:pic>
      <p:pic>
        <p:nvPicPr>
          <p:cNvPr id="33" name="Picture 32">
            <a:extLst>
              <a:ext uri="{FF2B5EF4-FFF2-40B4-BE49-F238E27FC236}">
                <a16:creationId xmlns:a16="http://schemas.microsoft.com/office/drawing/2014/main" id="{0992E33D-9DE5-B432-CF4B-3832ABFE4DCA}"/>
              </a:ext>
            </a:extLst>
          </p:cNvPr>
          <p:cNvPicPr>
            <a:picLocks noChangeAspect="1"/>
          </p:cNvPicPr>
          <p:nvPr/>
        </p:nvPicPr>
        <p:blipFill>
          <a:blip r:embed="rId16"/>
          <a:stretch>
            <a:fillRect/>
          </a:stretch>
        </p:blipFill>
        <p:spPr>
          <a:xfrm>
            <a:off x="9729958" y="4897378"/>
            <a:ext cx="470594" cy="476477"/>
          </a:xfrm>
          <a:prstGeom prst="rect">
            <a:avLst/>
          </a:prstGeom>
        </p:spPr>
      </p:pic>
    </p:spTree>
    <p:extLst>
      <p:ext uri="{BB962C8B-B14F-4D97-AF65-F5344CB8AC3E}">
        <p14:creationId xmlns:p14="http://schemas.microsoft.com/office/powerpoint/2010/main" val="3334945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3484186"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CITIZENS ECOSYSTEM &amp; LOYALTY SYNTHESIS</a:t>
            </a:r>
          </a:p>
        </p:txBody>
      </p:sp>
      <p:sp>
        <p:nvSpPr>
          <p:cNvPr id="92" name="TextBox 91"/>
          <p:cNvSpPr txBox="1"/>
          <p:nvPr/>
        </p:nvSpPr>
        <p:spPr>
          <a:xfrm>
            <a:off x="503046" y="816741"/>
            <a:ext cx="1048256"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sz="2900" b="0" i="0" u="none" strike="noStrike" kern="1200" cap="none" spc="0" normalizeH="0" baseline="0" noProof="0">
                <a:ln>
                  <a:noFill/>
                </a:ln>
                <a:solidFill>
                  <a:srgbClr val="232422"/>
                </a:solidFill>
                <a:effectLst/>
                <a:uLnTx/>
                <a:uFillTx/>
                <a:latin typeface="Fira Sans"/>
                <a:ea typeface="+mn-ea"/>
                <a:cs typeface="+mn-cs"/>
              </a:rPr>
              <a:t>Today</a:t>
            </a:r>
          </a:p>
        </p:txBody>
      </p:sp>
      <p:cxnSp>
        <p:nvCxnSpPr>
          <p:cNvPr id="93" name="Connector 92"/>
          <p:cNvCxnSpPr/>
          <p:nvPr/>
        </p:nvCxnSpPr>
        <p:spPr>
          <a:xfrm>
            <a:off x="4371925" y="955548"/>
            <a:ext cx="7317029" cy="0"/>
          </a:xfrm>
          <a:prstGeom prst="line">
            <a:avLst/>
          </a:prstGeom>
          <a:ln w="9144">
            <a:solidFill>
              <a:srgbClr val="DDDBCE"/>
            </a:solidFill>
          </a:ln>
          <a:effectLst/>
        </p:spPr>
      </p:cxnSp>
      <p:sp>
        <p:nvSpPr>
          <p:cNvPr id="94" name="TextBox 93"/>
          <p:cNvSpPr txBox="1"/>
          <p:nvPr/>
        </p:nvSpPr>
        <p:spPr>
          <a:xfrm>
            <a:off x="4371925" y="1099149"/>
            <a:ext cx="347559"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a:ea typeface="+mn-ea"/>
                <a:cs typeface="+mn-cs"/>
              </a:rPr>
              <a:t>1</a:t>
            </a:r>
          </a:p>
        </p:txBody>
      </p:sp>
      <p:sp>
        <p:nvSpPr>
          <p:cNvPr id="95" name="TextBox 94"/>
          <p:cNvSpPr txBox="1"/>
          <p:nvPr/>
        </p:nvSpPr>
        <p:spPr>
          <a:xfrm>
            <a:off x="5048749" y="1133949"/>
            <a:ext cx="3270497"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a:ea typeface="+mn-ea"/>
                <a:cs typeface="+mn-cs"/>
              </a:rPr>
              <a:t>How we </a:t>
            </a:r>
            <a:r>
              <a:rPr kumimoji="0" lang="en-US" sz="1950" b="0" i="0" u="none" strike="noStrike" kern="1200" cap="none" spc="0" normalizeH="0" baseline="0" noProof="0">
                <a:ln>
                  <a:noFill/>
                </a:ln>
                <a:solidFill>
                  <a:srgbClr val="232422"/>
                </a:solidFill>
                <a:effectLst/>
                <a:uLnTx/>
                <a:uFillTx/>
                <a:latin typeface="Fira Sans"/>
                <a:ea typeface="+mn-ea"/>
                <a:cs typeface="+mn-cs"/>
              </a:rPr>
              <a:t>analyze</a:t>
            </a:r>
            <a:r>
              <a:rPr kumimoji="0" sz="1950" b="0" i="0" u="none" strike="noStrike" kern="1200" cap="none" spc="0" normalizeH="0" baseline="0" noProof="0">
                <a:ln>
                  <a:noFill/>
                </a:ln>
                <a:solidFill>
                  <a:srgbClr val="232422"/>
                </a:solidFill>
                <a:effectLst/>
                <a:uLnTx/>
                <a:uFillTx/>
                <a:latin typeface="Fira Sans"/>
                <a:ea typeface="+mn-ea"/>
                <a:cs typeface="+mn-cs"/>
              </a:rPr>
              <a:t> ecosystems</a:t>
            </a:r>
          </a:p>
        </p:txBody>
      </p:sp>
      <p:cxnSp>
        <p:nvCxnSpPr>
          <p:cNvPr id="96" name="Connector 95"/>
          <p:cNvCxnSpPr/>
          <p:nvPr/>
        </p:nvCxnSpPr>
        <p:spPr>
          <a:xfrm>
            <a:off x="4371925" y="1659636"/>
            <a:ext cx="7317029" cy="0"/>
          </a:xfrm>
          <a:prstGeom prst="line">
            <a:avLst/>
          </a:prstGeom>
          <a:ln w="9144">
            <a:solidFill>
              <a:srgbClr val="DDDBCE"/>
            </a:solidFill>
          </a:ln>
          <a:effectLst/>
        </p:spPr>
      </p:cxnSp>
      <p:sp>
        <p:nvSpPr>
          <p:cNvPr id="97" name="TextBox 96"/>
          <p:cNvSpPr txBox="1"/>
          <p:nvPr/>
        </p:nvSpPr>
        <p:spPr>
          <a:xfrm>
            <a:off x="4371925" y="1803237"/>
            <a:ext cx="347559"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a:ea typeface="+mn-ea"/>
                <a:cs typeface="+mn-cs"/>
              </a:rPr>
              <a:t>2</a:t>
            </a:r>
          </a:p>
        </p:txBody>
      </p:sp>
      <p:sp>
        <p:nvSpPr>
          <p:cNvPr id="98" name="TextBox 97"/>
          <p:cNvSpPr txBox="1"/>
          <p:nvPr/>
        </p:nvSpPr>
        <p:spPr>
          <a:xfrm>
            <a:off x="5048750" y="1838037"/>
            <a:ext cx="1640679"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a:ea typeface="+mn-ea"/>
                <a:cs typeface="+mn-cs"/>
              </a:rPr>
              <a:t>Citizens today</a:t>
            </a:r>
          </a:p>
        </p:txBody>
      </p:sp>
      <p:cxnSp>
        <p:nvCxnSpPr>
          <p:cNvPr id="99" name="Connector 98"/>
          <p:cNvCxnSpPr/>
          <p:nvPr/>
        </p:nvCxnSpPr>
        <p:spPr>
          <a:xfrm>
            <a:off x="4371925" y="2363724"/>
            <a:ext cx="7317029" cy="0"/>
          </a:xfrm>
          <a:prstGeom prst="line">
            <a:avLst/>
          </a:prstGeom>
          <a:ln w="9144">
            <a:solidFill>
              <a:srgbClr val="DDDBCE"/>
            </a:solidFill>
          </a:ln>
          <a:effectLst/>
        </p:spPr>
      </p:cxnSp>
      <p:sp>
        <p:nvSpPr>
          <p:cNvPr id="100" name="TextBox 99"/>
          <p:cNvSpPr txBox="1"/>
          <p:nvPr/>
        </p:nvSpPr>
        <p:spPr>
          <a:xfrm>
            <a:off x="4371925" y="2507325"/>
            <a:ext cx="347559"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a:ea typeface="+mn-ea"/>
                <a:cs typeface="+mn-cs"/>
              </a:rPr>
              <a:t>3</a:t>
            </a:r>
          </a:p>
        </p:txBody>
      </p:sp>
      <p:sp>
        <p:nvSpPr>
          <p:cNvPr id="101" name="TextBox 100"/>
          <p:cNvSpPr txBox="1"/>
          <p:nvPr/>
        </p:nvSpPr>
        <p:spPr>
          <a:xfrm>
            <a:off x="5048750" y="2542125"/>
            <a:ext cx="2383806"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a:ea typeface="+mn-ea"/>
                <a:cs typeface="+mn-cs"/>
              </a:rPr>
              <a:t>The customer to win</a:t>
            </a:r>
          </a:p>
        </p:txBody>
      </p:sp>
      <p:cxnSp>
        <p:nvCxnSpPr>
          <p:cNvPr id="102" name="Connector 101"/>
          <p:cNvCxnSpPr/>
          <p:nvPr/>
        </p:nvCxnSpPr>
        <p:spPr>
          <a:xfrm>
            <a:off x="4371925" y="3067812"/>
            <a:ext cx="7317029" cy="0"/>
          </a:xfrm>
          <a:prstGeom prst="line">
            <a:avLst/>
          </a:prstGeom>
          <a:ln w="9144">
            <a:solidFill>
              <a:srgbClr val="DDDBCE"/>
            </a:solidFill>
          </a:ln>
          <a:effectLst/>
        </p:spPr>
      </p:cxnSp>
      <p:sp>
        <p:nvSpPr>
          <p:cNvPr id="103" name="TextBox 102"/>
          <p:cNvSpPr txBox="1"/>
          <p:nvPr/>
        </p:nvSpPr>
        <p:spPr>
          <a:xfrm>
            <a:off x="4371925" y="3211413"/>
            <a:ext cx="347559"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a:ea typeface="+mn-ea"/>
                <a:cs typeface="+mn-cs"/>
              </a:rPr>
              <a:t>4</a:t>
            </a:r>
          </a:p>
        </p:txBody>
      </p:sp>
      <p:sp>
        <p:nvSpPr>
          <p:cNvPr id="104" name="TextBox 103"/>
          <p:cNvSpPr txBox="1"/>
          <p:nvPr/>
        </p:nvSpPr>
        <p:spPr>
          <a:xfrm>
            <a:off x="5048750" y="3246213"/>
            <a:ext cx="4117352"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a:ea typeface="+mn-ea"/>
                <a:cs typeface="+mn-cs"/>
              </a:rPr>
              <a:t>What we learned from the category</a:t>
            </a:r>
          </a:p>
        </p:txBody>
      </p:sp>
      <p:cxnSp>
        <p:nvCxnSpPr>
          <p:cNvPr id="105" name="Connector 104"/>
          <p:cNvCxnSpPr/>
          <p:nvPr/>
        </p:nvCxnSpPr>
        <p:spPr>
          <a:xfrm>
            <a:off x="4371925" y="3771900"/>
            <a:ext cx="7317029" cy="0"/>
          </a:xfrm>
          <a:prstGeom prst="line">
            <a:avLst/>
          </a:prstGeom>
          <a:ln w="9144">
            <a:solidFill>
              <a:srgbClr val="DDDBCE"/>
            </a:solidFill>
          </a:ln>
          <a:effectLst/>
        </p:spPr>
      </p:cxnSp>
      <p:sp>
        <p:nvSpPr>
          <p:cNvPr id="106" name="TextBox 105"/>
          <p:cNvSpPr txBox="1"/>
          <p:nvPr/>
        </p:nvSpPr>
        <p:spPr>
          <a:xfrm>
            <a:off x="4371925" y="3915501"/>
            <a:ext cx="347559"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a:ea typeface="+mn-ea"/>
                <a:cs typeface="+mn-cs"/>
              </a:rPr>
              <a:t>5</a:t>
            </a:r>
          </a:p>
        </p:txBody>
      </p:sp>
      <p:sp>
        <p:nvSpPr>
          <p:cNvPr id="107" name="TextBox 106"/>
          <p:cNvSpPr txBox="1"/>
          <p:nvPr/>
        </p:nvSpPr>
        <p:spPr>
          <a:xfrm>
            <a:off x="5048750" y="3950301"/>
            <a:ext cx="2566370"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a:ea typeface="+mn-ea"/>
                <a:cs typeface="+mn-cs"/>
              </a:rPr>
              <a:t>Where loyalty is going</a:t>
            </a:r>
          </a:p>
        </p:txBody>
      </p:sp>
      <p:cxnSp>
        <p:nvCxnSpPr>
          <p:cNvPr id="108" name="Connector 107"/>
          <p:cNvCxnSpPr/>
          <p:nvPr/>
        </p:nvCxnSpPr>
        <p:spPr>
          <a:xfrm>
            <a:off x="4371925" y="4475988"/>
            <a:ext cx="7317029" cy="0"/>
          </a:xfrm>
          <a:prstGeom prst="line">
            <a:avLst/>
          </a:prstGeom>
          <a:ln w="9144">
            <a:solidFill>
              <a:srgbClr val="DDDBCE"/>
            </a:solidFill>
          </a:ln>
          <a:effectLst/>
        </p:spPr>
      </p:cxnSp>
      <p:sp>
        <p:nvSpPr>
          <p:cNvPr id="109" name="TextBox 108"/>
          <p:cNvSpPr txBox="1"/>
          <p:nvPr/>
        </p:nvSpPr>
        <p:spPr>
          <a:xfrm>
            <a:off x="4371925" y="4619589"/>
            <a:ext cx="347559"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a:ea typeface="+mn-ea"/>
                <a:cs typeface="+mn-cs"/>
              </a:rPr>
              <a:t>6</a:t>
            </a:r>
          </a:p>
        </p:txBody>
      </p:sp>
      <p:sp>
        <p:nvSpPr>
          <p:cNvPr id="110" name="TextBox 109"/>
          <p:cNvSpPr txBox="1"/>
          <p:nvPr/>
        </p:nvSpPr>
        <p:spPr>
          <a:xfrm>
            <a:off x="5048750" y="4654389"/>
            <a:ext cx="4465364"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lang="en-US" sz="1950" b="0" i="0" u="none" strike="noStrike" kern="1200" cap="none" spc="0" normalizeH="0" baseline="0" noProof="0">
                <a:ln>
                  <a:noFill/>
                </a:ln>
                <a:solidFill>
                  <a:srgbClr val="232422"/>
                </a:solidFill>
                <a:effectLst/>
                <a:uLnTx/>
                <a:uFillTx/>
                <a:latin typeface="Fira Sans"/>
                <a:ea typeface="+mn-ea"/>
                <a:cs typeface="+mn-cs"/>
              </a:rPr>
              <a:t>Initial ecosystem recommendation</a:t>
            </a:r>
          </a:p>
          <a:p>
            <a:pPr marL="0" marR="0" lvl="0" indent="0" algn="l" defTabSz="457200" rtl="0" eaLnBrk="1" fontAlgn="auto" latinLnBrk="0" hangingPunct="1">
              <a:lnSpc>
                <a:spcPts val="2764"/>
              </a:lnSpc>
              <a:spcBef>
                <a:spcPts val="0"/>
              </a:spcBef>
              <a:spcAft>
                <a:spcPts val="0"/>
              </a:spcAft>
              <a:buClrTx/>
              <a:buSzTx/>
              <a:buFontTx/>
              <a:buNone/>
              <a:tabLst/>
              <a:defRPr/>
            </a:pPr>
            <a:endParaRPr kumimoji="0" lang="en-US" sz="1950" b="0" i="0" u="none" strike="noStrike" kern="1200" cap="none" spc="0" normalizeH="0" baseline="0" noProof="0">
              <a:ln>
                <a:noFill/>
              </a:ln>
              <a:solidFill>
                <a:srgbClr val="232422"/>
              </a:solidFill>
              <a:effectLst/>
              <a:uLnTx/>
              <a:uFillTx/>
              <a:latin typeface="Fira Sans"/>
              <a:ea typeface="+mn-ea"/>
              <a:cs typeface="+mn-cs"/>
            </a:endParaRPr>
          </a:p>
        </p:txBody>
      </p:sp>
      <p:cxnSp>
        <p:nvCxnSpPr>
          <p:cNvPr id="111" name="Connector 110"/>
          <p:cNvCxnSpPr/>
          <p:nvPr/>
        </p:nvCxnSpPr>
        <p:spPr>
          <a:xfrm>
            <a:off x="4371925" y="5180076"/>
            <a:ext cx="7317029" cy="0"/>
          </a:xfrm>
          <a:prstGeom prst="line">
            <a:avLst/>
          </a:prstGeom>
          <a:ln w="9144">
            <a:solidFill>
              <a:srgbClr val="DDDBCE"/>
            </a:solidFill>
          </a:ln>
          <a:effectLst/>
        </p:spPr>
      </p:cxn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7651"/>
        </a:solidFill>
        <a:effectLst/>
      </p:bgPr>
    </p:bg>
    <p:spTree>
      <p:nvGrpSpPr>
        <p:cNvPr id="1" name=""/>
        <p:cNvGrpSpPr/>
        <p:nvPr/>
      </p:nvGrpSpPr>
      <p:grpSpPr>
        <a:xfrm>
          <a:off x="0" y="0"/>
          <a:ext cx="0" cy="0"/>
          <a:chOff x="0" y="0"/>
          <a:chExt cx="0" cy="0"/>
        </a:xfrm>
      </p:grpSpPr>
      <p:sp>
        <p:nvSpPr>
          <p:cNvPr id="92" name="TextBox 91"/>
          <p:cNvSpPr txBox="1"/>
          <p:nvPr/>
        </p:nvSpPr>
        <p:spPr>
          <a:xfrm>
            <a:off x="503046" y="358054"/>
            <a:ext cx="707557"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14" normalizeH="0" baseline="0" noProof="0">
                <a:ln>
                  <a:noFill/>
                </a:ln>
                <a:solidFill>
                  <a:srgbClr val="FFFFFF"/>
                </a:solidFill>
                <a:effectLst/>
                <a:uLnTx/>
                <a:uFillTx/>
                <a:latin typeface="Fira Sans SemiBold"/>
                <a:ea typeface="+mn-ea"/>
                <a:cs typeface="+mn-cs"/>
              </a:rPr>
              <a:t>Citizens</a:t>
            </a:r>
          </a:p>
        </p:txBody>
      </p:sp>
      <p:sp>
        <p:nvSpPr>
          <p:cNvPr id="93" name="TextBox 92"/>
          <p:cNvSpPr txBox="1"/>
          <p:nvPr/>
        </p:nvSpPr>
        <p:spPr>
          <a:xfrm>
            <a:off x="503046" y="182961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Medium"/>
                <a:ea typeface="+mn-ea"/>
                <a:cs typeface="+mn-cs"/>
              </a:rPr>
              <a:t>1</a:t>
            </a:r>
          </a:p>
        </p:txBody>
      </p:sp>
      <p:sp>
        <p:nvSpPr>
          <p:cNvPr id="94" name="TextBox 93"/>
          <p:cNvSpPr txBox="1"/>
          <p:nvPr/>
        </p:nvSpPr>
        <p:spPr>
          <a:xfrm>
            <a:off x="1124993" y="1630557"/>
            <a:ext cx="6104482"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srgbClr val="FFFFFF"/>
                </a:solidFill>
                <a:effectLst/>
                <a:uLnTx/>
                <a:uFillTx/>
                <a:latin typeface="Fira Sans Medium"/>
                <a:ea typeface="+mn-ea"/>
                <a:cs typeface="+mn-cs"/>
              </a:rPr>
              <a:t>How we analyze ecosystems</a:t>
            </a:r>
            <a:endParaRPr kumimoji="0" sz="2900" b="0" i="0" u="none" strike="noStrike" kern="1200" cap="none" spc="0" normalizeH="0" baseline="0" noProof="0">
              <a:ln>
                <a:noFill/>
              </a:ln>
              <a:solidFill>
                <a:srgbClr val="FFFFFF"/>
              </a:solidFill>
              <a:effectLst/>
              <a:uLnTx/>
              <a:uFillTx/>
              <a:latin typeface="Fira Sans Medium"/>
              <a:ea typeface="+mn-ea"/>
              <a:cs typeface="+mn-cs"/>
            </a:endParaRPr>
          </a:p>
        </p:txBody>
      </p:sp>
      <p:sp>
        <p:nvSpPr>
          <p:cNvPr id="95" name="TextBox 94"/>
          <p:cNvSpPr txBox="1"/>
          <p:nvPr/>
        </p:nvSpPr>
        <p:spPr>
          <a:xfrm>
            <a:off x="503046" y="2542845"/>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2</a:t>
            </a:r>
          </a:p>
        </p:txBody>
      </p:sp>
      <p:sp>
        <p:nvSpPr>
          <p:cNvPr id="96" name="TextBox 95"/>
          <p:cNvSpPr txBox="1"/>
          <p:nvPr/>
        </p:nvSpPr>
        <p:spPr>
          <a:xfrm>
            <a:off x="1124993" y="2343789"/>
            <a:ext cx="2375739"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Citizens today</a:t>
            </a:r>
          </a:p>
        </p:txBody>
      </p:sp>
      <p:sp>
        <p:nvSpPr>
          <p:cNvPr id="97" name="TextBox 96"/>
          <p:cNvSpPr txBox="1"/>
          <p:nvPr/>
        </p:nvSpPr>
        <p:spPr>
          <a:xfrm>
            <a:off x="503046" y="3256077"/>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3</a:t>
            </a:r>
          </a:p>
        </p:txBody>
      </p:sp>
      <p:sp>
        <p:nvSpPr>
          <p:cNvPr id="98" name="TextBox 97"/>
          <p:cNvSpPr txBox="1"/>
          <p:nvPr/>
        </p:nvSpPr>
        <p:spPr>
          <a:xfrm>
            <a:off x="1124993" y="3057021"/>
            <a:ext cx="3483514"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The customer to win</a:t>
            </a:r>
          </a:p>
        </p:txBody>
      </p:sp>
      <p:sp>
        <p:nvSpPr>
          <p:cNvPr id="99" name="TextBox 98"/>
          <p:cNvSpPr txBox="1"/>
          <p:nvPr/>
        </p:nvSpPr>
        <p:spPr>
          <a:xfrm>
            <a:off x="503046" y="3969309"/>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4</a:t>
            </a:r>
          </a:p>
        </p:txBody>
      </p:sp>
      <p:sp>
        <p:nvSpPr>
          <p:cNvPr id="100" name="TextBox 99"/>
          <p:cNvSpPr txBox="1"/>
          <p:nvPr/>
        </p:nvSpPr>
        <p:spPr>
          <a:xfrm>
            <a:off x="1124993" y="3770253"/>
            <a:ext cx="600417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What we learned from the category</a:t>
            </a:r>
          </a:p>
        </p:txBody>
      </p:sp>
      <p:sp>
        <p:nvSpPr>
          <p:cNvPr id="101" name="TextBox 100"/>
          <p:cNvSpPr txBox="1"/>
          <p:nvPr/>
        </p:nvSpPr>
        <p:spPr>
          <a:xfrm>
            <a:off x="503046" y="4682541"/>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5</a:t>
            </a:r>
          </a:p>
        </p:txBody>
      </p:sp>
      <p:sp>
        <p:nvSpPr>
          <p:cNvPr id="102" name="TextBox 101"/>
          <p:cNvSpPr txBox="1"/>
          <p:nvPr/>
        </p:nvSpPr>
        <p:spPr>
          <a:xfrm>
            <a:off x="1124993" y="4483485"/>
            <a:ext cx="3732055"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Where loyalty is going</a:t>
            </a:r>
          </a:p>
        </p:txBody>
      </p:sp>
      <p:sp>
        <p:nvSpPr>
          <p:cNvPr id="103" name="TextBox 102"/>
          <p:cNvSpPr txBox="1"/>
          <p:nvPr/>
        </p:nvSpPr>
        <p:spPr>
          <a:xfrm>
            <a:off x="503046" y="539577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6</a:t>
            </a:r>
          </a:p>
        </p:txBody>
      </p:sp>
      <p:sp>
        <p:nvSpPr>
          <p:cNvPr id="104" name="TextBox 103"/>
          <p:cNvSpPr txBox="1"/>
          <p:nvPr/>
        </p:nvSpPr>
        <p:spPr>
          <a:xfrm>
            <a:off x="1124993" y="5196717"/>
            <a:ext cx="6104482"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Initial ecosystem recommendation</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prstClr val="black">
                    <a:tint val="75000"/>
                  </a:prstClr>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950" b="0" i="0" u="none" strike="noStrike" kern="1200" cap="none" spc="0" normalizeH="0" baseline="0" noProof="0">
              <a:ln>
                <a:noFill/>
              </a:ln>
              <a:solidFill>
                <a:prstClr val="black">
                  <a:tint val="75000"/>
                </a:prstClr>
              </a:solidFill>
              <a:effectLst/>
              <a:uLnTx/>
              <a:uFillTx/>
              <a:latin typeface="Fira Mono"/>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4"/>
            <a:ext cx="2906904" cy="288285"/>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HOW WE </a:t>
            </a:r>
            <a:r>
              <a:rPr kumimoji="0" lang="en-US" sz="1100" b="0" i="0" u="none" strike="noStrike" kern="1200" cap="all" spc="130" normalizeH="0" baseline="0" noProof="0">
                <a:ln>
                  <a:noFill/>
                </a:ln>
                <a:solidFill>
                  <a:srgbClr val="9A9A9A"/>
                </a:solidFill>
                <a:effectLst/>
                <a:uLnTx/>
                <a:uFillTx/>
                <a:latin typeface="Fira Sans Medium"/>
                <a:ea typeface="+mn-ea"/>
                <a:cs typeface="+mn-cs"/>
              </a:rPr>
              <a:t>ANALYZE</a:t>
            </a:r>
            <a:r>
              <a:rPr kumimoji="0" sz="1100" b="0" i="0" u="none" strike="noStrike" kern="1200" cap="all" spc="130" normalizeH="0" baseline="0" noProof="0">
                <a:ln>
                  <a:noFill/>
                </a:ln>
                <a:solidFill>
                  <a:srgbClr val="9A9A9A"/>
                </a:solidFill>
                <a:effectLst/>
                <a:uLnTx/>
                <a:uFillTx/>
                <a:latin typeface="Fira Sans Medium"/>
                <a:ea typeface="+mn-ea"/>
                <a:cs typeface="+mn-cs"/>
              </a:rPr>
              <a:t> ECOSYSTEMS</a:t>
            </a:r>
          </a:p>
        </p:txBody>
      </p:sp>
      <p:sp>
        <p:nvSpPr>
          <p:cNvPr id="92" name="TextBox 91"/>
          <p:cNvSpPr txBox="1"/>
          <p:nvPr/>
        </p:nvSpPr>
        <p:spPr>
          <a:xfrm>
            <a:off x="503046" y="743648"/>
            <a:ext cx="9253696"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We unpack banking ecosystems across four layers </a:t>
            </a:r>
            <a:br>
              <a:rPr kumimoji="0" lang="en-US" sz="2900" b="0" i="0" u="none" strike="noStrike" kern="1200" cap="none" spc="-14" normalizeH="0" baseline="0" noProof="0">
                <a:ln>
                  <a:noFill/>
                </a:ln>
                <a:solidFill>
                  <a:srgbClr val="232422"/>
                </a:solidFill>
                <a:effectLst/>
                <a:uLnTx/>
                <a:uFillTx/>
                <a:latin typeface="Fira Sans"/>
                <a:ea typeface="+mn-ea"/>
                <a:cs typeface="+mn-cs"/>
              </a:rPr>
            </a:br>
            <a:r>
              <a:rPr kumimoji="0" lang="en-US" sz="2900" b="0" i="0" u="none" strike="noStrike" kern="1200" cap="none" spc="-14" normalizeH="0" baseline="0" noProof="0">
                <a:ln>
                  <a:noFill/>
                </a:ln>
                <a:solidFill>
                  <a:srgbClr val="232422"/>
                </a:solidFill>
                <a:effectLst/>
                <a:uLnTx/>
                <a:uFillTx/>
                <a:latin typeface="Fira Sans"/>
                <a:ea typeface="+mn-ea"/>
                <a:cs typeface="+mn-cs"/>
              </a:rPr>
              <a:t>that each answer a different customer question</a:t>
            </a:r>
          </a:p>
        </p:txBody>
      </p:sp>
      <p:grpSp>
        <p:nvGrpSpPr>
          <p:cNvPr id="3" name="Group 2">
            <a:extLst>
              <a:ext uri="{FF2B5EF4-FFF2-40B4-BE49-F238E27FC236}">
                <a16:creationId xmlns:a16="http://schemas.microsoft.com/office/drawing/2014/main" id="{E119BCA6-BDE9-F066-13AE-5625C640FBC2}"/>
              </a:ext>
            </a:extLst>
          </p:cNvPr>
          <p:cNvGrpSpPr/>
          <p:nvPr/>
        </p:nvGrpSpPr>
        <p:grpSpPr>
          <a:xfrm>
            <a:off x="503229" y="2488917"/>
            <a:ext cx="10922618" cy="3794760"/>
            <a:chOff x="503229" y="2355423"/>
            <a:chExt cx="10922618" cy="3794760"/>
          </a:xfrm>
        </p:grpSpPr>
        <p:sp>
          <p:nvSpPr>
            <p:cNvPr id="93" name="TextBox 92"/>
            <p:cNvSpPr txBox="1"/>
            <p:nvPr/>
          </p:nvSpPr>
          <p:spPr>
            <a:xfrm>
              <a:off x="503229" y="2511602"/>
              <a:ext cx="1199261" cy="192024"/>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86" normalizeH="0" baseline="0" noProof="0">
                  <a:ln>
                    <a:noFill/>
                  </a:ln>
                  <a:solidFill>
                    <a:srgbClr val="3A5570"/>
                  </a:solidFill>
                  <a:effectLst/>
                  <a:uLnTx/>
                  <a:uFillTx/>
                  <a:latin typeface="Fira Sans SemiBold"/>
                  <a:ea typeface="+mn-ea"/>
                  <a:cs typeface="+mn-cs"/>
                </a:rPr>
                <a:t>PRODUCT CHOICE</a:t>
              </a:r>
            </a:p>
          </p:txBody>
        </p:sp>
        <p:sp>
          <p:nvSpPr>
            <p:cNvPr id="94" name="Rounded Rectangle 93"/>
            <p:cNvSpPr/>
            <p:nvPr/>
          </p:nvSpPr>
          <p:spPr>
            <a:xfrm>
              <a:off x="2336876" y="2355423"/>
              <a:ext cx="1375327" cy="476585"/>
            </a:xfrm>
            <a:prstGeom prst="roundRect">
              <a:avLst>
                <a:gd name="adj" fmla="val 15387"/>
              </a:avLst>
            </a:prstGeom>
            <a:solidFill>
              <a:srgbClr val="E7EDF3"/>
            </a:solidFill>
            <a:ln w="1280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 name="Rounded Rectangle 94"/>
            <p:cNvSpPr/>
            <p:nvPr/>
          </p:nvSpPr>
          <p:spPr>
            <a:xfrm>
              <a:off x="3987232" y="2355423"/>
              <a:ext cx="1375327" cy="476585"/>
            </a:xfrm>
            <a:prstGeom prst="roundRect">
              <a:avLst>
                <a:gd name="adj" fmla="val 15387"/>
              </a:avLst>
            </a:prstGeom>
            <a:solidFill>
              <a:srgbClr val="E7EDF3"/>
            </a:solidFill>
            <a:ln w="1280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 name="Rounded Rectangle 95"/>
            <p:cNvSpPr/>
            <p:nvPr/>
          </p:nvSpPr>
          <p:spPr>
            <a:xfrm>
              <a:off x="5637588" y="2355423"/>
              <a:ext cx="1375236" cy="476585"/>
            </a:xfrm>
            <a:prstGeom prst="roundRect">
              <a:avLst>
                <a:gd name="adj" fmla="val 15387"/>
              </a:avLst>
            </a:prstGeom>
            <a:solidFill>
              <a:srgbClr val="E7EDF3"/>
            </a:solidFill>
            <a:ln w="1280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 name="TextBox 96"/>
            <p:cNvSpPr txBox="1"/>
            <p:nvPr/>
          </p:nvSpPr>
          <p:spPr>
            <a:xfrm>
              <a:off x="8376377" y="2484169"/>
              <a:ext cx="2652307" cy="250061"/>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250" b="0" i="0" u="none" strike="noStrike" kern="1200" cap="none" spc="0" normalizeH="0" baseline="0" noProof="0">
                  <a:ln>
                    <a:noFill/>
                  </a:ln>
                  <a:solidFill>
                    <a:srgbClr val="575757"/>
                  </a:solidFill>
                  <a:effectLst/>
                  <a:uLnTx/>
                  <a:uFillTx/>
                  <a:latin typeface="Fira Sans"/>
                  <a:ea typeface="+mn-ea"/>
                  <a:cs typeface="+mn-cs"/>
                </a:rPr>
                <a:t>“Which products fit what I need?”</a:t>
              </a:r>
            </a:p>
          </p:txBody>
        </p:sp>
        <p:sp>
          <p:nvSpPr>
            <p:cNvPr id="98" name="TextBox 97"/>
            <p:cNvSpPr txBox="1"/>
            <p:nvPr/>
          </p:nvSpPr>
          <p:spPr>
            <a:xfrm>
              <a:off x="503229" y="3593154"/>
              <a:ext cx="1526149" cy="192024"/>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86" normalizeH="0" baseline="0" noProof="0">
                  <a:ln>
                    <a:noFill/>
                  </a:ln>
                  <a:solidFill>
                    <a:srgbClr val="8F5C20"/>
                  </a:solidFill>
                  <a:effectLst/>
                  <a:uLnTx/>
                  <a:uFillTx/>
                  <a:latin typeface="Fira Sans SemiBold"/>
                  <a:ea typeface="+mn-ea"/>
                  <a:cs typeface="+mn-cs"/>
                </a:rPr>
                <a:t>RELATIONSHIP STATUS</a:t>
              </a:r>
            </a:p>
          </p:txBody>
        </p:sp>
        <p:sp>
          <p:nvSpPr>
            <p:cNvPr id="99" name="Rounded Rectangle 98"/>
            <p:cNvSpPr/>
            <p:nvPr/>
          </p:nvSpPr>
          <p:spPr>
            <a:xfrm>
              <a:off x="2336876" y="3436975"/>
              <a:ext cx="1375327" cy="476677"/>
            </a:xfrm>
            <a:prstGeom prst="roundRect">
              <a:avLst>
                <a:gd name="adj" fmla="val 15384"/>
              </a:avLst>
            </a:prstGeom>
            <a:solidFill>
              <a:srgbClr val="F6EAD6"/>
            </a:solidFill>
            <a:ln w="12801">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Rounded Rectangle 99"/>
            <p:cNvSpPr/>
            <p:nvPr/>
          </p:nvSpPr>
          <p:spPr>
            <a:xfrm>
              <a:off x="3987232" y="3436975"/>
              <a:ext cx="1375327" cy="476677"/>
            </a:xfrm>
            <a:prstGeom prst="roundRect">
              <a:avLst>
                <a:gd name="adj" fmla="val 15384"/>
              </a:avLst>
            </a:prstGeom>
            <a:solidFill>
              <a:srgbClr val="F6EAD6"/>
            </a:solidFill>
            <a:ln w="12801">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TextBox 100"/>
            <p:cNvSpPr txBox="1"/>
            <p:nvPr/>
          </p:nvSpPr>
          <p:spPr>
            <a:xfrm>
              <a:off x="7694341" y="3565721"/>
              <a:ext cx="3334343" cy="250061"/>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250" b="0" i="0" u="none" strike="noStrike" kern="1200" cap="none" spc="0" normalizeH="0" baseline="0" noProof="0">
                  <a:ln>
                    <a:noFill/>
                  </a:ln>
                  <a:solidFill>
                    <a:srgbClr val="575757"/>
                  </a:solidFill>
                  <a:effectLst/>
                  <a:uLnTx/>
                  <a:uFillTx/>
                  <a:latin typeface="Fira Sans"/>
                  <a:ea typeface="+mn-ea"/>
                  <a:cs typeface="+mn-cs"/>
                </a:rPr>
                <a:t>“How does the bank see my relationship?”</a:t>
              </a:r>
            </a:p>
          </p:txBody>
        </p:sp>
        <p:sp>
          <p:nvSpPr>
            <p:cNvPr id="102" name="TextBox 101"/>
            <p:cNvSpPr txBox="1"/>
            <p:nvPr/>
          </p:nvSpPr>
          <p:spPr>
            <a:xfrm>
              <a:off x="503229" y="4693032"/>
              <a:ext cx="1375327" cy="192019"/>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86" normalizeH="0" baseline="0" noProof="0">
                  <a:ln>
                    <a:noFill/>
                  </a:ln>
                  <a:solidFill>
                    <a:srgbClr val="42603E"/>
                  </a:solidFill>
                  <a:effectLst/>
                  <a:uLnTx/>
                  <a:uFillTx/>
                  <a:latin typeface="Fira Sans SemiBold"/>
                  <a:ea typeface="+mn-ea"/>
                  <a:cs typeface="+mn-cs"/>
                </a:rPr>
                <a:t>RELATIONSHIP VALUE</a:t>
              </a:r>
              <a:endParaRPr kumimoji="0" sz="950" b="0" i="0" u="none" strike="noStrike" kern="1200" cap="none" spc="86" normalizeH="0" baseline="0" noProof="0">
                <a:ln>
                  <a:noFill/>
                </a:ln>
                <a:solidFill>
                  <a:srgbClr val="42603E"/>
                </a:solidFill>
                <a:effectLst/>
                <a:uLnTx/>
                <a:uFillTx/>
                <a:latin typeface="Fira Sans SemiBold"/>
                <a:ea typeface="+mn-ea"/>
                <a:cs typeface="+mn-cs"/>
              </a:endParaRPr>
            </a:p>
          </p:txBody>
        </p:sp>
        <p:sp>
          <p:nvSpPr>
            <p:cNvPr id="103" name="Rounded Rectangle 102"/>
            <p:cNvSpPr/>
            <p:nvPr/>
          </p:nvSpPr>
          <p:spPr>
            <a:xfrm>
              <a:off x="2336876" y="4518619"/>
              <a:ext cx="1375327" cy="476677"/>
            </a:xfrm>
            <a:prstGeom prst="roundRect">
              <a:avLst>
                <a:gd name="adj" fmla="val 15384"/>
              </a:avLst>
            </a:prstGeom>
            <a:solidFill>
              <a:srgbClr val="E6EFE1"/>
            </a:solidFill>
            <a:ln w="12801">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Rounded Rectangle 103"/>
            <p:cNvSpPr/>
            <p:nvPr/>
          </p:nvSpPr>
          <p:spPr>
            <a:xfrm>
              <a:off x="3987232" y="4518619"/>
              <a:ext cx="1375327" cy="476677"/>
            </a:xfrm>
            <a:prstGeom prst="roundRect">
              <a:avLst>
                <a:gd name="adj" fmla="val 15384"/>
              </a:avLst>
            </a:prstGeom>
            <a:solidFill>
              <a:srgbClr val="E6EFE1"/>
            </a:solidFill>
            <a:ln w="12801">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5" name="TextBox 104"/>
            <p:cNvSpPr txBox="1"/>
            <p:nvPr/>
          </p:nvSpPr>
          <p:spPr>
            <a:xfrm>
              <a:off x="9293429" y="4647365"/>
              <a:ext cx="1735255" cy="250061"/>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250" b="0" i="0" u="none" strike="noStrike" kern="1200" cap="none" spc="0" normalizeH="0" baseline="0" noProof="0">
                  <a:ln>
                    <a:noFill/>
                  </a:ln>
                  <a:solidFill>
                    <a:srgbClr val="575757"/>
                  </a:solidFill>
                  <a:effectLst/>
                  <a:uLnTx/>
                  <a:uFillTx/>
                  <a:latin typeface="Fira Sans"/>
                  <a:ea typeface="+mn-ea"/>
                  <a:cs typeface="+mn-cs"/>
                </a:rPr>
                <a:t>“What do I get for it?”</a:t>
              </a:r>
            </a:p>
          </p:txBody>
        </p:sp>
        <p:sp>
          <p:nvSpPr>
            <p:cNvPr id="106" name="TextBox 105"/>
            <p:cNvSpPr txBox="1"/>
            <p:nvPr/>
          </p:nvSpPr>
          <p:spPr>
            <a:xfrm>
              <a:off x="503229" y="5756442"/>
              <a:ext cx="1250480" cy="192024"/>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86" normalizeH="0" baseline="0" noProof="0">
                  <a:ln>
                    <a:noFill/>
                  </a:ln>
                  <a:solidFill>
                    <a:srgbClr val="5D4B73"/>
                  </a:solidFill>
                  <a:effectLst/>
                  <a:uLnTx/>
                  <a:uFillTx/>
                  <a:latin typeface="Fira Sans SemiBold"/>
                  <a:ea typeface="+mn-ea"/>
                  <a:cs typeface="+mn-cs"/>
                </a:rPr>
                <a:t>SERVICE &amp; ADVICE</a:t>
              </a:r>
            </a:p>
          </p:txBody>
        </p:sp>
        <p:sp>
          <p:nvSpPr>
            <p:cNvPr id="107" name="Rounded Rectangle 106"/>
            <p:cNvSpPr/>
            <p:nvPr/>
          </p:nvSpPr>
          <p:spPr>
            <a:xfrm>
              <a:off x="2336876" y="5600262"/>
              <a:ext cx="1375327" cy="476585"/>
            </a:xfrm>
            <a:prstGeom prst="roundRect">
              <a:avLst>
                <a:gd name="adj" fmla="val 15387"/>
              </a:avLst>
            </a:prstGeom>
            <a:solidFill>
              <a:srgbClr val="ECE6F2"/>
            </a:solidFill>
            <a:ln w="12801">
              <a:solidFill>
                <a:srgbClr val="7761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8" name="Rounded Rectangle 107"/>
            <p:cNvSpPr/>
            <p:nvPr/>
          </p:nvSpPr>
          <p:spPr>
            <a:xfrm>
              <a:off x="3987232" y="5600262"/>
              <a:ext cx="1375327" cy="476585"/>
            </a:xfrm>
            <a:prstGeom prst="roundRect">
              <a:avLst>
                <a:gd name="adj" fmla="val 15387"/>
              </a:avLst>
            </a:prstGeom>
            <a:solidFill>
              <a:srgbClr val="ECE6F2"/>
            </a:solidFill>
            <a:ln w="12801">
              <a:solidFill>
                <a:srgbClr val="7761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9" name="TextBox 108"/>
            <p:cNvSpPr txBox="1"/>
            <p:nvPr/>
          </p:nvSpPr>
          <p:spPr>
            <a:xfrm>
              <a:off x="7806897" y="5729009"/>
              <a:ext cx="3221787" cy="250061"/>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250" b="0" i="0" u="none" strike="noStrike" kern="1200" cap="none" spc="0" normalizeH="0" baseline="0" noProof="0">
                  <a:ln>
                    <a:noFill/>
                  </a:ln>
                  <a:solidFill>
                    <a:srgbClr val="575757"/>
                  </a:solidFill>
                  <a:effectLst/>
                  <a:uLnTx/>
                  <a:uFillTx/>
                  <a:latin typeface="Fira Sans"/>
                  <a:ea typeface="+mn-ea"/>
                  <a:cs typeface="+mn-cs"/>
                </a:rPr>
                <a:t>“When does the way I’m served</a:t>
              </a:r>
              <a:r>
                <a:rPr kumimoji="0" lang="en-US" sz="1250" b="0" i="0" u="none" strike="noStrike" kern="1200" cap="none" spc="0" normalizeH="0" baseline="0" noProof="0">
                  <a:ln>
                    <a:noFill/>
                  </a:ln>
                  <a:solidFill>
                    <a:srgbClr val="575757"/>
                  </a:solidFill>
                  <a:effectLst/>
                  <a:uLnTx/>
                  <a:uFillTx/>
                  <a:latin typeface="Fira Sans"/>
                  <a:ea typeface="+mn-ea"/>
                  <a:cs typeface="+mn-cs"/>
                </a:rPr>
                <a:t> </a:t>
              </a:r>
              <a:r>
                <a:rPr kumimoji="0" sz="1250" b="0" i="0" u="none" strike="noStrike" kern="1200" cap="none" spc="0" normalizeH="0" baseline="0" noProof="0">
                  <a:ln>
                    <a:noFill/>
                  </a:ln>
                  <a:solidFill>
                    <a:srgbClr val="575757"/>
                  </a:solidFill>
                  <a:effectLst/>
                  <a:uLnTx/>
                  <a:uFillTx/>
                  <a:latin typeface="Fira Sans"/>
                  <a:ea typeface="+mn-ea"/>
                  <a:cs typeface="+mn-cs"/>
                </a:rPr>
                <a:t>change?”</a:t>
              </a:r>
            </a:p>
          </p:txBody>
        </p:sp>
        <p:sp>
          <p:nvSpPr>
            <p:cNvPr id="2" name="Freeform 1"/>
            <p:cNvSpPr/>
            <p:nvPr/>
          </p:nvSpPr>
          <p:spPr>
            <a:xfrm>
              <a:off x="11297525" y="3180394"/>
              <a:ext cx="128322" cy="2969789"/>
            </a:xfrm>
            <a:custGeom>
              <a:avLst/>
              <a:gdLst/>
              <a:ahLst/>
              <a:cxnLst/>
              <a:rect l="l" t="t" r="r" b="b"/>
              <a:pathLst>
                <a:path w="128322" h="2969789">
                  <a:moveTo>
                    <a:pt x="0" y="0"/>
                  </a:moveTo>
                  <a:lnTo>
                    <a:pt x="128322" y="0"/>
                  </a:lnTo>
                  <a:lnTo>
                    <a:pt x="128322" y="2969789"/>
                  </a:lnTo>
                  <a:lnTo>
                    <a:pt x="0" y="2969789"/>
                  </a:lnTo>
                </a:path>
              </a:pathLst>
            </a:custGeom>
            <a:noFill/>
            <a:ln w="12801">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0" name="TextBox 109"/>
            <p:cNvSpPr txBox="1"/>
            <p:nvPr/>
          </p:nvSpPr>
          <p:spPr>
            <a:xfrm>
              <a:off x="7738948" y="3014504"/>
              <a:ext cx="3516674" cy="330862"/>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58" normalizeH="0" baseline="0" noProof="0">
                  <a:ln>
                    <a:noFill/>
                  </a:ln>
                  <a:solidFill>
                    <a:srgbClr val="007651"/>
                  </a:solidFill>
                  <a:effectLst/>
                  <a:uLnTx/>
                  <a:uFillTx/>
                  <a:latin typeface="Fira Sans SemiBold"/>
                  <a:ea typeface="+mn-ea"/>
                  <a:cs typeface="+mn-cs"/>
                </a:rPr>
                <a:t>RELATIONSHIP RECOGNITION</a:t>
              </a:r>
            </a:p>
          </p:txBody>
        </p:sp>
      </p:grpSp>
      <p:cxnSp>
        <p:nvCxnSpPr>
          <p:cNvPr id="112" name="Connector 111"/>
          <p:cNvCxnSpPr/>
          <p:nvPr/>
        </p:nvCxnSpPr>
        <p:spPr>
          <a:xfrm>
            <a:off x="503046" y="6414516"/>
            <a:ext cx="11185908" cy="0"/>
          </a:xfrm>
          <a:prstGeom prst="line">
            <a:avLst/>
          </a:prstGeom>
          <a:ln w="9144">
            <a:solidFill>
              <a:srgbClr val="DDDBCE"/>
            </a:solidFill>
          </a:ln>
          <a:effectLst/>
        </p:spPr>
      </p:cxnSp>
      <p:sp>
        <p:nvSpPr>
          <p:cNvPr id="113" name="TextBox 112"/>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endParaRPr kumimoji="0" sz="800" b="0" i="0" u="none" strike="noStrike" kern="1200" cap="none" spc="0" normalizeH="0" baseline="0" noProof="0">
              <a:ln>
                <a:noFill/>
              </a:ln>
              <a:solidFill>
                <a:srgbClr val="9A9A9A"/>
              </a:solidFill>
              <a:effectLst/>
              <a:uLnTx/>
              <a:uFillTx/>
              <a:latin typeface="Fira Mono"/>
              <a:ea typeface="+mn-ea"/>
              <a:cs typeface="+mn-cs"/>
            </a:endParaRP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5" name="TextBox 4">
            <a:extLst>
              <a:ext uri="{FF2B5EF4-FFF2-40B4-BE49-F238E27FC236}">
                <a16:creationId xmlns:a16="http://schemas.microsoft.com/office/drawing/2014/main" id="{2920DF37-A418-E902-EA9F-347ED6B7D8F0}"/>
              </a:ext>
            </a:extLst>
          </p:cNvPr>
          <p:cNvSpPr txBox="1"/>
          <p:nvPr/>
        </p:nvSpPr>
        <p:spPr>
          <a:xfrm>
            <a:off x="401781" y="1777518"/>
            <a:ext cx="9130145" cy="492955"/>
          </a:xfrm>
          <a:prstGeom prst="rect">
            <a:avLst/>
          </a:prstGeom>
          <a:noFill/>
        </p:spPr>
        <p:txBody>
          <a:bodyPr wrap="square">
            <a:sp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1400" b="0" i="0" u="none" strike="noStrike" kern="1200" cap="none" spc="-14" normalizeH="0" baseline="0" noProof="0">
                <a:ln>
                  <a:noFill/>
                </a:ln>
                <a:solidFill>
                  <a:srgbClr val="217651"/>
                </a:solidFill>
                <a:effectLst/>
                <a:uLnTx/>
                <a:uFillTx/>
                <a:latin typeface="Fira Sans"/>
                <a:ea typeface="+mn-ea"/>
                <a:cs typeface="+mn-cs"/>
              </a:rPr>
              <a:t>How a bank decides to connect these layers shapes how customers use and grow the relationship</a:t>
            </a:r>
          </a:p>
        </p:txBody>
      </p:sp>
    </p:spTree>
    <p:extLst>
      <p:ext uri="{BB962C8B-B14F-4D97-AF65-F5344CB8AC3E}">
        <p14:creationId xmlns:p14="http://schemas.microsoft.com/office/powerpoint/2010/main" val="2824049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7651"/>
        </a:solidFill>
        <a:effectLst/>
      </p:bgPr>
    </p:bg>
    <p:spTree>
      <p:nvGrpSpPr>
        <p:cNvPr id="1" name=""/>
        <p:cNvGrpSpPr/>
        <p:nvPr/>
      </p:nvGrpSpPr>
      <p:grpSpPr>
        <a:xfrm>
          <a:off x="0" y="0"/>
          <a:ext cx="0" cy="0"/>
          <a:chOff x="0" y="0"/>
          <a:chExt cx="0" cy="0"/>
        </a:xfrm>
      </p:grpSpPr>
      <p:sp>
        <p:nvSpPr>
          <p:cNvPr id="92" name="TextBox 91"/>
          <p:cNvSpPr txBox="1"/>
          <p:nvPr/>
        </p:nvSpPr>
        <p:spPr>
          <a:xfrm>
            <a:off x="503046" y="358054"/>
            <a:ext cx="707557"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14" normalizeH="0" baseline="0" noProof="0">
                <a:ln>
                  <a:noFill/>
                </a:ln>
                <a:solidFill>
                  <a:srgbClr val="FFFFFF"/>
                </a:solidFill>
                <a:effectLst/>
                <a:uLnTx/>
                <a:uFillTx/>
                <a:latin typeface="Fira Sans SemiBold"/>
                <a:ea typeface="+mn-ea"/>
                <a:cs typeface="+mn-cs"/>
              </a:rPr>
              <a:t>Citizens</a:t>
            </a:r>
          </a:p>
        </p:txBody>
      </p:sp>
      <p:sp>
        <p:nvSpPr>
          <p:cNvPr id="93" name="TextBox 92"/>
          <p:cNvSpPr txBox="1"/>
          <p:nvPr/>
        </p:nvSpPr>
        <p:spPr>
          <a:xfrm>
            <a:off x="503046" y="182961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1</a:t>
            </a:r>
          </a:p>
        </p:txBody>
      </p:sp>
      <p:sp>
        <p:nvSpPr>
          <p:cNvPr id="95" name="TextBox 94"/>
          <p:cNvSpPr txBox="1"/>
          <p:nvPr/>
        </p:nvSpPr>
        <p:spPr>
          <a:xfrm>
            <a:off x="503046" y="2542845"/>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Medium"/>
                <a:ea typeface="+mn-ea"/>
                <a:cs typeface="+mn-cs"/>
              </a:rPr>
              <a:t>2</a:t>
            </a:r>
          </a:p>
        </p:txBody>
      </p:sp>
      <p:sp>
        <p:nvSpPr>
          <p:cNvPr id="96" name="TextBox 95"/>
          <p:cNvSpPr txBox="1"/>
          <p:nvPr/>
        </p:nvSpPr>
        <p:spPr>
          <a:xfrm>
            <a:off x="1124993" y="2343789"/>
            <a:ext cx="2451607"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sz="2900" b="0" i="0" u="none" strike="noStrike" kern="1200" cap="none" spc="0" normalizeH="0" baseline="0" noProof="0">
                <a:ln>
                  <a:noFill/>
                </a:ln>
                <a:solidFill>
                  <a:srgbClr val="FFFFFF"/>
                </a:solidFill>
                <a:effectLst/>
                <a:uLnTx/>
                <a:uFillTx/>
                <a:latin typeface="Fira Sans Medium"/>
                <a:ea typeface="+mn-ea"/>
                <a:cs typeface="+mn-cs"/>
              </a:rPr>
              <a:t>Citizens today</a:t>
            </a:r>
          </a:p>
        </p:txBody>
      </p:sp>
      <p:sp>
        <p:nvSpPr>
          <p:cNvPr id="97" name="TextBox 96"/>
          <p:cNvSpPr txBox="1"/>
          <p:nvPr/>
        </p:nvSpPr>
        <p:spPr>
          <a:xfrm>
            <a:off x="503046" y="3256077"/>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3</a:t>
            </a:r>
          </a:p>
        </p:txBody>
      </p:sp>
      <p:sp>
        <p:nvSpPr>
          <p:cNvPr id="98" name="TextBox 97"/>
          <p:cNvSpPr txBox="1"/>
          <p:nvPr/>
        </p:nvSpPr>
        <p:spPr>
          <a:xfrm>
            <a:off x="1124993" y="3057021"/>
            <a:ext cx="3483514"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The customer to win</a:t>
            </a:r>
          </a:p>
        </p:txBody>
      </p:sp>
      <p:sp>
        <p:nvSpPr>
          <p:cNvPr id="99" name="TextBox 98"/>
          <p:cNvSpPr txBox="1"/>
          <p:nvPr/>
        </p:nvSpPr>
        <p:spPr>
          <a:xfrm>
            <a:off x="503046" y="3969309"/>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4</a:t>
            </a:r>
          </a:p>
        </p:txBody>
      </p:sp>
      <p:sp>
        <p:nvSpPr>
          <p:cNvPr id="100" name="TextBox 99"/>
          <p:cNvSpPr txBox="1"/>
          <p:nvPr/>
        </p:nvSpPr>
        <p:spPr>
          <a:xfrm>
            <a:off x="1124993" y="3770253"/>
            <a:ext cx="600417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What we learned from the category</a:t>
            </a:r>
          </a:p>
        </p:txBody>
      </p:sp>
      <p:sp>
        <p:nvSpPr>
          <p:cNvPr id="101" name="TextBox 100"/>
          <p:cNvSpPr txBox="1"/>
          <p:nvPr/>
        </p:nvSpPr>
        <p:spPr>
          <a:xfrm>
            <a:off x="503046" y="4682541"/>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5</a:t>
            </a:r>
          </a:p>
        </p:txBody>
      </p:sp>
      <p:sp>
        <p:nvSpPr>
          <p:cNvPr id="102" name="TextBox 101"/>
          <p:cNvSpPr txBox="1"/>
          <p:nvPr/>
        </p:nvSpPr>
        <p:spPr>
          <a:xfrm>
            <a:off x="1124993" y="4483485"/>
            <a:ext cx="3732055"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Where loyalty is going</a:t>
            </a:r>
          </a:p>
        </p:txBody>
      </p:sp>
      <p:sp>
        <p:nvSpPr>
          <p:cNvPr id="103" name="TextBox 102"/>
          <p:cNvSpPr txBox="1"/>
          <p:nvPr/>
        </p:nvSpPr>
        <p:spPr>
          <a:xfrm>
            <a:off x="503046" y="539577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6</a:t>
            </a:r>
          </a:p>
        </p:txBody>
      </p:sp>
      <p:sp>
        <p:nvSpPr>
          <p:cNvPr id="104" name="TextBox 103"/>
          <p:cNvSpPr txBox="1"/>
          <p:nvPr/>
        </p:nvSpPr>
        <p:spPr>
          <a:xfrm>
            <a:off x="1124992" y="5196717"/>
            <a:ext cx="6277293"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Initial ecosystem recommendation</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prstClr val="black">
                    <a:tint val="75000"/>
                  </a:prstClr>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950" b="0" i="0" u="none" strike="noStrike" kern="1200" cap="none" spc="0" normalizeH="0" baseline="0" noProof="0">
              <a:ln>
                <a:noFill/>
              </a:ln>
              <a:solidFill>
                <a:prstClr val="black">
                  <a:tint val="75000"/>
                </a:prstClr>
              </a:solidFill>
              <a:effectLst/>
              <a:uLnTx/>
              <a:uFillTx/>
              <a:latin typeface="Fira Mono"/>
              <a:ea typeface="+mn-ea"/>
              <a:cs typeface="+mn-cs"/>
            </a:endParaRPr>
          </a:p>
        </p:txBody>
      </p:sp>
      <p:sp>
        <p:nvSpPr>
          <p:cNvPr id="2" name="TextBox 1">
            <a:extLst>
              <a:ext uri="{FF2B5EF4-FFF2-40B4-BE49-F238E27FC236}">
                <a16:creationId xmlns:a16="http://schemas.microsoft.com/office/drawing/2014/main" id="{C090463A-44CA-2799-C8C3-7A0B15535D23}"/>
              </a:ext>
            </a:extLst>
          </p:cNvPr>
          <p:cNvSpPr txBox="1"/>
          <p:nvPr/>
        </p:nvSpPr>
        <p:spPr>
          <a:xfrm>
            <a:off x="1124993" y="1630557"/>
            <a:ext cx="520784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How we analyze ecosystems</a:t>
            </a:r>
            <a:endParaRPr kumimoji="0" sz="2900" b="0" i="0" u="none" strike="noStrike" kern="1200" cap="none" spc="0" normalizeH="0" baseline="0" noProof="0">
              <a:ln>
                <a:noFill/>
              </a:ln>
              <a:solidFill>
                <a:prstClr val="white">
                  <a:lumMod val="75000"/>
                </a:prstClr>
              </a:solidFill>
              <a:effectLst/>
              <a:uLnTx/>
              <a:uFillTx/>
              <a:latin typeface="Fira Sans Ligh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1340937"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CITIZENS TODAY</a:t>
            </a:r>
          </a:p>
        </p:txBody>
      </p:sp>
      <p:sp>
        <p:nvSpPr>
          <p:cNvPr id="92" name="TextBox 91"/>
          <p:cNvSpPr txBox="1"/>
          <p:nvPr/>
        </p:nvSpPr>
        <p:spPr>
          <a:xfrm>
            <a:off x="503046" y="743648"/>
            <a:ext cx="2881080" cy="1832275"/>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Citizens’ current</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ecosystem</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is governed</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by checking</a:t>
            </a:r>
          </a:p>
        </p:txBody>
      </p:sp>
      <p:sp>
        <p:nvSpPr>
          <p:cNvPr id="93" name="TextBox 92"/>
          <p:cNvSpPr txBox="1"/>
          <p:nvPr/>
        </p:nvSpPr>
        <p:spPr>
          <a:xfrm>
            <a:off x="503046" y="2790245"/>
            <a:ext cx="2881080"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1" i="0" u="none" strike="noStrike" kern="1200" cap="all" spc="104" normalizeH="0" baseline="0" noProof="0">
                <a:ln>
                  <a:noFill/>
                </a:ln>
                <a:solidFill>
                  <a:srgbClr val="007651"/>
                </a:solidFill>
                <a:effectLst/>
                <a:uLnTx/>
                <a:uFillTx/>
                <a:latin typeface="Fira Sans"/>
                <a:ea typeface="+mn-ea"/>
                <a:cs typeface="+mn-cs"/>
              </a:rPr>
              <a:t>Our read, in five notes</a:t>
            </a:r>
          </a:p>
        </p:txBody>
      </p:sp>
      <p:grpSp>
        <p:nvGrpSpPr>
          <p:cNvPr id="2" name="Group 1">
            <a:extLst>
              <a:ext uri="{FF2B5EF4-FFF2-40B4-BE49-F238E27FC236}">
                <a16:creationId xmlns:a16="http://schemas.microsoft.com/office/drawing/2014/main" id="{02C7679C-D7B4-85CA-5143-39FF36347DC8}"/>
              </a:ext>
            </a:extLst>
          </p:cNvPr>
          <p:cNvGrpSpPr/>
          <p:nvPr/>
        </p:nvGrpSpPr>
        <p:grpSpPr>
          <a:xfrm>
            <a:off x="702524" y="3095624"/>
            <a:ext cx="2881080" cy="539212"/>
            <a:chOff x="503046" y="3093414"/>
            <a:chExt cx="2881080" cy="539212"/>
          </a:xfrm>
        </p:grpSpPr>
        <p:sp>
          <p:nvSpPr>
            <p:cNvPr id="94" name="TextBox 93"/>
            <p:cNvSpPr txBox="1"/>
            <p:nvPr/>
          </p:nvSpPr>
          <p:spPr>
            <a:xfrm>
              <a:off x="503046" y="3093414"/>
              <a:ext cx="2881080" cy="184983"/>
            </a:xfrm>
            <a:prstGeom prst="rect">
              <a:avLst/>
            </a:prstGeom>
            <a:noFill/>
          </p:spPr>
          <p:txBody>
            <a:bodyPr wrap="none" lIns="0" tIns="0" rIns="0" bIns="0" anchor="t">
              <a:noAutofit/>
            </a:bodyPr>
            <a:lstStyle/>
            <a:p>
              <a:pPr marL="0" marR="0" lvl="0" indent="0" algn="l" defTabSz="457200" rtl="0" eaLnBrk="1" fontAlgn="auto" latinLnBrk="0" hangingPunct="1">
                <a:lnSpc>
                  <a:spcPts val="1312"/>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Richer value needs a higher account</a:t>
              </a:r>
            </a:p>
          </p:txBody>
        </p:sp>
        <p:sp>
          <p:nvSpPr>
            <p:cNvPr id="95" name="TextBox 94"/>
            <p:cNvSpPr txBox="1"/>
            <p:nvPr/>
          </p:nvSpPr>
          <p:spPr>
            <a:xfrm>
              <a:off x="503046" y="3286251"/>
              <a:ext cx="2881080" cy="346375"/>
            </a:xfrm>
            <a:prstGeom prst="rect">
              <a:avLst/>
            </a:prstGeom>
            <a:noFill/>
          </p:spPr>
          <p:txBody>
            <a:bodyPr wrap="square" lIns="0" tIns="0" rIns="0" bIns="0" anchor="t">
              <a:noAutofit/>
            </a:bodyPr>
            <a:lstStyle/>
            <a:p>
              <a:pPr marL="0" marR="0" lvl="0" indent="0" algn="l" defTabSz="457200" rtl="0" eaLnBrk="1" fontAlgn="auto" latinLnBrk="0" hangingPunct="1">
                <a:lnSpc>
                  <a:spcPts val="1291"/>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Rate boosts and fee treatment follow </a:t>
              </a:r>
              <a:r>
                <a:rPr kumimoji="0" sz="1200" b="0" i="0" u="none" strike="noStrike" kern="1200" cap="none" spc="0" normalizeH="0" baseline="0" noProof="0" err="1">
                  <a:ln>
                    <a:noFill/>
                  </a:ln>
                  <a:solidFill>
                    <a:srgbClr val="575757"/>
                  </a:solidFill>
                  <a:effectLst/>
                  <a:uLnTx/>
                  <a:uFillTx/>
                  <a:latin typeface="Fira Sans"/>
                  <a:ea typeface="+mn-ea"/>
                  <a:cs typeface="+mn-cs"/>
                </a:rPr>
                <a:t>CitizensPlus</a:t>
              </a:r>
              <a:r>
                <a:rPr kumimoji="0" sz="1200" b="0" i="0" u="none" strike="noStrike" kern="1200" cap="none" spc="0" normalizeH="0" baseline="0" noProof="0">
                  <a:ln>
                    <a:noFill/>
                  </a:ln>
                  <a:solidFill>
                    <a:srgbClr val="575757"/>
                  </a:solidFill>
                  <a:effectLst/>
                  <a:uLnTx/>
                  <a:uFillTx/>
                  <a:latin typeface="Fira Sans"/>
                  <a:ea typeface="+mn-ea"/>
                  <a:cs typeface="+mn-cs"/>
                </a:rPr>
                <a:t>,</a:t>
              </a:r>
              <a:r>
                <a:rPr kumimoji="0" lang="en-US" sz="1200" b="0" i="0" u="none" strike="noStrike" kern="1200" cap="none" spc="0" normalizeH="0" baseline="0" noProof="0">
                  <a:ln>
                    <a:noFill/>
                  </a:ln>
                  <a:solidFill>
                    <a:srgbClr val="575757"/>
                  </a:solidFill>
                  <a:effectLst/>
                  <a:uLnTx/>
                  <a:uFillTx/>
                  <a:latin typeface="Fira Sans"/>
                  <a:ea typeface="+mn-ea"/>
                  <a:cs typeface="+mn-cs"/>
                </a:rPr>
                <a:t> which</a:t>
              </a:r>
              <a:r>
                <a:rPr kumimoji="0" sz="1200" b="0" i="0" u="none" strike="noStrike" kern="1200" cap="none" spc="0" normalizeH="0" baseline="0" noProof="0">
                  <a:ln>
                    <a:noFill/>
                  </a:ln>
                  <a:solidFill>
                    <a:srgbClr val="575757"/>
                  </a:solidFill>
                  <a:effectLst/>
                  <a:uLnTx/>
                  <a:uFillTx/>
                  <a:latin typeface="Fira Sans"/>
                  <a:ea typeface="+mn-ea"/>
                  <a:cs typeface="+mn-cs"/>
                </a:rPr>
                <a:t> follows the account.</a:t>
              </a:r>
            </a:p>
          </p:txBody>
        </p:sp>
      </p:grpSp>
      <p:grpSp>
        <p:nvGrpSpPr>
          <p:cNvPr id="3" name="Group 2">
            <a:extLst>
              <a:ext uri="{FF2B5EF4-FFF2-40B4-BE49-F238E27FC236}">
                <a16:creationId xmlns:a16="http://schemas.microsoft.com/office/drawing/2014/main" id="{F48C9FB0-C94E-D975-FE42-49384472A92A}"/>
              </a:ext>
            </a:extLst>
          </p:cNvPr>
          <p:cNvGrpSpPr/>
          <p:nvPr/>
        </p:nvGrpSpPr>
        <p:grpSpPr>
          <a:xfrm>
            <a:off x="702524" y="3765164"/>
            <a:ext cx="2881080" cy="539303"/>
            <a:chOff x="503046" y="3706885"/>
            <a:chExt cx="2881080" cy="539303"/>
          </a:xfrm>
        </p:grpSpPr>
        <p:sp>
          <p:nvSpPr>
            <p:cNvPr id="96" name="TextBox 95"/>
            <p:cNvSpPr txBox="1"/>
            <p:nvPr/>
          </p:nvSpPr>
          <p:spPr>
            <a:xfrm>
              <a:off x="503046" y="3706885"/>
              <a:ext cx="2881080" cy="184983"/>
            </a:xfrm>
            <a:prstGeom prst="rect">
              <a:avLst/>
            </a:prstGeom>
            <a:noFill/>
          </p:spPr>
          <p:txBody>
            <a:bodyPr wrap="none" lIns="0" tIns="0" rIns="0" bIns="0" anchor="t">
              <a:noAutofit/>
            </a:bodyPr>
            <a:lstStyle/>
            <a:p>
              <a:pPr marL="0" marR="0" lvl="0" indent="0" algn="l" defTabSz="457200" rtl="0" eaLnBrk="1" fontAlgn="auto" latinLnBrk="0" hangingPunct="1">
                <a:lnSpc>
                  <a:spcPts val="1312"/>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No </a:t>
              </a:r>
              <a:r>
                <a:rPr kumimoji="0" lang="en-US" sz="1200" b="1" i="0" u="none" strike="noStrike" kern="1200" cap="none" spc="0" normalizeH="0" baseline="0" noProof="0">
                  <a:ln>
                    <a:noFill/>
                  </a:ln>
                  <a:solidFill>
                    <a:srgbClr val="232422"/>
                  </a:solidFill>
                  <a:effectLst/>
                  <a:uLnTx/>
                  <a:uFillTx/>
                  <a:latin typeface="Fira Sans"/>
                  <a:ea typeface="+mn-ea"/>
                  <a:cs typeface="+mn-cs"/>
                </a:rPr>
                <a:t>relationship state </a:t>
              </a:r>
              <a:r>
                <a:rPr kumimoji="0" sz="1200" b="1" i="0" u="none" strike="noStrike" kern="1200" cap="none" spc="0" normalizeH="0" baseline="0" noProof="0">
                  <a:ln>
                    <a:noFill/>
                  </a:ln>
                  <a:solidFill>
                    <a:srgbClr val="232422"/>
                  </a:solidFill>
                  <a:effectLst/>
                  <a:uLnTx/>
                  <a:uFillTx/>
                  <a:latin typeface="Fira Sans"/>
                  <a:ea typeface="+mn-ea"/>
                  <a:cs typeface="+mn-cs"/>
                </a:rPr>
                <a:t>exists below Quest</a:t>
              </a:r>
            </a:p>
          </p:txBody>
        </p:sp>
        <p:sp>
          <p:nvSpPr>
            <p:cNvPr id="97" name="TextBox 96"/>
            <p:cNvSpPr txBox="1"/>
            <p:nvPr/>
          </p:nvSpPr>
          <p:spPr>
            <a:xfrm>
              <a:off x="503046" y="3899813"/>
              <a:ext cx="2881080" cy="346375"/>
            </a:xfrm>
            <a:prstGeom prst="rect">
              <a:avLst/>
            </a:prstGeom>
            <a:noFill/>
          </p:spPr>
          <p:txBody>
            <a:bodyPr wrap="square" lIns="0" tIns="0" rIns="0" bIns="0" anchor="t">
              <a:noAutofit/>
            </a:bodyPr>
            <a:lstStyle/>
            <a:p>
              <a:pPr marL="0" marR="0" lvl="0" indent="0" algn="l" defTabSz="457200" rtl="0" eaLnBrk="1" fontAlgn="auto" latinLnBrk="0" hangingPunct="1">
                <a:lnSpc>
                  <a:spcPts val="1291"/>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The entry products stand alone. A customer there</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earns no recognition</a:t>
              </a:r>
            </a:p>
          </p:txBody>
        </p:sp>
      </p:grpSp>
      <p:grpSp>
        <p:nvGrpSpPr>
          <p:cNvPr id="4" name="Group 3">
            <a:extLst>
              <a:ext uri="{FF2B5EF4-FFF2-40B4-BE49-F238E27FC236}">
                <a16:creationId xmlns:a16="http://schemas.microsoft.com/office/drawing/2014/main" id="{D8B73DB2-9FB4-837D-871D-CAE1D9582E6C}"/>
              </a:ext>
            </a:extLst>
          </p:cNvPr>
          <p:cNvGrpSpPr/>
          <p:nvPr/>
        </p:nvGrpSpPr>
        <p:grpSpPr>
          <a:xfrm>
            <a:off x="702524" y="4434795"/>
            <a:ext cx="2881080" cy="550878"/>
            <a:chOff x="503046" y="4320356"/>
            <a:chExt cx="2881080" cy="550878"/>
          </a:xfrm>
        </p:grpSpPr>
        <p:sp>
          <p:nvSpPr>
            <p:cNvPr id="98" name="TextBox 97"/>
            <p:cNvSpPr txBox="1"/>
            <p:nvPr/>
          </p:nvSpPr>
          <p:spPr>
            <a:xfrm>
              <a:off x="503046" y="4320356"/>
              <a:ext cx="2881080" cy="184983"/>
            </a:xfrm>
            <a:prstGeom prst="rect">
              <a:avLst/>
            </a:prstGeom>
            <a:noFill/>
          </p:spPr>
          <p:txBody>
            <a:bodyPr wrap="none" lIns="0" tIns="0" rIns="0" bIns="0" anchor="t">
              <a:noAutofit/>
            </a:bodyPr>
            <a:lstStyle/>
            <a:p>
              <a:pPr marL="0" marR="0" lvl="0" indent="0" algn="l" defTabSz="457200" rtl="0" eaLnBrk="1" fontAlgn="auto" latinLnBrk="0" hangingPunct="1">
                <a:lnSpc>
                  <a:spcPts val="1312"/>
                </a:lnSpc>
                <a:spcBef>
                  <a:spcPts val="0"/>
                </a:spcBef>
                <a:spcAft>
                  <a:spcPts val="0"/>
                </a:spcAft>
                <a:buClrTx/>
                <a:buSzTx/>
                <a:buFontTx/>
                <a:buNone/>
                <a:tabLst/>
                <a:defRPr/>
              </a:pPr>
              <a:r>
                <a:rPr kumimoji="0" sz="1200" b="1" i="0" u="none" strike="noStrike" kern="1200" cap="none" spc="0" normalizeH="0" baseline="0" noProof="0" err="1">
                  <a:ln>
                    <a:noFill/>
                  </a:ln>
                  <a:solidFill>
                    <a:srgbClr val="232422"/>
                  </a:solidFill>
                  <a:effectLst/>
                  <a:uLnTx/>
                  <a:uFillTx/>
                  <a:latin typeface="Fira Sans"/>
                  <a:ea typeface="+mn-ea"/>
                  <a:cs typeface="+mn-cs"/>
                </a:rPr>
                <a:t>CitizensPlus</a:t>
              </a:r>
              <a:r>
                <a:rPr kumimoji="0" sz="1200" b="1" i="0" u="none" strike="noStrike" kern="1200" cap="none" spc="0" normalizeH="0" baseline="0" noProof="0">
                  <a:ln>
                    <a:noFill/>
                  </a:ln>
                  <a:solidFill>
                    <a:srgbClr val="232422"/>
                  </a:solidFill>
                  <a:effectLst/>
                  <a:uLnTx/>
                  <a:uFillTx/>
                  <a:latin typeface="Fira Sans"/>
                  <a:ea typeface="+mn-ea"/>
                  <a:cs typeface="+mn-cs"/>
                </a:rPr>
                <a:t> has </a:t>
              </a:r>
              <a:r>
                <a:rPr kumimoji="0" lang="en-US" sz="1200" b="1" i="0" u="none" strike="noStrike" kern="1200" cap="none" spc="0" normalizeH="0" baseline="0" noProof="0">
                  <a:ln>
                    <a:noFill/>
                  </a:ln>
                  <a:solidFill>
                    <a:srgbClr val="232422"/>
                  </a:solidFill>
                  <a:effectLst/>
                  <a:uLnTx/>
                  <a:uFillTx/>
                  <a:latin typeface="Fira Sans"/>
                  <a:ea typeface="+mn-ea"/>
                  <a:cs typeface="+mn-cs"/>
                </a:rPr>
                <a:t>no independent role</a:t>
              </a:r>
              <a:endParaRPr kumimoji="0" sz="1200" b="1" i="0" u="none" strike="noStrike" kern="1200" cap="none" spc="0" normalizeH="0" baseline="0" noProof="0">
                <a:ln>
                  <a:noFill/>
                </a:ln>
                <a:solidFill>
                  <a:srgbClr val="232422"/>
                </a:solidFill>
                <a:effectLst/>
                <a:uLnTx/>
                <a:uFillTx/>
                <a:latin typeface="Fira Sans"/>
                <a:ea typeface="+mn-ea"/>
                <a:cs typeface="+mn-cs"/>
              </a:endParaRPr>
            </a:p>
          </p:txBody>
        </p:sp>
        <p:sp>
          <p:nvSpPr>
            <p:cNvPr id="99" name="TextBox 98"/>
            <p:cNvSpPr txBox="1"/>
            <p:nvPr/>
          </p:nvSpPr>
          <p:spPr>
            <a:xfrm>
              <a:off x="503046" y="4524859"/>
              <a:ext cx="2772589" cy="346375"/>
            </a:xfrm>
            <a:prstGeom prst="rect">
              <a:avLst/>
            </a:prstGeom>
            <a:noFill/>
          </p:spPr>
          <p:txBody>
            <a:bodyPr wrap="square" lIns="0" tIns="0" rIns="0" bIns="0" anchor="t">
              <a:noAutofit/>
            </a:bodyPr>
            <a:lstStyle/>
            <a:p>
              <a:pPr marL="0" marR="0" lvl="0" indent="0" algn="l" defTabSz="457200" rtl="0" eaLnBrk="1" fontAlgn="auto" latinLnBrk="0" hangingPunct="1">
                <a:lnSpc>
                  <a:spcPts val="1291"/>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It arrives with the </a:t>
              </a:r>
              <a:r>
                <a:rPr kumimoji="0" lang="en-US" sz="1200" b="0" i="0" u="none" strike="noStrike" kern="1200" cap="none" spc="0" normalizeH="0" baseline="0" noProof="0">
                  <a:ln>
                    <a:noFill/>
                  </a:ln>
                  <a:solidFill>
                    <a:srgbClr val="575757"/>
                  </a:solidFill>
                  <a:effectLst/>
                  <a:uLnTx/>
                  <a:uFillTx/>
                  <a:latin typeface="Fira Sans"/>
                  <a:ea typeface="+mn-ea"/>
                  <a:cs typeface="+mn-cs"/>
                </a:rPr>
                <a:t>product</a:t>
              </a:r>
              <a:r>
                <a:rPr kumimoji="0" sz="1200" b="0" i="0" u="none" strike="noStrike" kern="1200" cap="none" spc="0" normalizeH="0" baseline="0" noProof="0">
                  <a:ln>
                    <a:noFill/>
                  </a:ln>
                  <a:solidFill>
                    <a:srgbClr val="575757"/>
                  </a:solidFill>
                  <a:effectLst/>
                  <a:uLnTx/>
                  <a:uFillTx/>
                  <a:latin typeface="Fira Sans"/>
                  <a:ea typeface="+mn-ea"/>
                  <a:cs typeface="+mn-cs"/>
                </a:rPr>
                <a:t>,</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and </a:t>
              </a:r>
              <a:r>
                <a:rPr kumimoji="0" lang="en-US" sz="1200" b="0" i="0" u="none" strike="noStrike" kern="1200" cap="none" spc="0" normalizeH="0" baseline="0" noProof="0">
                  <a:ln>
                    <a:noFill/>
                  </a:ln>
                  <a:solidFill>
                    <a:srgbClr val="575757"/>
                  </a:solidFill>
                  <a:effectLst/>
                  <a:uLnTx/>
                  <a:uFillTx/>
                  <a:latin typeface="Fira Sans"/>
                  <a:ea typeface="+mn-ea"/>
                  <a:cs typeface="+mn-cs"/>
                </a:rPr>
                <a:t>only </a:t>
              </a:r>
              <a:r>
                <a:rPr kumimoji="0" sz="1200" b="0" i="0" u="none" strike="noStrike" kern="1200" cap="none" spc="0" normalizeH="0" baseline="0" noProof="0">
                  <a:ln>
                    <a:noFill/>
                  </a:ln>
                  <a:solidFill>
                    <a:srgbClr val="575757"/>
                  </a:solidFill>
                  <a:effectLst/>
                  <a:uLnTx/>
                  <a:uFillTx/>
                  <a:latin typeface="Fira Sans"/>
                  <a:ea typeface="+mn-ea"/>
                  <a:cs typeface="+mn-cs"/>
                </a:rPr>
                <a:t>passes product</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benefits through.</a:t>
              </a:r>
            </a:p>
          </p:txBody>
        </p:sp>
      </p:grpSp>
      <p:grpSp>
        <p:nvGrpSpPr>
          <p:cNvPr id="5" name="Group 4">
            <a:extLst>
              <a:ext uri="{FF2B5EF4-FFF2-40B4-BE49-F238E27FC236}">
                <a16:creationId xmlns:a16="http://schemas.microsoft.com/office/drawing/2014/main" id="{C80D4A08-1F65-AD22-A876-96CB335B447D}"/>
              </a:ext>
            </a:extLst>
          </p:cNvPr>
          <p:cNvGrpSpPr/>
          <p:nvPr/>
        </p:nvGrpSpPr>
        <p:grpSpPr>
          <a:xfrm>
            <a:off x="702524" y="5116001"/>
            <a:ext cx="2881080" cy="539303"/>
            <a:chOff x="503046" y="4968642"/>
            <a:chExt cx="2881080" cy="539303"/>
          </a:xfrm>
        </p:grpSpPr>
        <p:sp>
          <p:nvSpPr>
            <p:cNvPr id="100" name="TextBox 99"/>
            <p:cNvSpPr txBox="1"/>
            <p:nvPr/>
          </p:nvSpPr>
          <p:spPr>
            <a:xfrm>
              <a:off x="503046" y="4968642"/>
              <a:ext cx="2881080" cy="184983"/>
            </a:xfrm>
            <a:prstGeom prst="rect">
              <a:avLst/>
            </a:prstGeom>
            <a:noFill/>
          </p:spPr>
          <p:txBody>
            <a:bodyPr wrap="none" lIns="0" tIns="0" rIns="0" bIns="0" anchor="t">
              <a:noAutofit/>
            </a:bodyPr>
            <a:lstStyle/>
            <a:p>
              <a:pPr marL="0" marR="0" lvl="0" indent="0" algn="l" defTabSz="457200" rtl="0" eaLnBrk="1" fontAlgn="auto" latinLnBrk="0" hangingPunct="1">
                <a:lnSpc>
                  <a:spcPts val="1312"/>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Balances qualify products, not status</a:t>
              </a:r>
            </a:p>
          </p:txBody>
        </p:sp>
        <p:sp>
          <p:nvSpPr>
            <p:cNvPr id="101" name="TextBox 100"/>
            <p:cNvSpPr txBox="1"/>
            <p:nvPr/>
          </p:nvSpPr>
          <p:spPr>
            <a:xfrm>
              <a:off x="503046" y="5161570"/>
              <a:ext cx="2881080" cy="346375"/>
            </a:xfrm>
            <a:prstGeom prst="rect">
              <a:avLst/>
            </a:prstGeom>
            <a:noFill/>
          </p:spPr>
          <p:txBody>
            <a:bodyPr wrap="square" lIns="0" tIns="0" rIns="0" bIns="0" anchor="t">
              <a:noAutofit/>
            </a:bodyPr>
            <a:lstStyle/>
            <a:p>
              <a:pPr marL="0" marR="0" lvl="0" indent="0" algn="l" defTabSz="457200" rtl="0" eaLnBrk="1" fontAlgn="auto" latinLnBrk="0" hangingPunct="1">
                <a:lnSpc>
                  <a:spcPts val="1291"/>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Balances qualify customers for </a:t>
              </a:r>
              <a:r>
                <a:rPr kumimoji="0" lang="en-US" sz="1200" b="0" i="0" u="none" strike="noStrike" kern="1200" cap="none" spc="0" normalizeH="0" baseline="0" noProof="0">
                  <a:ln>
                    <a:noFill/>
                  </a:ln>
                  <a:solidFill>
                    <a:srgbClr val="575757"/>
                  </a:solidFill>
                  <a:effectLst/>
                  <a:uLnTx/>
                  <a:uFillTx/>
                  <a:latin typeface="Fira Sans"/>
                  <a:ea typeface="+mn-ea"/>
                  <a:cs typeface="+mn-cs"/>
                </a:rPr>
                <a:t>product upgrades, not any separate status</a:t>
              </a:r>
              <a:endParaRPr kumimoji="0" sz="1200" b="0" i="0" u="none" strike="noStrike" kern="1200" cap="none" spc="0" normalizeH="0" baseline="0" noProof="0">
                <a:ln>
                  <a:noFill/>
                </a:ln>
                <a:solidFill>
                  <a:srgbClr val="575757"/>
                </a:solidFill>
                <a:effectLst/>
                <a:uLnTx/>
                <a:uFillTx/>
                <a:latin typeface="Fira Sans"/>
                <a:ea typeface="+mn-ea"/>
                <a:cs typeface="+mn-cs"/>
              </a:endParaRPr>
            </a:p>
          </p:txBody>
        </p:sp>
      </p:grpSp>
      <p:grpSp>
        <p:nvGrpSpPr>
          <p:cNvPr id="6" name="Group 5">
            <a:extLst>
              <a:ext uri="{FF2B5EF4-FFF2-40B4-BE49-F238E27FC236}">
                <a16:creationId xmlns:a16="http://schemas.microsoft.com/office/drawing/2014/main" id="{83902121-12DF-911F-9475-CEE954AF2FE8}"/>
              </a:ext>
            </a:extLst>
          </p:cNvPr>
          <p:cNvGrpSpPr/>
          <p:nvPr/>
        </p:nvGrpSpPr>
        <p:grpSpPr>
          <a:xfrm>
            <a:off x="702524" y="5785632"/>
            <a:ext cx="2881080" cy="539303"/>
            <a:chOff x="503046" y="5639987"/>
            <a:chExt cx="2881080" cy="539303"/>
          </a:xfrm>
        </p:grpSpPr>
        <p:sp>
          <p:nvSpPr>
            <p:cNvPr id="102" name="TextBox 101"/>
            <p:cNvSpPr txBox="1"/>
            <p:nvPr/>
          </p:nvSpPr>
          <p:spPr>
            <a:xfrm>
              <a:off x="503046" y="5639987"/>
              <a:ext cx="2881080" cy="184983"/>
            </a:xfrm>
            <a:prstGeom prst="rect">
              <a:avLst/>
            </a:prstGeom>
            <a:noFill/>
          </p:spPr>
          <p:txBody>
            <a:bodyPr wrap="none" lIns="0" tIns="0" rIns="0" bIns="0" anchor="t">
              <a:noAutofit/>
            </a:bodyPr>
            <a:lstStyle/>
            <a:p>
              <a:pPr marL="0" marR="0" lvl="0" indent="0" algn="l" defTabSz="457200" rtl="0" eaLnBrk="1" fontAlgn="auto" latinLnBrk="0" hangingPunct="1">
                <a:lnSpc>
                  <a:spcPts val="1312"/>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Private Client is four things at once</a:t>
              </a:r>
            </a:p>
          </p:txBody>
        </p:sp>
        <p:sp>
          <p:nvSpPr>
            <p:cNvPr id="103" name="TextBox 102"/>
            <p:cNvSpPr txBox="1"/>
            <p:nvPr/>
          </p:nvSpPr>
          <p:spPr>
            <a:xfrm>
              <a:off x="503046" y="5832915"/>
              <a:ext cx="2881080" cy="346375"/>
            </a:xfrm>
            <a:prstGeom prst="rect">
              <a:avLst/>
            </a:prstGeom>
            <a:noFill/>
          </p:spPr>
          <p:txBody>
            <a:bodyPr wrap="square" lIns="0" tIns="0" rIns="0" bIns="0" anchor="t">
              <a:noAutofit/>
            </a:bodyPr>
            <a:lstStyle/>
            <a:p>
              <a:pPr marL="0" marR="0" lvl="0" indent="0" algn="l" defTabSz="457200" rtl="0" eaLnBrk="1" fontAlgn="auto" latinLnBrk="0" hangingPunct="1">
                <a:lnSpc>
                  <a:spcPts val="1291"/>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The account, status, benefits, and higher-touch</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service in one bundle.</a:t>
              </a:r>
            </a:p>
          </p:txBody>
        </p:sp>
      </p:grpSp>
      <p:pic>
        <p:nvPicPr>
          <p:cNvPr id="104" name="Picture 103" descr="deckcut-citizens.png"/>
          <p:cNvPicPr>
            <a:picLocks noChangeAspect="1"/>
          </p:cNvPicPr>
          <p:nvPr/>
        </p:nvPicPr>
        <p:blipFill>
          <a:blip r:embed="rId2"/>
          <a:stretch>
            <a:fillRect/>
          </a:stretch>
        </p:blipFill>
        <p:spPr>
          <a:xfrm>
            <a:off x="3640222" y="566928"/>
            <a:ext cx="8167634" cy="5095768"/>
          </a:xfrm>
          <a:prstGeom prst="rect">
            <a:avLst/>
          </a:prstGeom>
        </p:spPr>
      </p:pic>
      <p:sp>
        <p:nvSpPr>
          <p:cNvPr id="105" name="Rounded Rectangle 104"/>
          <p:cNvSpPr/>
          <p:nvPr/>
        </p:nvSpPr>
        <p:spPr>
          <a:xfrm>
            <a:off x="4663783" y="1820388"/>
            <a:ext cx="2149377" cy="332567"/>
          </a:xfrm>
          <a:prstGeom prst="roundRect">
            <a:avLst>
              <a:gd name="adj" fmla="val 10778"/>
            </a:avLst>
          </a:prstGeom>
          <a:solidFill>
            <a:srgbClr val="F5F8FB"/>
          </a:solidFill>
          <a:ln w="7680">
            <a:solidFill>
              <a:srgbClr val="4F6E8F"/>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6" name="TextBox 105"/>
          <p:cNvSpPr txBox="1"/>
          <p:nvPr/>
        </p:nvSpPr>
        <p:spPr>
          <a:xfrm>
            <a:off x="4740520" y="1846265"/>
            <a:ext cx="1731209" cy="155448"/>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3A5570"/>
                </a:solidFill>
                <a:effectLst/>
                <a:uLnTx/>
                <a:uFillTx/>
                <a:latin typeface="Fira Sans"/>
                <a:ea typeface="+mn-ea"/>
                <a:cs typeface="+mn-cs"/>
              </a:rPr>
              <a:t>SAVINGS · one per checking product</a:t>
            </a:r>
          </a:p>
        </p:txBody>
      </p:sp>
      <p:sp>
        <p:nvSpPr>
          <p:cNvPr id="107" name="TextBox 106"/>
          <p:cNvSpPr txBox="1"/>
          <p:nvPr/>
        </p:nvSpPr>
        <p:spPr>
          <a:xfrm>
            <a:off x="4740520" y="1979310"/>
            <a:ext cx="1687490" cy="155448"/>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3A5570"/>
                </a:solidFill>
                <a:effectLst/>
                <a:uLnTx/>
                <a:uFillTx/>
                <a:latin typeface="Fira Sans"/>
                <a:ea typeface="+mn-ea"/>
                <a:cs typeface="+mn-cs"/>
              </a:rPr>
              <a:t>One Deposit · Quest · Private Client</a:t>
            </a:r>
          </a:p>
        </p:txBody>
      </p:sp>
      <p:sp>
        <p:nvSpPr>
          <p:cNvPr id="108" name="Rectangle 107"/>
          <p:cNvSpPr/>
          <p:nvPr/>
        </p:nvSpPr>
        <p:spPr>
          <a:xfrm>
            <a:off x="8246018" y="1168055"/>
            <a:ext cx="626886" cy="127925"/>
          </a:xfrm>
          <a:prstGeom prst="rect">
            <a:avLst/>
          </a:prstGeom>
          <a:solidFill>
            <a:srgbClr val="FDFAF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10" name="Connector 109"/>
          <p:cNvCxnSpPr/>
          <p:nvPr/>
        </p:nvCxnSpPr>
        <p:spPr>
          <a:xfrm>
            <a:off x="503046" y="6414516"/>
            <a:ext cx="11185908" cy="0"/>
          </a:xfrm>
          <a:prstGeom prst="line">
            <a:avLst/>
          </a:prstGeom>
          <a:ln w="9144">
            <a:solidFill>
              <a:srgbClr val="DDDBCE"/>
            </a:solidFill>
          </a:ln>
          <a:effectLst/>
        </p:spPr>
      </p:cxnSp>
      <p:sp>
        <p:nvSpPr>
          <p:cNvPr id="111" name="TextBox 110"/>
          <p:cNvSpPr txBox="1"/>
          <p:nvPr/>
        </p:nvSpPr>
        <p:spPr>
          <a:xfrm>
            <a:off x="503046" y="6491373"/>
            <a:ext cx="11745204" cy="160934"/>
          </a:xfrm>
          <a:prstGeom prst="rect">
            <a:avLst/>
          </a:prstGeom>
          <a:noFill/>
        </p:spPr>
        <p:txBody>
          <a:bodyPr wrap="non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Citizens published product pages, June to August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7" name="TextBox 6">
            <a:extLst>
              <a:ext uri="{FF2B5EF4-FFF2-40B4-BE49-F238E27FC236}">
                <a16:creationId xmlns:a16="http://schemas.microsoft.com/office/drawing/2014/main" id="{D24C135C-2E70-44E8-1C4B-D554314F3CF1}"/>
              </a:ext>
            </a:extLst>
          </p:cNvPr>
          <p:cNvSpPr txBox="1"/>
          <p:nvPr/>
        </p:nvSpPr>
        <p:spPr>
          <a:xfrm>
            <a:off x="4688540" y="5736008"/>
            <a:ext cx="7064189" cy="374904"/>
          </a:xfrm>
          <a:prstGeom prst="rect">
            <a:avLst/>
          </a:prstGeom>
          <a:noFill/>
        </p:spPr>
        <p:txBody>
          <a:bodyPr wrap="square" lIns="0" tIns="0" rIns="0" bIns="0" anchor="t">
            <a:noAutofit/>
          </a:bodyPr>
          <a:lstStyle/>
          <a:p>
            <a:pPr marL="0" marR="0" lvl="0" indent="0" algn="l" defTabSz="457200" rtl="0" eaLnBrk="1" fontAlgn="auto" latinLnBrk="0" hangingPunct="1">
              <a:lnSpc>
                <a:spcPts val="1404"/>
              </a:lnSpc>
              <a:spcBef>
                <a:spcPts val="0"/>
              </a:spcBef>
              <a:spcAft>
                <a:spcPts val="0"/>
              </a:spcAft>
              <a:buClrTx/>
              <a:buSzTx/>
              <a:buFontTx/>
              <a:buNone/>
              <a:tabLst/>
              <a:defRPr/>
            </a:pPr>
            <a:r>
              <a:rPr kumimoji="0" sz="950" b="0" i="1" u="none" strike="noStrike" kern="1200" cap="none" spc="0" normalizeH="0" baseline="0" noProof="0">
                <a:ln>
                  <a:noFill/>
                </a:ln>
                <a:solidFill>
                  <a:prstClr val="white">
                    <a:lumMod val="65000"/>
                  </a:prstClr>
                </a:solidFill>
                <a:effectLst/>
                <a:uLnTx/>
                <a:uFillTx/>
                <a:latin typeface="Fira Sans"/>
                <a:ea typeface="+mn-ea"/>
                <a:cs typeface="+mn-cs"/>
              </a:rPr>
              <a:t>Map scope: we found no public-facing pathway connecting HELOC or other lending products into the core banking ecosystem. Lending appears through</a:t>
            </a:r>
            <a:r>
              <a:rPr kumimoji="0" lang="en-US" sz="950" b="0" i="1" u="none" strike="noStrike" kern="1200" cap="none" spc="0" normalizeH="0" baseline="0" noProof="0">
                <a:ln>
                  <a:noFill/>
                </a:ln>
                <a:solidFill>
                  <a:prstClr val="white">
                    <a:lumMod val="65000"/>
                  </a:prstClr>
                </a:solidFill>
                <a:effectLst/>
                <a:uLnTx/>
                <a:uFillTx/>
                <a:latin typeface="Fira Sans"/>
                <a:ea typeface="+mn-ea"/>
                <a:cs typeface="+mn-cs"/>
              </a:rPr>
              <a:t> </a:t>
            </a:r>
            <a:r>
              <a:rPr kumimoji="0" sz="950" b="0" i="1" u="none" strike="noStrike" kern="1200" cap="none" spc="0" normalizeH="0" baseline="0" noProof="0">
                <a:ln>
                  <a:noFill/>
                </a:ln>
                <a:solidFill>
                  <a:prstClr val="white">
                    <a:lumMod val="65000"/>
                  </a:prstClr>
                </a:solidFill>
                <a:effectLst/>
                <a:uLnTx/>
                <a:uFillTx/>
                <a:latin typeface="Fira Sans"/>
                <a:ea typeface="+mn-ea"/>
                <a:cs typeface="+mn-cs"/>
              </a:rPr>
              <a:t>discrete product benefits or discounts rather than as an ecosystem pathway.</a:t>
            </a:r>
          </a:p>
        </p:txBody>
      </p:sp>
      <p:sp>
        <p:nvSpPr>
          <p:cNvPr id="9" name="Arc 8">
            <a:extLst>
              <a:ext uri="{FF2B5EF4-FFF2-40B4-BE49-F238E27FC236}">
                <a16:creationId xmlns:a16="http://schemas.microsoft.com/office/drawing/2014/main" id="{01246C33-B584-1E03-F4B5-9490E07205AF}"/>
              </a:ext>
            </a:extLst>
          </p:cNvPr>
          <p:cNvSpPr/>
          <p:nvPr/>
        </p:nvSpPr>
        <p:spPr>
          <a:xfrm rot="817281">
            <a:off x="7395340" y="2828781"/>
            <a:ext cx="1273981" cy="1611221"/>
          </a:xfrm>
          <a:prstGeom prst="arc">
            <a:avLst>
              <a:gd name="adj1" fmla="val 16163054"/>
              <a:gd name="adj2" fmla="val 3055447"/>
            </a:avLst>
          </a:prstGeom>
          <a:ln>
            <a:solidFill>
              <a:schemeClr val="tx1"/>
            </a:solidFill>
            <a:tailEnd type="triangle" w="med" len="sm"/>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riangle 9">
            <a:extLst>
              <a:ext uri="{FF2B5EF4-FFF2-40B4-BE49-F238E27FC236}">
                <a16:creationId xmlns:a16="http://schemas.microsoft.com/office/drawing/2014/main" id="{9D39D68E-7CC6-88DB-77F3-BCDFB21B9CCA}"/>
              </a:ext>
            </a:extLst>
          </p:cNvPr>
          <p:cNvSpPr/>
          <p:nvPr/>
        </p:nvSpPr>
        <p:spPr>
          <a:xfrm rot="5400000">
            <a:off x="501714" y="3122132"/>
            <a:ext cx="98973" cy="85321"/>
          </a:xfrm>
          <a:prstGeom prst="triangle">
            <a:avLst/>
          </a:prstGeom>
          <a:solidFill>
            <a:srgbClr val="217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riangle 12">
            <a:extLst>
              <a:ext uri="{FF2B5EF4-FFF2-40B4-BE49-F238E27FC236}">
                <a16:creationId xmlns:a16="http://schemas.microsoft.com/office/drawing/2014/main" id="{4481585A-238E-8473-1CD9-4AD6C092E978}"/>
              </a:ext>
            </a:extLst>
          </p:cNvPr>
          <p:cNvSpPr/>
          <p:nvPr/>
        </p:nvSpPr>
        <p:spPr>
          <a:xfrm rot="5400000">
            <a:off x="501713" y="3788906"/>
            <a:ext cx="98973" cy="85321"/>
          </a:xfrm>
          <a:prstGeom prst="triangle">
            <a:avLst/>
          </a:prstGeom>
          <a:solidFill>
            <a:srgbClr val="217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riangle 13">
            <a:extLst>
              <a:ext uri="{FF2B5EF4-FFF2-40B4-BE49-F238E27FC236}">
                <a16:creationId xmlns:a16="http://schemas.microsoft.com/office/drawing/2014/main" id="{6AA1B3BF-1FDD-E6A7-DE12-1AD902F9FE31}"/>
              </a:ext>
            </a:extLst>
          </p:cNvPr>
          <p:cNvSpPr/>
          <p:nvPr/>
        </p:nvSpPr>
        <p:spPr>
          <a:xfrm rot="5400000">
            <a:off x="501713" y="4465629"/>
            <a:ext cx="98973" cy="85321"/>
          </a:xfrm>
          <a:prstGeom prst="triangle">
            <a:avLst/>
          </a:prstGeom>
          <a:solidFill>
            <a:srgbClr val="217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riangle 14">
            <a:extLst>
              <a:ext uri="{FF2B5EF4-FFF2-40B4-BE49-F238E27FC236}">
                <a16:creationId xmlns:a16="http://schemas.microsoft.com/office/drawing/2014/main" id="{83F4CE3E-73AA-A9B7-1699-84A68BD7C729}"/>
              </a:ext>
            </a:extLst>
          </p:cNvPr>
          <p:cNvSpPr/>
          <p:nvPr/>
        </p:nvSpPr>
        <p:spPr>
          <a:xfrm rot="5400000">
            <a:off x="501712" y="5140169"/>
            <a:ext cx="98973" cy="85321"/>
          </a:xfrm>
          <a:prstGeom prst="triangle">
            <a:avLst/>
          </a:prstGeom>
          <a:solidFill>
            <a:srgbClr val="217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riangle 15">
            <a:extLst>
              <a:ext uri="{FF2B5EF4-FFF2-40B4-BE49-F238E27FC236}">
                <a16:creationId xmlns:a16="http://schemas.microsoft.com/office/drawing/2014/main" id="{B53014C6-BD55-7A66-14FB-4FC6EAD904F6}"/>
              </a:ext>
            </a:extLst>
          </p:cNvPr>
          <p:cNvSpPr/>
          <p:nvPr/>
        </p:nvSpPr>
        <p:spPr>
          <a:xfrm rot="5400000">
            <a:off x="501712" y="5815803"/>
            <a:ext cx="98973" cy="85321"/>
          </a:xfrm>
          <a:prstGeom prst="triangle">
            <a:avLst/>
          </a:prstGeom>
          <a:solidFill>
            <a:srgbClr val="217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17353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EC88F264-E5F3-100A-03FA-DD94E348578C}"/>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04C81C38-F69B-6E38-D43C-203B1F06DEF0}"/>
              </a:ext>
            </a:extLst>
          </p:cNvPr>
          <p:cNvSpPr txBox="1"/>
          <p:nvPr/>
        </p:nvSpPr>
        <p:spPr>
          <a:xfrm>
            <a:off x="503046" y="366045"/>
            <a:ext cx="2395230"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LEARNINGS FROM INTERVIEWS</a:t>
            </a:r>
          </a:p>
        </p:txBody>
      </p:sp>
      <p:sp>
        <p:nvSpPr>
          <p:cNvPr id="92" name="TextBox 91">
            <a:extLst>
              <a:ext uri="{FF2B5EF4-FFF2-40B4-BE49-F238E27FC236}">
                <a16:creationId xmlns:a16="http://schemas.microsoft.com/office/drawing/2014/main" id="{2CB1223C-B6B7-21BF-7E0A-B671AB22E610}"/>
              </a:ext>
            </a:extLst>
          </p:cNvPr>
          <p:cNvSpPr txBox="1"/>
          <p:nvPr/>
        </p:nvSpPr>
        <p:spPr>
          <a:xfrm>
            <a:off x="503046" y="743648"/>
            <a:ext cx="10888896"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What we heard: the </a:t>
            </a:r>
            <a:r>
              <a:rPr kumimoji="0" sz="2900" b="0" i="0" u="none" strike="noStrike" kern="1200" cap="none" spc="-14" normalizeH="0" baseline="0" noProof="0">
                <a:ln>
                  <a:noFill/>
                </a:ln>
                <a:solidFill>
                  <a:srgbClr val="232422"/>
                </a:solidFill>
                <a:effectLst/>
                <a:uLnTx/>
                <a:uFillTx/>
                <a:latin typeface="Fira Sans"/>
                <a:ea typeface="+mn-ea"/>
                <a:cs typeface="+mn-cs"/>
              </a:rPr>
              <a:t>current model </a:t>
            </a:r>
            <a:r>
              <a:rPr kumimoji="0" lang="en-US" sz="2900" b="0" i="0" u="none" strike="noStrike" kern="1200" cap="none" spc="-14" normalizeH="0" baseline="0" noProof="0">
                <a:ln>
                  <a:noFill/>
                </a:ln>
                <a:solidFill>
                  <a:srgbClr val="232422"/>
                </a:solidFill>
                <a:effectLst/>
                <a:uLnTx/>
                <a:uFillTx/>
                <a:latin typeface="Fira Sans"/>
                <a:ea typeface="+mn-ea"/>
                <a:cs typeface="+mn-cs"/>
              </a:rPr>
              <a:t>makes it difficult to understand the path upward and deliver a clear affluent promise </a:t>
            </a:r>
            <a:endParaRPr kumimoji="0" sz="2900" b="0" i="0" u="none" strike="noStrike" kern="1200" cap="none" spc="-14" normalizeH="0" baseline="0" noProof="0">
              <a:ln>
                <a:noFill/>
              </a:ln>
              <a:solidFill>
                <a:srgbClr val="232422"/>
              </a:solidFill>
              <a:effectLst/>
              <a:uLnTx/>
              <a:uFillTx/>
              <a:latin typeface="Fira Sans"/>
              <a:ea typeface="+mn-ea"/>
              <a:cs typeface="+mn-cs"/>
            </a:endParaRPr>
          </a:p>
        </p:txBody>
      </p:sp>
      <p:cxnSp>
        <p:nvCxnSpPr>
          <p:cNvPr id="119" name="Connector 118">
            <a:extLst>
              <a:ext uri="{FF2B5EF4-FFF2-40B4-BE49-F238E27FC236}">
                <a16:creationId xmlns:a16="http://schemas.microsoft.com/office/drawing/2014/main" id="{780461D9-370C-DA05-5BD9-F95BECE53D64}"/>
              </a:ext>
            </a:extLst>
          </p:cNvPr>
          <p:cNvCxnSpPr/>
          <p:nvPr/>
        </p:nvCxnSpPr>
        <p:spPr>
          <a:xfrm>
            <a:off x="434220" y="6434181"/>
            <a:ext cx="11185908" cy="0"/>
          </a:xfrm>
          <a:prstGeom prst="line">
            <a:avLst/>
          </a:prstGeom>
          <a:ln w="9144">
            <a:solidFill>
              <a:srgbClr val="DDDBCE"/>
            </a:solidFill>
          </a:ln>
          <a:effectLst/>
        </p:spPr>
      </p:cxnSp>
      <p:sp>
        <p:nvSpPr>
          <p:cNvPr id="120" name="TextBox 119">
            <a:extLst>
              <a:ext uri="{FF2B5EF4-FFF2-40B4-BE49-F238E27FC236}">
                <a16:creationId xmlns:a16="http://schemas.microsoft.com/office/drawing/2014/main" id="{201D244D-8F54-1FB8-FB8E-27CB1EC09DA9}"/>
              </a:ext>
            </a:extLst>
          </p:cNvPr>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Four Citizens stakeholder interviews, Aug 2026 · Quotes lightly edited.</a:t>
            </a:r>
          </a:p>
        </p:txBody>
      </p:sp>
      <p:sp>
        <p:nvSpPr>
          <p:cNvPr id="90" name="Slide Number">
            <a:extLst>
              <a:ext uri="{FF2B5EF4-FFF2-40B4-BE49-F238E27FC236}">
                <a16:creationId xmlns:a16="http://schemas.microsoft.com/office/drawing/2014/main" id="{BA6A4E16-C23D-3E68-3D76-0E5254A672F0}"/>
              </a:ext>
            </a:extLst>
          </p:cNvP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Rounded Rectangle 1">
            <a:extLst>
              <a:ext uri="{FF2B5EF4-FFF2-40B4-BE49-F238E27FC236}">
                <a16:creationId xmlns:a16="http://schemas.microsoft.com/office/drawing/2014/main" id="{0F442F4F-6FCC-791D-4E59-B2B9261F97EB}"/>
              </a:ext>
            </a:extLst>
          </p:cNvPr>
          <p:cNvSpPr/>
          <p:nvPr/>
        </p:nvSpPr>
        <p:spPr>
          <a:xfrm>
            <a:off x="434220" y="2121524"/>
            <a:ext cx="2072632" cy="4122932"/>
          </a:xfrm>
          <a:prstGeom prst="roundRect">
            <a:avLst>
              <a:gd name="adj" fmla="val 824"/>
            </a:avLst>
          </a:prstGeom>
          <a:noFill/>
          <a:ln w="9144">
            <a:noFill/>
          </a:ln>
          <a:effectLst/>
        </p:spPr>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rPr>
              <a:t>Too many similar products make the choice hard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Little distinction between the five checking products </a:t>
            </a:r>
            <a:br>
              <a:rPr kumimoji="0" lang="en-US" sz="13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br>
            <a:r>
              <a:rPr kumimoji="0" lang="en-US" sz="13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drives decision fatigue and leaves customers stuck with no way to graduate up.</a:t>
            </a:r>
          </a:p>
        </p:txBody>
      </p:sp>
      <p:sp>
        <p:nvSpPr>
          <p:cNvPr id="3" name="Rounded Rectangle 2">
            <a:extLst>
              <a:ext uri="{FF2B5EF4-FFF2-40B4-BE49-F238E27FC236}">
                <a16:creationId xmlns:a16="http://schemas.microsoft.com/office/drawing/2014/main" id="{38203E14-EC83-708D-F927-7065A626C0A5}"/>
              </a:ext>
            </a:extLst>
          </p:cNvPr>
          <p:cNvSpPr/>
          <p:nvPr/>
        </p:nvSpPr>
        <p:spPr>
          <a:xfrm>
            <a:off x="2679229" y="2121524"/>
            <a:ext cx="2072632" cy="4122932"/>
          </a:xfrm>
          <a:prstGeom prst="roundRect">
            <a:avLst>
              <a:gd name="adj" fmla="val 824"/>
            </a:avLst>
          </a:prstGeom>
          <a:noFill/>
          <a:ln w="9144">
            <a:noFill/>
          </a:ln>
          <a:effectLst/>
        </p:spPr>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rPr>
              <a:t>Upper tiers do not give customers a clear reason to move up</a:t>
            </a:r>
            <a:br>
              <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rPr>
            </a:b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The entry product's old fee-waiver edge is now standard everywhere, and upper tiers don't offer enough value to justify moving up.</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p:txBody>
      </p:sp>
      <p:sp>
        <p:nvSpPr>
          <p:cNvPr id="4" name="Rounded Rectangle 3">
            <a:extLst>
              <a:ext uri="{FF2B5EF4-FFF2-40B4-BE49-F238E27FC236}">
                <a16:creationId xmlns:a16="http://schemas.microsoft.com/office/drawing/2014/main" id="{095568FA-8A5D-77E7-76DC-ED582D29D3B6}"/>
              </a:ext>
            </a:extLst>
          </p:cNvPr>
          <p:cNvSpPr/>
          <p:nvPr/>
        </p:nvSpPr>
        <p:spPr>
          <a:xfrm>
            <a:off x="4912255" y="2121524"/>
            <a:ext cx="2072632" cy="4122932"/>
          </a:xfrm>
          <a:prstGeom prst="roundRect">
            <a:avLst>
              <a:gd name="adj" fmla="val 824"/>
            </a:avLst>
          </a:prstGeom>
          <a:noFill/>
          <a:ln w="9144">
            <a:noFill/>
          </a:ln>
          <a:effectLst/>
        </p:spPr>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rPr>
              <a:t>Private Client vs. Private Bank blur the path upward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Overlapping names for the checking tier and the separately branded private bank confuse customers and colleagues alike.</a:t>
            </a:r>
          </a:p>
        </p:txBody>
      </p:sp>
      <p:sp>
        <p:nvSpPr>
          <p:cNvPr id="5" name="Rounded Rectangle 4">
            <a:extLst>
              <a:ext uri="{FF2B5EF4-FFF2-40B4-BE49-F238E27FC236}">
                <a16:creationId xmlns:a16="http://schemas.microsoft.com/office/drawing/2014/main" id="{BDD72B2E-2326-B3A8-56CF-833773C383AB}"/>
              </a:ext>
            </a:extLst>
          </p:cNvPr>
          <p:cNvSpPr/>
          <p:nvPr/>
        </p:nvSpPr>
        <p:spPr>
          <a:xfrm>
            <a:off x="7157264" y="2121524"/>
            <a:ext cx="2072632" cy="4122932"/>
          </a:xfrm>
          <a:prstGeom prst="roundRect">
            <a:avLst>
              <a:gd name="adj" fmla="val 824"/>
            </a:avLst>
          </a:prstGeom>
          <a:noFill/>
          <a:ln w="9144">
            <a:noFill/>
          </a:ln>
          <a:effectLst/>
        </p:spPr>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err="1">
                <a:ln>
                  <a:noFill/>
                </a:ln>
                <a:solidFill>
                  <a:srgbClr val="217651"/>
                </a:solidFill>
                <a:effectLst/>
                <a:uLnTx/>
                <a:uFillTx/>
                <a:latin typeface="Fira Sans" panose="020B0503050000020004" pitchFamily="34" charset="0"/>
                <a:ea typeface="+mn-ea"/>
                <a:cs typeface="+mn-cs"/>
              </a:rPr>
              <a:t>CitizensPlus</a:t>
            </a:r>
            <a:r>
              <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rPr>
              <a:t> benefits are too occasional to shape behavior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One-time, transactional benefits are difficult for customers to feel and heavy for Citizens to deliver consistently.</a:t>
            </a:r>
          </a:p>
        </p:txBody>
      </p:sp>
      <p:sp>
        <p:nvSpPr>
          <p:cNvPr id="6" name="Rounded Rectangle 5">
            <a:extLst>
              <a:ext uri="{FF2B5EF4-FFF2-40B4-BE49-F238E27FC236}">
                <a16:creationId xmlns:a16="http://schemas.microsoft.com/office/drawing/2014/main" id="{101E0BA8-C4D9-3397-477A-601B4987CDE7}"/>
              </a:ext>
            </a:extLst>
          </p:cNvPr>
          <p:cNvSpPr/>
          <p:nvPr/>
        </p:nvSpPr>
        <p:spPr>
          <a:xfrm>
            <a:off x="9390290" y="2121524"/>
            <a:ext cx="2072632" cy="4122932"/>
          </a:xfrm>
          <a:prstGeom prst="roundRect">
            <a:avLst>
              <a:gd name="adj" fmla="val 824"/>
            </a:avLst>
          </a:prstGeom>
          <a:noFill/>
          <a:ln w="9144">
            <a:noFill/>
          </a:ln>
          <a:effectLst/>
        </p:spPr>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rPr>
              <a:t>PCRM capacity doesn't match the service promise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The relationship-manager model is understaffed relative to demand, so customers can't reach the person they're required to go through.</a:t>
            </a:r>
          </a:p>
        </p:txBody>
      </p:sp>
      <p:cxnSp>
        <p:nvCxnSpPr>
          <p:cNvPr id="7" name="Straight Connector 6">
            <a:extLst>
              <a:ext uri="{FF2B5EF4-FFF2-40B4-BE49-F238E27FC236}">
                <a16:creationId xmlns:a16="http://schemas.microsoft.com/office/drawing/2014/main" id="{EA3F3645-8DF7-F7B1-6CD7-4988D4B2FB56}"/>
              </a:ext>
            </a:extLst>
          </p:cNvPr>
          <p:cNvCxnSpPr>
            <a:cxnSpLocks/>
          </p:cNvCxnSpPr>
          <p:nvPr/>
        </p:nvCxnSpPr>
        <p:spPr>
          <a:xfrm>
            <a:off x="503167" y="4939847"/>
            <a:ext cx="1922554" cy="0"/>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8" name="TextBox 7">
            <a:extLst>
              <a:ext uri="{FF2B5EF4-FFF2-40B4-BE49-F238E27FC236}">
                <a16:creationId xmlns:a16="http://schemas.microsoft.com/office/drawing/2014/main" id="{0125CF75-E218-8C47-C000-C401FD942743}"/>
              </a:ext>
            </a:extLst>
          </p:cNvPr>
          <p:cNvSpPr txBox="1"/>
          <p:nvPr/>
        </p:nvSpPr>
        <p:spPr>
          <a:xfrm>
            <a:off x="434220" y="5045242"/>
            <a:ext cx="2072632" cy="1015663"/>
          </a:xfrm>
          <a:prstGeom prst="rect">
            <a:avLst/>
          </a:prstGeom>
          <a:noFill/>
          <a:ln>
            <a:no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217651"/>
                </a:solidFill>
                <a:effectLst/>
                <a:uLnTx/>
                <a:uFillTx/>
                <a:latin typeface="Fira Sans" panose="020B0503050000020004" pitchFamily="34" charset="0"/>
                <a:ea typeface="+mn-ea"/>
                <a:cs typeface="+mn-cs"/>
              </a:rPr>
              <a:t>"We have 5 products and no one has any idea… which product they should be in. And it's not a good experience at all."</a:t>
            </a:r>
          </a:p>
        </p:txBody>
      </p:sp>
      <p:cxnSp>
        <p:nvCxnSpPr>
          <p:cNvPr id="9" name="Straight Connector 8">
            <a:extLst>
              <a:ext uri="{FF2B5EF4-FFF2-40B4-BE49-F238E27FC236}">
                <a16:creationId xmlns:a16="http://schemas.microsoft.com/office/drawing/2014/main" id="{FF177112-0FF7-8B6B-1B37-1FD23A60F96B}"/>
              </a:ext>
            </a:extLst>
          </p:cNvPr>
          <p:cNvCxnSpPr>
            <a:cxnSpLocks/>
          </p:cNvCxnSpPr>
          <p:nvPr/>
        </p:nvCxnSpPr>
        <p:spPr>
          <a:xfrm>
            <a:off x="2767153" y="4939847"/>
            <a:ext cx="1922554" cy="0"/>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C25E7510-3A5A-5439-D87C-84E8339C5A59}"/>
              </a:ext>
            </a:extLst>
          </p:cNvPr>
          <p:cNvCxnSpPr>
            <a:cxnSpLocks/>
          </p:cNvCxnSpPr>
          <p:nvPr/>
        </p:nvCxnSpPr>
        <p:spPr>
          <a:xfrm>
            <a:off x="4971092" y="4940715"/>
            <a:ext cx="1922554" cy="0"/>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11" name="Straight Connector 10">
            <a:extLst>
              <a:ext uri="{FF2B5EF4-FFF2-40B4-BE49-F238E27FC236}">
                <a16:creationId xmlns:a16="http://schemas.microsoft.com/office/drawing/2014/main" id="{FB2E4EFD-DEE3-5066-F4EA-E8BDC2FCFE04}"/>
              </a:ext>
            </a:extLst>
          </p:cNvPr>
          <p:cNvCxnSpPr>
            <a:cxnSpLocks/>
          </p:cNvCxnSpPr>
          <p:nvPr/>
        </p:nvCxnSpPr>
        <p:spPr>
          <a:xfrm>
            <a:off x="7245368" y="4939847"/>
            <a:ext cx="1922554" cy="0"/>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FD219FC9-9A39-9BEC-4C00-FF2D29DD9977}"/>
              </a:ext>
            </a:extLst>
          </p:cNvPr>
          <p:cNvCxnSpPr>
            <a:cxnSpLocks/>
          </p:cNvCxnSpPr>
          <p:nvPr/>
        </p:nvCxnSpPr>
        <p:spPr>
          <a:xfrm>
            <a:off x="9469388" y="4939847"/>
            <a:ext cx="1922554" cy="0"/>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3" name="TextBox 12">
            <a:extLst>
              <a:ext uri="{FF2B5EF4-FFF2-40B4-BE49-F238E27FC236}">
                <a16:creationId xmlns:a16="http://schemas.microsoft.com/office/drawing/2014/main" id="{3F46887E-0B35-0312-2414-0FB115027B15}"/>
              </a:ext>
            </a:extLst>
          </p:cNvPr>
          <p:cNvSpPr txBox="1"/>
          <p:nvPr/>
        </p:nvSpPr>
        <p:spPr>
          <a:xfrm>
            <a:off x="2748504" y="5044181"/>
            <a:ext cx="2072632" cy="830997"/>
          </a:xfrm>
          <a:prstGeom prst="rect">
            <a:avLst/>
          </a:prstGeom>
          <a:noFill/>
          <a:ln>
            <a:no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217651"/>
                </a:solidFill>
                <a:effectLst/>
                <a:uLnTx/>
                <a:uFillTx/>
                <a:latin typeface="Fira Sans" panose="020B0503050000020004" pitchFamily="34" charset="0"/>
                <a:ea typeface="+mn-ea"/>
                <a:cs typeface="+mn-cs"/>
              </a:rPr>
              <a:t>“Bankers have difficulty promoting the benefits of some of the upper end products.”</a:t>
            </a:r>
            <a:endParaRPr kumimoji="0" lang="en-US" sz="1050" b="0" i="1"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p:txBody>
      </p:sp>
      <p:sp>
        <p:nvSpPr>
          <p:cNvPr id="14" name="TextBox 13">
            <a:extLst>
              <a:ext uri="{FF2B5EF4-FFF2-40B4-BE49-F238E27FC236}">
                <a16:creationId xmlns:a16="http://schemas.microsoft.com/office/drawing/2014/main" id="{429D5DB1-E103-A8EB-CADF-9946854EC293}"/>
              </a:ext>
            </a:extLst>
          </p:cNvPr>
          <p:cNvSpPr txBox="1"/>
          <p:nvPr/>
        </p:nvSpPr>
        <p:spPr>
          <a:xfrm>
            <a:off x="4963806" y="5044127"/>
            <a:ext cx="2021081" cy="807913"/>
          </a:xfrm>
          <a:prstGeom prst="rect">
            <a:avLst/>
          </a:prstGeom>
          <a:noFill/>
          <a:ln>
            <a:no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217651"/>
                </a:solidFill>
                <a:effectLst/>
                <a:uLnTx/>
                <a:uFillTx/>
                <a:latin typeface="Fira Sans" panose="020B0503050000020004" pitchFamily="34" charset="0"/>
                <a:ea typeface="+mn-ea"/>
                <a:cs typeface="+mn-cs"/>
              </a:rPr>
              <a:t>"Private client and private bank are really confusing."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1"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p:txBody>
      </p:sp>
      <p:sp>
        <p:nvSpPr>
          <p:cNvPr id="15" name="TextBox 14">
            <a:extLst>
              <a:ext uri="{FF2B5EF4-FFF2-40B4-BE49-F238E27FC236}">
                <a16:creationId xmlns:a16="http://schemas.microsoft.com/office/drawing/2014/main" id="{FBCC3943-1395-5044-42A2-1C46B9D9F52B}"/>
              </a:ext>
            </a:extLst>
          </p:cNvPr>
          <p:cNvSpPr txBox="1"/>
          <p:nvPr/>
        </p:nvSpPr>
        <p:spPr>
          <a:xfrm>
            <a:off x="7157264" y="5044127"/>
            <a:ext cx="2072632" cy="1200329"/>
          </a:xfrm>
          <a:prstGeom prst="rect">
            <a:avLst/>
          </a:prstGeom>
          <a:noFill/>
          <a:ln>
            <a:no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217651"/>
                </a:solidFill>
                <a:effectLst/>
                <a:uLnTx/>
                <a:uFillTx/>
                <a:latin typeface="Fira Sans" panose="020B0503050000020004" pitchFamily="34" charset="0"/>
                <a:ea typeface="+mn-ea"/>
                <a:cs typeface="+mn-cs"/>
              </a:rPr>
              <a:t>"You don't pick a checking account because you might someday buy a house and want a discount on your closing costs."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p:txBody>
      </p:sp>
      <p:sp>
        <p:nvSpPr>
          <p:cNvPr id="16" name="TextBox 15">
            <a:extLst>
              <a:ext uri="{FF2B5EF4-FFF2-40B4-BE49-F238E27FC236}">
                <a16:creationId xmlns:a16="http://schemas.microsoft.com/office/drawing/2014/main" id="{546020BD-07EC-6B14-85DA-5EB4DD2BFE3D}"/>
              </a:ext>
            </a:extLst>
          </p:cNvPr>
          <p:cNvSpPr txBox="1"/>
          <p:nvPr/>
        </p:nvSpPr>
        <p:spPr>
          <a:xfrm>
            <a:off x="9469388" y="5044127"/>
            <a:ext cx="1922554" cy="1200329"/>
          </a:xfrm>
          <a:prstGeom prst="rect">
            <a:avLst/>
          </a:prstGeom>
          <a:noFill/>
          <a:ln>
            <a:no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217651"/>
                </a:solidFill>
                <a:effectLst/>
                <a:uLnTx/>
                <a:uFillTx/>
                <a:latin typeface="Fira Sans" panose="020B0503050000020004" pitchFamily="34" charset="0"/>
                <a:ea typeface="+mn-ea"/>
                <a:cs typeface="+mn-cs"/>
              </a:rPr>
              <a:t>"One PCRM is servicing like 10 branches… the model's just a bit frustrating for some customers."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p:txBody>
      </p:sp>
    </p:spTree>
    <p:extLst>
      <p:ext uri="{BB962C8B-B14F-4D97-AF65-F5344CB8AC3E}">
        <p14:creationId xmlns:p14="http://schemas.microsoft.com/office/powerpoint/2010/main" val="884596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2395230"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LEARNINGS FROM INTERVIEWS</a:t>
            </a:r>
          </a:p>
        </p:txBody>
      </p:sp>
      <p:sp>
        <p:nvSpPr>
          <p:cNvPr id="92" name="TextBox 91"/>
          <p:cNvSpPr txBox="1"/>
          <p:nvPr/>
        </p:nvSpPr>
        <p:spPr>
          <a:xfrm>
            <a:off x="503046" y="743648"/>
            <a:ext cx="9752578"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The </a:t>
            </a:r>
            <a:r>
              <a:rPr kumimoji="0" sz="2900" b="0" i="0" u="none" strike="noStrike" kern="1200" cap="none" spc="-14" normalizeH="0" baseline="0" noProof="0">
                <a:ln>
                  <a:noFill/>
                </a:ln>
                <a:solidFill>
                  <a:srgbClr val="232422"/>
                </a:solidFill>
                <a:effectLst/>
                <a:uLnTx/>
                <a:uFillTx/>
                <a:latin typeface="Fira Sans"/>
                <a:ea typeface="+mn-ea"/>
                <a:cs typeface="+mn-cs"/>
              </a:rPr>
              <a:t>immediate </a:t>
            </a:r>
            <a:r>
              <a:rPr kumimoji="0" lang="en-US" sz="2900" b="0" i="0" u="none" strike="noStrike" kern="1200" cap="none" spc="-14" normalizeH="0" baseline="0" noProof="0">
                <a:ln>
                  <a:noFill/>
                </a:ln>
                <a:solidFill>
                  <a:srgbClr val="232422"/>
                </a:solidFill>
                <a:effectLst/>
                <a:uLnTx/>
                <a:uFillTx/>
                <a:latin typeface="Fira Sans"/>
                <a:ea typeface="+mn-ea"/>
                <a:cs typeface="+mn-cs"/>
              </a:rPr>
              <a:t>priority is a simpler checking continuum with clearer reasons to choose and move up</a:t>
            </a:r>
            <a:endParaRPr kumimoji="0" sz="2900" b="0" i="0" u="none" strike="noStrike" kern="1200" cap="none" spc="-14" normalizeH="0" baseline="0" noProof="0">
              <a:ln>
                <a:noFill/>
              </a:ln>
              <a:solidFill>
                <a:srgbClr val="232422"/>
              </a:solidFill>
              <a:effectLst/>
              <a:uLnTx/>
              <a:uFillTx/>
              <a:latin typeface="Fira Sans"/>
              <a:ea typeface="+mn-ea"/>
              <a:cs typeface="+mn-cs"/>
            </a:endParaRPr>
          </a:p>
        </p:txBody>
      </p:sp>
      <p:cxnSp>
        <p:nvCxnSpPr>
          <p:cNvPr id="93" name="Connector 92"/>
          <p:cNvCxnSpPr/>
          <p:nvPr/>
        </p:nvCxnSpPr>
        <p:spPr>
          <a:xfrm>
            <a:off x="503046" y="2896636"/>
            <a:ext cx="3201200" cy="0"/>
          </a:xfrm>
          <a:prstGeom prst="line">
            <a:avLst/>
          </a:prstGeom>
          <a:ln w="9144">
            <a:solidFill>
              <a:srgbClr val="DDDBCE"/>
            </a:solidFill>
          </a:ln>
          <a:effectLst/>
        </p:spPr>
      </p:cxnSp>
      <p:sp>
        <p:nvSpPr>
          <p:cNvPr id="94" name="TextBox 93"/>
          <p:cNvSpPr txBox="1"/>
          <p:nvPr/>
        </p:nvSpPr>
        <p:spPr>
          <a:xfrm>
            <a:off x="503046" y="2077689"/>
            <a:ext cx="3361260" cy="734080"/>
          </a:xfrm>
          <a:prstGeom prst="rect">
            <a:avLst/>
          </a:prstGeom>
          <a:noFill/>
        </p:spPr>
        <p:txBody>
          <a:bodyPr wrap="square" lIns="0" tIns="0" rIns="0" bIns="0" anchor="t">
            <a:noAutofit/>
          </a:bodyPr>
          <a:lstStyle/>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SemiBold"/>
                <a:ea typeface="+mn-ea"/>
                <a:cs typeface="+mn-cs"/>
              </a:rPr>
              <a:t>Simplify into three tiers</a:t>
            </a:r>
            <a:r>
              <a:rPr kumimoji="0" sz="1300" b="0" i="0" u="none" strike="noStrike" kern="1200" cap="none" spc="0" normalizeH="0" baseline="0" noProof="0">
                <a:ln>
                  <a:noFill/>
                </a:ln>
                <a:solidFill>
                  <a:srgbClr val="232422"/>
                </a:solidFill>
                <a:effectLst/>
                <a:uLnTx/>
                <a:uFillTx/>
                <a:latin typeface="Fira Sans"/>
                <a:ea typeface="+mn-ea"/>
                <a:cs typeface="+mn-cs"/>
              </a:rPr>
              <a:t> – an entry, a</a:t>
            </a:r>
          </a:p>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a:ea typeface="+mn-ea"/>
                <a:cs typeface="+mn-cs"/>
              </a:rPr>
              <a:t>mid, and a premium product in place of</a:t>
            </a:r>
          </a:p>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a:ea typeface="+mn-ea"/>
                <a:cs typeface="+mn-cs"/>
              </a:rPr>
              <a:t>today’s five.</a:t>
            </a:r>
          </a:p>
        </p:txBody>
      </p:sp>
      <p:cxnSp>
        <p:nvCxnSpPr>
          <p:cNvPr id="95" name="Connector 94"/>
          <p:cNvCxnSpPr/>
          <p:nvPr/>
        </p:nvCxnSpPr>
        <p:spPr>
          <a:xfrm>
            <a:off x="503046" y="3914181"/>
            <a:ext cx="3201200" cy="0"/>
          </a:xfrm>
          <a:prstGeom prst="line">
            <a:avLst/>
          </a:prstGeom>
          <a:ln w="9144">
            <a:solidFill>
              <a:srgbClr val="DDDBCE"/>
            </a:solidFill>
          </a:ln>
          <a:effectLst/>
        </p:spPr>
      </p:cxnSp>
      <p:sp>
        <p:nvSpPr>
          <p:cNvPr id="96" name="TextBox 95"/>
          <p:cNvSpPr txBox="1"/>
          <p:nvPr/>
        </p:nvSpPr>
        <p:spPr>
          <a:xfrm>
            <a:off x="503046" y="3095233"/>
            <a:ext cx="3361260" cy="734080"/>
          </a:xfrm>
          <a:prstGeom prst="rect">
            <a:avLst/>
          </a:prstGeom>
          <a:noFill/>
        </p:spPr>
        <p:txBody>
          <a:bodyPr wrap="square" lIns="0" tIns="0" rIns="0" bIns="0" anchor="t">
            <a:noAutofit/>
          </a:bodyPr>
          <a:lstStyle/>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SemiBold"/>
                <a:ea typeface="+mn-ea"/>
                <a:cs typeface="+mn-cs"/>
              </a:rPr>
              <a:t>Bring more value with Greenlight</a:t>
            </a:r>
            <a:r>
              <a:rPr kumimoji="0" sz="1300" b="0" i="0" u="none" strike="noStrike" kern="1200" cap="none" spc="0" normalizeH="0" baseline="0" noProof="0">
                <a:ln>
                  <a:noFill/>
                </a:ln>
                <a:solidFill>
                  <a:srgbClr val="232422"/>
                </a:solidFill>
                <a:effectLst/>
                <a:uLnTx/>
                <a:uFillTx/>
                <a:latin typeface="Fira Sans"/>
                <a:ea typeface="+mn-ea"/>
                <a:cs typeface="+mn-cs"/>
              </a:rPr>
              <a:t> – family</a:t>
            </a:r>
          </a:p>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a:ea typeface="+mn-ea"/>
                <a:cs typeface="+mn-cs"/>
              </a:rPr>
              <a:t>banking as a reason the account matters</a:t>
            </a:r>
          </a:p>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a:ea typeface="+mn-ea"/>
                <a:cs typeface="+mn-cs"/>
              </a:rPr>
              <a:t>day to day.</a:t>
            </a:r>
          </a:p>
        </p:txBody>
      </p:sp>
      <p:sp>
        <p:nvSpPr>
          <p:cNvPr id="97" name="TextBox 96"/>
          <p:cNvSpPr txBox="1"/>
          <p:nvPr/>
        </p:nvSpPr>
        <p:spPr>
          <a:xfrm>
            <a:off x="503046" y="4112777"/>
            <a:ext cx="3361260" cy="972739"/>
          </a:xfrm>
          <a:prstGeom prst="rect">
            <a:avLst/>
          </a:prstGeom>
          <a:noFill/>
        </p:spPr>
        <p:txBody>
          <a:bodyPr wrap="square" lIns="0" tIns="0" rIns="0" bIns="0" anchor="t">
            <a:noAutofit/>
          </a:bodyPr>
          <a:lstStyle/>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SemiBold"/>
                <a:ea typeface="+mn-ea"/>
                <a:cs typeface="+mn-cs"/>
              </a:rPr>
              <a:t>Make the differences legible</a:t>
            </a:r>
            <a:r>
              <a:rPr kumimoji="0" sz="1300" b="0" i="0" u="none" strike="noStrike" kern="1200" cap="none" spc="0" normalizeH="0" baseline="0" noProof="0">
                <a:ln>
                  <a:noFill/>
                </a:ln>
                <a:solidFill>
                  <a:srgbClr val="232422"/>
                </a:solidFill>
                <a:effectLst/>
                <a:uLnTx/>
                <a:uFillTx/>
                <a:latin typeface="Fira Sans"/>
                <a:ea typeface="+mn-ea"/>
                <a:cs typeface="+mn-cs"/>
              </a:rPr>
              <a:t> – account</a:t>
            </a:r>
          </a:p>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a:ea typeface="+mn-ea"/>
                <a:cs typeface="+mn-cs"/>
              </a:rPr>
              <a:t>fees, ATM fees, cards, overdraft coverage,</a:t>
            </a:r>
          </a:p>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a:ea typeface="+mn-ea"/>
                <a:cs typeface="+mn-cs"/>
              </a:rPr>
              <a:t>and relationship benefits that separate</a:t>
            </a:r>
          </a:p>
          <a:p>
            <a:pPr marL="0" marR="0" lvl="0" indent="0" algn="l" defTabSz="457200" rtl="0" eaLnBrk="1" fontAlgn="auto" latinLnBrk="0" hangingPunct="1">
              <a:lnSpc>
                <a:spcPts val="1579"/>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a:ea typeface="+mn-ea"/>
                <a:cs typeface="+mn-cs"/>
              </a:rPr>
              <a:t>the tiers at a glance.</a:t>
            </a:r>
          </a:p>
        </p:txBody>
      </p:sp>
      <p:cxnSp>
        <p:nvCxnSpPr>
          <p:cNvPr id="98" name="Connector 97"/>
          <p:cNvCxnSpPr>
            <a:cxnSpLocks/>
          </p:cNvCxnSpPr>
          <p:nvPr/>
        </p:nvCxnSpPr>
        <p:spPr>
          <a:xfrm>
            <a:off x="516765" y="5342964"/>
            <a:ext cx="0" cy="819558"/>
          </a:xfrm>
          <a:prstGeom prst="line">
            <a:avLst/>
          </a:prstGeom>
          <a:ln w="27432">
            <a:solidFill>
              <a:srgbClr val="007651"/>
            </a:solidFill>
          </a:ln>
          <a:effectLst/>
        </p:spPr>
      </p:cxnSp>
      <p:sp>
        <p:nvSpPr>
          <p:cNvPr id="99" name="TextBox 98"/>
          <p:cNvSpPr txBox="1"/>
          <p:nvPr/>
        </p:nvSpPr>
        <p:spPr>
          <a:xfrm>
            <a:off x="658533" y="5346018"/>
            <a:ext cx="3113367" cy="950976"/>
          </a:xfrm>
          <a:prstGeom prst="rect">
            <a:avLst/>
          </a:prstGeom>
          <a:noFill/>
        </p:spPr>
        <p:txBody>
          <a:bodyPr wrap="square" lIns="0" tIns="0" rIns="0" bIns="0" anchor="t">
            <a:noAutofit/>
          </a:bodyPr>
          <a:lstStyle/>
          <a:p>
            <a:pPr marL="0" marR="0" lvl="0" indent="0" algn="l" defTabSz="457200" rtl="0" eaLnBrk="1" fontAlgn="auto" latinLnBrk="0" hangingPunct="1">
              <a:lnSpc>
                <a:spcPts val="1636"/>
              </a:lnSpc>
              <a:spcBef>
                <a:spcPts val="0"/>
              </a:spcBef>
              <a:spcAft>
                <a:spcPts val="0"/>
              </a:spcAft>
              <a:buClrTx/>
              <a:buSzTx/>
              <a:buFontTx/>
              <a:buNone/>
              <a:tabLst/>
              <a:defRPr/>
            </a:pPr>
            <a:r>
              <a:rPr kumimoji="0" lang="en-US" sz="1200" b="0" i="1" u="none" strike="noStrike" kern="1200" cap="none" spc="0" normalizeH="0" baseline="0" noProof="0">
                <a:ln>
                  <a:noFill/>
                </a:ln>
                <a:solidFill>
                  <a:srgbClr val="007651"/>
                </a:solidFill>
                <a:effectLst/>
                <a:uLnTx/>
                <a:uFillTx/>
                <a:latin typeface="Fira Sans"/>
                <a:ea typeface="+mn-ea"/>
                <a:cs typeface="+mn-cs"/>
              </a:rPr>
              <a:t>“The biggest challenge for us is making sure these products come to life in such a way that …there's a real reason why customers would want to open each one of them.”</a:t>
            </a:r>
          </a:p>
          <a:p>
            <a:pPr marL="0" marR="0" lvl="0" indent="0" algn="l" defTabSz="457200" rtl="0" eaLnBrk="1" fontAlgn="auto" latinLnBrk="0" hangingPunct="1">
              <a:lnSpc>
                <a:spcPts val="1636"/>
              </a:lnSpc>
              <a:spcBef>
                <a:spcPts val="0"/>
              </a:spcBef>
              <a:spcAft>
                <a:spcPts val="0"/>
              </a:spcAft>
              <a:buClrTx/>
              <a:buSzTx/>
              <a:buFontTx/>
              <a:buNone/>
              <a:tabLst/>
              <a:defRPr/>
            </a:pPr>
            <a:endParaRPr kumimoji="0" sz="1200" b="0" i="1" u="none" strike="noStrike" kern="1200" cap="none" spc="0" normalizeH="0" baseline="0" noProof="0">
              <a:ln>
                <a:noFill/>
              </a:ln>
              <a:solidFill>
                <a:srgbClr val="007651"/>
              </a:solidFill>
              <a:effectLst/>
              <a:uLnTx/>
              <a:uFillTx/>
              <a:latin typeface="Fira Sans"/>
              <a:ea typeface="+mn-ea"/>
              <a:cs typeface="+mn-cs"/>
            </a:endParaRPr>
          </a:p>
        </p:txBody>
      </p:sp>
      <p:pic>
        <p:nvPicPr>
          <p:cNvPr id="100" name="Picture 99" descr="citizens-tier-concept.png"/>
          <p:cNvPicPr>
            <a:picLocks noChangeAspect="1"/>
          </p:cNvPicPr>
          <p:nvPr/>
        </p:nvPicPr>
        <p:blipFill>
          <a:blip r:embed="rId3"/>
          <a:stretch>
            <a:fillRect/>
          </a:stretch>
        </p:blipFill>
        <p:spPr>
          <a:xfrm>
            <a:off x="4088390" y="2286000"/>
            <a:ext cx="7600564" cy="3328416"/>
          </a:xfrm>
          <a:prstGeom prst="rect">
            <a:avLst/>
          </a:prstGeom>
          <a:effectLst>
            <a:outerShdw blurRad="50800" dist="38100" dir="2700000" algn="tl" rotWithShape="0">
              <a:prstClr val="black">
                <a:alpha val="40000"/>
              </a:prstClr>
            </a:outerShdw>
          </a:effectLst>
        </p:spPr>
      </p:pic>
      <p:sp>
        <p:nvSpPr>
          <p:cNvPr id="101" name="TextBox 100"/>
          <p:cNvSpPr txBox="1"/>
          <p:nvPr/>
        </p:nvSpPr>
        <p:spPr>
          <a:xfrm>
            <a:off x="4088390" y="5704330"/>
            <a:ext cx="7980592" cy="204826"/>
          </a:xfrm>
          <a:prstGeom prst="rect">
            <a:avLst/>
          </a:prstGeom>
          <a:noFill/>
        </p:spPr>
        <p:txBody>
          <a:bodyPr wrap="square" lIns="0" tIns="0" rIns="0" bIns="0" anchor="t">
            <a:noAutofit/>
          </a:bodyPr>
          <a:lstStyle/>
          <a:p>
            <a:pPr marL="0" marR="0" lvl="0" indent="0" algn="l" defTabSz="457200" rtl="0" eaLnBrk="1" fontAlgn="auto" latinLnBrk="0" hangingPunct="1">
              <a:lnSpc>
                <a:spcPts val="1468"/>
              </a:lnSpc>
              <a:spcBef>
                <a:spcPts val="0"/>
              </a:spcBef>
              <a:spcAft>
                <a:spcPts val="0"/>
              </a:spcAft>
              <a:buClrTx/>
              <a:buSzTx/>
              <a:buFontTx/>
              <a:buNone/>
              <a:tabLst/>
              <a:defRPr/>
            </a:pPr>
            <a:r>
              <a:rPr kumimoji="0" lang="en-US" sz="950" b="0" i="0" u="none" strike="noStrike" kern="1200" cap="none" spc="0" normalizeH="0" baseline="0" noProof="0">
                <a:ln>
                  <a:noFill/>
                </a:ln>
                <a:solidFill>
                  <a:prstClr val="white">
                    <a:lumMod val="65000"/>
                  </a:prstClr>
                </a:solidFill>
                <a:effectLst/>
                <a:uLnTx/>
                <a:uFillTx/>
                <a:latin typeface="Fira Sans"/>
                <a:ea typeface="+mn-ea"/>
                <a:cs typeface="+mn-cs"/>
              </a:rPr>
              <a:t>The working three-tier concept, as shared</a:t>
            </a:r>
          </a:p>
        </p:txBody>
      </p:sp>
      <p:cxnSp>
        <p:nvCxnSpPr>
          <p:cNvPr id="102" name="Connector 101"/>
          <p:cNvCxnSpPr/>
          <p:nvPr/>
        </p:nvCxnSpPr>
        <p:spPr>
          <a:xfrm>
            <a:off x="503046" y="6414516"/>
            <a:ext cx="11185908" cy="0"/>
          </a:xfrm>
          <a:prstGeom prst="line">
            <a:avLst/>
          </a:prstGeom>
          <a:ln w="9144">
            <a:solidFill>
              <a:srgbClr val="DDDBCE"/>
            </a:solidFill>
          </a:ln>
          <a:effectLst/>
        </p:spPr>
      </p:cxnSp>
      <p:sp>
        <p:nvSpPr>
          <p:cNvPr id="103" name="TextBox 102"/>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Citizens stakeholder interviews and working materials, Aug 2026 · Quotes lightly edited.</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3" name="TextBox 2">
            <a:extLst>
              <a:ext uri="{FF2B5EF4-FFF2-40B4-BE49-F238E27FC236}">
                <a16:creationId xmlns:a16="http://schemas.microsoft.com/office/drawing/2014/main" id="{FD82936C-6832-6710-D065-87E3DA8C070E}"/>
              </a:ext>
            </a:extLst>
          </p:cNvPr>
          <p:cNvSpPr txBox="1"/>
          <p:nvPr/>
        </p:nvSpPr>
        <p:spPr>
          <a:xfrm>
            <a:off x="1700661" y="7178954"/>
            <a:ext cx="6129866" cy="998735"/>
          </a:xfrm>
          <a:prstGeom prst="rect">
            <a:avLst/>
          </a:prstGeom>
          <a:noFill/>
        </p:spPr>
        <p:txBody>
          <a:bodyPr wrap="square">
            <a:spAutoFit/>
          </a:bodyPr>
          <a:lstStyle/>
          <a:p>
            <a:pPr marL="0" marR="0" lvl="0" indent="0" algn="l" defTabSz="457200" rtl="0" eaLnBrk="1" fontAlgn="auto" latinLnBrk="0" hangingPunct="1">
              <a:lnSpc>
                <a:spcPts val="1836"/>
              </a:lnSpc>
              <a:spcBef>
                <a:spcPts val="0"/>
              </a:spcBef>
              <a:spcAft>
                <a:spcPts val="0"/>
              </a:spcAft>
              <a:buClrTx/>
              <a:buSzTx/>
              <a:buFontTx/>
              <a:buNone/>
              <a:tabLst/>
              <a:defRPr/>
            </a:pPr>
            <a:r>
              <a:rPr kumimoji="0" lang="en-US" sz="1200" b="0" i="1" u="none" strike="noStrike" kern="1200" cap="none" spc="0" normalizeH="0" baseline="0" noProof="0">
                <a:ln>
                  <a:noFill/>
                </a:ln>
                <a:solidFill>
                  <a:srgbClr val="232422"/>
                </a:solidFill>
                <a:effectLst/>
                <a:uLnTx/>
                <a:uFillTx/>
                <a:latin typeface="Fira Sans"/>
                <a:ea typeface="+mn-ea"/>
                <a:cs typeface="+mn-cs"/>
              </a:rPr>
              <a:t>“This is an entry level product. This is a</a:t>
            </a:r>
          </a:p>
          <a:p>
            <a:pPr marL="0" marR="0" lvl="0" indent="0" algn="l" defTabSz="457200" rtl="0" eaLnBrk="1" fontAlgn="auto" latinLnBrk="0" hangingPunct="1">
              <a:lnSpc>
                <a:spcPts val="1836"/>
              </a:lnSpc>
              <a:spcBef>
                <a:spcPts val="0"/>
              </a:spcBef>
              <a:spcAft>
                <a:spcPts val="0"/>
              </a:spcAft>
              <a:buClrTx/>
              <a:buSzTx/>
              <a:buFontTx/>
              <a:buNone/>
              <a:tabLst/>
              <a:defRPr/>
            </a:pPr>
            <a:r>
              <a:rPr kumimoji="0" lang="en-US" sz="1200" b="0" i="1" u="none" strike="noStrike" kern="1200" cap="none" spc="0" normalizeH="0" baseline="0" noProof="0">
                <a:ln>
                  <a:noFill/>
                </a:ln>
                <a:solidFill>
                  <a:srgbClr val="232422"/>
                </a:solidFill>
                <a:effectLst/>
                <a:uLnTx/>
                <a:uFillTx/>
                <a:latin typeface="Fira Sans"/>
                <a:ea typeface="+mn-ea"/>
                <a:cs typeface="+mn-cs"/>
              </a:rPr>
              <a:t>mid-level product. This is a more mature</a:t>
            </a:r>
          </a:p>
          <a:p>
            <a:pPr marL="0" marR="0" lvl="0" indent="0" algn="l" defTabSz="457200" rtl="0" eaLnBrk="1" fontAlgn="auto" latinLnBrk="0" hangingPunct="1">
              <a:lnSpc>
                <a:spcPts val="1836"/>
              </a:lnSpc>
              <a:spcBef>
                <a:spcPts val="0"/>
              </a:spcBef>
              <a:spcAft>
                <a:spcPts val="0"/>
              </a:spcAft>
              <a:buClrTx/>
              <a:buSzTx/>
              <a:buFontTx/>
              <a:buNone/>
              <a:tabLst/>
              <a:defRPr/>
            </a:pPr>
            <a:r>
              <a:rPr kumimoji="0" lang="en-US" sz="1200" b="0" i="1" u="none" strike="noStrike" kern="1200" cap="none" spc="0" normalizeH="0" baseline="0" noProof="0">
                <a:ln>
                  <a:noFill/>
                </a:ln>
                <a:solidFill>
                  <a:srgbClr val="232422"/>
                </a:solidFill>
                <a:effectLst/>
                <a:uLnTx/>
                <a:uFillTx/>
                <a:latin typeface="Fira Sans"/>
                <a:ea typeface="+mn-ea"/>
                <a:cs typeface="+mn-cs"/>
              </a:rPr>
              <a:t>product so that … it’s obvious to</a:t>
            </a:r>
          </a:p>
          <a:p>
            <a:pPr marL="0" marR="0" lvl="0" indent="0" algn="l" defTabSz="457200" rtl="0" eaLnBrk="1" fontAlgn="auto" latinLnBrk="0" hangingPunct="1">
              <a:lnSpc>
                <a:spcPts val="1836"/>
              </a:lnSpc>
              <a:spcBef>
                <a:spcPts val="0"/>
              </a:spcBef>
              <a:spcAft>
                <a:spcPts val="0"/>
              </a:spcAft>
              <a:buClrTx/>
              <a:buSzTx/>
              <a:buFontTx/>
              <a:buNone/>
              <a:tabLst/>
              <a:defRPr/>
            </a:pPr>
            <a:r>
              <a:rPr kumimoji="0" lang="en-US" sz="1200" b="0" i="1" u="none" strike="noStrike" kern="1200" cap="none" spc="0" normalizeH="0" baseline="0" noProof="0">
                <a:ln>
                  <a:noFill/>
                </a:ln>
                <a:solidFill>
                  <a:srgbClr val="232422"/>
                </a:solidFill>
                <a:effectLst/>
                <a:uLnTx/>
                <a:uFillTx/>
                <a:latin typeface="Fira Sans"/>
                <a:ea typeface="+mn-ea"/>
                <a:cs typeface="+mn-cs"/>
              </a:rPr>
              <a:t>the consumer.”</a:t>
            </a:r>
          </a:p>
        </p:txBody>
      </p:sp>
    </p:spTree>
    <p:extLst>
      <p:ext uri="{BB962C8B-B14F-4D97-AF65-F5344CB8AC3E}">
        <p14:creationId xmlns:p14="http://schemas.microsoft.com/office/powerpoint/2010/main" val="3374255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2395230"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LEARNINGS FROM INTERVIEWS</a:t>
            </a:r>
          </a:p>
        </p:txBody>
      </p:sp>
      <p:sp>
        <p:nvSpPr>
          <p:cNvPr id="92" name="TextBox 91"/>
          <p:cNvSpPr txBox="1"/>
          <p:nvPr/>
        </p:nvSpPr>
        <p:spPr>
          <a:xfrm>
            <a:off x="503046" y="743648"/>
            <a:ext cx="7077625"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This c</a:t>
            </a:r>
            <a:r>
              <a:rPr kumimoji="0" lang="en-US" sz="2900" b="0" i="0" u="none" strike="noStrike" kern="1200" cap="none" spc="-14" normalizeH="0" baseline="0" noProof="0" err="1">
                <a:ln>
                  <a:noFill/>
                </a:ln>
                <a:solidFill>
                  <a:srgbClr val="232422"/>
                </a:solidFill>
                <a:effectLst/>
                <a:uLnTx/>
                <a:uFillTx/>
                <a:latin typeface="Fira Sans"/>
                <a:ea typeface="+mn-ea"/>
                <a:cs typeface="+mn-cs"/>
              </a:rPr>
              <a:t>hecking</a:t>
            </a:r>
            <a:r>
              <a:rPr kumimoji="0" lang="en-US" sz="2900" b="0" i="0" u="none" strike="noStrike" kern="1200" cap="none" spc="-14" normalizeH="0" baseline="0" noProof="0">
                <a:ln>
                  <a:noFill/>
                </a:ln>
                <a:solidFill>
                  <a:srgbClr val="232422"/>
                </a:solidFill>
                <a:effectLst/>
                <a:uLnTx/>
                <a:uFillTx/>
                <a:latin typeface="Fira Sans"/>
                <a:ea typeface="+mn-ea"/>
                <a:cs typeface="+mn-cs"/>
              </a:rPr>
              <a:t> continuum </a:t>
            </a:r>
            <a:r>
              <a:rPr kumimoji="0" sz="2900" b="0" i="0" u="none" strike="noStrike" kern="1200" cap="none" spc="-14" normalizeH="0" baseline="0" noProof="0">
                <a:ln>
                  <a:noFill/>
                </a:ln>
                <a:solidFill>
                  <a:srgbClr val="232422"/>
                </a:solidFill>
                <a:effectLst/>
                <a:uLnTx/>
                <a:uFillTx/>
                <a:latin typeface="Fira Sans"/>
                <a:ea typeface="+mn-ea"/>
                <a:cs typeface="+mn-cs"/>
              </a:rPr>
              <a:t>will launch before </a:t>
            </a:r>
            <a:r>
              <a:rPr kumimoji="0" lang="en-US" sz="2900" b="0" i="0" u="none" strike="noStrike" kern="1200" cap="none" spc="-14" normalizeH="0" baseline="0" noProof="0">
                <a:ln>
                  <a:noFill/>
                </a:ln>
                <a:solidFill>
                  <a:srgbClr val="232422"/>
                </a:solidFill>
                <a:effectLst/>
                <a:uLnTx/>
                <a:uFillTx/>
                <a:latin typeface="Fira Sans"/>
                <a:ea typeface="+mn-ea"/>
                <a:cs typeface="+mn-cs"/>
              </a:rPr>
              <a:t>a broader loyalty revamp</a:t>
            </a:r>
            <a:endParaRPr kumimoji="0" sz="2900" b="0" i="0" u="none" strike="noStrike" kern="1200" cap="none" spc="-14" normalizeH="0" baseline="0" noProof="0">
              <a:ln>
                <a:noFill/>
              </a:ln>
              <a:solidFill>
                <a:srgbClr val="232422"/>
              </a:solidFill>
              <a:effectLst/>
              <a:uLnTx/>
              <a:uFillTx/>
              <a:latin typeface="Fira Sans"/>
              <a:ea typeface="+mn-ea"/>
              <a:cs typeface="+mn-cs"/>
            </a:endParaRPr>
          </a:p>
        </p:txBody>
      </p:sp>
      <p:cxnSp>
        <p:nvCxnSpPr>
          <p:cNvPr id="93" name="Connector 92"/>
          <p:cNvCxnSpPr/>
          <p:nvPr/>
        </p:nvCxnSpPr>
        <p:spPr>
          <a:xfrm>
            <a:off x="503046" y="2148840"/>
            <a:ext cx="3201200" cy="0"/>
          </a:xfrm>
          <a:prstGeom prst="line">
            <a:avLst/>
          </a:prstGeom>
          <a:ln w="18288">
            <a:solidFill>
              <a:srgbClr val="007651"/>
            </a:solidFill>
          </a:ln>
          <a:effectLst/>
        </p:spPr>
      </p:cxnSp>
      <p:sp>
        <p:nvSpPr>
          <p:cNvPr id="94" name="TextBox 93"/>
          <p:cNvSpPr txBox="1"/>
          <p:nvPr/>
        </p:nvSpPr>
        <p:spPr>
          <a:xfrm>
            <a:off x="503046" y="1902862"/>
            <a:ext cx="3361260" cy="204826"/>
          </a:xfrm>
          <a:prstGeom prst="rect">
            <a:avLst/>
          </a:prstGeom>
          <a:noFill/>
        </p:spPr>
        <p:txBody>
          <a:bodyPr wrap="square" lIns="0" tIns="0" rIns="0" bIns="0" anchor="t">
            <a:noAutofit/>
          </a:bodyPr>
          <a:lstStyle/>
          <a:p>
            <a:pPr marL="0" marR="0" lvl="0" indent="0" algn="l" defTabSz="457200" rtl="0" eaLnBrk="1" fontAlgn="auto" latinLnBrk="0" hangingPunct="1">
              <a:lnSpc>
                <a:spcPts val="1468"/>
              </a:lnSpc>
              <a:spcBef>
                <a:spcPts val="0"/>
              </a:spcBef>
              <a:spcAft>
                <a:spcPts val="0"/>
              </a:spcAft>
              <a:buClrTx/>
              <a:buSzTx/>
              <a:buFontTx/>
              <a:buNone/>
              <a:tabLst/>
              <a:defRPr/>
            </a:pPr>
            <a:r>
              <a:rPr kumimoji="0" sz="1000" b="0" i="0" u="none" strike="noStrike" kern="1200" cap="none" spc="81" normalizeH="0" baseline="0" noProof="0">
                <a:ln>
                  <a:noFill/>
                </a:ln>
                <a:solidFill>
                  <a:srgbClr val="007651"/>
                </a:solidFill>
                <a:effectLst/>
                <a:uLnTx/>
                <a:uFillTx/>
                <a:latin typeface="Fira Sans SemiBold"/>
                <a:ea typeface="+mn-ea"/>
                <a:cs typeface="+mn-cs"/>
              </a:rPr>
              <a:t>NOW</a:t>
            </a:r>
          </a:p>
        </p:txBody>
      </p:sp>
      <p:sp>
        <p:nvSpPr>
          <p:cNvPr id="95" name="TextBox 94"/>
          <p:cNvSpPr txBox="1"/>
          <p:nvPr/>
        </p:nvSpPr>
        <p:spPr>
          <a:xfrm>
            <a:off x="503046" y="2246297"/>
            <a:ext cx="3361260" cy="747796"/>
          </a:xfrm>
          <a:prstGeom prst="rect">
            <a:avLst/>
          </a:prstGeom>
          <a:noFill/>
        </p:spPr>
        <p:txBody>
          <a:bodyPr wrap="square" lIns="0" tIns="0" rIns="0" bIns="0" anchor="t">
            <a:noAutofit/>
          </a:bodyPr>
          <a:lstStyle/>
          <a:p>
            <a:pPr marL="0" marR="0" lvl="0" indent="0" algn="l" defTabSz="457200" rtl="0" eaLnBrk="1" fontAlgn="auto" latinLnBrk="0" hangingPunct="1">
              <a:lnSpc>
                <a:spcPts val="181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Simplify the checking products to three</a:t>
            </a:r>
          </a:p>
          <a:p>
            <a:pPr marL="0" marR="0" lvl="0" indent="0" algn="l" defTabSz="457200" rtl="0" eaLnBrk="1" fontAlgn="auto" latinLnBrk="0" hangingPunct="1">
              <a:lnSpc>
                <a:spcPts val="181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tiers, and position and name them in a</a:t>
            </a:r>
          </a:p>
          <a:p>
            <a:pPr marL="0" marR="0" lvl="0" indent="0" algn="l" defTabSz="457200" rtl="0" eaLnBrk="1" fontAlgn="auto" latinLnBrk="0" hangingPunct="1">
              <a:lnSpc>
                <a:spcPts val="181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way that is competitive and descriptive.</a:t>
            </a:r>
          </a:p>
        </p:txBody>
      </p:sp>
      <p:sp>
        <p:nvSpPr>
          <p:cNvPr id="96" name="TextBox 95"/>
          <p:cNvSpPr txBox="1"/>
          <p:nvPr/>
        </p:nvSpPr>
        <p:spPr>
          <a:xfrm>
            <a:off x="503046" y="3033749"/>
            <a:ext cx="3361260" cy="453451"/>
          </a:xfrm>
          <a:prstGeom prst="rect">
            <a:avLst/>
          </a:prstGeom>
          <a:noFill/>
        </p:spPr>
        <p:txBody>
          <a:bodyPr wrap="square" lIns="0" tIns="0" rIns="0" bIns="0" anchor="t">
            <a:noAutofit/>
          </a:bodyPr>
          <a:lstStyle/>
          <a:p>
            <a:pPr marL="0" marR="0" lvl="0" indent="0" algn="l" defTabSz="457200" rtl="0" eaLnBrk="1" fontAlgn="auto" latinLnBrk="0" hangingPunct="1">
              <a:lnSpc>
                <a:spcPts val="1713"/>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The lineup launches first – the naming and</a:t>
            </a:r>
          </a:p>
          <a:p>
            <a:pPr marL="0" marR="0" lvl="0" indent="0" algn="l" defTabSz="457200" rtl="0" eaLnBrk="1" fontAlgn="auto" latinLnBrk="0" hangingPunct="1">
              <a:lnSpc>
                <a:spcPts val="1713"/>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positioning work lands here.</a:t>
            </a:r>
          </a:p>
        </p:txBody>
      </p:sp>
      <p:cxnSp>
        <p:nvCxnSpPr>
          <p:cNvPr id="97" name="Connector 96"/>
          <p:cNvCxnSpPr/>
          <p:nvPr/>
        </p:nvCxnSpPr>
        <p:spPr>
          <a:xfrm>
            <a:off x="503046" y="4448921"/>
            <a:ext cx="3201200" cy="0"/>
          </a:xfrm>
          <a:prstGeom prst="line">
            <a:avLst/>
          </a:prstGeom>
          <a:ln w="18288">
            <a:solidFill>
              <a:srgbClr val="007651"/>
            </a:solidFill>
          </a:ln>
          <a:effectLst/>
        </p:spPr>
      </p:cxnSp>
      <p:sp>
        <p:nvSpPr>
          <p:cNvPr id="98" name="TextBox 97"/>
          <p:cNvSpPr txBox="1"/>
          <p:nvPr/>
        </p:nvSpPr>
        <p:spPr>
          <a:xfrm>
            <a:off x="503046" y="4202942"/>
            <a:ext cx="3361260" cy="204826"/>
          </a:xfrm>
          <a:prstGeom prst="rect">
            <a:avLst/>
          </a:prstGeom>
          <a:noFill/>
        </p:spPr>
        <p:txBody>
          <a:bodyPr wrap="square" lIns="0" tIns="0" rIns="0" bIns="0" anchor="t">
            <a:noAutofit/>
          </a:bodyPr>
          <a:lstStyle/>
          <a:p>
            <a:pPr marL="0" marR="0" lvl="0" indent="0" algn="l" defTabSz="457200" rtl="0" eaLnBrk="1" fontAlgn="auto" latinLnBrk="0" hangingPunct="1">
              <a:lnSpc>
                <a:spcPts val="1468"/>
              </a:lnSpc>
              <a:spcBef>
                <a:spcPts val="0"/>
              </a:spcBef>
              <a:spcAft>
                <a:spcPts val="0"/>
              </a:spcAft>
              <a:buClrTx/>
              <a:buSzTx/>
              <a:buFontTx/>
              <a:buNone/>
              <a:tabLst/>
              <a:defRPr/>
            </a:pPr>
            <a:r>
              <a:rPr kumimoji="0" sz="1000" b="0" i="0" u="none" strike="noStrike" kern="1200" cap="none" spc="81" normalizeH="0" baseline="0" noProof="0">
                <a:ln>
                  <a:noFill/>
                </a:ln>
                <a:solidFill>
                  <a:srgbClr val="007651"/>
                </a:solidFill>
                <a:effectLst/>
                <a:uLnTx/>
                <a:uFillTx/>
                <a:latin typeface="Fira Sans SemiBold"/>
                <a:ea typeface="+mn-ea"/>
                <a:cs typeface="+mn-cs"/>
              </a:rPr>
              <a:t>FUTURE</a:t>
            </a:r>
          </a:p>
        </p:txBody>
      </p:sp>
      <p:sp>
        <p:nvSpPr>
          <p:cNvPr id="99" name="TextBox 98"/>
          <p:cNvSpPr txBox="1"/>
          <p:nvPr/>
        </p:nvSpPr>
        <p:spPr>
          <a:xfrm>
            <a:off x="503046" y="4546378"/>
            <a:ext cx="3361260" cy="747796"/>
          </a:xfrm>
          <a:prstGeom prst="rect">
            <a:avLst/>
          </a:prstGeom>
          <a:noFill/>
        </p:spPr>
        <p:txBody>
          <a:bodyPr wrap="square" lIns="0" tIns="0" rIns="0" bIns="0" anchor="t">
            <a:noAutofit/>
          </a:bodyPr>
          <a:lstStyle/>
          <a:p>
            <a:pPr marL="0" marR="0" lvl="0" indent="0" algn="l" defTabSz="457200" rtl="0" eaLnBrk="1" fontAlgn="auto" latinLnBrk="0" hangingPunct="1">
              <a:lnSpc>
                <a:spcPts val="181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Differentiate the loyalty program –</a:t>
            </a:r>
          </a:p>
          <a:p>
            <a:pPr marL="0" marR="0" lvl="0" indent="0" algn="l" defTabSz="457200" rtl="0" eaLnBrk="1" fontAlgn="auto" latinLnBrk="0" hangingPunct="1">
              <a:lnSpc>
                <a:spcPts val="181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an additional layer of recognition on</a:t>
            </a:r>
          </a:p>
          <a:p>
            <a:pPr marL="0" marR="0" lvl="0" indent="0" algn="l" defTabSz="457200" rtl="0" eaLnBrk="1" fontAlgn="auto" latinLnBrk="0" hangingPunct="1">
              <a:lnSpc>
                <a:spcPts val="181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top of checking.</a:t>
            </a:r>
          </a:p>
        </p:txBody>
      </p:sp>
      <p:sp>
        <p:nvSpPr>
          <p:cNvPr id="100" name="TextBox 99"/>
          <p:cNvSpPr txBox="1"/>
          <p:nvPr/>
        </p:nvSpPr>
        <p:spPr>
          <a:xfrm>
            <a:off x="503046" y="5333830"/>
            <a:ext cx="3361260" cy="453451"/>
          </a:xfrm>
          <a:prstGeom prst="rect">
            <a:avLst/>
          </a:prstGeom>
          <a:noFill/>
        </p:spPr>
        <p:txBody>
          <a:bodyPr wrap="square" lIns="0" tIns="0" rIns="0" bIns="0" anchor="t">
            <a:noAutofit/>
          </a:bodyPr>
          <a:lstStyle/>
          <a:p>
            <a:pPr marL="0" marR="0" lvl="0" indent="0" algn="l" defTabSz="457200" rtl="0" eaLnBrk="1" fontAlgn="auto" latinLnBrk="0" hangingPunct="1">
              <a:lnSpc>
                <a:spcPts val="1713"/>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The rewards component follows the lineup</a:t>
            </a:r>
          </a:p>
          <a:p>
            <a:pPr marL="0" marR="0" lvl="0" indent="0" algn="l" defTabSz="457200" rtl="0" eaLnBrk="1" fontAlgn="auto" latinLnBrk="0" hangingPunct="1">
              <a:lnSpc>
                <a:spcPts val="1713"/>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rather than launching with it.</a:t>
            </a:r>
          </a:p>
        </p:txBody>
      </p:sp>
      <p:cxnSp>
        <p:nvCxnSpPr>
          <p:cNvPr id="105" name="Connector 104"/>
          <p:cNvCxnSpPr/>
          <p:nvPr/>
        </p:nvCxnSpPr>
        <p:spPr>
          <a:xfrm>
            <a:off x="4554420" y="5637196"/>
            <a:ext cx="0" cy="521208"/>
          </a:xfrm>
          <a:prstGeom prst="line">
            <a:avLst/>
          </a:prstGeom>
          <a:ln w="27432">
            <a:solidFill>
              <a:srgbClr val="007651"/>
            </a:solidFill>
          </a:ln>
          <a:effectLst/>
        </p:spPr>
      </p:cxnSp>
      <p:sp>
        <p:nvSpPr>
          <p:cNvPr id="106" name="TextBox 105"/>
          <p:cNvSpPr txBox="1"/>
          <p:nvPr/>
        </p:nvSpPr>
        <p:spPr>
          <a:xfrm>
            <a:off x="4696187" y="5674470"/>
            <a:ext cx="6782705" cy="539496"/>
          </a:xfrm>
          <a:prstGeom prst="rect">
            <a:avLst/>
          </a:prstGeom>
          <a:noFill/>
        </p:spPr>
        <p:txBody>
          <a:bodyPr wrap="square" lIns="0" tIns="0" rIns="0" bIns="0" anchor="t">
            <a:noAutofit/>
          </a:bodyPr>
          <a:lstStyle/>
          <a:p>
            <a:pPr marL="0" marR="0" lvl="0" indent="0" algn="l" defTabSz="457200" rtl="0" eaLnBrk="1" fontAlgn="auto" latinLnBrk="0" hangingPunct="1">
              <a:lnSpc>
                <a:spcPts val="1852"/>
              </a:lnSpc>
              <a:spcBef>
                <a:spcPts val="0"/>
              </a:spcBef>
              <a:spcAft>
                <a:spcPts val="0"/>
              </a:spcAft>
              <a:buClrTx/>
              <a:buSzTx/>
              <a:buFontTx/>
              <a:buNone/>
              <a:tabLst/>
              <a:defRPr/>
            </a:pPr>
            <a:r>
              <a:rPr kumimoji="0" sz="1350" b="0" i="1" u="none" strike="noStrike" kern="1200" cap="none" spc="0" normalizeH="0" baseline="0" noProof="0">
                <a:ln>
                  <a:noFill/>
                </a:ln>
                <a:solidFill>
                  <a:srgbClr val="217651"/>
                </a:solidFill>
                <a:effectLst/>
                <a:uLnTx/>
                <a:uFillTx/>
                <a:latin typeface="Fira Sans"/>
                <a:ea typeface="+mn-ea"/>
                <a:cs typeface="+mn-cs"/>
              </a:rPr>
              <a:t>“It will launch sometime after the checking product lineup – we also have to think about</a:t>
            </a:r>
            <a:r>
              <a:rPr kumimoji="0" lang="en-US" sz="1350" b="0" i="1" u="none" strike="noStrike" kern="1200" cap="none" spc="0" normalizeH="0" baseline="0" noProof="0">
                <a:ln>
                  <a:noFill/>
                </a:ln>
                <a:solidFill>
                  <a:srgbClr val="217651"/>
                </a:solidFill>
                <a:effectLst/>
                <a:uLnTx/>
                <a:uFillTx/>
                <a:latin typeface="Fira Sans"/>
                <a:ea typeface="+mn-ea"/>
                <a:cs typeface="+mn-cs"/>
              </a:rPr>
              <a:t> </a:t>
            </a:r>
            <a:r>
              <a:rPr kumimoji="0" sz="1350" b="0" i="1" u="none" strike="noStrike" kern="1200" cap="none" spc="0" normalizeH="0" baseline="0" noProof="0">
                <a:ln>
                  <a:noFill/>
                </a:ln>
                <a:solidFill>
                  <a:srgbClr val="217651"/>
                </a:solidFill>
                <a:effectLst/>
                <a:uLnTx/>
                <a:uFillTx/>
                <a:latin typeface="Fira Sans"/>
                <a:ea typeface="+mn-ea"/>
                <a:cs typeface="+mn-cs"/>
              </a:rPr>
              <a:t>how we handle that program that will not be tethered to a product.”</a:t>
            </a:r>
            <a:endParaRPr kumimoji="0" lang="en-US" sz="1350" b="0" i="1" u="none" strike="noStrike" kern="1200" cap="none" spc="0" normalizeH="0" baseline="0" noProof="0">
              <a:ln>
                <a:noFill/>
              </a:ln>
              <a:solidFill>
                <a:srgbClr val="217651"/>
              </a:solidFill>
              <a:effectLst/>
              <a:uLnTx/>
              <a:uFillTx/>
              <a:latin typeface="Fira Sans"/>
              <a:ea typeface="+mn-ea"/>
              <a:cs typeface="+mn-cs"/>
            </a:endParaRPr>
          </a:p>
        </p:txBody>
      </p:sp>
      <p:cxnSp>
        <p:nvCxnSpPr>
          <p:cNvPr id="107" name="Connector 106"/>
          <p:cNvCxnSpPr/>
          <p:nvPr/>
        </p:nvCxnSpPr>
        <p:spPr>
          <a:xfrm>
            <a:off x="503046" y="6414516"/>
            <a:ext cx="11185908" cy="0"/>
          </a:xfrm>
          <a:prstGeom prst="line">
            <a:avLst/>
          </a:prstGeom>
          <a:ln w="9144">
            <a:solidFill>
              <a:srgbClr val="DDDBCE"/>
            </a:solidFill>
          </a:ln>
          <a:effectLst/>
        </p:spPr>
      </p:cxnSp>
      <p:sp>
        <p:nvSpPr>
          <p:cNvPr id="108" name="TextBox 107"/>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Four Citizens stakeholder interviews, Aug 2026 · Quotes lightly edited.</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grpSp>
        <p:nvGrpSpPr>
          <p:cNvPr id="4" name="Group 3">
            <a:extLst>
              <a:ext uri="{FF2B5EF4-FFF2-40B4-BE49-F238E27FC236}">
                <a16:creationId xmlns:a16="http://schemas.microsoft.com/office/drawing/2014/main" id="{7653233B-CDA4-D420-B9F7-908720E4F081}"/>
              </a:ext>
            </a:extLst>
          </p:cNvPr>
          <p:cNvGrpSpPr/>
          <p:nvPr/>
        </p:nvGrpSpPr>
        <p:grpSpPr>
          <a:xfrm>
            <a:off x="4408510" y="1930430"/>
            <a:ext cx="7070383" cy="3689537"/>
            <a:chOff x="3846012" y="1779540"/>
            <a:chExt cx="7806645" cy="4073740"/>
          </a:xfrm>
        </p:grpSpPr>
        <p:pic>
          <p:nvPicPr>
            <p:cNvPr id="2" name="Picture 1">
              <a:extLst>
                <a:ext uri="{FF2B5EF4-FFF2-40B4-BE49-F238E27FC236}">
                  <a16:creationId xmlns:a16="http://schemas.microsoft.com/office/drawing/2014/main" id="{6391A65B-C18F-27BB-F799-D6C75659E226}"/>
                </a:ext>
              </a:extLst>
            </p:cNvPr>
            <p:cNvPicPr>
              <a:picLocks noChangeAspect="1"/>
            </p:cNvPicPr>
            <p:nvPr/>
          </p:nvPicPr>
          <p:blipFill>
            <a:blip r:embed="rId3"/>
            <a:srcRect r="57209"/>
            <a:stretch>
              <a:fillRect/>
            </a:stretch>
          </p:blipFill>
          <p:spPr>
            <a:xfrm>
              <a:off x="3846012" y="1948956"/>
              <a:ext cx="3330397" cy="3904324"/>
            </a:xfrm>
            <a:prstGeom prst="rect">
              <a:avLst/>
            </a:prstGeom>
          </p:spPr>
        </p:pic>
        <p:pic>
          <p:nvPicPr>
            <p:cNvPr id="3" name="Picture 2">
              <a:extLst>
                <a:ext uri="{FF2B5EF4-FFF2-40B4-BE49-F238E27FC236}">
                  <a16:creationId xmlns:a16="http://schemas.microsoft.com/office/drawing/2014/main" id="{4CC5ED67-52B0-CA48-B254-D417699BC159}"/>
                </a:ext>
              </a:extLst>
            </p:cNvPr>
            <p:cNvPicPr>
              <a:picLocks noChangeAspect="1"/>
            </p:cNvPicPr>
            <p:nvPr/>
          </p:nvPicPr>
          <p:blipFill>
            <a:blip r:embed="rId3"/>
            <a:srcRect l="43397"/>
            <a:stretch>
              <a:fillRect/>
            </a:stretch>
          </p:blipFill>
          <p:spPr>
            <a:xfrm>
              <a:off x="7247292" y="1779540"/>
              <a:ext cx="4405365" cy="3904324"/>
            </a:xfrm>
            <a:prstGeom prst="rect">
              <a:avLst/>
            </a:prstGeom>
          </p:spPr>
        </p:pic>
      </p:grpSp>
      <p:cxnSp>
        <p:nvCxnSpPr>
          <p:cNvPr id="10" name="Straight Arrow Connector 9">
            <a:extLst>
              <a:ext uri="{FF2B5EF4-FFF2-40B4-BE49-F238E27FC236}">
                <a16:creationId xmlns:a16="http://schemas.microsoft.com/office/drawing/2014/main" id="{32833454-622B-E308-0F83-5423CBD3AC96}"/>
              </a:ext>
            </a:extLst>
          </p:cNvPr>
          <p:cNvCxnSpPr/>
          <p:nvPr/>
        </p:nvCxnSpPr>
        <p:spPr>
          <a:xfrm>
            <a:off x="523207" y="3688422"/>
            <a:ext cx="0" cy="318499"/>
          </a:xfrm>
          <a:prstGeom prst="straightConnector1">
            <a:avLst/>
          </a:prstGeom>
          <a:ln>
            <a:solidFill>
              <a:srgbClr val="21765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142935"/>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1340937"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CITIZENS TODAY</a:t>
            </a:r>
          </a:p>
        </p:txBody>
      </p:sp>
      <p:sp>
        <p:nvSpPr>
          <p:cNvPr id="92" name="TextBox 91"/>
          <p:cNvSpPr txBox="1"/>
          <p:nvPr/>
        </p:nvSpPr>
        <p:spPr>
          <a:xfrm>
            <a:off x="503046" y="743648"/>
            <a:ext cx="2881080" cy="1832275"/>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The</a:t>
            </a:r>
            <a:r>
              <a:rPr kumimoji="0" sz="2900" b="0" i="0" u="none" strike="noStrike" kern="1200" cap="none" spc="-14" normalizeH="0" baseline="0" noProof="0">
                <a:ln>
                  <a:noFill/>
                </a:ln>
                <a:solidFill>
                  <a:srgbClr val="232422"/>
                </a:solidFill>
                <a:effectLst/>
                <a:uLnTx/>
                <a:uFillTx/>
                <a:latin typeface="Fira Sans"/>
                <a:ea typeface="+mn-ea"/>
                <a:cs typeface="+mn-cs"/>
              </a:rPr>
              <a:t> products</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are </a:t>
            </a:r>
            <a:r>
              <a:rPr kumimoji="0" lang="en-US" sz="2900" b="0" i="0" u="none" strike="noStrike" kern="1200" cap="none" spc="-14" normalizeH="0" baseline="0" noProof="0">
                <a:ln>
                  <a:noFill/>
                </a:ln>
                <a:solidFill>
                  <a:srgbClr val="232422"/>
                </a:solidFill>
                <a:effectLst/>
                <a:uLnTx/>
                <a:uFillTx/>
                <a:latin typeface="Fira Sans"/>
                <a:ea typeface="+mn-ea"/>
                <a:cs typeface="+mn-cs"/>
              </a:rPr>
              <a:t>set</a:t>
            </a:r>
            <a:r>
              <a:rPr kumimoji="0" sz="2900" b="0" i="0" u="none" strike="noStrike" kern="1200" cap="none" spc="-14" normalizeH="0" baseline="0" noProof="0">
                <a:ln>
                  <a:noFill/>
                </a:ln>
                <a:solidFill>
                  <a:srgbClr val="232422"/>
                </a:solidFill>
                <a:effectLst/>
                <a:uLnTx/>
                <a:uFillTx/>
                <a:latin typeface="Fira Sans"/>
                <a:ea typeface="+mn-ea"/>
                <a:cs typeface="+mn-cs"/>
              </a:rPr>
              <a:t>, but the</a:t>
            </a:r>
            <a:endParaRPr kumimoji="0" lang="en-US" sz="2900" b="0" i="0" u="none" strike="noStrike" kern="1200" cap="none" spc="-14" normalizeH="0" baseline="0" noProof="0">
              <a:ln>
                <a:noFill/>
              </a:ln>
              <a:solidFill>
                <a:srgbClr val="232422"/>
              </a:solidFill>
              <a:effectLst/>
              <a:uLnTx/>
              <a:uFillTx/>
              <a:latin typeface="Fira Sans"/>
              <a:ea typeface="+mn-ea"/>
              <a:cs typeface="+mn-cs"/>
            </a:endParaRP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connections</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are still open</a:t>
            </a:r>
          </a:p>
        </p:txBody>
      </p:sp>
      <p:sp>
        <p:nvSpPr>
          <p:cNvPr id="93" name="TextBox 92"/>
          <p:cNvSpPr txBox="1"/>
          <p:nvPr/>
        </p:nvSpPr>
        <p:spPr>
          <a:xfrm>
            <a:off x="503046" y="2788455"/>
            <a:ext cx="2751142" cy="919521"/>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There are still decisions to be made on </a:t>
            </a:r>
            <a:r>
              <a:rPr kumimoji="0" sz="1200" b="0" i="0" u="none" strike="noStrike" kern="1200" cap="none" spc="0" normalizeH="0" baseline="0" noProof="0">
                <a:ln>
                  <a:noFill/>
                </a:ln>
                <a:solidFill>
                  <a:srgbClr val="575757"/>
                </a:solidFill>
                <a:effectLst/>
                <a:uLnTx/>
                <a:uFillTx/>
                <a:latin typeface="Fira Sans"/>
                <a:ea typeface="+mn-ea"/>
                <a:cs typeface="+mn-cs"/>
              </a:rPr>
              <a:t>how the products</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connect to recognition, value, and</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service. Names and positioning inherit</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those decisions.</a:t>
            </a:r>
          </a:p>
        </p:txBody>
      </p:sp>
      <p:sp>
        <p:nvSpPr>
          <p:cNvPr id="94" name="TextBox 93"/>
          <p:cNvSpPr txBox="1"/>
          <p:nvPr/>
        </p:nvSpPr>
        <p:spPr>
          <a:xfrm>
            <a:off x="503046" y="3892645"/>
            <a:ext cx="2881080"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1" i="0" u="none" strike="noStrike" kern="1200" cap="all" spc="104" normalizeH="0" baseline="0" noProof="0">
                <a:ln>
                  <a:noFill/>
                </a:ln>
                <a:solidFill>
                  <a:srgbClr val="007651"/>
                </a:solidFill>
                <a:effectLst/>
                <a:uLnTx/>
                <a:uFillTx/>
                <a:latin typeface="Fira Sans"/>
                <a:ea typeface="+mn-ea"/>
                <a:cs typeface="+mn-cs"/>
              </a:rPr>
              <a:t>Still to be decided</a:t>
            </a:r>
          </a:p>
        </p:txBody>
      </p:sp>
      <p:sp>
        <p:nvSpPr>
          <p:cNvPr id="95" name="TextBox 94"/>
          <p:cNvSpPr txBox="1"/>
          <p:nvPr/>
        </p:nvSpPr>
        <p:spPr>
          <a:xfrm>
            <a:off x="503046" y="4191249"/>
            <a:ext cx="2881080" cy="437815"/>
          </a:xfrm>
          <a:prstGeom prst="rect">
            <a:avLst/>
          </a:prstGeom>
          <a:noFill/>
        </p:spPr>
        <p:txBody>
          <a:bodyPr wrap="square" lIns="0" tIns="0" rIns="0" bIns="0" anchor="t">
            <a:noAutofit/>
          </a:bodyPr>
          <a:lstStyle/>
          <a:p>
            <a:pPr marL="171450" marR="0" lvl="0" indent="-171450" algn="l" defTabSz="457200" rtl="0" eaLnBrk="1" fontAlgn="auto" latinLnBrk="0" hangingPunct="1">
              <a:lnSpc>
                <a:spcPts val="1652"/>
              </a:lnSpc>
              <a:spcBef>
                <a:spcPts val="0"/>
              </a:spcBef>
              <a:spcAft>
                <a:spcPts val="0"/>
              </a:spcAft>
              <a:buClrTx/>
              <a:buSzTx/>
              <a:buFont typeface="Arial" panose="020B0604020202020204" pitchFamily="34" charset="0"/>
              <a:buChar char="•"/>
              <a:tabLst/>
              <a:defRPr/>
            </a:pPr>
            <a:r>
              <a:rPr kumimoji="0" sz="1100" b="0" i="0" u="none" strike="noStrike" kern="1200" cap="none" spc="0" normalizeH="0" baseline="0" noProof="0">
                <a:ln>
                  <a:noFill/>
                </a:ln>
                <a:solidFill>
                  <a:srgbClr val="575757"/>
                </a:solidFill>
                <a:effectLst/>
                <a:uLnTx/>
                <a:uFillTx/>
                <a:latin typeface="Fira Sans"/>
                <a:ea typeface="+mn-ea"/>
                <a:cs typeface="+mn-cs"/>
              </a:rPr>
              <a:t>What earns recognition, and what</a:t>
            </a:r>
            <a:br>
              <a:rPr kumimoji="0" lang="en-US" sz="1100" b="0" i="0" u="none" strike="noStrike" kern="1200" cap="none" spc="0" normalizeH="0" baseline="0" noProof="0">
                <a:ln>
                  <a:noFill/>
                </a:ln>
                <a:solidFill>
                  <a:srgbClr val="575757"/>
                </a:solidFill>
                <a:effectLst/>
                <a:uLnTx/>
                <a:uFillTx/>
                <a:latin typeface="Fira Sans"/>
                <a:ea typeface="+mn-ea"/>
                <a:cs typeface="+mn-cs"/>
              </a:rPr>
            </a:br>
            <a:r>
              <a:rPr kumimoji="0" sz="1100" b="0" i="0" u="none" strike="noStrike" kern="1200" cap="none" spc="0" normalizeH="0" baseline="0" noProof="0">
                <a:ln>
                  <a:noFill/>
                </a:ln>
                <a:solidFill>
                  <a:srgbClr val="575757"/>
                </a:solidFill>
                <a:effectLst/>
                <a:uLnTx/>
                <a:uFillTx/>
                <a:latin typeface="Fira Sans"/>
                <a:ea typeface="+mn-ea"/>
                <a:cs typeface="+mn-cs"/>
              </a:rPr>
              <a:t>value follows it</a:t>
            </a:r>
          </a:p>
        </p:txBody>
      </p:sp>
      <p:sp>
        <p:nvSpPr>
          <p:cNvPr id="96" name="TextBox 95"/>
          <p:cNvSpPr txBox="1"/>
          <p:nvPr/>
        </p:nvSpPr>
        <p:spPr>
          <a:xfrm>
            <a:off x="503046" y="4720412"/>
            <a:ext cx="2881080" cy="228143"/>
          </a:xfrm>
          <a:prstGeom prst="rect">
            <a:avLst/>
          </a:prstGeom>
          <a:noFill/>
        </p:spPr>
        <p:txBody>
          <a:bodyPr wrap="none" lIns="0" tIns="0" rIns="0" bIns="0" anchor="t">
            <a:noAutofit/>
          </a:bodyPr>
          <a:lstStyle/>
          <a:p>
            <a:pPr marL="171450" marR="0" lvl="0" indent="-171450" algn="l" defTabSz="457200" rtl="0" eaLnBrk="1" fontAlgn="auto" latinLnBrk="0" hangingPunct="1">
              <a:lnSpc>
                <a:spcPts val="1652"/>
              </a:lnSpc>
              <a:spcBef>
                <a:spcPts val="0"/>
              </a:spcBef>
              <a:spcAft>
                <a:spcPts val="0"/>
              </a:spcAft>
              <a:buClrTx/>
              <a:buSzTx/>
              <a:buFont typeface="Arial" panose="020B0604020202020204" pitchFamily="34" charset="0"/>
              <a:buChar char="•"/>
              <a:tabLst/>
              <a:defRPr/>
            </a:pPr>
            <a:r>
              <a:rPr kumimoji="0" sz="1100" b="0" i="0" u="none" strike="noStrike" kern="1200" cap="none" spc="0" normalizeH="0" baseline="0" noProof="0">
                <a:ln>
                  <a:noFill/>
                </a:ln>
                <a:solidFill>
                  <a:srgbClr val="575757"/>
                </a:solidFill>
                <a:effectLst/>
                <a:uLnTx/>
                <a:uFillTx/>
                <a:latin typeface="Fira Sans"/>
                <a:ea typeface="+mn-ea"/>
                <a:cs typeface="+mn-cs"/>
              </a:rPr>
              <a:t>How Private Client works</a:t>
            </a:r>
          </a:p>
        </p:txBody>
      </p:sp>
      <p:sp>
        <p:nvSpPr>
          <p:cNvPr id="97" name="TextBox 96"/>
          <p:cNvSpPr txBox="1"/>
          <p:nvPr/>
        </p:nvSpPr>
        <p:spPr>
          <a:xfrm>
            <a:off x="503046" y="5039903"/>
            <a:ext cx="2881080" cy="228143"/>
          </a:xfrm>
          <a:prstGeom prst="rect">
            <a:avLst/>
          </a:prstGeom>
          <a:noFill/>
        </p:spPr>
        <p:txBody>
          <a:bodyPr wrap="none" lIns="0" tIns="0" rIns="0" bIns="0" anchor="t">
            <a:noAutofit/>
          </a:bodyPr>
          <a:lstStyle/>
          <a:p>
            <a:pPr marL="171450" marR="0" lvl="0" indent="-171450" algn="l" defTabSz="457200" rtl="0" eaLnBrk="1" fontAlgn="auto" latinLnBrk="0" hangingPunct="1">
              <a:lnSpc>
                <a:spcPts val="1652"/>
              </a:lnSpc>
              <a:spcBef>
                <a:spcPts val="0"/>
              </a:spcBef>
              <a:spcAft>
                <a:spcPts val="0"/>
              </a:spcAft>
              <a:buClrTx/>
              <a:buSzTx/>
              <a:buFont typeface="Arial" panose="020B0604020202020204" pitchFamily="34" charset="0"/>
              <a:buChar char="•"/>
              <a:tabLst/>
              <a:defRPr/>
            </a:pPr>
            <a:r>
              <a:rPr kumimoji="0" sz="1100" b="0" i="0" u="none" strike="noStrike" kern="1200" cap="none" spc="0" normalizeH="0" baseline="0" noProof="0">
                <a:ln>
                  <a:noFill/>
                </a:ln>
                <a:solidFill>
                  <a:srgbClr val="575757"/>
                </a:solidFill>
                <a:effectLst/>
                <a:uLnTx/>
                <a:uFillTx/>
                <a:latin typeface="Fira Sans"/>
                <a:ea typeface="+mn-ea"/>
                <a:cs typeface="+mn-cs"/>
              </a:rPr>
              <a:t>Where service genuinely changes</a:t>
            </a:r>
          </a:p>
        </p:txBody>
      </p:sp>
      <p:sp>
        <p:nvSpPr>
          <p:cNvPr id="98" name="TextBox 97"/>
          <p:cNvSpPr txBox="1"/>
          <p:nvPr/>
        </p:nvSpPr>
        <p:spPr>
          <a:xfrm>
            <a:off x="503046" y="5359395"/>
            <a:ext cx="2881080" cy="228143"/>
          </a:xfrm>
          <a:prstGeom prst="rect">
            <a:avLst/>
          </a:prstGeom>
          <a:noFill/>
        </p:spPr>
        <p:txBody>
          <a:bodyPr wrap="none" lIns="0" tIns="0" rIns="0" bIns="0" anchor="t">
            <a:noAutofit/>
          </a:bodyPr>
          <a:lstStyle/>
          <a:p>
            <a:pPr marL="171450" marR="0" lvl="0" indent="-171450" algn="l" defTabSz="457200" rtl="0" eaLnBrk="1" fontAlgn="auto" latinLnBrk="0" hangingPunct="1">
              <a:lnSpc>
                <a:spcPts val="1652"/>
              </a:lnSpc>
              <a:spcBef>
                <a:spcPts val="0"/>
              </a:spcBef>
              <a:spcAft>
                <a:spcPts val="0"/>
              </a:spcAft>
              <a:buClrTx/>
              <a:buSzTx/>
              <a:buFont typeface="Arial" panose="020B0604020202020204" pitchFamily="34" charset="0"/>
              <a:buChar char="•"/>
              <a:tabLst/>
              <a:defRPr/>
            </a:pPr>
            <a:r>
              <a:rPr kumimoji="0" sz="1100" b="0" i="0" u="none" strike="noStrike" kern="1200" cap="none" spc="0" normalizeH="0" baseline="0" noProof="0">
                <a:ln>
                  <a:noFill/>
                </a:ln>
                <a:solidFill>
                  <a:srgbClr val="575757"/>
                </a:solidFill>
                <a:effectLst/>
                <a:uLnTx/>
                <a:uFillTx/>
                <a:latin typeface="Fira Sans"/>
                <a:ea typeface="+mn-ea"/>
                <a:cs typeface="+mn-cs"/>
              </a:rPr>
              <a:t>What CitizensPlus becomes</a:t>
            </a:r>
          </a:p>
        </p:txBody>
      </p:sp>
      <p:sp>
        <p:nvSpPr>
          <p:cNvPr id="99" name="TextBox 98"/>
          <p:cNvSpPr txBox="1"/>
          <p:nvPr/>
        </p:nvSpPr>
        <p:spPr>
          <a:xfrm>
            <a:off x="503046" y="5678886"/>
            <a:ext cx="2881080" cy="437815"/>
          </a:xfrm>
          <a:prstGeom prst="rect">
            <a:avLst/>
          </a:prstGeom>
          <a:noFill/>
        </p:spPr>
        <p:txBody>
          <a:bodyPr wrap="square" lIns="0" tIns="0" rIns="0" bIns="0" anchor="t">
            <a:noAutofit/>
          </a:bodyPr>
          <a:lstStyle/>
          <a:p>
            <a:pPr marL="171450" marR="0" lvl="0" indent="-171450" algn="l" defTabSz="457200" rtl="0" eaLnBrk="1" fontAlgn="auto" latinLnBrk="0" hangingPunct="1">
              <a:lnSpc>
                <a:spcPts val="1652"/>
              </a:lnSpc>
              <a:spcBef>
                <a:spcPts val="0"/>
              </a:spcBef>
              <a:spcAft>
                <a:spcPts val="0"/>
              </a:spcAft>
              <a:buClrTx/>
              <a:buSzTx/>
              <a:buFont typeface="Arial" panose="020B0604020202020204" pitchFamily="34" charset="0"/>
              <a:buChar char="•"/>
              <a:tabLst/>
              <a:defRPr/>
            </a:pPr>
            <a:r>
              <a:rPr kumimoji="0" sz="1100" b="0" i="0" u="none" strike="noStrike" kern="1200" cap="none" spc="0" normalizeH="0" baseline="0" noProof="0">
                <a:ln>
                  <a:noFill/>
                </a:ln>
                <a:solidFill>
                  <a:srgbClr val="575757"/>
                </a:solidFill>
                <a:effectLst/>
                <a:uLnTx/>
                <a:uFillTx/>
                <a:latin typeface="Fira Sans"/>
                <a:ea typeface="+mn-ea"/>
                <a:cs typeface="+mn-cs"/>
              </a:rPr>
              <a:t>How names and positioning stay</a:t>
            </a:r>
            <a:r>
              <a:rPr kumimoji="0" lang="en-US" sz="1100" b="0" i="0" u="none" strike="noStrike" kern="1200" cap="none" spc="0" normalizeH="0" baseline="0" noProof="0">
                <a:ln>
                  <a:noFill/>
                </a:ln>
                <a:solidFill>
                  <a:srgbClr val="575757"/>
                </a:solidFill>
                <a:effectLst/>
                <a:uLnTx/>
                <a:uFillTx/>
                <a:latin typeface="Fira Sans"/>
                <a:ea typeface="+mn-ea"/>
                <a:cs typeface="+mn-cs"/>
              </a:rPr>
              <a:t> </a:t>
            </a:r>
            <a:r>
              <a:rPr kumimoji="0" sz="1100" b="0" i="0" u="none" strike="noStrike" kern="1200" cap="none" spc="0" normalizeH="0" baseline="0" noProof="0">
                <a:ln>
                  <a:noFill/>
                </a:ln>
                <a:solidFill>
                  <a:srgbClr val="575757"/>
                </a:solidFill>
                <a:effectLst/>
                <a:uLnTx/>
                <a:uFillTx/>
                <a:latin typeface="Fira Sans"/>
                <a:ea typeface="+mn-ea"/>
                <a:cs typeface="+mn-cs"/>
              </a:rPr>
              <a:t>in step</a:t>
            </a:r>
          </a:p>
        </p:txBody>
      </p:sp>
      <p:pic>
        <p:nvPicPr>
          <p:cNvPr id="100" name="Picture 99" descr="deckcut-citizens-continuum.png"/>
          <p:cNvPicPr>
            <a:picLocks noChangeAspect="1"/>
          </p:cNvPicPr>
          <p:nvPr/>
        </p:nvPicPr>
        <p:blipFill>
          <a:blip r:embed="rId2"/>
          <a:stretch>
            <a:fillRect/>
          </a:stretch>
        </p:blipFill>
        <p:spPr>
          <a:xfrm>
            <a:off x="3640222" y="566928"/>
            <a:ext cx="8167634" cy="5095768"/>
          </a:xfrm>
          <a:prstGeom prst="rect">
            <a:avLst/>
          </a:prstGeom>
        </p:spPr>
      </p:pic>
      <p:sp>
        <p:nvSpPr>
          <p:cNvPr id="101" name="Rectangle 100"/>
          <p:cNvSpPr/>
          <p:nvPr/>
        </p:nvSpPr>
        <p:spPr>
          <a:xfrm>
            <a:off x="4561436" y="1508303"/>
            <a:ext cx="5808349" cy="869777"/>
          </a:xfrm>
          <a:prstGeom prst="rect">
            <a:avLst/>
          </a:prstGeom>
          <a:solidFill>
            <a:srgbClr val="FDFAF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Rounded Rectangle 101"/>
          <p:cNvSpPr/>
          <p:nvPr/>
        </p:nvSpPr>
        <p:spPr>
          <a:xfrm>
            <a:off x="4602320" y="1539027"/>
            <a:ext cx="5711216" cy="767456"/>
          </a:xfrm>
          <a:prstGeom prst="roundRect">
            <a:avLst>
              <a:gd name="adj" fmla="val 4670"/>
            </a:avLst>
          </a:prstGeom>
          <a:solidFill>
            <a:srgbClr val="EDF4EF"/>
          </a:solidFill>
          <a:ln w="10241">
            <a:solidFill>
              <a:srgbClr val="007651"/>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TextBox 102"/>
          <p:cNvSpPr txBox="1"/>
          <p:nvPr/>
        </p:nvSpPr>
        <p:spPr>
          <a:xfrm>
            <a:off x="7262472" y="1672255"/>
            <a:ext cx="390821" cy="23774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60" normalizeH="0" baseline="0" noProof="0">
                <a:ln>
                  <a:noFill/>
                </a:ln>
                <a:solidFill>
                  <a:srgbClr val="007651"/>
                </a:solidFill>
                <a:effectLst/>
                <a:uLnTx/>
                <a:uFillTx/>
                <a:latin typeface="Fira Sans"/>
                <a:ea typeface="+mn-ea"/>
                <a:cs typeface="+mn-cs"/>
              </a:rPr>
              <a:t>TBD</a:t>
            </a:r>
          </a:p>
        </p:txBody>
      </p:sp>
      <p:sp>
        <p:nvSpPr>
          <p:cNvPr id="104" name="TextBox 103"/>
          <p:cNvSpPr txBox="1"/>
          <p:nvPr/>
        </p:nvSpPr>
        <p:spPr>
          <a:xfrm>
            <a:off x="5507848" y="1966509"/>
            <a:ext cx="3900068" cy="155448"/>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E5C4A"/>
                </a:solidFill>
                <a:effectLst/>
                <a:uLnTx/>
                <a:uFillTx/>
                <a:latin typeface="Fira Sans"/>
                <a:ea typeface="+mn-ea"/>
                <a:cs typeface="+mn-cs"/>
              </a:rPr>
              <a:t>already decided: Private Client and the premium checking product will be separate</a:t>
            </a:r>
          </a:p>
        </p:txBody>
      </p:sp>
      <p:sp>
        <p:nvSpPr>
          <p:cNvPr id="105" name="Rectangle 104"/>
          <p:cNvSpPr/>
          <p:nvPr/>
        </p:nvSpPr>
        <p:spPr>
          <a:xfrm>
            <a:off x="8233213" y="1168055"/>
            <a:ext cx="626886" cy="127925"/>
          </a:xfrm>
          <a:prstGeom prst="rect">
            <a:avLst/>
          </a:prstGeom>
          <a:solidFill>
            <a:srgbClr val="FDFAF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6" name="TextBox 105"/>
          <p:cNvSpPr txBox="1"/>
          <p:nvPr/>
        </p:nvSpPr>
        <p:spPr>
          <a:xfrm>
            <a:off x="10421005" y="1524305"/>
            <a:ext cx="1266578" cy="128016"/>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600" b="0" i="1" u="none" strike="noStrike" kern="1200" cap="none" spc="0" normalizeH="0" baseline="0" noProof="0">
                <a:ln>
                  <a:noFill/>
                </a:ln>
                <a:solidFill>
                  <a:srgbClr val="575757"/>
                </a:solidFill>
                <a:effectLst/>
                <a:uLnTx/>
                <a:uFillTx/>
                <a:latin typeface="Fira Sans"/>
                <a:ea typeface="+mn-ea"/>
                <a:cs typeface="+mn-cs"/>
              </a:rPr>
              <a:t>savings simplifies with the launch:</a:t>
            </a:r>
          </a:p>
        </p:txBody>
      </p:sp>
      <p:sp>
        <p:nvSpPr>
          <p:cNvPr id="107" name="TextBox 106"/>
          <p:cNvSpPr txBox="1"/>
          <p:nvPr/>
        </p:nvSpPr>
        <p:spPr>
          <a:xfrm>
            <a:off x="10421005" y="1631747"/>
            <a:ext cx="1261730" cy="128016"/>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600" b="0" i="1" u="none" strike="noStrike" kern="1200" cap="none" spc="0" normalizeH="0" baseline="0" noProof="0">
                <a:ln>
                  <a:noFill/>
                </a:ln>
                <a:solidFill>
                  <a:srgbClr val="575757"/>
                </a:solidFill>
                <a:effectLst/>
                <a:uLnTx/>
                <a:uFillTx/>
                <a:latin typeface="Fira Sans"/>
                <a:ea typeface="+mn-ea"/>
                <a:cs typeface="+mn-cs"/>
              </a:rPr>
              <a:t>a new account, free with checking,</a:t>
            </a:r>
          </a:p>
        </p:txBody>
      </p:sp>
      <p:sp>
        <p:nvSpPr>
          <p:cNvPr id="108" name="TextBox 107"/>
          <p:cNvSpPr txBox="1"/>
          <p:nvPr/>
        </p:nvSpPr>
        <p:spPr>
          <a:xfrm>
            <a:off x="10421005" y="1739189"/>
            <a:ext cx="911976" cy="128016"/>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600" b="0" i="1" u="none" strike="noStrike" kern="1200" cap="none" spc="0" normalizeH="0" baseline="0" noProof="0">
                <a:ln>
                  <a:noFill/>
                </a:ln>
                <a:solidFill>
                  <a:srgbClr val="575757"/>
                </a:solidFill>
                <a:effectLst/>
                <a:uLnTx/>
                <a:uFillTx/>
                <a:latin typeface="Fira Sans"/>
                <a:ea typeface="+mn-ea"/>
                <a:cs typeface="+mn-cs"/>
              </a:rPr>
              <a:t>as currently understood</a:t>
            </a:r>
          </a:p>
        </p:txBody>
      </p:sp>
      <p:sp>
        <p:nvSpPr>
          <p:cNvPr id="109" name="Rectangle 108"/>
          <p:cNvSpPr/>
          <p:nvPr/>
        </p:nvSpPr>
        <p:spPr>
          <a:xfrm>
            <a:off x="8911318" y="1226942"/>
            <a:ext cx="1279383" cy="179040"/>
          </a:xfrm>
          <a:prstGeom prst="rect">
            <a:avLst/>
          </a:prstGeom>
          <a:solidFill>
            <a:srgbClr val="E7EDF3"/>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0" name="TextBox 109"/>
          <p:cNvSpPr txBox="1"/>
          <p:nvPr/>
        </p:nvSpPr>
        <p:spPr>
          <a:xfrm>
            <a:off x="9180494" y="1212220"/>
            <a:ext cx="741032" cy="12801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600" b="0" i="0" u="none" strike="noStrike" kern="1200" cap="none" spc="0" normalizeH="0" baseline="0" noProof="0">
                <a:ln>
                  <a:noFill/>
                </a:ln>
                <a:solidFill>
                  <a:srgbClr val="5B6B7E"/>
                </a:solidFill>
                <a:effectLst/>
                <a:uLnTx/>
                <a:uFillTx/>
                <a:latin typeface="Fira Sans"/>
                <a:ea typeface="+mn-ea"/>
                <a:cs typeface="+mn-cs"/>
              </a:rPr>
              <a:t>replaces Quest and</a:t>
            </a:r>
          </a:p>
        </p:txBody>
      </p:sp>
      <p:sp>
        <p:nvSpPr>
          <p:cNvPr id="111" name="TextBox 110"/>
          <p:cNvSpPr txBox="1"/>
          <p:nvPr/>
        </p:nvSpPr>
        <p:spPr>
          <a:xfrm>
            <a:off x="9120220" y="1304300"/>
            <a:ext cx="861580" cy="12801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600" b="0" i="0" u="none" strike="noStrike" kern="1200" cap="none" spc="0" normalizeH="0" baseline="0" noProof="0">
                <a:ln>
                  <a:noFill/>
                </a:ln>
                <a:solidFill>
                  <a:srgbClr val="5B6B7E"/>
                </a:solidFill>
                <a:effectLst/>
                <a:uLnTx/>
                <a:uFillTx/>
                <a:latin typeface="Fira Sans"/>
                <a:ea typeface="+mn-ea"/>
                <a:cs typeface="+mn-cs"/>
              </a:rPr>
              <a:t>Private Client checking</a:t>
            </a:r>
          </a:p>
        </p:txBody>
      </p:sp>
      <p:cxnSp>
        <p:nvCxnSpPr>
          <p:cNvPr id="112" name="Connector 111"/>
          <p:cNvCxnSpPr/>
          <p:nvPr/>
        </p:nvCxnSpPr>
        <p:spPr>
          <a:xfrm>
            <a:off x="503046" y="6414516"/>
            <a:ext cx="11185908" cy="0"/>
          </a:xfrm>
          <a:prstGeom prst="line">
            <a:avLst/>
          </a:prstGeom>
          <a:ln w="9144">
            <a:solidFill>
              <a:srgbClr val="DDDBCE"/>
            </a:solidFill>
          </a:ln>
          <a:effectLst/>
        </p:spPr>
      </p:cxnSp>
      <p:sp>
        <p:nvSpPr>
          <p:cNvPr id="113" name="TextBox 112"/>
          <p:cNvSpPr txBox="1"/>
          <p:nvPr/>
        </p:nvSpPr>
        <p:spPr>
          <a:xfrm>
            <a:off x="503046" y="6491373"/>
            <a:ext cx="11745204" cy="160934"/>
          </a:xfrm>
          <a:prstGeom prst="rect">
            <a:avLst/>
          </a:prstGeom>
          <a:noFill/>
        </p:spPr>
        <p:txBody>
          <a:bodyPr wrap="non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Citizens project brief · Stakeholder interviews,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Arc 1">
            <a:extLst>
              <a:ext uri="{FF2B5EF4-FFF2-40B4-BE49-F238E27FC236}">
                <a16:creationId xmlns:a16="http://schemas.microsoft.com/office/drawing/2014/main" id="{8EDB71C6-0618-CDBA-D285-BB45EBA7F64C}"/>
              </a:ext>
            </a:extLst>
          </p:cNvPr>
          <p:cNvSpPr/>
          <p:nvPr/>
        </p:nvSpPr>
        <p:spPr>
          <a:xfrm rot="817281">
            <a:off x="7395340" y="2828781"/>
            <a:ext cx="1273981" cy="1611221"/>
          </a:xfrm>
          <a:prstGeom prst="arc">
            <a:avLst>
              <a:gd name="adj1" fmla="val 16163054"/>
              <a:gd name="adj2" fmla="val 3055447"/>
            </a:avLst>
          </a:prstGeom>
          <a:ln>
            <a:solidFill>
              <a:schemeClr val="tx1"/>
            </a:solidFill>
            <a:tailEnd type="triangle" w="med" len="sm"/>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86413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p:cNvSpPr/>
          <p:nvPr/>
        </p:nvSpPr>
        <p:spPr>
          <a:xfrm>
            <a:off x="0" y="0"/>
            <a:ext cx="12192000" cy="6858000"/>
          </a:xfrm>
          <a:prstGeom prst="rect">
            <a:avLst/>
          </a:prstGeom>
          <a:solidFill>
            <a:srgbClr val="00765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2" name="TextBox 91"/>
          <p:cNvSpPr txBox="1"/>
          <p:nvPr/>
        </p:nvSpPr>
        <p:spPr>
          <a:xfrm>
            <a:off x="503046" y="358054"/>
            <a:ext cx="762434"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14" normalizeH="0" baseline="0" noProof="0">
                <a:ln>
                  <a:noFill/>
                </a:ln>
                <a:solidFill>
                  <a:srgbClr val="FFFFFF"/>
                </a:solidFill>
                <a:effectLst/>
                <a:uLnTx/>
                <a:uFillTx/>
                <a:latin typeface="Fira Sans SemiBold"/>
                <a:ea typeface="+mn-ea"/>
                <a:cs typeface="+mn-cs"/>
              </a:rPr>
              <a:t>Citizens</a:t>
            </a:r>
          </a:p>
        </p:txBody>
      </p:sp>
      <p:sp>
        <p:nvSpPr>
          <p:cNvPr id="93" name="TextBox 92"/>
          <p:cNvSpPr txBox="1"/>
          <p:nvPr/>
        </p:nvSpPr>
        <p:spPr>
          <a:xfrm>
            <a:off x="503046" y="1829613"/>
            <a:ext cx="402437"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a:ea typeface="+mn-ea"/>
                <a:cs typeface="+mn-cs"/>
              </a:rPr>
              <a:t>1</a:t>
            </a:r>
          </a:p>
        </p:txBody>
      </p:sp>
      <p:sp>
        <p:nvSpPr>
          <p:cNvPr id="94" name="TextBox 93"/>
          <p:cNvSpPr txBox="1"/>
          <p:nvPr/>
        </p:nvSpPr>
        <p:spPr>
          <a:xfrm>
            <a:off x="1124993" y="1630557"/>
            <a:ext cx="520784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How we analyze ecosystems</a:t>
            </a:r>
          </a:p>
        </p:txBody>
      </p:sp>
      <p:sp>
        <p:nvSpPr>
          <p:cNvPr id="95" name="TextBox 94"/>
          <p:cNvSpPr txBox="1"/>
          <p:nvPr/>
        </p:nvSpPr>
        <p:spPr>
          <a:xfrm>
            <a:off x="503046" y="2542845"/>
            <a:ext cx="402437"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Medium"/>
                <a:ea typeface="+mn-ea"/>
                <a:cs typeface="+mn-cs"/>
              </a:rPr>
              <a:t>2</a:t>
            </a:r>
          </a:p>
        </p:txBody>
      </p:sp>
      <p:sp>
        <p:nvSpPr>
          <p:cNvPr id="96" name="TextBox 95"/>
          <p:cNvSpPr txBox="1"/>
          <p:nvPr/>
        </p:nvSpPr>
        <p:spPr>
          <a:xfrm>
            <a:off x="1124993" y="2343789"/>
            <a:ext cx="2462912"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panose="020B0403050000020004" pitchFamily="34" charset="0"/>
                <a:ea typeface="+mn-ea"/>
                <a:cs typeface="+mn-cs"/>
              </a:rPr>
              <a:t>Citizens today</a:t>
            </a:r>
          </a:p>
        </p:txBody>
      </p:sp>
      <p:sp>
        <p:nvSpPr>
          <p:cNvPr id="97" name="TextBox 96"/>
          <p:cNvSpPr txBox="1"/>
          <p:nvPr/>
        </p:nvSpPr>
        <p:spPr>
          <a:xfrm>
            <a:off x="503046" y="3256077"/>
            <a:ext cx="402437"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a:ea typeface="+mn-ea"/>
                <a:cs typeface="+mn-cs"/>
              </a:rPr>
              <a:t>3</a:t>
            </a:r>
          </a:p>
        </p:txBody>
      </p:sp>
      <p:sp>
        <p:nvSpPr>
          <p:cNvPr id="98" name="TextBox 97"/>
          <p:cNvSpPr txBox="1"/>
          <p:nvPr/>
        </p:nvSpPr>
        <p:spPr>
          <a:xfrm>
            <a:off x="1124993" y="3057021"/>
            <a:ext cx="3483514"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srgbClr val="FFFFFF"/>
                </a:solidFill>
                <a:effectLst/>
                <a:uLnTx/>
                <a:uFillTx/>
                <a:latin typeface="Fira Sans Medium" panose="020B0603050000020004" pitchFamily="34" charset="0"/>
                <a:ea typeface="+mn-ea"/>
                <a:cs typeface="+mn-cs"/>
              </a:rPr>
              <a:t>The customer to win</a:t>
            </a:r>
          </a:p>
        </p:txBody>
      </p:sp>
      <p:sp>
        <p:nvSpPr>
          <p:cNvPr id="99" name="TextBox 98"/>
          <p:cNvSpPr txBox="1"/>
          <p:nvPr/>
        </p:nvSpPr>
        <p:spPr>
          <a:xfrm>
            <a:off x="503046" y="3969309"/>
            <a:ext cx="402437"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a:ea typeface="+mn-ea"/>
                <a:cs typeface="+mn-cs"/>
              </a:rPr>
              <a:t>4</a:t>
            </a:r>
          </a:p>
        </p:txBody>
      </p:sp>
      <p:sp>
        <p:nvSpPr>
          <p:cNvPr id="100" name="TextBox 99"/>
          <p:cNvSpPr txBox="1"/>
          <p:nvPr/>
        </p:nvSpPr>
        <p:spPr>
          <a:xfrm>
            <a:off x="1124993" y="3770253"/>
            <a:ext cx="600417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What we learned from the category</a:t>
            </a:r>
          </a:p>
        </p:txBody>
      </p:sp>
      <p:sp>
        <p:nvSpPr>
          <p:cNvPr id="101" name="TextBox 100"/>
          <p:cNvSpPr txBox="1"/>
          <p:nvPr/>
        </p:nvSpPr>
        <p:spPr>
          <a:xfrm>
            <a:off x="503046" y="4682541"/>
            <a:ext cx="402437"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a:ea typeface="+mn-ea"/>
                <a:cs typeface="+mn-cs"/>
              </a:rPr>
              <a:t>5</a:t>
            </a:r>
          </a:p>
        </p:txBody>
      </p:sp>
      <p:sp>
        <p:nvSpPr>
          <p:cNvPr id="102" name="TextBox 101"/>
          <p:cNvSpPr txBox="1"/>
          <p:nvPr/>
        </p:nvSpPr>
        <p:spPr>
          <a:xfrm>
            <a:off x="1124993" y="4483485"/>
            <a:ext cx="3732055"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Where loyalty is going</a:t>
            </a:r>
          </a:p>
        </p:txBody>
      </p:sp>
      <p:sp>
        <p:nvSpPr>
          <p:cNvPr id="103" name="TextBox 102"/>
          <p:cNvSpPr txBox="1"/>
          <p:nvPr/>
        </p:nvSpPr>
        <p:spPr>
          <a:xfrm>
            <a:off x="503046" y="5395773"/>
            <a:ext cx="402437"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a:ea typeface="+mn-ea"/>
                <a:cs typeface="+mn-cs"/>
              </a:rPr>
              <a:t>6</a:t>
            </a:r>
          </a:p>
        </p:txBody>
      </p:sp>
      <p:sp>
        <p:nvSpPr>
          <p:cNvPr id="104" name="TextBox 103"/>
          <p:cNvSpPr txBox="1"/>
          <p:nvPr/>
        </p:nvSpPr>
        <p:spPr>
          <a:xfrm>
            <a:off x="1124992" y="5196717"/>
            <a:ext cx="663652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Initial ecosystem recommendation</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prstClr val="black">
                    <a:tint val="75000"/>
                  </a:prstClr>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950" b="0" i="0" u="none" strike="noStrike" kern="1200" cap="none" spc="0" normalizeH="0" baseline="0" noProof="0">
              <a:ln>
                <a:noFill/>
              </a:ln>
              <a:solidFill>
                <a:prstClr val="black">
                  <a:tint val="75000"/>
                </a:prstClr>
              </a:solidFill>
              <a:effectLst/>
              <a:uLnTx/>
              <a:uFillTx/>
              <a:latin typeface="Fira Mono"/>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181508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THE CUSTOMER TO WIN</a:t>
            </a:r>
          </a:p>
        </p:txBody>
      </p:sp>
      <p:sp>
        <p:nvSpPr>
          <p:cNvPr id="92" name="TextBox 91"/>
          <p:cNvSpPr txBox="1"/>
          <p:nvPr/>
        </p:nvSpPr>
        <p:spPr>
          <a:xfrm>
            <a:off x="503046" y="743648"/>
            <a:ext cx="11745204"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Both</a:t>
            </a:r>
            <a:r>
              <a:rPr kumimoji="0" sz="2900" b="0" i="0" u="none" strike="noStrike" kern="1200" cap="none" spc="-14" normalizeH="0" baseline="0" noProof="0">
                <a:ln>
                  <a:noFill/>
                </a:ln>
                <a:solidFill>
                  <a:srgbClr val="232422"/>
                </a:solidFill>
                <a:effectLst/>
                <a:uLnTx/>
                <a:uFillTx/>
                <a:latin typeface="Fira Sans"/>
                <a:ea typeface="+mn-ea"/>
                <a:cs typeface="+mn-cs"/>
              </a:rPr>
              <a:t> Wealth Builder </a:t>
            </a:r>
            <a:r>
              <a:rPr kumimoji="0" lang="en-US" sz="2900" b="0" i="0" u="none" strike="noStrike" kern="1200" cap="none" spc="-14" normalizeH="0" baseline="0" noProof="0">
                <a:ln>
                  <a:noFill/>
                </a:ln>
                <a:solidFill>
                  <a:srgbClr val="232422"/>
                </a:solidFill>
                <a:effectLst/>
                <a:uLnTx/>
                <a:uFillTx/>
                <a:latin typeface="Fira Sans"/>
                <a:ea typeface="+mn-ea"/>
                <a:cs typeface="+mn-cs"/>
              </a:rPr>
              <a:t>segments already hold</a:t>
            </a:r>
            <a:endParaRPr kumimoji="0" sz="2900" b="0" i="0" u="none" strike="noStrike" kern="1200" cap="none" spc="-14" normalizeH="0" baseline="0" noProof="0">
              <a:ln>
                <a:noFill/>
              </a:ln>
              <a:solidFill>
                <a:srgbClr val="232422"/>
              </a:solidFill>
              <a:effectLst/>
              <a:uLnTx/>
              <a:uFillTx/>
              <a:latin typeface="Fira Sans"/>
              <a:ea typeface="+mn-ea"/>
              <a:cs typeface="+mn-cs"/>
            </a:endParaRP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real assets and use several financial providers</a:t>
            </a:r>
          </a:p>
        </p:txBody>
      </p:sp>
      <p:sp>
        <p:nvSpPr>
          <p:cNvPr id="93" name="Rounded Rectangle 92"/>
          <p:cNvSpPr/>
          <p:nvPr/>
        </p:nvSpPr>
        <p:spPr>
          <a:xfrm>
            <a:off x="503046" y="2651760"/>
            <a:ext cx="2673002" cy="2880822"/>
          </a:xfrm>
          <a:prstGeom prst="roundRect">
            <a:avLst>
              <a:gd name="adj" fmla="val 730"/>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TextBox 93"/>
          <p:cNvSpPr txBox="1"/>
          <p:nvPr/>
        </p:nvSpPr>
        <p:spPr>
          <a:xfrm>
            <a:off x="749995" y="2930996"/>
            <a:ext cx="2288058" cy="786384"/>
          </a:xfrm>
          <a:prstGeom prst="rect">
            <a:avLst/>
          </a:prstGeom>
          <a:noFill/>
        </p:spPr>
        <p:txBody>
          <a:bodyPr wrap="square" lIns="0" tIns="0" rIns="0" bIns="0" anchor="t">
            <a:noAutofit/>
          </a:bodyPr>
          <a:lstStyle/>
          <a:p>
            <a:pPr marL="0" marR="0" lvl="0" indent="0" algn="l" defTabSz="457200" rtl="0" eaLnBrk="1" fontAlgn="auto" latinLnBrk="0" hangingPunct="1">
              <a:lnSpc>
                <a:spcPts val="6048"/>
              </a:lnSpc>
              <a:spcBef>
                <a:spcPts val="0"/>
              </a:spcBef>
              <a:spcAft>
                <a:spcPts val="0"/>
              </a:spcAft>
              <a:buClrTx/>
              <a:buSzTx/>
              <a:buFontTx/>
              <a:buNone/>
              <a:tabLst/>
              <a:defRPr/>
            </a:pPr>
            <a:r>
              <a:rPr kumimoji="0" lang="en-US" sz="4800" b="0" i="0" u="none" strike="noStrike" kern="1200" cap="none" spc="-60" normalizeH="0" baseline="0" noProof="0">
                <a:ln>
                  <a:noFill/>
                </a:ln>
                <a:solidFill>
                  <a:srgbClr val="007651"/>
                </a:solidFill>
                <a:effectLst/>
                <a:uLnTx/>
                <a:uFillTx/>
                <a:latin typeface="Fira Sans Light"/>
                <a:ea typeface="+mn-ea"/>
                <a:cs typeface="+mn-cs"/>
              </a:rPr>
              <a:t>79/88</a:t>
            </a:r>
            <a:r>
              <a:rPr kumimoji="0" sz="4800" b="0" i="0" u="none" strike="noStrike" kern="1200" cap="none" spc="-60" normalizeH="0" baseline="0" noProof="0">
                <a:ln>
                  <a:noFill/>
                </a:ln>
                <a:solidFill>
                  <a:srgbClr val="007651"/>
                </a:solidFill>
                <a:effectLst/>
                <a:uLnTx/>
                <a:uFillTx/>
                <a:latin typeface="Fira Sans Light"/>
                <a:ea typeface="+mn-ea"/>
                <a:cs typeface="+mn-cs"/>
              </a:rPr>
              <a:t>%</a:t>
            </a:r>
          </a:p>
        </p:txBody>
      </p:sp>
      <p:sp>
        <p:nvSpPr>
          <p:cNvPr id="95" name="TextBox 94"/>
          <p:cNvSpPr txBox="1"/>
          <p:nvPr/>
        </p:nvSpPr>
        <p:spPr>
          <a:xfrm>
            <a:off x="749995" y="3732190"/>
            <a:ext cx="2288058" cy="43891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hold $100K+ in assets</a:t>
            </a:r>
            <a:r>
              <a:rPr kumimoji="0" lang="en-US" sz="1350" b="0" i="0" u="none" strike="noStrike" kern="1200" cap="none" spc="0" normalizeH="0" baseline="0" noProof="0">
                <a:ln>
                  <a:noFill/>
                </a:ln>
                <a:solidFill>
                  <a:srgbClr val="232422"/>
                </a:solidFill>
                <a:effectLst/>
                <a:uLnTx/>
                <a:uFillTx/>
                <a:latin typeface="Fira Sans Medium"/>
                <a:ea typeface="+mn-ea"/>
                <a:cs typeface="+mn-cs"/>
              </a:rPr>
              <a:t> (IWB/PWB)</a:t>
            </a:r>
            <a:endParaRPr kumimoji="0" sz="1350" b="0" i="0" u="none" strike="noStrike" kern="1200" cap="none" spc="0" normalizeH="0" baseline="0" noProof="0">
              <a:ln>
                <a:noFill/>
              </a:ln>
              <a:solidFill>
                <a:srgbClr val="232422"/>
              </a:solidFill>
              <a:effectLst/>
              <a:uLnTx/>
              <a:uFillTx/>
              <a:latin typeface="Fira Sans Medium"/>
              <a:ea typeface="+mn-ea"/>
              <a:cs typeface="+mn-cs"/>
            </a:endParaRPr>
          </a:p>
        </p:txBody>
      </p:sp>
      <p:sp>
        <p:nvSpPr>
          <p:cNvPr id="96" name="TextBox 95"/>
          <p:cNvSpPr txBox="1"/>
          <p:nvPr/>
        </p:nvSpPr>
        <p:spPr>
          <a:xfrm>
            <a:off x="749995" y="4377515"/>
            <a:ext cx="2288058"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44%</a:t>
            </a:r>
            <a:r>
              <a:rPr kumimoji="0" lang="en-US" sz="1200" b="0" i="0" u="none" strike="noStrike" kern="1200" cap="none" spc="0" normalizeH="0" baseline="0" noProof="0">
                <a:ln>
                  <a:noFill/>
                </a:ln>
                <a:solidFill>
                  <a:srgbClr val="575757"/>
                </a:solidFill>
                <a:effectLst/>
                <a:uLnTx/>
                <a:uFillTx/>
                <a:latin typeface="Fira Sans"/>
                <a:ea typeface="+mn-ea"/>
                <a:cs typeface="+mn-cs"/>
              </a:rPr>
              <a:t>/56%</a:t>
            </a:r>
            <a:r>
              <a:rPr kumimoji="0" sz="1200" b="0" i="0" u="none" strike="noStrike" kern="1200" cap="none" spc="0" normalizeH="0" baseline="0" noProof="0">
                <a:ln>
                  <a:noFill/>
                </a:ln>
                <a:solidFill>
                  <a:srgbClr val="575757"/>
                </a:solidFill>
                <a:effectLst/>
                <a:uLnTx/>
                <a:uFillTx/>
                <a:latin typeface="Fira Sans"/>
                <a:ea typeface="+mn-ea"/>
                <a:cs typeface="+mn-cs"/>
              </a:rPr>
              <a:t> hold $500K or more</a:t>
            </a:r>
            <a:r>
              <a:rPr kumimoji="0" lang="en-US" sz="1200" b="0" i="0" u="none" strike="noStrike" kern="1200" cap="none" spc="0" normalizeH="0" baseline="0" noProof="0">
                <a:ln>
                  <a:noFill/>
                </a:ln>
                <a:solidFill>
                  <a:srgbClr val="575757"/>
                </a:solidFill>
                <a:effectLst/>
                <a:uLnTx/>
                <a:uFillTx/>
                <a:latin typeface="Fira Sans"/>
                <a:ea typeface="+mn-ea"/>
                <a:cs typeface="+mn-cs"/>
              </a:rPr>
              <a:t>.</a:t>
            </a:r>
            <a:endParaRPr kumimoji="0" sz="1200" b="0" i="0" u="none" strike="noStrike" kern="1200" cap="none" spc="0" normalizeH="0" baseline="0" noProof="0">
              <a:ln>
                <a:noFill/>
              </a:ln>
              <a:solidFill>
                <a:srgbClr val="575757"/>
              </a:solidFill>
              <a:effectLst/>
              <a:uLnTx/>
              <a:uFillTx/>
              <a:latin typeface="Fira Sans"/>
              <a:ea typeface="+mn-ea"/>
              <a:cs typeface="+mn-cs"/>
            </a:endParaRPr>
          </a:p>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Financial</a:t>
            </a:r>
            <a:r>
              <a:rPr kumimoji="0" sz="1200" b="0" i="0" u="none" strike="noStrike" kern="1200" cap="none" spc="0" normalizeH="0" baseline="0" noProof="0">
                <a:ln>
                  <a:noFill/>
                </a:ln>
                <a:solidFill>
                  <a:srgbClr val="575757"/>
                </a:solidFill>
                <a:effectLst/>
                <a:uLnTx/>
                <a:uFillTx/>
                <a:latin typeface="Fira Sans"/>
                <a:ea typeface="+mn-ea"/>
                <a:cs typeface="+mn-cs"/>
              </a:rPr>
              <a:t> comfort is part of</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the definition.</a:t>
            </a:r>
          </a:p>
        </p:txBody>
      </p:sp>
      <p:sp>
        <p:nvSpPr>
          <p:cNvPr id="97" name="Rounded Rectangle 96"/>
          <p:cNvSpPr/>
          <p:nvPr/>
        </p:nvSpPr>
        <p:spPr>
          <a:xfrm>
            <a:off x="3340681" y="2651760"/>
            <a:ext cx="2673002" cy="2880822"/>
          </a:xfrm>
          <a:prstGeom prst="roundRect">
            <a:avLst>
              <a:gd name="adj" fmla="val 730"/>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p:cNvSpPr txBox="1"/>
          <p:nvPr/>
        </p:nvSpPr>
        <p:spPr>
          <a:xfrm>
            <a:off x="3587631" y="2930996"/>
            <a:ext cx="2288058" cy="786384"/>
          </a:xfrm>
          <a:prstGeom prst="rect">
            <a:avLst/>
          </a:prstGeom>
          <a:noFill/>
        </p:spPr>
        <p:txBody>
          <a:bodyPr wrap="square" lIns="0" tIns="0" rIns="0" bIns="0" anchor="t">
            <a:noAutofit/>
          </a:bodyPr>
          <a:lstStyle/>
          <a:p>
            <a:pPr marL="0" marR="0" lvl="0" indent="0" algn="l" defTabSz="457200" rtl="0" eaLnBrk="1" fontAlgn="auto" latinLnBrk="0" hangingPunct="1">
              <a:lnSpc>
                <a:spcPts val="6048"/>
              </a:lnSpc>
              <a:spcBef>
                <a:spcPts val="0"/>
              </a:spcBef>
              <a:spcAft>
                <a:spcPts val="0"/>
              </a:spcAft>
              <a:buClrTx/>
              <a:buSzTx/>
              <a:buFontTx/>
              <a:buNone/>
              <a:tabLst/>
              <a:defRPr/>
            </a:pPr>
            <a:r>
              <a:rPr kumimoji="0" lang="en-US" sz="4800" b="0" i="0" u="none" strike="noStrike" kern="1200" cap="none" spc="-60" normalizeH="0" baseline="0" noProof="0">
                <a:ln>
                  <a:noFill/>
                </a:ln>
                <a:solidFill>
                  <a:srgbClr val="007651"/>
                </a:solidFill>
                <a:effectLst/>
                <a:uLnTx/>
                <a:uFillTx/>
                <a:latin typeface="Fira Sans Light"/>
                <a:ea typeface="+mn-ea"/>
                <a:cs typeface="+mn-cs"/>
              </a:rPr>
              <a:t>76%</a:t>
            </a:r>
            <a:endParaRPr kumimoji="0" sz="4800" b="0" i="0" u="none" strike="noStrike" kern="1200" cap="none" spc="-60" normalizeH="0" baseline="0" noProof="0">
              <a:ln>
                <a:noFill/>
              </a:ln>
              <a:solidFill>
                <a:srgbClr val="007651"/>
              </a:solidFill>
              <a:effectLst/>
              <a:uLnTx/>
              <a:uFillTx/>
              <a:latin typeface="Fira Sans Light"/>
              <a:ea typeface="+mn-ea"/>
              <a:cs typeface="+mn-cs"/>
            </a:endParaRPr>
          </a:p>
        </p:txBody>
      </p:sp>
      <p:sp>
        <p:nvSpPr>
          <p:cNvPr id="99" name="TextBox 98"/>
          <p:cNvSpPr txBox="1"/>
          <p:nvPr/>
        </p:nvSpPr>
        <p:spPr>
          <a:xfrm>
            <a:off x="3587631" y="3732190"/>
            <a:ext cx="2288058" cy="438912"/>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Medium"/>
                <a:ea typeface="+mn-ea"/>
                <a:cs typeface="+mn-cs"/>
              </a:rPr>
              <a:t>use at least 5 financial</a:t>
            </a:r>
            <a:br>
              <a:rPr kumimoji="0" lang="en-US" sz="1350" b="0" i="0" u="none" strike="noStrike" kern="1200" cap="none" spc="0" normalizeH="0" baseline="0" noProof="0">
                <a:ln>
                  <a:noFill/>
                </a:ln>
                <a:solidFill>
                  <a:srgbClr val="232422"/>
                </a:solidFill>
                <a:effectLst/>
                <a:uLnTx/>
                <a:uFillTx/>
                <a:latin typeface="Fira Sans Medium"/>
                <a:ea typeface="+mn-ea"/>
                <a:cs typeface="+mn-cs"/>
              </a:rPr>
            </a:br>
            <a:r>
              <a:rPr kumimoji="0" lang="en-US" sz="1350" b="0" i="0" u="none" strike="noStrike" kern="1200" cap="none" spc="0" normalizeH="0" baseline="0" noProof="0">
                <a:ln>
                  <a:noFill/>
                </a:ln>
                <a:solidFill>
                  <a:srgbClr val="232422"/>
                </a:solidFill>
                <a:effectLst/>
                <a:uLnTx/>
                <a:uFillTx/>
                <a:latin typeface="Fira Sans Medium"/>
                <a:ea typeface="+mn-ea"/>
                <a:cs typeface="+mn-cs"/>
              </a:rPr>
              <a:t>products (IWB)</a:t>
            </a:r>
          </a:p>
        </p:txBody>
      </p:sp>
      <p:sp>
        <p:nvSpPr>
          <p:cNvPr id="100" name="TextBox 99"/>
          <p:cNvSpPr txBox="1"/>
          <p:nvPr/>
        </p:nvSpPr>
        <p:spPr>
          <a:xfrm>
            <a:off x="3587631" y="4377515"/>
            <a:ext cx="1797169"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55% use 7 or more. </a:t>
            </a:r>
            <a:br>
              <a:rPr kumimoji="0" lang="en-US" sz="1200" b="0" i="0" u="none" strike="noStrike" kern="1200" cap="none" spc="0" normalizeH="0" baseline="0" noProof="0">
                <a:ln>
                  <a:noFill/>
                </a:ln>
                <a:solidFill>
                  <a:srgbClr val="575757"/>
                </a:solidFill>
                <a:effectLst/>
                <a:uLnTx/>
                <a:uFillTx/>
                <a:latin typeface="Fira Sans"/>
                <a:ea typeface="+mn-ea"/>
                <a:cs typeface="+mn-cs"/>
              </a:rPr>
            </a:br>
            <a:r>
              <a:rPr kumimoji="0" lang="en-US" sz="1200" b="0" i="0" u="none" strike="noStrike" kern="1200" cap="none" spc="0" normalizeH="0" baseline="0" noProof="0">
                <a:ln>
                  <a:noFill/>
                </a:ln>
                <a:solidFill>
                  <a:srgbClr val="575757"/>
                </a:solidFill>
                <a:effectLst/>
                <a:uLnTx/>
                <a:uFillTx/>
                <a:latin typeface="Fira Sans"/>
                <a:ea typeface="+mn-ea"/>
                <a:cs typeface="+mn-cs"/>
              </a:rPr>
              <a:t>Diversifying how they bank is key.</a:t>
            </a:r>
            <a:endParaRPr kumimoji="0" sz="1200" b="0" i="0" u="none" strike="noStrike" kern="1200" cap="none" spc="0" normalizeH="0" baseline="0" noProof="0">
              <a:ln>
                <a:noFill/>
              </a:ln>
              <a:solidFill>
                <a:srgbClr val="575757"/>
              </a:solidFill>
              <a:effectLst/>
              <a:uLnTx/>
              <a:uFillTx/>
              <a:latin typeface="Fira Sans"/>
              <a:ea typeface="+mn-ea"/>
              <a:cs typeface="+mn-cs"/>
            </a:endParaRPr>
          </a:p>
        </p:txBody>
      </p:sp>
      <p:sp>
        <p:nvSpPr>
          <p:cNvPr id="101" name="Rounded Rectangle 100"/>
          <p:cNvSpPr/>
          <p:nvPr/>
        </p:nvSpPr>
        <p:spPr>
          <a:xfrm>
            <a:off x="6178317" y="2651760"/>
            <a:ext cx="2673002" cy="2880822"/>
          </a:xfrm>
          <a:prstGeom prst="roundRect">
            <a:avLst>
              <a:gd name="adj" fmla="val 730"/>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TextBox 101"/>
          <p:cNvSpPr txBox="1"/>
          <p:nvPr/>
        </p:nvSpPr>
        <p:spPr>
          <a:xfrm>
            <a:off x="6425266" y="2930996"/>
            <a:ext cx="2288058" cy="786384"/>
          </a:xfrm>
          <a:prstGeom prst="rect">
            <a:avLst/>
          </a:prstGeom>
          <a:noFill/>
        </p:spPr>
        <p:txBody>
          <a:bodyPr wrap="square" lIns="0" tIns="0" rIns="0" bIns="0" anchor="t">
            <a:noAutofit/>
          </a:bodyPr>
          <a:lstStyle/>
          <a:p>
            <a:pPr marL="0" marR="0" lvl="0" indent="0" algn="l" defTabSz="457200" rtl="0" eaLnBrk="1" fontAlgn="auto" latinLnBrk="0" hangingPunct="1">
              <a:lnSpc>
                <a:spcPts val="6048"/>
              </a:lnSpc>
              <a:spcBef>
                <a:spcPts val="0"/>
              </a:spcBef>
              <a:spcAft>
                <a:spcPts val="0"/>
              </a:spcAft>
              <a:buClrTx/>
              <a:buSzTx/>
              <a:buFontTx/>
              <a:buNone/>
              <a:tabLst/>
              <a:defRPr/>
            </a:pPr>
            <a:r>
              <a:rPr kumimoji="0" lang="en-US" sz="4800" b="0" i="0" u="none" strike="noStrike" kern="1200" cap="none" spc="-60" normalizeH="0" baseline="0" noProof="0">
                <a:ln>
                  <a:noFill/>
                </a:ln>
                <a:solidFill>
                  <a:srgbClr val="007651"/>
                </a:solidFill>
                <a:effectLst/>
                <a:uLnTx/>
                <a:uFillTx/>
                <a:latin typeface="Fira Sans Light"/>
                <a:ea typeface="+mn-ea"/>
                <a:cs typeface="+mn-cs"/>
              </a:rPr>
              <a:t>5.6/6.0</a:t>
            </a:r>
          </a:p>
        </p:txBody>
      </p:sp>
      <p:sp>
        <p:nvSpPr>
          <p:cNvPr id="103" name="TextBox 102"/>
          <p:cNvSpPr txBox="1"/>
          <p:nvPr/>
        </p:nvSpPr>
        <p:spPr>
          <a:xfrm>
            <a:off x="6425266" y="3753254"/>
            <a:ext cx="2288058" cy="43891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Medium"/>
                <a:ea typeface="+mn-ea"/>
                <a:cs typeface="+mn-cs"/>
              </a:rPr>
              <a:t>products held on average</a:t>
            </a:r>
            <a:br>
              <a:rPr kumimoji="0" lang="en-US" sz="1350" b="0" i="0" u="none" strike="noStrike" kern="1200" cap="none" spc="0" normalizeH="0" baseline="0" noProof="0">
                <a:ln>
                  <a:noFill/>
                </a:ln>
                <a:solidFill>
                  <a:srgbClr val="232422"/>
                </a:solidFill>
                <a:effectLst/>
                <a:uLnTx/>
                <a:uFillTx/>
                <a:latin typeface="Fira Sans Medium"/>
                <a:ea typeface="+mn-ea"/>
                <a:cs typeface="+mn-cs"/>
              </a:rPr>
            </a:br>
            <a:r>
              <a:rPr kumimoji="0" lang="en-US" sz="1350" b="0" i="0" u="none" strike="noStrike" kern="1200" cap="none" spc="0" normalizeH="0" baseline="0" noProof="0">
                <a:ln>
                  <a:noFill/>
                </a:ln>
                <a:solidFill>
                  <a:srgbClr val="232422"/>
                </a:solidFill>
                <a:effectLst/>
                <a:uLnTx/>
                <a:uFillTx/>
                <a:latin typeface="Fira Sans Medium"/>
                <a:ea typeface="+mn-ea"/>
                <a:cs typeface="+mn-cs"/>
              </a:rPr>
              <a:t>(IWB/PWB)</a:t>
            </a:r>
          </a:p>
        </p:txBody>
      </p:sp>
      <p:sp>
        <p:nvSpPr>
          <p:cNvPr id="104" name="TextBox 103"/>
          <p:cNvSpPr txBox="1"/>
          <p:nvPr/>
        </p:nvSpPr>
        <p:spPr>
          <a:xfrm>
            <a:off x="6425266" y="4377515"/>
            <a:ext cx="2288058"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Only 3.7 (IWB) sit with their primary bank. Multi-provider </a:t>
            </a:r>
            <a:br>
              <a:rPr kumimoji="0" lang="en-US" sz="1200" b="0" i="0" u="none" strike="noStrike" kern="1200" cap="none" spc="0" normalizeH="0" baseline="0" noProof="0">
                <a:ln>
                  <a:noFill/>
                </a:ln>
                <a:solidFill>
                  <a:srgbClr val="575757"/>
                </a:solidFill>
                <a:effectLst/>
                <a:uLnTx/>
                <a:uFillTx/>
                <a:latin typeface="Fira Sans"/>
                <a:ea typeface="+mn-ea"/>
                <a:cs typeface="+mn-cs"/>
              </a:rPr>
            </a:br>
            <a:r>
              <a:rPr kumimoji="0" lang="en-US" sz="1200" b="0" i="0" u="none" strike="noStrike" kern="1200" cap="none" spc="0" normalizeH="0" baseline="0" noProof="0">
                <a:ln>
                  <a:noFill/>
                </a:ln>
                <a:solidFill>
                  <a:srgbClr val="575757"/>
                </a:solidFill>
                <a:effectLst/>
                <a:uLnTx/>
                <a:uFillTx/>
                <a:latin typeface="Fira Sans"/>
                <a:ea typeface="+mn-ea"/>
                <a:cs typeface="+mn-cs"/>
              </a:rPr>
              <a:t>is the norm.</a:t>
            </a:r>
          </a:p>
        </p:txBody>
      </p:sp>
      <p:sp>
        <p:nvSpPr>
          <p:cNvPr id="105" name="Rounded Rectangle 104"/>
          <p:cNvSpPr/>
          <p:nvPr/>
        </p:nvSpPr>
        <p:spPr>
          <a:xfrm>
            <a:off x="9015952" y="2651760"/>
            <a:ext cx="2673002" cy="2880822"/>
          </a:xfrm>
          <a:prstGeom prst="roundRect">
            <a:avLst>
              <a:gd name="adj" fmla="val 730"/>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6" name="TextBox 105"/>
          <p:cNvSpPr txBox="1"/>
          <p:nvPr/>
        </p:nvSpPr>
        <p:spPr>
          <a:xfrm>
            <a:off x="9262902" y="2930996"/>
            <a:ext cx="2288058" cy="786384"/>
          </a:xfrm>
          <a:prstGeom prst="rect">
            <a:avLst/>
          </a:prstGeom>
          <a:noFill/>
        </p:spPr>
        <p:txBody>
          <a:bodyPr wrap="square" lIns="0" tIns="0" rIns="0" bIns="0" anchor="t">
            <a:noAutofit/>
          </a:bodyPr>
          <a:lstStyle/>
          <a:p>
            <a:pPr marL="0" marR="0" lvl="0" indent="0" algn="l" defTabSz="457200" rtl="0" eaLnBrk="1" fontAlgn="auto" latinLnBrk="0" hangingPunct="1">
              <a:lnSpc>
                <a:spcPts val="6048"/>
              </a:lnSpc>
              <a:spcBef>
                <a:spcPts val="0"/>
              </a:spcBef>
              <a:spcAft>
                <a:spcPts val="0"/>
              </a:spcAft>
              <a:buClrTx/>
              <a:buSzTx/>
              <a:buFontTx/>
              <a:buNone/>
              <a:tabLst/>
              <a:defRPr/>
            </a:pPr>
            <a:r>
              <a:rPr kumimoji="0" sz="4800" b="0" i="0" u="none" strike="noStrike" kern="1200" cap="none" spc="-60" normalizeH="0" baseline="0" noProof="0">
                <a:ln>
                  <a:noFill/>
                </a:ln>
                <a:solidFill>
                  <a:srgbClr val="007651"/>
                </a:solidFill>
                <a:effectLst/>
                <a:uLnTx/>
                <a:uFillTx/>
                <a:latin typeface="Fira Sans Light"/>
                <a:ea typeface="+mn-ea"/>
                <a:cs typeface="+mn-cs"/>
              </a:rPr>
              <a:t>1st</a:t>
            </a:r>
          </a:p>
        </p:txBody>
      </p:sp>
      <p:sp>
        <p:nvSpPr>
          <p:cNvPr id="107" name="TextBox 106"/>
          <p:cNvSpPr txBox="1"/>
          <p:nvPr/>
        </p:nvSpPr>
        <p:spPr>
          <a:xfrm>
            <a:off x="9262902" y="3753254"/>
            <a:ext cx="2288058" cy="438912"/>
          </a:xfrm>
          <a:prstGeom prst="rect">
            <a:avLst/>
          </a:prstGeom>
          <a:noFill/>
        </p:spPr>
        <p:txBody>
          <a:bodyPr wrap="square" lIns="0" tIns="0" rIns="0" bIns="0" anchor="t">
            <a:noAutofit/>
          </a:bodyPr>
          <a:lstStyle/>
          <a:p>
            <a:pPr marL="0" marR="0" lvl="0" indent="0" algn="l" defTabSz="457200" rtl="0" eaLnBrk="1" fontAlgn="auto" latinLnBrk="0" hangingPunct="1">
              <a:lnSpc>
                <a:spcPts val="165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advice preference:</a:t>
            </a:r>
          </a:p>
          <a:p>
            <a:pPr marL="0" marR="0" lvl="0" indent="0" algn="l" defTabSz="457200" rtl="0" eaLnBrk="1" fontAlgn="auto" latinLnBrk="0" hangingPunct="1">
              <a:lnSpc>
                <a:spcPts val="165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an advisor</a:t>
            </a:r>
          </a:p>
        </p:txBody>
      </p:sp>
      <p:sp>
        <p:nvSpPr>
          <p:cNvPr id="108" name="TextBox 107"/>
          <p:cNvSpPr txBox="1"/>
          <p:nvPr/>
        </p:nvSpPr>
        <p:spPr>
          <a:xfrm>
            <a:off x="9262902" y="4377515"/>
            <a:ext cx="2288058"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The top-ranked advice</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channel</a:t>
            </a:r>
            <a:r>
              <a:rPr kumimoji="0" lang="en-US" sz="1200" b="0" i="0" u="none" strike="noStrike" kern="1200" cap="none" spc="0" normalizeH="0" baseline="0" noProof="0">
                <a:ln>
                  <a:noFill/>
                </a:ln>
                <a:solidFill>
                  <a:srgbClr val="575757"/>
                </a:solidFill>
                <a:effectLst/>
                <a:uLnTx/>
                <a:uFillTx/>
                <a:latin typeface="Fira Sans"/>
                <a:ea typeface="+mn-ea"/>
                <a:cs typeface="+mn-cs"/>
              </a:rPr>
              <a:t>. IWB is guidance-ambivalent. PWB is guidance-inclined.</a:t>
            </a:r>
            <a:endParaRPr kumimoji="0" sz="1200" b="0" i="0" u="none" strike="noStrike" kern="1200" cap="none" spc="0" normalizeH="0" baseline="0" noProof="0">
              <a:ln>
                <a:noFill/>
              </a:ln>
              <a:solidFill>
                <a:srgbClr val="575757"/>
              </a:solidFill>
              <a:effectLst/>
              <a:uLnTx/>
              <a:uFillTx/>
              <a:latin typeface="Fira Sans"/>
              <a:ea typeface="+mn-ea"/>
              <a:cs typeface="+mn-cs"/>
            </a:endParaRPr>
          </a:p>
        </p:txBody>
      </p:sp>
      <p:cxnSp>
        <p:nvCxnSpPr>
          <p:cNvPr id="109" name="Connector 108"/>
          <p:cNvCxnSpPr/>
          <p:nvPr/>
        </p:nvCxnSpPr>
        <p:spPr>
          <a:xfrm>
            <a:off x="503046" y="6414516"/>
            <a:ext cx="11185908" cy="0"/>
          </a:xfrm>
          <a:prstGeom prst="line">
            <a:avLst/>
          </a:prstGeom>
          <a:ln w="9144">
            <a:solidFill>
              <a:srgbClr val="DDDBCE"/>
            </a:solidFill>
          </a:ln>
          <a:effectLst/>
        </p:spPr>
      </p:cxnSp>
      <p:sp>
        <p:nvSpPr>
          <p:cNvPr id="110" name="TextBox 109"/>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BCG Wealth Builders segment study, Dec 2025.</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Rectangle 1">
            <a:extLst>
              <a:ext uri="{FF2B5EF4-FFF2-40B4-BE49-F238E27FC236}">
                <a16:creationId xmlns:a16="http://schemas.microsoft.com/office/drawing/2014/main" id="{558561B1-F6C6-2402-44E4-5D481AF42C72}"/>
              </a:ext>
            </a:extLst>
          </p:cNvPr>
          <p:cNvSpPr/>
          <p:nvPr/>
        </p:nvSpPr>
        <p:spPr>
          <a:xfrm>
            <a:off x="3223949" y="7214104"/>
            <a:ext cx="2837636" cy="108754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7651"/>
                </a:solidFill>
                <a:effectLst/>
                <a:uLnTx/>
                <a:uFillTx/>
                <a:latin typeface="Calibri"/>
                <a:ea typeface="+mn-ea"/>
                <a:cs typeface="+mn-cs"/>
              </a:rPr>
              <a:t>Alt: 13% assets in motion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7651"/>
                </a:solidFill>
                <a:effectLst/>
                <a:uLnTx/>
                <a:uFillTx/>
                <a:latin typeface="Calibri"/>
                <a:ea typeface="+mn-ea"/>
                <a:cs typeface="+mn-cs"/>
              </a:rPr>
              <a:t>indicating higher mobility with their money compared to the average consumer. </a:t>
            </a:r>
          </a:p>
        </p:txBody>
      </p:sp>
    </p:spTree>
    <p:extLst>
      <p:ext uri="{BB962C8B-B14F-4D97-AF65-F5344CB8AC3E}">
        <p14:creationId xmlns:p14="http://schemas.microsoft.com/office/powerpoint/2010/main" val="3256823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181508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THE CUSTOMER TO WIN</a:t>
            </a:r>
          </a:p>
        </p:txBody>
      </p:sp>
      <p:sp>
        <p:nvSpPr>
          <p:cNvPr id="92" name="TextBox 91"/>
          <p:cNvSpPr txBox="1"/>
          <p:nvPr/>
        </p:nvSpPr>
        <p:spPr>
          <a:xfrm>
            <a:off x="503046" y="743648"/>
            <a:ext cx="10617536"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But </a:t>
            </a:r>
            <a:r>
              <a:rPr kumimoji="0" sz="2900" b="0" i="0" u="none" strike="noStrike" kern="1200" cap="none" spc="-14" normalizeH="0" baseline="0" noProof="0">
                <a:ln>
                  <a:noFill/>
                </a:ln>
                <a:solidFill>
                  <a:srgbClr val="232422"/>
                </a:solidFill>
                <a:effectLst/>
                <a:uLnTx/>
                <a:uFillTx/>
                <a:latin typeface="Fira Sans"/>
                <a:ea typeface="+mn-ea"/>
                <a:cs typeface="+mn-cs"/>
              </a:rPr>
              <a:t>Citizens </a:t>
            </a:r>
            <a:r>
              <a:rPr kumimoji="0" lang="en-US" sz="2900" b="0" i="0" u="none" strike="noStrike" kern="1200" cap="none" spc="-14" normalizeH="0" baseline="0" noProof="0">
                <a:ln>
                  <a:noFill/>
                </a:ln>
                <a:solidFill>
                  <a:srgbClr val="232422"/>
                </a:solidFill>
                <a:effectLst/>
                <a:uLnTx/>
                <a:uFillTx/>
                <a:latin typeface="Fira Sans"/>
                <a:ea typeface="+mn-ea"/>
                <a:cs typeface="+mn-cs"/>
              </a:rPr>
              <a:t>holds only 3% of </a:t>
            </a:r>
            <a:r>
              <a:rPr kumimoji="0" sz="2900" b="0" i="0" u="none" strike="noStrike" kern="1200" cap="none" spc="-14" normalizeH="0" baseline="0" noProof="0">
                <a:ln>
                  <a:noFill/>
                </a:ln>
                <a:solidFill>
                  <a:srgbClr val="232422"/>
                </a:solidFill>
                <a:effectLst/>
                <a:uLnTx/>
                <a:uFillTx/>
                <a:latin typeface="Fira Sans"/>
                <a:ea typeface="+mn-ea"/>
                <a:cs typeface="+mn-cs"/>
              </a:rPr>
              <a:t>primary checking </a:t>
            </a:r>
            <a:r>
              <a:rPr kumimoji="0" lang="en-US" sz="2900" b="0" i="0" u="none" strike="noStrike" kern="1200" cap="none" spc="-14" normalizeH="0" baseline="0" noProof="0">
                <a:ln>
                  <a:noFill/>
                </a:ln>
                <a:solidFill>
                  <a:srgbClr val="232422"/>
                </a:solidFill>
                <a:effectLst/>
                <a:uLnTx/>
                <a:uFillTx/>
                <a:latin typeface="Fira Sans"/>
                <a:ea typeface="+mn-ea"/>
                <a:cs typeface="+mn-cs"/>
              </a:rPr>
              <a:t>for</a:t>
            </a:r>
            <a:r>
              <a:rPr kumimoji="0" sz="2900" b="0" i="0" u="none" strike="noStrike" kern="1200" cap="none" spc="-14" normalizeH="0" baseline="0" noProof="0">
                <a:ln>
                  <a:noFill/>
                </a:ln>
                <a:solidFill>
                  <a:srgbClr val="232422"/>
                </a:solidFill>
                <a:effectLst/>
                <a:uLnTx/>
                <a:uFillTx/>
                <a:latin typeface="Fira Sans"/>
                <a:ea typeface="+mn-ea"/>
                <a:cs typeface="+mn-cs"/>
              </a:rPr>
              <a:t> </a:t>
            </a:r>
            <a:r>
              <a:rPr kumimoji="0" lang="en-US" sz="2900" b="0" i="0" u="none" strike="noStrike" kern="1200" cap="none" spc="-14" normalizeH="0" baseline="0" noProof="0">
                <a:ln>
                  <a:noFill/>
                </a:ln>
                <a:solidFill>
                  <a:srgbClr val="232422"/>
                </a:solidFill>
                <a:effectLst/>
                <a:uLnTx/>
                <a:uFillTx/>
                <a:latin typeface="Fira Sans"/>
                <a:ea typeface="+mn-ea"/>
                <a:cs typeface="+mn-cs"/>
              </a:rPr>
              <a:t>Wealth Builders</a:t>
            </a:r>
            <a:r>
              <a:rPr kumimoji="0" sz="2900" b="0" i="0" u="none" strike="noStrike" kern="1200" cap="none" spc="-14" normalizeH="0" baseline="0" noProof="0">
                <a:ln>
                  <a:noFill/>
                </a:ln>
                <a:solidFill>
                  <a:srgbClr val="232422"/>
                </a:solidFill>
                <a:effectLst/>
                <a:uLnTx/>
                <a:uFillTx/>
                <a:latin typeface="Fira Sans"/>
                <a:ea typeface="+mn-ea"/>
                <a:cs typeface="+mn-cs"/>
              </a:rPr>
              <a:t>,</a:t>
            </a:r>
            <a:r>
              <a:rPr kumimoji="0" lang="en-US" sz="2900" b="0" i="0" u="none" strike="noStrike" kern="1200" cap="none" spc="-14" normalizeH="0" baseline="0" noProof="0">
                <a:ln>
                  <a:noFill/>
                </a:ln>
                <a:solidFill>
                  <a:srgbClr val="232422"/>
                </a:solidFill>
                <a:effectLst/>
                <a:uLnTx/>
                <a:uFillTx/>
                <a:latin typeface="Fira Sans"/>
                <a:ea typeface="+mn-ea"/>
                <a:cs typeface="+mn-cs"/>
              </a:rPr>
              <a:t> which means they mostly bank </a:t>
            </a:r>
            <a:r>
              <a:rPr kumimoji="0" sz="2900" b="0" i="0" u="none" strike="noStrike" kern="1200" cap="none" spc="-14" normalizeH="0" baseline="0" noProof="0">
                <a:ln>
                  <a:noFill/>
                </a:ln>
                <a:solidFill>
                  <a:srgbClr val="232422"/>
                </a:solidFill>
                <a:effectLst/>
                <a:uLnTx/>
                <a:uFillTx/>
                <a:latin typeface="Fira Sans"/>
                <a:ea typeface="+mn-ea"/>
                <a:cs typeface="+mn-cs"/>
              </a:rPr>
              <a:t>somewhere else today</a:t>
            </a:r>
          </a:p>
        </p:txBody>
      </p:sp>
      <p:sp>
        <p:nvSpPr>
          <p:cNvPr id="93" name="TextBox 92"/>
          <p:cNvSpPr txBox="1"/>
          <p:nvPr/>
        </p:nvSpPr>
        <p:spPr>
          <a:xfrm>
            <a:off x="503137" y="2693431"/>
            <a:ext cx="1563375"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a:ea typeface="+mn-ea"/>
                <a:cs typeface="+mn-cs"/>
              </a:rPr>
              <a:t>#1</a:t>
            </a:r>
            <a:r>
              <a:rPr kumimoji="0" sz="1350" b="0" i="0" u="none" strike="noStrike" kern="1200" cap="none" spc="0" normalizeH="0" baseline="0" noProof="0">
                <a:ln>
                  <a:noFill/>
                </a:ln>
                <a:solidFill>
                  <a:srgbClr val="232422"/>
                </a:solidFill>
                <a:effectLst/>
                <a:uLnTx/>
                <a:uFillTx/>
                <a:latin typeface="Fira Sans"/>
                <a:ea typeface="+mn-ea"/>
                <a:cs typeface="+mn-cs"/>
              </a:rPr>
              <a:t> Bank of America</a:t>
            </a:r>
          </a:p>
        </p:txBody>
      </p:sp>
      <p:sp>
        <p:nvSpPr>
          <p:cNvPr id="94" name="Rectangle 93"/>
          <p:cNvSpPr/>
          <p:nvPr/>
        </p:nvSpPr>
        <p:spPr>
          <a:xfrm>
            <a:off x="3253700" y="2692974"/>
            <a:ext cx="5941336" cy="274960"/>
          </a:xfrm>
          <a:prstGeom prst="rect">
            <a:avLst/>
          </a:prstGeom>
          <a:solidFill>
            <a:srgbClr val="575757"/>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 name="TextBox 94"/>
          <p:cNvSpPr txBox="1"/>
          <p:nvPr/>
        </p:nvSpPr>
        <p:spPr>
          <a:xfrm>
            <a:off x="9288853" y="2692974"/>
            <a:ext cx="388168"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27%</a:t>
            </a:r>
          </a:p>
        </p:txBody>
      </p:sp>
      <p:sp>
        <p:nvSpPr>
          <p:cNvPr id="96" name="TextBox 95"/>
          <p:cNvSpPr txBox="1"/>
          <p:nvPr/>
        </p:nvSpPr>
        <p:spPr>
          <a:xfrm>
            <a:off x="489191" y="3120047"/>
            <a:ext cx="760514"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a:ea typeface="+mn-ea"/>
                <a:cs typeface="+mn-cs"/>
              </a:rPr>
              <a:t>#2 </a:t>
            </a:r>
            <a:r>
              <a:rPr kumimoji="0" sz="1350" b="0" i="0" u="none" strike="noStrike" kern="1200" cap="none" spc="0" normalizeH="0" baseline="0" noProof="0">
                <a:ln>
                  <a:noFill/>
                </a:ln>
                <a:solidFill>
                  <a:srgbClr val="232422"/>
                </a:solidFill>
                <a:effectLst/>
                <a:uLnTx/>
                <a:uFillTx/>
                <a:latin typeface="Fira Sans"/>
                <a:ea typeface="+mn-ea"/>
                <a:cs typeface="+mn-cs"/>
              </a:rPr>
              <a:t>Chase</a:t>
            </a:r>
          </a:p>
        </p:txBody>
      </p:sp>
      <p:sp>
        <p:nvSpPr>
          <p:cNvPr id="97" name="Rectangle 96"/>
          <p:cNvSpPr/>
          <p:nvPr/>
        </p:nvSpPr>
        <p:spPr>
          <a:xfrm>
            <a:off x="3253700" y="3098273"/>
            <a:ext cx="3740831" cy="274960"/>
          </a:xfrm>
          <a:prstGeom prst="rect">
            <a:avLst/>
          </a:prstGeom>
          <a:solidFill>
            <a:srgbClr val="9A9A9A"/>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p:cNvSpPr txBox="1"/>
          <p:nvPr/>
        </p:nvSpPr>
        <p:spPr>
          <a:xfrm>
            <a:off x="7080449" y="3111729"/>
            <a:ext cx="379937"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17%</a:t>
            </a:r>
          </a:p>
        </p:txBody>
      </p:sp>
      <p:sp>
        <p:nvSpPr>
          <p:cNvPr id="99" name="TextBox 98"/>
          <p:cNvSpPr txBox="1"/>
          <p:nvPr/>
        </p:nvSpPr>
        <p:spPr>
          <a:xfrm>
            <a:off x="489191" y="4841157"/>
            <a:ext cx="2098661"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9A9A9A"/>
                </a:solidFill>
                <a:effectLst/>
                <a:uLnTx/>
                <a:uFillTx/>
                <a:latin typeface="Fira Sans"/>
                <a:ea typeface="+mn-ea"/>
                <a:cs typeface="+mn-cs"/>
              </a:rPr>
              <a:t>#6–#8 three</a:t>
            </a:r>
            <a:r>
              <a:rPr kumimoji="0" sz="1350" b="0" i="0" u="none" strike="noStrike" kern="1200" cap="none" spc="0" normalizeH="0" baseline="0" noProof="0">
                <a:ln>
                  <a:noFill/>
                </a:ln>
                <a:solidFill>
                  <a:srgbClr val="9A9A9A"/>
                </a:solidFill>
                <a:effectLst/>
                <a:uLnTx/>
                <a:uFillTx/>
                <a:latin typeface="Fira Sans"/>
                <a:ea typeface="+mn-ea"/>
                <a:cs typeface="+mn-cs"/>
              </a:rPr>
              <a:t> banks</a:t>
            </a:r>
          </a:p>
        </p:txBody>
      </p:sp>
      <p:sp>
        <p:nvSpPr>
          <p:cNvPr id="100" name="Rectangle 99"/>
          <p:cNvSpPr/>
          <p:nvPr/>
        </p:nvSpPr>
        <p:spPr>
          <a:xfrm>
            <a:off x="3253701" y="4836157"/>
            <a:ext cx="1042522" cy="238384"/>
          </a:xfrm>
          <a:prstGeom prst="rect">
            <a:avLst/>
          </a:prstGeom>
          <a:noFill/>
          <a:ln w="9144">
            <a:solidFill>
              <a:srgbClr val="DDDBCE"/>
            </a:solidFill>
            <a:custDash>
              <a:ds d="401000" sp="401000"/>
            </a:cust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TextBox 100"/>
          <p:cNvSpPr txBox="1"/>
          <p:nvPr/>
        </p:nvSpPr>
        <p:spPr>
          <a:xfrm>
            <a:off x="498636" y="5284704"/>
            <a:ext cx="917921"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007651"/>
                </a:solidFill>
                <a:effectLst/>
                <a:uLnTx/>
                <a:uFillTx/>
                <a:latin typeface="Fira Sans SemiBold"/>
                <a:ea typeface="+mn-ea"/>
                <a:cs typeface="+mn-cs"/>
              </a:rPr>
              <a:t>#</a:t>
            </a:r>
            <a:r>
              <a:rPr kumimoji="0" sz="1350" b="0" i="0" u="none" strike="noStrike" kern="1200" cap="none" spc="0" normalizeH="0" baseline="0" noProof="0">
                <a:ln>
                  <a:noFill/>
                </a:ln>
                <a:solidFill>
                  <a:srgbClr val="007651"/>
                </a:solidFill>
                <a:effectLst/>
                <a:uLnTx/>
                <a:uFillTx/>
                <a:latin typeface="Fira Sans SemiBold"/>
                <a:ea typeface="+mn-ea"/>
                <a:cs typeface="+mn-cs"/>
              </a:rPr>
              <a:t>9 Citizens</a:t>
            </a:r>
          </a:p>
        </p:txBody>
      </p:sp>
      <p:sp>
        <p:nvSpPr>
          <p:cNvPr id="102" name="Rectangle 101"/>
          <p:cNvSpPr/>
          <p:nvPr/>
        </p:nvSpPr>
        <p:spPr>
          <a:xfrm>
            <a:off x="3253700" y="5265959"/>
            <a:ext cx="889168" cy="274960"/>
          </a:xfrm>
          <a:prstGeom prst="rect">
            <a:avLst/>
          </a:prstGeom>
          <a:solidFill>
            <a:srgbClr val="00765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TextBox 102"/>
          <p:cNvSpPr txBox="1"/>
          <p:nvPr/>
        </p:nvSpPr>
        <p:spPr>
          <a:xfrm>
            <a:off x="4296223" y="5220696"/>
            <a:ext cx="411309" cy="329184"/>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950" b="0" i="0" u="none" strike="noStrike" kern="1200" cap="none" spc="0" normalizeH="0" baseline="0" noProof="0">
                <a:ln>
                  <a:noFill/>
                </a:ln>
                <a:solidFill>
                  <a:srgbClr val="007651"/>
                </a:solidFill>
                <a:effectLst/>
                <a:uLnTx/>
                <a:uFillTx/>
                <a:latin typeface="Fira Sans SemiBold"/>
                <a:ea typeface="+mn-ea"/>
                <a:cs typeface="+mn-cs"/>
              </a:rPr>
              <a:t>3%</a:t>
            </a:r>
          </a:p>
        </p:txBody>
      </p:sp>
      <p:sp>
        <p:nvSpPr>
          <p:cNvPr id="104" name="TextBox 103"/>
          <p:cNvSpPr txBox="1"/>
          <p:nvPr/>
        </p:nvSpPr>
        <p:spPr>
          <a:xfrm>
            <a:off x="503046" y="5897182"/>
            <a:ext cx="11745204" cy="217170"/>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Measured on primary checking relationships – customers holding any Citizens product are a separate, wider count.</a:t>
            </a:r>
          </a:p>
        </p:txBody>
      </p:sp>
      <p:cxnSp>
        <p:nvCxnSpPr>
          <p:cNvPr id="105" name="Connector 104"/>
          <p:cNvCxnSpPr/>
          <p:nvPr/>
        </p:nvCxnSpPr>
        <p:spPr>
          <a:xfrm>
            <a:off x="503046" y="6414516"/>
            <a:ext cx="11185908" cy="0"/>
          </a:xfrm>
          <a:prstGeom prst="line">
            <a:avLst/>
          </a:prstGeom>
          <a:ln w="9144">
            <a:solidFill>
              <a:srgbClr val="DDDBCE"/>
            </a:solidFill>
          </a:ln>
          <a:effectLst/>
        </p:spPr>
      </p:cxnSp>
      <p:sp>
        <p:nvSpPr>
          <p:cNvPr id="106" name="TextBox 105"/>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BCG Wealth Builders segment study, Dec 2025.</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TextBox 1">
            <a:extLst>
              <a:ext uri="{FF2B5EF4-FFF2-40B4-BE49-F238E27FC236}">
                <a16:creationId xmlns:a16="http://schemas.microsoft.com/office/drawing/2014/main" id="{71E5CE07-DC23-74A2-ED09-D43053DABC20}"/>
              </a:ext>
            </a:extLst>
          </p:cNvPr>
          <p:cNvSpPr txBox="1"/>
          <p:nvPr/>
        </p:nvSpPr>
        <p:spPr>
          <a:xfrm>
            <a:off x="415636" y="2050473"/>
            <a:ext cx="4759636"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For Independent Wealth Builders </a:t>
            </a:r>
            <a:r>
              <a:rPr kumimoji="0" lang="en-US" sz="11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(PWB view is similar)</a:t>
            </a:r>
            <a:endParaRPr kumimoji="0" lang="en-US" sz="1600" b="0" i="0" u="none" strike="noStrike" kern="1200" cap="none" spc="0" normalizeH="0" baseline="0" noProof="0">
              <a:ln>
                <a:noFill/>
              </a:ln>
              <a:solidFill>
                <a:prstClr val="black"/>
              </a:solidFill>
              <a:effectLst/>
              <a:uLnTx/>
              <a:uFillTx/>
              <a:latin typeface="Fira Sans" panose="020B0503050000020004" pitchFamily="34" charset="0"/>
              <a:ea typeface="+mn-ea"/>
              <a:cs typeface="+mn-cs"/>
            </a:endParaRPr>
          </a:p>
        </p:txBody>
      </p:sp>
      <p:cxnSp>
        <p:nvCxnSpPr>
          <p:cNvPr id="3" name="Connector 104">
            <a:extLst>
              <a:ext uri="{FF2B5EF4-FFF2-40B4-BE49-F238E27FC236}">
                <a16:creationId xmlns:a16="http://schemas.microsoft.com/office/drawing/2014/main" id="{4C60AD29-95B7-FA99-E400-DB2473F50ECB}"/>
              </a:ext>
            </a:extLst>
          </p:cNvPr>
          <p:cNvCxnSpPr>
            <a:cxnSpLocks/>
          </p:cNvCxnSpPr>
          <p:nvPr/>
        </p:nvCxnSpPr>
        <p:spPr>
          <a:xfrm>
            <a:off x="489191" y="2438261"/>
            <a:ext cx="9735464" cy="0"/>
          </a:xfrm>
          <a:prstGeom prst="line">
            <a:avLst/>
          </a:prstGeom>
          <a:ln w="12700">
            <a:solidFill>
              <a:schemeClr val="tx1">
                <a:lumMod val="75000"/>
                <a:lumOff val="25000"/>
              </a:schemeClr>
            </a:solidFill>
          </a:ln>
          <a:effectLst/>
        </p:spPr>
      </p:cxnSp>
      <p:sp>
        <p:nvSpPr>
          <p:cNvPr id="4" name="TextBox 3">
            <a:extLst>
              <a:ext uri="{FF2B5EF4-FFF2-40B4-BE49-F238E27FC236}">
                <a16:creationId xmlns:a16="http://schemas.microsoft.com/office/drawing/2014/main" id="{A8E40B67-E1C7-673B-8811-690AA6D2F94B}"/>
              </a:ext>
            </a:extLst>
          </p:cNvPr>
          <p:cNvSpPr txBox="1"/>
          <p:nvPr/>
        </p:nvSpPr>
        <p:spPr>
          <a:xfrm>
            <a:off x="512353" y="3595685"/>
            <a:ext cx="1195308" cy="16726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a:ea typeface="+mn-ea"/>
                <a:cs typeface="+mn-cs"/>
              </a:rPr>
              <a:t>#3 Capital One</a:t>
            </a:r>
            <a:endParaRPr kumimoji="0" sz="1350" b="0" i="0" u="none" strike="noStrike" kern="1200" cap="none" spc="0" normalizeH="0" baseline="0" noProof="0">
              <a:ln>
                <a:noFill/>
              </a:ln>
              <a:solidFill>
                <a:srgbClr val="232422"/>
              </a:solidFill>
              <a:effectLst/>
              <a:uLnTx/>
              <a:uFillTx/>
              <a:latin typeface="Fira Sans"/>
              <a:ea typeface="+mn-ea"/>
              <a:cs typeface="+mn-cs"/>
            </a:endParaRPr>
          </a:p>
        </p:txBody>
      </p:sp>
      <p:sp>
        <p:nvSpPr>
          <p:cNvPr id="5" name="TextBox 4">
            <a:extLst>
              <a:ext uri="{FF2B5EF4-FFF2-40B4-BE49-F238E27FC236}">
                <a16:creationId xmlns:a16="http://schemas.microsoft.com/office/drawing/2014/main" id="{596BA88B-8E7D-3227-E653-F71569C656DF}"/>
              </a:ext>
            </a:extLst>
          </p:cNvPr>
          <p:cNvSpPr txBox="1"/>
          <p:nvPr/>
        </p:nvSpPr>
        <p:spPr>
          <a:xfrm>
            <a:off x="512353" y="4021914"/>
            <a:ext cx="1195308" cy="16726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a:ea typeface="+mn-ea"/>
                <a:cs typeface="+mn-cs"/>
              </a:rPr>
              <a:t>#4 TD Bank</a:t>
            </a:r>
          </a:p>
        </p:txBody>
      </p:sp>
      <p:sp>
        <p:nvSpPr>
          <p:cNvPr id="6" name="TextBox 5">
            <a:extLst>
              <a:ext uri="{FF2B5EF4-FFF2-40B4-BE49-F238E27FC236}">
                <a16:creationId xmlns:a16="http://schemas.microsoft.com/office/drawing/2014/main" id="{9FD45BCC-DBB5-8E8B-98B0-883B7229088E}"/>
              </a:ext>
            </a:extLst>
          </p:cNvPr>
          <p:cNvSpPr txBox="1"/>
          <p:nvPr/>
        </p:nvSpPr>
        <p:spPr>
          <a:xfrm>
            <a:off x="503046" y="4425395"/>
            <a:ext cx="1195308" cy="16726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a:ea typeface="+mn-ea"/>
                <a:cs typeface="+mn-cs"/>
              </a:rPr>
              <a:t>#5 Wells Fargo</a:t>
            </a:r>
          </a:p>
        </p:txBody>
      </p:sp>
      <p:sp>
        <p:nvSpPr>
          <p:cNvPr id="7" name="Rectangle 6">
            <a:extLst>
              <a:ext uri="{FF2B5EF4-FFF2-40B4-BE49-F238E27FC236}">
                <a16:creationId xmlns:a16="http://schemas.microsoft.com/office/drawing/2014/main" id="{19204A41-FEF2-A9B9-72EC-7ADFE61A1424}"/>
              </a:ext>
            </a:extLst>
          </p:cNvPr>
          <p:cNvSpPr/>
          <p:nvPr/>
        </p:nvSpPr>
        <p:spPr>
          <a:xfrm>
            <a:off x="3253701" y="3535912"/>
            <a:ext cx="1921572" cy="266781"/>
          </a:xfrm>
          <a:prstGeom prst="rect">
            <a:avLst/>
          </a:prstGeom>
          <a:solidFill>
            <a:schemeClr val="bg1">
              <a:lumMod val="75000"/>
            </a:scheme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9078B6A-385D-A9C2-FA3F-8E62F353191E}"/>
              </a:ext>
            </a:extLst>
          </p:cNvPr>
          <p:cNvSpPr txBox="1"/>
          <p:nvPr/>
        </p:nvSpPr>
        <p:spPr>
          <a:xfrm>
            <a:off x="5265729" y="3553858"/>
            <a:ext cx="379937"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7%</a:t>
            </a:r>
          </a:p>
        </p:txBody>
      </p:sp>
      <p:sp>
        <p:nvSpPr>
          <p:cNvPr id="9" name="Rectangle 8">
            <a:extLst>
              <a:ext uri="{FF2B5EF4-FFF2-40B4-BE49-F238E27FC236}">
                <a16:creationId xmlns:a16="http://schemas.microsoft.com/office/drawing/2014/main" id="{A6956546-48BA-79EB-0F9E-FE7FB261B73A}"/>
              </a:ext>
            </a:extLst>
          </p:cNvPr>
          <p:cNvSpPr/>
          <p:nvPr/>
        </p:nvSpPr>
        <p:spPr>
          <a:xfrm>
            <a:off x="3253701" y="4003303"/>
            <a:ext cx="1604902" cy="266781"/>
          </a:xfrm>
          <a:prstGeom prst="rect">
            <a:avLst/>
          </a:prstGeom>
          <a:solidFill>
            <a:schemeClr val="bg1">
              <a:lumMod val="85000"/>
            </a:scheme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12B064BA-4675-CC6C-0E65-D04445DEE2F6}"/>
              </a:ext>
            </a:extLst>
          </p:cNvPr>
          <p:cNvSpPr/>
          <p:nvPr/>
        </p:nvSpPr>
        <p:spPr>
          <a:xfrm>
            <a:off x="3253701" y="4427599"/>
            <a:ext cx="1195308" cy="266781"/>
          </a:xfrm>
          <a:prstGeom prst="rect">
            <a:avLst/>
          </a:prstGeom>
          <a:solidFill>
            <a:srgbClr val="D6D6D6"/>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38087AC9-0143-47AA-0FE6-00F2DDBE65E4}"/>
              </a:ext>
            </a:extLst>
          </p:cNvPr>
          <p:cNvSpPr txBox="1"/>
          <p:nvPr/>
        </p:nvSpPr>
        <p:spPr>
          <a:xfrm>
            <a:off x="4934146" y="4017566"/>
            <a:ext cx="379937"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Medium"/>
                <a:ea typeface="+mn-ea"/>
                <a:cs typeface="+mn-cs"/>
              </a:rPr>
              <a:t>5</a:t>
            </a:r>
            <a:r>
              <a:rPr kumimoji="0" sz="1350" b="0" i="0" u="none" strike="noStrike" kern="1200" cap="none" spc="0" normalizeH="0" baseline="0" noProof="0">
                <a:ln>
                  <a:noFill/>
                </a:ln>
                <a:solidFill>
                  <a:srgbClr val="232422"/>
                </a:solidFill>
                <a:effectLst/>
                <a:uLnTx/>
                <a:uFillTx/>
                <a:latin typeface="Fira Sans Medium"/>
                <a:ea typeface="+mn-ea"/>
                <a:cs typeface="+mn-cs"/>
              </a:rPr>
              <a:t>%</a:t>
            </a:r>
          </a:p>
        </p:txBody>
      </p:sp>
      <p:sp>
        <p:nvSpPr>
          <p:cNvPr id="16" name="TextBox 15">
            <a:extLst>
              <a:ext uri="{FF2B5EF4-FFF2-40B4-BE49-F238E27FC236}">
                <a16:creationId xmlns:a16="http://schemas.microsoft.com/office/drawing/2014/main" id="{A4EC81E5-7CA5-3889-8D09-EC9FC02E8099}"/>
              </a:ext>
            </a:extLst>
          </p:cNvPr>
          <p:cNvSpPr txBox="1"/>
          <p:nvPr/>
        </p:nvSpPr>
        <p:spPr>
          <a:xfrm>
            <a:off x="4554209" y="4431397"/>
            <a:ext cx="379937"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232422"/>
                </a:solidFill>
                <a:effectLst/>
                <a:uLnTx/>
                <a:uFillTx/>
                <a:latin typeface="Fira Sans Medium"/>
                <a:ea typeface="+mn-ea"/>
                <a:cs typeface="+mn-cs"/>
              </a:rPr>
              <a:t>4</a:t>
            </a:r>
            <a:r>
              <a:rPr kumimoji="0" sz="1350" b="0" i="0" u="none" strike="noStrike" kern="1200" cap="none" spc="0" normalizeH="0" baseline="0" noProof="0">
                <a:ln>
                  <a:noFill/>
                </a:ln>
                <a:solidFill>
                  <a:srgbClr val="232422"/>
                </a:solidFill>
                <a:effectLst/>
                <a:uLnTx/>
                <a:uFillTx/>
                <a:latin typeface="Fira Sans Medium"/>
                <a:ea typeface="+mn-ea"/>
                <a:cs typeface="+mn-cs"/>
              </a:rPr>
              <a:t>%</a:t>
            </a:r>
          </a:p>
        </p:txBody>
      </p:sp>
    </p:spTree>
    <p:extLst>
      <p:ext uri="{BB962C8B-B14F-4D97-AF65-F5344CB8AC3E}">
        <p14:creationId xmlns:p14="http://schemas.microsoft.com/office/powerpoint/2010/main" val="4218470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181508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THE CUSTOMER TO WIN</a:t>
            </a:r>
          </a:p>
        </p:txBody>
      </p:sp>
      <p:sp>
        <p:nvSpPr>
          <p:cNvPr id="92" name="TextBox 91"/>
          <p:cNvSpPr txBox="1"/>
          <p:nvPr/>
        </p:nvSpPr>
        <p:spPr>
          <a:xfrm>
            <a:off x="503046" y="743648"/>
            <a:ext cx="10275790"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While growing with WBs has three levers, this means the first two should be greater priorities for the ecosystem</a:t>
            </a:r>
          </a:p>
        </p:txBody>
      </p:sp>
      <p:cxnSp>
        <p:nvCxnSpPr>
          <p:cNvPr id="93" name="Connector 92"/>
          <p:cNvCxnSpPr/>
          <p:nvPr/>
        </p:nvCxnSpPr>
        <p:spPr>
          <a:xfrm>
            <a:off x="503046" y="2447590"/>
            <a:ext cx="11185908" cy="0"/>
          </a:xfrm>
          <a:prstGeom prst="line">
            <a:avLst/>
          </a:prstGeom>
          <a:ln w="9144">
            <a:solidFill>
              <a:srgbClr val="DDDBCE"/>
            </a:solidFill>
          </a:ln>
          <a:effectLst/>
        </p:spPr>
      </p:cxnSp>
      <p:sp>
        <p:nvSpPr>
          <p:cNvPr id="94" name="TextBox 93"/>
          <p:cNvSpPr txBox="1"/>
          <p:nvPr/>
        </p:nvSpPr>
        <p:spPr>
          <a:xfrm>
            <a:off x="503046" y="2636911"/>
            <a:ext cx="384144"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Medium"/>
                <a:ea typeface="+mn-ea"/>
                <a:cs typeface="+mn-cs"/>
              </a:rPr>
              <a:t>1</a:t>
            </a:r>
          </a:p>
        </p:txBody>
      </p:sp>
      <p:sp>
        <p:nvSpPr>
          <p:cNvPr id="95" name="TextBox 94"/>
          <p:cNvSpPr txBox="1"/>
          <p:nvPr/>
        </p:nvSpPr>
        <p:spPr>
          <a:xfrm>
            <a:off x="1088408" y="2671711"/>
            <a:ext cx="3937476"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Medium"/>
                <a:ea typeface="+mn-ea"/>
                <a:cs typeface="+mn-cs"/>
              </a:rPr>
              <a:t>Win new customers</a:t>
            </a:r>
          </a:p>
        </p:txBody>
      </p:sp>
      <p:sp>
        <p:nvSpPr>
          <p:cNvPr id="96" name="TextBox 95"/>
          <p:cNvSpPr txBox="1"/>
          <p:nvPr/>
        </p:nvSpPr>
        <p:spPr>
          <a:xfrm>
            <a:off x="5112774" y="2728149"/>
            <a:ext cx="5362843" cy="270205"/>
          </a:xfrm>
          <a:prstGeom prst="rect">
            <a:avLst/>
          </a:prstGeom>
          <a:noFill/>
        </p:spPr>
        <p:txBody>
          <a:bodyPr wrap="square" lIns="0" tIns="0" rIns="0" bIns="0" anchor="t">
            <a:noAutofit/>
          </a:bodyPr>
          <a:lstStyle/>
          <a:p>
            <a:pPr marL="0" marR="0" lvl="0" indent="0" algn="l" defTabSz="457200" rtl="0" eaLnBrk="1" fontAlgn="auto" latinLnBrk="0" hangingPunct="1">
              <a:lnSpc>
                <a:spcPts val="1983"/>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Needs credible front doors, and clear reasons to choose Citizens.</a:t>
            </a:r>
          </a:p>
        </p:txBody>
      </p:sp>
      <p:cxnSp>
        <p:nvCxnSpPr>
          <p:cNvPr id="97" name="Connector 96"/>
          <p:cNvCxnSpPr/>
          <p:nvPr/>
        </p:nvCxnSpPr>
        <p:spPr>
          <a:xfrm>
            <a:off x="503046" y="3243118"/>
            <a:ext cx="11185908" cy="0"/>
          </a:xfrm>
          <a:prstGeom prst="line">
            <a:avLst/>
          </a:prstGeom>
          <a:ln w="9144">
            <a:solidFill>
              <a:srgbClr val="DDDBCE"/>
            </a:solidFill>
          </a:ln>
          <a:effectLst/>
        </p:spPr>
      </p:cxnSp>
      <p:sp>
        <p:nvSpPr>
          <p:cNvPr id="98" name="TextBox 97"/>
          <p:cNvSpPr txBox="1"/>
          <p:nvPr/>
        </p:nvSpPr>
        <p:spPr>
          <a:xfrm>
            <a:off x="503046" y="3432439"/>
            <a:ext cx="384144"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Medium"/>
                <a:ea typeface="+mn-ea"/>
                <a:cs typeface="+mn-cs"/>
              </a:rPr>
              <a:t>2</a:t>
            </a:r>
          </a:p>
        </p:txBody>
      </p:sp>
      <p:sp>
        <p:nvSpPr>
          <p:cNvPr id="99" name="TextBox 98"/>
          <p:cNvSpPr txBox="1"/>
          <p:nvPr/>
        </p:nvSpPr>
        <p:spPr>
          <a:xfrm>
            <a:off x="1088408" y="3496547"/>
            <a:ext cx="3937476" cy="603504"/>
          </a:xfrm>
          <a:prstGeom prst="rect">
            <a:avLst/>
          </a:prstGeom>
          <a:noFill/>
        </p:spPr>
        <p:txBody>
          <a:bodyPr wrap="square" lIns="0" tIns="0" rIns="0" bIns="0" anchor="t">
            <a:noAutofit/>
          </a:bodyPr>
          <a:lstStyle/>
          <a:p>
            <a:pPr marL="0" marR="0" lvl="0" indent="0" algn="l" defTabSz="457200" rtl="0" eaLnBrk="1" fontAlgn="auto" latinLnBrk="0" hangingPunct="1">
              <a:lnSpc>
                <a:spcPts val="230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Medium"/>
                <a:ea typeface="+mn-ea"/>
                <a:cs typeface="+mn-cs"/>
              </a:rPr>
              <a:t>Turn secondary</a:t>
            </a:r>
          </a:p>
          <a:p>
            <a:pPr marL="0" marR="0" lvl="0" indent="0" algn="l" defTabSz="457200" rtl="0" eaLnBrk="1" fontAlgn="auto" latinLnBrk="0" hangingPunct="1">
              <a:lnSpc>
                <a:spcPts val="2304"/>
              </a:lnSpc>
              <a:spcBef>
                <a:spcPts val="0"/>
              </a:spcBef>
              <a:spcAft>
                <a:spcPts val="0"/>
              </a:spcAft>
              <a:buClrTx/>
              <a:buSzTx/>
              <a:buFontTx/>
              <a:buNone/>
              <a:tabLst/>
              <a:defRPr/>
            </a:pPr>
            <a:r>
              <a:rPr kumimoji="0" sz="1950" b="0" i="0" u="none" strike="noStrike" kern="1200" cap="none" spc="0" normalizeH="0" baseline="0" noProof="0">
                <a:ln>
                  <a:noFill/>
                </a:ln>
                <a:solidFill>
                  <a:srgbClr val="232422"/>
                </a:solidFill>
                <a:effectLst/>
                <a:uLnTx/>
                <a:uFillTx/>
                <a:latin typeface="Fira Sans Medium"/>
                <a:ea typeface="+mn-ea"/>
                <a:cs typeface="+mn-cs"/>
              </a:rPr>
              <a:t>relationships primary</a:t>
            </a:r>
          </a:p>
        </p:txBody>
      </p:sp>
      <p:sp>
        <p:nvSpPr>
          <p:cNvPr id="100" name="TextBox 99"/>
          <p:cNvSpPr txBox="1"/>
          <p:nvPr/>
        </p:nvSpPr>
        <p:spPr>
          <a:xfrm>
            <a:off x="5112774" y="3523677"/>
            <a:ext cx="5332880" cy="270205"/>
          </a:xfrm>
          <a:prstGeom prst="rect">
            <a:avLst/>
          </a:prstGeom>
          <a:noFill/>
        </p:spPr>
        <p:txBody>
          <a:bodyPr wrap="square" lIns="0" tIns="0" rIns="0" bIns="0" anchor="t">
            <a:noAutofit/>
          </a:bodyPr>
          <a:lstStyle/>
          <a:p>
            <a:pPr marL="0" marR="0" lvl="0" indent="0" algn="l" defTabSz="457200" rtl="0" eaLnBrk="1" fontAlgn="auto" latinLnBrk="0" hangingPunct="1">
              <a:lnSpc>
                <a:spcPts val="1983"/>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a:ea typeface="+mn-ea"/>
                <a:cs typeface="+mn-cs"/>
              </a:rPr>
              <a:t>Needs to recognize customers who already hold something here.</a:t>
            </a:r>
          </a:p>
        </p:txBody>
      </p:sp>
      <p:cxnSp>
        <p:nvCxnSpPr>
          <p:cNvPr id="101" name="Connector 100"/>
          <p:cNvCxnSpPr/>
          <p:nvPr/>
        </p:nvCxnSpPr>
        <p:spPr>
          <a:xfrm>
            <a:off x="503046" y="4322110"/>
            <a:ext cx="11185908" cy="0"/>
          </a:xfrm>
          <a:prstGeom prst="line">
            <a:avLst/>
          </a:prstGeom>
          <a:ln w="9144">
            <a:solidFill>
              <a:srgbClr val="DDDBCE"/>
            </a:solidFill>
          </a:ln>
          <a:effectLst/>
        </p:spPr>
      </p:cxnSp>
      <p:sp>
        <p:nvSpPr>
          <p:cNvPr id="102" name="TextBox 101"/>
          <p:cNvSpPr txBox="1"/>
          <p:nvPr/>
        </p:nvSpPr>
        <p:spPr>
          <a:xfrm>
            <a:off x="503046" y="4511431"/>
            <a:ext cx="384144"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lang="en-US" sz="2150" b="0" i="0" u="none" strike="noStrike" kern="1200" cap="none" spc="0" normalizeH="0" baseline="0" noProof="0">
                <a:ln>
                  <a:noFill/>
                </a:ln>
                <a:solidFill>
                  <a:prstClr val="white">
                    <a:lumMod val="65000"/>
                  </a:prstClr>
                </a:solidFill>
                <a:effectLst/>
                <a:uLnTx/>
                <a:uFillTx/>
                <a:latin typeface="Fira Sans Medium"/>
                <a:ea typeface="+mn-ea"/>
                <a:cs typeface="+mn-cs"/>
              </a:rPr>
              <a:t>3</a:t>
            </a:r>
          </a:p>
        </p:txBody>
      </p:sp>
      <p:sp>
        <p:nvSpPr>
          <p:cNvPr id="103" name="TextBox 102"/>
          <p:cNvSpPr txBox="1"/>
          <p:nvPr/>
        </p:nvSpPr>
        <p:spPr>
          <a:xfrm>
            <a:off x="1088408" y="4575539"/>
            <a:ext cx="3937476" cy="603504"/>
          </a:xfrm>
          <a:prstGeom prst="rect">
            <a:avLst/>
          </a:prstGeom>
          <a:noFill/>
        </p:spPr>
        <p:txBody>
          <a:bodyPr wrap="square" lIns="0" tIns="0" rIns="0" bIns="0" anchor="t">
            <a:noAutofit/>
          </a:bodyPr>
          <a:lstStyle/>
          <a:p>
            <a:pPr marL="0" marR="0" lvl="0" indent="0" algn="l" defTabSz="457200" rtl="0" eaLnBrk="1" fontAlgn="auto" latinLnBrk="0" hangingPunct="1">
              <a:lnSpc>
                <a:spcPts val="2304"/>
              </a:lnSpc>
              <a:spcBef>
                <a:spcPts val="0"/>
              </a:spcBef>
              <a:spcAft>
                <a:spcPts val="0"/>
              </a:spcAft>
              <a:buClrTx/>
              <a:buSzTx/>
              <a:buFontTx/>
              <a:buNone/>
              <a:tabLst/>
              <a:defRPr/>
            </a:pPr>
            <a:r>
              <a:rPr kumimoji="0" lang="en-US" sz="1950" b="0" i="0" u="none" strike="noStrike" kern="1200" cap="none" spc="0" normalizeH="0" baseline="0" noProof="0">
                <a:ln>
                  <a:noFill/>
                </a:ln>
                <a:solidFill>
                  <a:prstClr val="white">
                    <a:lumMod val="65000"/>
                  </a:prstClr>
                </a:solidFill>
                <a:effectLst/>
                <a:uLnTx/>
                <a:uFillTx/>
                <a:latin typeface="Fira Sans Medium"/>
                <a:ea typeface="+mn-ea"/>
                <a:cs typeface="+mn-cs"/>
              </a:rPr>
              <a:t>Deepen existing primary</a:t>
            </a:r>
          </a:p>
          <a:p>
            <a:pPr marL="0" marR="0" lvl="0" indent="0" algn="l" defTabSz="457200" rtl="0" eaLnBrk="1" fontAlgn="auto" latinLnBrk="0" hangingPunct="1">
              <a:lnSpc>
                <a:spcPts val="2304"/>
              </a:lnSpc>
              <a:spcBef>
                <a:spcPts val="0"/>
              </a:spcBef>
              <a:spcAft>
                <a:spcPts val="0"/>
              </a:spcAft>
              <a:buClrTx/>
              <a:buSzTx/>
              <a:buFontTx/>
              <a:buNone/>
              <a:tabLst/>
              <a:defRPr/>
            </a:pPr>
            <a:r>
              <a:rPr kumimoji="0" lang="en-US" sz="1950" b="0" i="0" u="none" strike="noStrike" kern="1200" cap="none" spc="0" normalizeH="0" baseline="0" noProof="0">
                <a:ln>
                  <a:noFill/>
                </a:ln>
                <a:solidFill>
                  <a:prstClr val="white">
                    <a:lumMod val="65000"/>
                  </a:prstClr>
                </a:solidFill>
                <a:effectLst/>
                <a:uLnTx/>
                <a:uFillTx/>
                <a:latin typeface="Fira Sans Medium"/>
                <a:ea typeface="+mn-ea"/>
                <a:cs typeface="+mn-cs"/>
              </a:rPr>
              <a:t>relationships</a:t>
            </a:r>
          </a:p>
        </p:txBody>
      </p:sp>
      <p:sp>
        <p:nvSpPr>
          <p:cNvPr id="104" name="TextBox 103"/>
          <p:cNvSpPr txBox="1"/>
          <p:nvPr/>
        </p:nvSpPr>
        <p:spPr>
          <a:xfrm>
            <a:off x="5112774" y="4602669"/>
            <a:ext cx="6016464" cy="270205"/>
          </a:xfrm>
          <a:prstGeom prst="rect">
            <a:avLst/>
          </a:prstGeom>
          <a:noFill/>
        </p:spPr>
        <p:txBody>
          <a:bodyPr wrap="square" lIns="0" tIns="0" rIns="0" bIns="0" anchor="t">
            <a:noAutofit/>
          </a:bodyPr>
          <a:lstStyle/>
          <a:p>
            <a:pPr marL="0" marR="0" lvl="0" indent="0" algn="l" defTabSz="457200" rtl="0" eaLnBrk="1" fontAlgn="auto" latinLnBrk="0" hangingPunct="1">
              <a:lnSpc>
                <a:spcPts val="1983"/>
              </a:lnSpc>
              <a:spcBef>
                <a:spcPts val="0"/>
              </a:spcBef>
              <a:spcAft>
                <a:spcPts val="0"/>
              </a:spcAft>
              <a:buClrTx/>
              <a:buSzTx/>
              <a:buFontTx/>
              <a:buNone/>
              <a:tabLst/>
              <a:defRPr/>
            </a:pPr>
            <a:r>
              <a:rPr kumimoji="0" lang="en-US" sz="1350" b="0" i="0" u="none" strike="noStrike" kern="1200" cap="none" spc="0" normalizeH="0" baseline="0" noProof="0">
                <a:ln>
                  <a:noFill/>
                </a:ln>
                <a:solidFill>
                  <a:prstClr val="white">
                    <a:lumMod val="65000"/>
                  </a:prstClr>
                </a:solidFill>
                <a:effectLst/>
                <a:uLnTx/>
                <a:uFillTx/>
                <a:latin typeface="Fira Sans"/>
                <a:ea typeface="+mn-ea"/>
                <a:cs typeface="+mn-cs"/>
              </a:rPr>
              <a:t>Needs a visible next move beyond the account.</a:t>
            </a:r>
          </a:p>
        </p:txBody>
      </p:sp>
      <p:sp>
        <p:nvSpPr>
          <p:cNvPr id="105" name="TextBox 104"/>
          <p:cNvSpPr txBox="1"/>
          <p:nvPr/>
        </p:nvSpPr>
        <p:spPr>
          <a:xfrm>
            <a:off x="5112774" y="4916526"/>
            <a:ext cx="6016464" cy="217170"/>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65000"/>
                  </a:prstClr>
                </a:solidFill>
                <a:effectLst/>
                <a:uLnTx/>
                <a:uFillTx/>
                <a:latin typeface="Fira Sans"/>
                <a:ea typeface="+mn-ea"/>
                <a:cs typeface="+mn-cs"/>
              </a:rPr>
              <a:t>Real, and already underway – but a 3% base makes it the narrower path for segment growth.</a:t>
            </a:r>
          </a:p>
        </p:txBody>
      </p:sp>
      <p:cxnSp>
        <p:nvCxnSpPr>
          <p:cNvPr id="106" name="Connector 105"/>
          <p:cNvCxnSpPr/>
          <p:nvPr/>
        </p:nvCxnSpPr>
        <p:spPr>
          <a:xfrm>
            <a:off x="503046" y="5401102"/>
            <a:ext cx="11185908" cy="0"/>
          </a:xfrm>
          <a:prstGeom prst="line">
            <a:avLst/>
          </a:prstGeom>
          <a:ln w="9144">
            <a:solidFill>
              <a:srgbClr val="DDDBCE"/>
            </a:solidFill>
          </a:ln>
          <a:effectLst/>
        </p:spPr>
      </p:cxnSp>
      <p:cxnSp>
        <p:nvCxnSpPr>
          <p:cNvPr id="108" name="Connector 107"/>
          <p:cNvCxnSpPr/>
          <p:nvPr/>
        </p:nvCxnSpPr>
        <p:spPr>
          <a:xfrm>
            <a:off x="503046" y="6414516"/>
            <a:ext cx="11185908" cy="0"/>
          </a:xfrm>
          <a:prstGeom prst="line">
            <a:avLst/>
          </a:prstGeom>
          <a:ln w="9144">
            <a:solidFill>
              <a:srgbClr val="DDDBCE"/>
            </a:solidFill>
          </a:ln>
          <a:effectLst/>
        </p:spPr>
      </p:cxnSp>
      <p:sp>
        <p:nvSpPr>
          <p:cNvPr id="109" name="TextBox 108"/>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Citizens project brief · BCG Wealth Builders segment study · Working sessions,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TextBox 1">
            <a:extLst>
              <a:ext uri="{FF2B5EF4-FFF2-40B4-BE49-F238E27FC236}">
                <a16:creationId xmlns:a16="http://schemas.microsoft.com/office/drawing/2014/main" id="{7CB53EBB-4D9F-376F-9243-A93654C20405}"/>
              </a:ext>
            </a:extLst>
          </p:cNvPr>
          <p:cNvSpPr txBox="1"/>
          <p:nvPr/>
        </p:nvSpPr>
        <p:spPr>
          <a:xfrm>
            <a:off x="415637" y="5606473"/>
            <a:ext cx="8081058"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75000"/>
                  </a:prstClr>
                </a:solidFill>
                <a:effectLst/>
                <a:uLnTx/>
                <a:uFillTx/>
                <a:latin typeface="Fira Sans" panose="020B0503050000020004" pitchFamily="34" charset="0"/>
                <a:ea typeface="+mn-ea"/>
                <a:cs typeface="+mn-cs"/>
              </a:rPr>
              <a:t>Note: this is an ecosystem-led perspective; opportunity sizing / financial analysis would be needed to conclusively validate</a:t>
            </a:r>
          </a:p>
        </p:txBody>
      </p:sp>
    </p:spTree>
    <p:extLst>
      <p:ext uri="{BB962C8B-B14F-4D97-AF65-F5344CB8AC3E}">
        <p14:creationId xmlns:p14="http://schemas.microsoft.com/office/powerpoint/2010/main" val="83139472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4C698BA9-F966-A6FD-CDCD-F9EC68B33E5A}"/>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058F3C4D-C603-4789-85FB-33F99F1C3125}"/>
              </a:ext>
            </a:extLst>
          </p:cNvPr>
          <p:cNvSpPr txBox="1"/>
          <p:nvPr/>
        </p:nvSpPr>
        <p:spPr>
          <a:xfrm>
            <a:off x="503046" y="366045"/>
            <a:ext cx="181508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THE CUSTOMER TO WIN</a:t>
            </a:r>
          </a:p>
        </p:txBody>
      </p:sp>
      <p:sp>
        <p:nvSpPr>
          <p:cNvPr id="92" name="TextBox 91">
            <a:extLst>
              <a:ext uri="{FF2B5EF4-FFF2-40B4-BE49-F238E27FC236}">
                <a16:creationId xmlns:a16="http://schemas.microsoft.com/office/drawing/2014/main" id="{6C41FCEA-D559-D102-8C77-E6F567551B03}"/>
              </a:ext>
            </a:extLst>
          </p:cNvPr>
          <p:cNvSpPr txBox="1"/>
          <p:nvPr/>
        </p:nvSpPr>
        <p:spPr>
          <a:xfrm>
            <a:off x="503046" y="743648"/>
            <a:ext cx="9915572"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However, in today’s ecosystem, a deeper relationship can only be accessed with Quest or Private Client Checking</a:t>
            </a:r>
          </a:p>
        </p:txBody>
      </p:sp>
      <p:sp>
        <p:nvSpPr>
          <p:cNvPr id="93" name="TextBox 92">
            <a:extLst>
              <a:ext uri="{FF2B5EF4-FFF2-40B4-BE49-F238E27FC236}">
                <a16:creationId xmlns:a16="http://schemas.microsoft.com/office/drawing/2014/main" id="{693C0882-36FB-0CC8-0F4E-11811C625141}"/>
              </a:ext>
            </a:extLst>
          </p:cNvPr>
          <p:cNvSpPr txBox="1"/>
          <p:nvPr/>
        </p:nvSpPr>
        <p:spPr>
          <a:xfrm>
            <a:off x="503046" y="2064957"/>
            <a:ext cx="8585536"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Medium"/>
                <a:ea typeface="+mn-ea"/>
                <a:cs typeface="+mn-cs"/>
              </a:rPr>
              <a:t>There are viable Wealth Builder paths into Citizens that the ecosystem isn’t designed for right now.</a:t>
            </a:r>
          </a:p>
        </p:txBody>
      </p:sp>
      <p:sp>
        <p:nvSpPr>
          <p:cNvPr id="94" name="TextBox 93">
            <a:extLst>
              <a:ext uri="{FF2B5EF4-FFF2-40B4-BE49-F238E27FC236}">
                <a16:creationId xmlns:a16="http://schemas.microsoft.com/office/drawing/2014/main" id="{F3A9C4B8-21F6-8037-A3C8-CDE7B71294B5}"/>
              </a:ext>
            </a:extLst>
          </p:cNvPr>
          <p:cNvSpPr txBox="1"/>
          <p:nvPr/>
        </p:nvSpPr>
        <p:spPr>
          <a:xfrm>
            <a:off x="594783" y="2979990"/>
            <a:ext cx="3687874" cy="192024"/>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86" normalizeH="0" baseline="0" noProof="0">
                <a:ln>
                  <a:noFill/>
                </a:ln>
                <a:solidFill>
                  <a:srgbClr val="575757"/>
                </a:solidFill>
                <a:effectLst/>
                <a:uLnTx/>
                <a:uFillTx/>
                <a:latin typeface="Fira Sans SemiBold"/>
                <a:ea typeface="+mn-ea"/>
                <a:cs typeface="+mn-cs"/>
              </a:rPr>
              <a:t>CASE 1 · $</a:t>
            </a:r>
            <a:r>
              <a:rPr kumimoji="0" lang="en-US" sz="950" b="0" i="0" u="none" strike="noStrike" kern="1200" cap="none" spc="86" normalizeH="0" baseline="0" noProof="0">
                <a:ln>
                  <a:noFill/>
                </a:ln>
                <a:solidFill>
                  <a:srgbClr val="575757"/>
                </a:solidFill>
                <a:effectLst/>
                <a:uLnTx/>
                <a:uFillTx/>
                <a:latin typeface="Fira Sans SemiBold"/>
                <a:ea typeface="+mn-ea"/>
                <a:cs typeface="+mn-cs"/>
              </a:rPr>
              <a:t>2</a:t>
            </a:r>
            <a:r>
              <a:rPr kumimoji="0" sz="950" b="0" i="0" u="none" strike="noStrike" kern="1200" cap="none" spc="86" normalizeH="0" baseline="0" noProof="0">
                <a:ln>
                  <a:noFill/>
                </a:ln>
                <a:solidFill>
                  <a:srgbClr val="575757"/>
                </a:solidFill>
                <a:effectLst/>
                <a:uLnTx/>
                <a:uFillTx/>
                <a:latin typeface="Fira Sans SemiBold"/>
                <a:ea typeface="+mn-ea"/>
                <a:cs typeface="+mn-cs"/>
              </a:rPr>
              <a:t>00K IN BALANCES, NO QUALIFYING CHECKING</a:t>
            </a:r>
          </a:p>
        </p:txBody>
      </p:sp>
      <p:sp>
        <p:nvSpPr>
          <p:cNvPr id="95" name="Rounded Rectangle 94">
            <a:extLst>
              <a:ext uri="{FF2B5EF4-FFF2-40B4-BE49-F238E27FC236}">
                <a16:creationId xmlns:a16="http://schemas.microsoft.com/office/drawing/2014/main" id="{50DFE1B6-B032-395B-0DEE-762F830DBDB2}"/>
              </a:ext>
            </a:extLst>
          </p:cNvPr>
          <p:cNvSpPr/>
          <p:nvPr/>
        </p:nvSpPr>
        <p:spPr>
          <a:xfrm>
            <a:off x="594783" y="3355534"/>
            <a:ext cx="1191944" cy="421630"/>
          </a:xfrm>
          <a:prstGeom prst="roundRect">
            <a:avLst>
              <a:gd name="adj" fmla="val 13034"/>
            </a:avLst>
          </a:prstGeom>
          <a:solidFill>
            <a:srgbClr val="E7EDF3"/>
          </a:solidFill>
          <a:ln w="11887">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 name="TextBox 95">
            <a:extLst>
              <a:ext uri="{FF2B5EF4-FFF2-40B4-BE49-F238E27FC236}">
                <a16:creationId xmlns:a16="http://schemas.microsoft.com/office/drawing/2014/main" id="{9125A4E7-740C-91A6-C520-4D0EA9642DE2}"/>
              </a:ext>
            </a:extLst>
          </p:cNvPr>
          <p:cNvSpPr txBox="1"/>
          <p:nvPr/>
        </p:nvSpPr>
        <p:spPr>
          <a:xfrm>
            <a:off x="726078" y="3456667"/>
            <a:ext cx="929354"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3A5570"/>
                </a:solidFill>
                <a:effectLst/>
                <a:uLnTx/>
                <a:uFillTx/>
                <a:latin typeface="Fira Sans"/>
                <a:ea typeface="+mn-ea"/>
                <a:cs typeface="+mn-cs"/>
              </a:rPr>
              <a:t>Money market</a:t>
            </a:r>
          </a:p>
        </p:txBody>
      </p:sp>
      <p:sp>
        <p:nvSpPr>
          <p:cNvPr id="97" name="Rounded Rectangle 96">
            <a:extLst>
              <a:ext uri="{FF2B5EF4-FFF2-40B4-BE49-F238E27FC236}">
                <a16:creationId xmlns:a16="http://schemas.microsoft.com/office/drawing/2014/main" id="{A52E1D3C-9BA4-EC72-EFF1-430160906714}"/>
              </a:ext>
            </a:extLst>
          </p:cNvPr>
          <p:cNvSpPr/>
          <p:nvPr/>
        </p:nvSpPr>
        <p:spPr>
          <a:xfrm>
            <a:off x="1896757" y="3355534"/>
            <a:ext cx="1191944" cy="421630"/>
          </a:xfrm>
          <a:prstGeom prst="roundRect">
            <a:avLst>
              <a:gd name="adj" fmla="val 13034"/>
            </a:avLst>
          </a:prstGeom>
          <a:solidFill>
            <a:srgbClr val="E7EDF3"/>
          </a:solidFill>
          <a:ln w="11887">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076466F2-0FE2-B373-3B8A-7424B26EFF85}"/>
              </a:ext>
            </a:extLst>
          </p:cNvPr>
          <p:cNvSpPr txBox="1"/>
          <p:nvPr/>
        </p:nvSpPr>
        <p:spPr>
          <a:xfrm>
            <a:off x="2229270" y="3456667"/>
            <a:ext cx="526918"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3A5570"/>
                </a:solidFill>
                <a:effectLst/>
                <a:uLnTx/>
                <a:uFillTx/>
                <a:latin typeface="Fira Sans"/>
                <a:ea typeface="+mn-ea"/>
                <a:cs typeface="+mn-cs"/>
              </a:rPr>
              <a:t>Savings</a:t>
            </a:r>
          </a:p>
        </p:txBody>
      </p:sp>
      <p:sp>
        <p:nvSpPr>
          <p:cNvPr id="99" name="Rounded Rectangle 98">
            <a:extLst>
              <a:ext uri="{FF2B5EF4-FFF2-40B4-BE49-F238E27FC236}">
                <a16:creationId xmlns:a16="http://schemas.microsoft.com/office/drawing/2014/main" id="{4072FA33-C3F4-F7E4-F3C5-61565136F73D}"/>
              </a:ext>
            </a:extLst>
          </p:cNvPr>
          <p:cNvSpPr/>
          <p:nvPr/>
        </p:nvSpPr>
        <p:spPr>
          <a:xfrm>
            <a:off x="3198731" y="3355534"/>
            <a:ext cx="1191853" cy="421630"/>
          </a:xfrm>
          <a:prstGeom prst="roundRect">
            <a:avLst>
              <a:gd name="adj" fmla="val 13034"/>
            </a:avLst>
          </a:prstGeom>
          <a:solidFill>
            <a:srgbClr val="E7EDF3"/>
          </a:solidFill>
          <a:ln w="11887">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TextBox 99">
            <a:extLst>
              <a:ext uri="{FF2B5EF4-FFF2-40B4-BE49-F238E27FC236}">
                <a16:creationId xmlns:a16="http://schemas.microsoft.com/office/drawing/2014/main" id="{FC54CE62-ACD3-383C-AE34-DCCAA8EF5577}"/>
              </a:ext>
            </a:extLst>
          </p:cNvPr>
          <p:cNvSpPr txBox="1"/>
          <p:nvPr/>
        </p:nvSpPr>
        <p:spPr>
          <a:xfrm>
            <a:off x="3431275" y="3456667"/>
            <a:ext cx="726855"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3A5570"/>
                </a:solidFill>
                <a:effectLst/>
                <a:uLnTx/>
                <a:uFillTx/>
                <a:latin typeface="Fira Sans"/>
                <a:ea typeface="+mn-ea"/>
                <a:cs typeface="+mn-cs"/>
              </a:rPr>
              <a:t>Credit card</a:t>
            </a:r>
          </a:p>
        </p:txBody>
      </p:sp>
      <p:sp>
        <p:nvSpPr>
          <p:cNvPr id="101" name="Rounded Rectangle 100">
            <a:extLst>
              <a:ext uri="{FF2B5EF4-FFF2-40B4-BE49-F238E27FC236}">
                <a16:creationId xmlns:a16="http://schemas.microsoft.com/office/drawing/2014/main" id="{9CE8A3C4-AED6-F549-70E3-40D477DF6D76}"/>
              </a:ext>
            </a:extLst>
          </p:cNvPr>
          <p:cNvSpPr/>
          <p:nvPr/>
        </p:nvSpPr>
        <p:spPr>
          <a:xfrm>
            <a:off x="4500613" y="3355534"/>
            <a:ext cx="1191944" cy="421630"/>
          </a:xfrm>
          <a:prstGeom prst="roundRect">
            <a:avLst>
              <a:gd name="adj" fmla="val 13034"/>
            </a:avLst>
          </a:prstGeom>
          <a:solidFill>
            <a:srgbClr val="E7EDF3"/>
          </a:solidFill>
          <a:ln w="11887">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TextBox 101">
            <a:extLst>
              <a:ext uri="{FF2B5EF4-FFF2-40B4-BE49-F238E27FC236}">
                <a16:creationId xmlns:a16="http://schemas.microsoft.com/office/drawing/2014/main" id="{CCD931F2-C69C-8143-A272-A5BDBC993310}"/>
              </a:ext>
            </a:extLst>
          </p:cNvPr>
          <p:cNvSpPr txBox="1"/>
          <p:nvPr/>
        </p:nvSpPr>
        <p:spPr>
          <a:xfrm>
            <a:off x="4782319" y="3456667"/>
            <a:ext cx="628533"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3A5570"/>
                </a:solidFill>
                <a:effectLst/>
                <a:uLnTx/>
                <a:uFillTx/>
                <a:latin typeface="Fira Sans"/>
                <a:ea typeface="+mn-ea"/>
                <a:cs typeface="+mn-cs"/>
              </a:rPr>
              <a:t>Mortgage</a:t>
            </a:r>
          </a:p>
        </p:txBody>
      </p:sp>
      <p:cxnSp>
        <p:nvCxnSpPr>
          <p:cNvPr id="103" name="Connector 102">
            <a:extLst>
              <a:ext uri="{FF2B5EF4-FFF2-40B4-BE49-F238E27FC236}">
                <a16:creationId xmlns:a16="http://schemas.microsoft.com/office/drawing/2014/main" id="{34303C3F-C0D9-99E8-3153-A6E25C2D1C13}"/>
              </a:ext>
            </a:extLst>
          </p:cNvPr>
          <p:cNvCxnSpPr/>
          <p:nvPr/>
        </p:nvCxnSpPr>
        <p:spPr>
          <a:xfrm>
            <a:off x="5820971" y="3566303"/>
            <a:ext cx="1026854" cy="0"/>
          </a:xfrm>
          <a:prstGeom prst="line">
            <a:avLst/>
          </a:prstGeom>
          <a:ln w="16459">
            <a:solidFill>
              <a:srgbClr val="232422"/>
            </a:solidFill>
          </a:ln>
          <a:effectLst/>
        </p:spPr>
      </p:cxnSp>
      <p:cxnSp>
        <p:nvCxnSpPr>
          <p:cNvPr id="104" name="Connector 103">
            <a:extLst>
              <a:ext uri="{FF2B5EF4-FFF2-40B4-BE49-F238E27FC236}">
                <a16:creationId xmlns:a16="http://schemas.microsoft.com/office/drawing/2014/main" id="{C13C1001-31A7-64A0-D9D3-A714E30CA293}"/>
              </a:ext>
            </a:extLst>
          </p:cNvPr>
          <p:cNvCxnSpPr/>
          <p:nvPr/>
        </p:nvCxnSpPr>
        <p:spPr>
          <a:xfrm>
            <a:off x="6866209" y="3483825"/>
            <a:ext cx="0" cy="165049"/>
          </a:xfrm>
          <a:prstGeom prst="line">
            <a:avLst/>
          </a:prstGeom>
          <a:ln w="22951">
            <a:solidFill>
              <a:srgbClr val="232422"/>
            </a:solidFill>
          </a:ln>
          <a:effectLst/>
        </p:spPr>
      </p:cxnSp>
      <p:sp>
        <p:nvSpPr>
          <p:cNvPr id="105" name="TextBox 104">
            <a:extLst>
              <a:ext uri="{FF2B5EF4-FFF2-40B4-BE49-F238E27FC236}">
                <a16:creationId xmlns:a16="http://schemas.microsoft.com/office/drawing/2014/main" id="{F4590A76-CC63-E2D2-6A55-F1E32C00C195}"/>
              </a:ext>
            </a:extLst>
          </p:cNvPr>
          <p:cNvSpPr txBox="1"/>
          <p:nvPr/>
        </p:nvSpPr>
        <p:spPr>
          <a:xfrm>
            <a:off x="594783" y="4721648"/>
            <a:ext cx="3807325" cy="192024"/>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86" normalizeH="0" baseline="0" noProof="0">
                <a:ln>
                  <a:noFill/>
                </a:ln>
                <a:solidFill>
                  <a:srgbClr val="575757"/>
                </a:solidFill>
                <a:effectLst/>
                <a:uLnTx/>
                <a:uFillTx/>
                <a:latin typeface="Fira Sans SemiBold"/>
                <a:ea typeface="+mn-ea"/>
                <a:cs typeface="+mn-cs"/>
              </a:rPr>
              <a:t>CASE 2 · CHECKING HERE, PRIMARY CHECKING ELSEWHERE</a:t>
            </a:r>
          </a:p>
        </p:txBody>
      </p:sp>
      <p:sp>
        <p:nvSpPr>
          <p:cNvPr id="106" name="Rounded Rectangle 105">
            <a:extLst>
              <a:ext uri="{FF2B5EF4-FFF2-40B4-BE49-F238E27FC236}">
                <a16:creationId xmlns:a16="http://schemas.microsoft.com/office/drawing/2014/main" id="{51142F21-829B-1E27-69CB-465E565DC2E6}"/>
              </a:ext>
            </a:extLst>
          </p:cNvPr>
          <p:cNvSpPr/>
          <p:nvPr/>
        </p:nvSpPr>
        <p:spPr>
          <a:xfrm>
            <a:off x="594783" y="5042145"/>
            <a:ext cx="1558710" cy="421630"/>
          </a:xfrm>
          <a:prstGeom prst="roundRect">
            <a:avLst>
              <a:gd name="adj" fmla="val 13034"/>
            </a:avLst>
          </a:prstGeom>
          <a:solidFill>
            <a:srgbClr val="E7EDF3"/>
          </a:solidFill>
          <a:ln w="11887">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7" name="TextBox 106">
            <a:extLst>
              <a:ext uri="{FF2B5EF4-FFF2-40B4-BE49-F238E27FC236}">
                <a16:creationId xmlns:a16="http://schemas.microsoft.com/office/drawing/2014/main" id="{2E42F031-2649-8686-207F-979ECC8DD580}"/>
              </a:ext>
            </a:extLst>
          </p:cNvPr>
          <p:cNvSpPr txBox="1"/>
          <p:nvPr/>
        </p:nvSpPr>
        <p:spPr>
          <a:xfrm>
            <a:off x="772861" y="5143278"/>
            <a:ext cx="1202554"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3A5570"/>
                </a:solidFill>
                <a:effectLst/>
                <a:uLnTx/>
                <a:uFillTx/>
                <a:latin typeface="Fira Sans"/>
                <a:ea typeface="+mn-ea"/>
                <a:cs typeface="+mn-cs"/>
              </a:rPr>
              <a:t>One Deposit · $</a:t>
            </a:r>
            <a:r>
              <a:rPr kumimoji="0" lang="en-US" sz="1050" b="0" i="0" u="none" strike="noStrike" kern="1200" cap="none" spc="0" normalizeH="0" baseline="0" noProof="0">
                <a:ln>
                  <a:noFill/>
                </a:ln>
                <a:solidFill>
                  <a:srgbClr val="3A5570"/>
                </a:solidFill>
                <a:effectLst/>
                <a:uLnTx/>
                <a:uFillTx/>
                <a:latin typeface="Fira Sans"/>
                <a:ea typeface="+mn-ea"/>
                <a:cs typeface="+mn-cs"/>
              </a:rPr>
              <a:t>50K</a:t>
            </a:r>
            <a:endParaRPr kumimoji="0" sz="1050" b="0" i="0" u="none" strike="noStrike" kern="1200" cap="none" spc="0" normalizeH="0" baseline="0" noProof="0">
              <a:ln>
                <a:noFill/>
              </a:ln>
              <a:solidFill>
                <a:srgbClr val="3A5570"/>
              </a:solidFill>
              <a:effectLst/>
              <a:uLnTx/>
              <a:uFillTx/>
              <a:latin typeface="Fira Sans"/>
              <a:ea typeface="+mn-ea"/>
              <a:cs typeface="+mn-cs"/>
            </a:endParaRPr>
          </a:p>
        </p:txBody>
      </p:sp>
      <p:sp>
        <p:nvSpPr>
          <p:cNvPr id="108" name="TextBox 107">
            <a:extLst>
              <a:ext uri="{FF2B5EF4-FFF2-40B4-BE49-F238E27FC236}">
                <a16:creationId xmlns:a16="http://schemas.microsoft.com/office/drawing/2014/main" id="{80A3BB33-3221-CD62-8C42-D4582C9A0690}"/>
              </a:ext>
            </a:extLst>
          </p:cNvPr>
          <p:cNvSpPr txBox="1"/>
          <p:nvPr/>
        </p:nvSpPr>
        <p:spPr>
          <a:xfrm>
            <a:off x="2300200" y="5177222"/>
            <a:ext cx="3338600" cy="156778"/>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a real balance – but their primary checking </a:t>
            </a:r>
            <a:r>
              <a:rPr kumimoji="0" lang="en-US" sz="1000" b="0" i="0" u="none" strike="noStrike" kern="1200" cap="none" spc="0" normalizeH="0" baseline="0" noProof="0">
                <a:ln>
                  <a:noFill/>
                </a:ln>
                <a:solidFill>
                  <a:srgbClr val="575757"/>
                </a:solidFill>
                <a:effectLst/>
                <a:uLnTx/>
                <a:uFillTx/>
                <a:latin typeface="Fira Sans"/>
                <a:ea typeface="+mn-ea"/>
                <a:cs typeface="+mn-cs"/>
              </a:rPr>
              <a:t>is </a:t>
            </a:r>
            <a:r>
              <a:rPr kumimoji="0" sz="1000" b="0" i="0" u="none" strike="noStrike" kern="1200" cap="none" spc="0" normalizeH="0" baseline="0" noProof="0">
                <a:ln>
                  <a:noFill/>
                </a:ln>
                <a:solidFill>
                  <a:srgbClr val="575757"/>
                </a:solidFill>
                <a:effectLst/>
                <a:uLnTx/>
                <a:uFillTx/>
                <a:latin typeface="Fira Sans"/>
                <a:ea typeface="+mn-ea"/>
                <a:cs typeface="+mn-cs"/>
              </a:rPr>
              <a:t>elsewhere,</a:t>
            </a:r>
            <a:r>
              <a:rPr kumimoji="0" lang="en-US" sz="1000" b="0" i="0" u="none" strike="noStrike" kern="1200" cap="none" spc="0" normalizeH="0" baseline="0" noProof="0">
                <a:ln>
                  <a:noFill/>
                </a:ln>
                <a:solidFill>
                  <a:srgbClr val="575757"/>
                </a:solidFill>
                <a:effectLst/>
                <a:uLnTx/>
                <a:uFillTx/>
                <a:latin typeface="Fira Sans"/>
                <a:ea typeface="+mn-ea"/>
                <a:cs typeface="+mn-cs"/>
              </a:rPr>
              <a:t> so the ecosystem gives no obvious reason to switch</a:t>
            </a:r>
          </a:p>
        </p:txBody>
      </p:sp>
      <p:cxnSp>
        <p:nvCxnSpPr>
          <p:cNvPr id="110" name="Connector 109">
            <a:extLst>
              <a:ext uri="{FF2B5EF4-FFF2-40B4-BE49-F238E27FC236}">
                <a16:creationId xmlns:a16="http://schemas.microsoft.com/office/drawing/2014/main" id="{B3DB241E-1A98-9219-0003-353AB77F3455}"/>
              </a:ext>
            </a:extLst>
          </p:cNvPr>
          <p:cNvCxnSpPr/>
          <p:nvPr/>
        </p:nvCxnSpPr>
        <p:spPr>
          <a:xfrm>
            <a:off x="5820971" y="5252914"/>
            <a:ext cx="1026854" cy="0"/>
          </a:xfrm>
          <a:prstGeom prst="line">
            <a:avLst/>
          </a:prstGeom>
          <a:ln w="16459">
            <a:solidFill>
              <a:srgbClr val="232422"/>
            </a:solidFill>
          </a:ln>
          <a:effectLst/>
        </p:spPr>
      </p:cxnSp>
      <p:cxnSp>
        <p:nvCxnSpPr>
          <p:cNvPr id="111" name="Connector 110">
            <a:extLst>
              <a:ext uri="{FF2B5EF4-FFF2-40B4-BE49-F238E27FC236}">
                <a16:creationId xmlns:a16="http://schemas.microsoft.com/office/drawing/2014/main" id="{68B07172-D998-A230-E2AE-95887C61A943}"/>
              </a:ext>
            </a:extLst>
          </p:cNvPr>
          <p:cNvCxnSpPr/>
          <p:nvPr/>
        </p:nvCxnSpPr>
        <p:spPr>
          <a:xfrm>
            <a:off x="6866209" y="5170435"/>
            <a:ext cx="0" cy="165050"/>
          </a:xfrm>
          <a:prstGeom prst="line">
            <a:avLst/>
          </a:prstGeom>
          <a:ln w="22951">
            <a:solidFill>
              <a:srgbClr val="232422"/>
            </a:solidFill>
          </a:ln>
          <a:effectLst/>
        </p:spPr>
      </p:cxnSp>
      <p:sp>
        <p:nvSpPr>
          <p:cNvPr id="112" name="Rectangle 111">
            <a:extLst>
              <a:ext uri="{FF2B5EF4-FFF2-40B4-BE49-F238E27FC236}">
                <a16:creationId xmlns:a16="http://schemas.microsoft.com/office/drawing/2014/main" id="{B871925F-07C7-E1F7-EA7F-E12E823C6AC8}"/>
              </a:ext>
            </a:extLst>
          </p:cNvPr>
          <p:cNvSpPr/>
          <p:nvPr/>
        </p:nvSpPr>
        <p:spPr>
          <a:xfrm>
            <a:off x="6902885" y="3245532"/>
            <a:ext cx="128322" cy="934974"/>
          </a:xfrm>
          <a:prstGeom prst="rect">
            <a:avLst/>
          </a:prstGeom>
          <a:solidFill>
            <a:srgbClr val="C9C5B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3" name="Rectangle 112">
            <a:extLst>
              <a:ext uri="{FF2B5EF4-FFF2-40B4-BE49-F238E27FC236}">
                <a16:creationId xmlns:a16="http://schemas.microsoft.com/office/drawing/2014/main" id="{F073B293-AE05-9FFC-E623-B1A40362F3A2}"/>
              </a:ext>
            </a:extLst>
          </p:cNvPr>
          <p:cNvSpPr/>
          <p:nvPr/>
        </p:nvSpPr>
        <p:spPr>
          <a:xfrm>
            <a:off x="6902885" y="4712138"/>
            <a:ext cx="128322" cy="898307"/>
          </a:xfrm>
          <a:prstGeom prst="rect">
            <a:avLst/>
          </a:prstGeom>
          <a:solidFill>
            <a:srgbClr val="C9C5B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4" name="TextBox 113">
            <a:extLst>
              <a:ext uri="{FF2B5EF4-FFF2-40B4-BE49-F238E27FC236}">
                <a16:creationId xmlns:a16="http://schemas.microsoft.com/office/drawing/2014/main" id="{597D41FE-7173-0A53-6CFA-2C50A000F87C}"/>
              </a:ext>
            </a:extLst>
          </p:cNvPr>
          <p:cNvSpPr txBox="1"/>
          <p:nvPr/>
        </p:nvSpPr>
        <p:spPr>
          <a:xfrm>
            <a:off x="5454205" y="3988485"/>
            <a:ext cx="1186822" cy="173736"/>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72" normalizeH="0" baseline="0" noProof="0">
                <a:ln>
                  <a:noFill/>
                </a:ln>
                <a:solidFill>
                  <a:srgbClr val="8F5C20"/>
                </a:solidFill>
                <a:effectLst/>
                <a:uLnTx/>
                <a:uFillTx/>
                <a:latin typeface="Fira Sans SemiBold"/>
                <a:ea typeface="+mn-ea"/>
                <a:cs typeface="+mn-cs"/>
              </a:rPr>
              <a:t>THE ONE OPENING</a:t>
            </a:r>
          </a:p>
        </p:txBody>
      </p:sp>
      <p:sp>
        <p:nvSpPr>
          <p:cNvPr id="115" name="Rounded Rectangle 114">
            <a:extLst>
              <a:ext uri="{FF2B5EF4-FFF2-40B4-BE49-F238E27FC236}">
                <a16:creationId xmlns:a16="http://schemas.microsoft.com/office/drawing/2014/main" id="{99800E1D-1957-B57B-4ADB-27493CA99D68}"/>
              </a:ext>
            </a:extLst>
          </p:cNvPr>
          <p:cNvSpPr/>
          <p:nvPr/>
        </p:nvSpPr>
        <p:spPr>
          <a:xfrm>
            <a:off x="5454205" y="4217173"/>
            <a:ext cx="1687033" cy="439918"/>
          </a:xfrm>
          <a:prstGeom prst="roundRect">
            <a:avLst>
              <a:gd name="adj" fmla="val 12492"/>
            </a:avLst>
          </a:prstGeom>
          <a:solidFill>
            <a:srgbClr val="F6EAD6"/>
          </a:solidFill>
          <a:ln w="14630">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6" name="TextBox 115">
            <a:extLst>
              <a:ext uri="{FF2B5EF4-FFF2-40B4-BE49-F238E27FC236}">
                <a16:creationId xmlns:a16="http://schemas.microsoft.com/office/drawing/2014/main" id="{E533AC99-25F7-173A-BE5D-E1FEB4EC92FC}"/>
              </a:ext>
            </a:extLst>
          </p:cNvPr>
          <p:cNvSpPr txBox="1"/>
          <p:nvPr/>
        </p:nvSpPr>
        <p:spPr>
          <a:xfrm>
            <a:off x="5628396" y="4263351"/>
            <a:ext cx="1338559"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A5A1E"/>
                </a:solidFill>
                <a:effectLst/>
                <a:uLnTx/>
                <a:uFillTx/>
                <a:latin typeface="Fira Sans Medium"/>
                <a:ea typeface="+mn-ea"/>
                <a:cs typeface="+mn-cs"/>
              </a:rPr>
              <a:t>Quest or Private Client</a:t>
            </a:r>
          </a:p>
        </p:txBody>
      </p:sp>
      <p:sp>
        <p:nvSpPr>
          <p:cNvPr id="117" name="TextBox 116">
            <a:extLst>
              <a:ext uri="{FF2B5EF4-FFF2-40B4-BE49-F238E27FC236}">
                <a16:creationId xmlns:a16="http://schemas.microsoft.com/office/drawing/2014/main" id="{35BB1E82-9FBC-869D-192F-757DCA741A74}"/>
              </a:ext>
            </a:extLst>
          </p:cNvPr>
          <p:cNvSpPr txBox="1"/>
          <p:nvPr/>
        </p:nvSpPr>
        <p:spPr>
          <a:xfrm>
            <a:off x="6014369" y="4428308"/>
            <a:ext cx="566612"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A5A1E"/>
                </a:solidFill>
                <a:effectLst/>
                <a:uLnTx/>
                <a:uFillTx/>
                <a:latin typeface="Fira Sans"/>
                <a:ea typeface="+mn-ea"/>
                <a:cs typeface="+mn-cs"/>
              </a:rPr>
              <a:t>checking</a:t>
            </a:r>
          </a:p>
        </p:txBody>
      </p:sp>
      <p:cxnSp>
        <p:nvCxnSpPr>
          <p:cNvPr id="118" name="Connector 117">
            <a:extLst>
              <a:ext uri="{FF2B5EF4-FFF2-40B4-BE49-F238E27FC236}">
                <a16:creationId xmlns:a16="http://schemas.microsoft.com/office/drawing/2014/main" id="{91657246-A49E-7B4A-0396-6DADA9D7714B}"/>
              </a:ext>
            </a:extLst>
          </p:cNvPr>
          <p:cNvCxnSpPr/>
          <p:nvPr/>
        </p:nvCxnSpPr>
        <p:spPr>
          <a:xfrm>
            <a:off x="7177914" y="4437178"/>
            <a:ext cx="458412" cy="0"/>
          </a:xfrm>
          <a:prstGeom prst="line">
            <a:avLst/>
          </a:prstGeom>
          <a:ln w="16459">
            <a:solidFill>
              <a:srgbClr val="8F5C20"/>
            </a:solidFill>
          </a:ln>
          <a:effectLst/>
        </p:spPr>
      </p:cxnSp>
      <p:sp>
        <p:nvSpPr>
          <p:cNvPr id="2" name="Freeform 1">
            <a:extLst>
              <a:ext uri="{FF2B5EF4-FFF2-40B4-BE49-F238E27FC236}">
                <a16:creationId xmlns:a16="http://schemas.microsoft.com/office/drawing/2014/main" id="{ED423D0E-52EA-8C45-882A-856E62AC87DB}"/>
              </a:ext>
            </a:extLst>
          </p:cNvPr>
          <p:cNvSpPr/>
          <p:nvPr/>
        </p:nvSpPr>
        <p:spPr>
          <a:xfrm>
            <a:off x="7636326" y="4387343"/>
            <a:ext cx="91737" cy="99578"/>
          </a:xfrm>
          <a:custGeom>
            <a:avLst/>
            <a:gdLst/>
            <a:ahLst/>
            <a:cxnLst/>
            <a:rect l="l" t="t" r="r" b="b"/>
            <a:pathLst>
              <a:path w="91737" h="99578">
                <a:moveTo>
                  <a:pt x="91737" y="49835"/>
                </a:moveTo>
                <a:lnTo>
                  <a:pt x="1098" y="0"/>
                </a:lnTo>
                <a:lnTo>
                  <a:pt x="0" y="88514"/>
                </a:lnTo>
                <a:lnTo>
                  <a:pt x="1098" y="99578"/>
                </a:lnTo>
                <a:lnTo>
                  <a:pt x="91737" y="49835"/>
                </a:lnTo>
                <a:close/>
              </a:path>
            </a:pathLst>
          </a:custGeom>
          <a:solidFill>
            <a:srgbClr val="8F5C20"/>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9" name="TextBox 118">
            <a:extLst>
              <a:ext uri="{FF2B5EF4-FFF2-40B4-BE49-F238E27FC236}">
                <a16:creationId xmlns:a16="http://schemas.microsoft.com/office/drawing/2014/main" id="{EE39DD1B-8583-B6C2-8A53-67219B866EBC}"/>
              </a:ext>
            </a:extLst>
          </p:cNvPr>
          <p:cNvSpPr txBox="1"/>
          <p:nvPr/>
        </p:nvSpPr>
        <p:spPr>
          <a:xfrm>
            <a:off x="7746356" y="2979990"/>
            <a:ext cx="1830995" cy="192024"/>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86" normalizeH="0" baseline="0" noProof="0">
                <a:ln>
                  <a:noFill/>
                </a:ln>
                <a:solidFill>
                  <a:srgbClr val="575757"/>
                </a:solidFill>
                <a:effectLst/>
                <a:uLnTx/>
                <a:uFillTx/>
                <a:latin typeface="Fira Sans SemiBold"/>
                <a:ea typeface="+mn-ea"/>
                <a:cs typeface="+mn-cs"/>
              </a:rPr>
              <a:t>THE DEEPER RELATIONSHIP</a:t>
            </a:r>
          </a:p>
        </p:txBody>
      </p:sp>
      <p:sp>
        <p:nvSpPr>
          <p:cNvPr id="120" name="Rounded Rectangle 119">
            <a:extLst>
              <a:ext uri="{FF2B5EF4-FFF2-40B4-BE49-F238E27FC236}">
                <a16:creationId xmlns:a16="http://schemas.microsoft.com/office/drawing/2014/main" id="{5B8E4A20-0265-34B1-C221-42F864CB24E0}"/>
              </a:ext>
            </a:extLst>
          </p:cNvPr>
          <p:cNvSpPr/>
          <p:nvPr/>
        </p:nvSpPr>
        <p:spPr>
          <a:xfrm>
            <a:off x="7746356" y="3355534"/>
            <a:ext cx="3484095" cy="549920"/>
          </a:xfrm>
          <a:prstGeom prst="roundRect">
            <a:avLst>
              <a:gd name="adj" fmla="val 9993"/>
            </a:avLst>
          </a:prstGeom>
          <a:solidFill>
            <a:srgbClr val="F6EAD6"/>
          </a:solidFill>
          <a:ln w="1188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1" name="TextBox 120">
            <a:extLst>
              <a:ext uri="{FF2B5EF4-FFF2-40B4-BE49-F238E27FC236}">
                <a16:creationId xmlns:a16="http://schemas.microsoft.com/office/drawing/2014/main" id="{1B04CBF8-D578-1BBC-AC7E-80DDD033B017}"/>
              </a:ext>
            </a:extLst>
          </p:cNvPr>
          <p:cNvSpPr txBox="1"/>
          <p:nvPr/>
        </p:nvSpPr>
        <p:spPr>
          <a:xfrm>
            <a:off x="8424507" y="3520858"/>
            <a:ext cx="2127884" cy="210312"/>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8F5C20"/>
                </a:solidFill>
                <a:effectLst/>
                <a:uLnTx/>
                <a:uFillTx/>
                <a:latin typeface="Fira Sans Medium"/>
                <a:ea typeface="+mn-ea"/>
                <a:cs typeface="+mn-cs"/>
              </a:rPr>
              <a:t>Recognized status · CitizensPlus</a:t>
            </a:r>
          </a:p>
        </p:txBody>
      </p:sp>
      <p:sp>
        <p:nvSpPr>
          <p:cNvPr id="122" name="Rounded Rectangle 121">
            <a:extLst>
              <a:ext uri="{FF2B5EF4-FFF2-40B4-BE49-F238E27FC236}">
                <a16:creationId xmlns:a16="http://schemas.microsoft.com/office/drawing/2014/main" id="{C99CD858-6A8D-3B73-6A63-2FFDE834550A}"/>
              </a:ext>
            </a:extLst>
          </p:cNvPr>
          <p:cNvSpPr/>
          <p:nvPr/>
        </p:nvSpPr>
        <p:spPr>
          <a:xfrm>
            <a:off x="7746356" y="4162127"/>
            <a:ext cx="3484095" cy="550012"/>
          </a:xfrm>
          <a:prstGeom prst="roundRect">
            <a:avLst>
              <a:gd name="adj" fmla="val 9991"/>
            </a:avLst>
          </a:prstGeom>
          <a:solidFill>
            <a:srgbClr val="E6EFE1"/>
          </a:solidFill>
          <a:ln w="11887">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3" name="TextBox 122">
            <a:extLst>
              <a:ext uri="{FF2B5EF4-FFF2-40B4-BE49-F238E27FC236}">
                <a16:creationId xmlns:a16="http://schemas.microsoft.com/office/drawing/2014/main" id="{8BD2AFF7-CDFB-D4CC-59D1-B71523558D8C}"/>
              </a:ext>
            </a:extLst>
          </p:cNvPr>
          <p:cNvSpPr txBox="1"/>
          <p:nvPr/>
        </p:nvSpPr>
        <p:spPr>
          <a:xfrm>
            <a:off x="8762737" y="4327541"/>
            <a:ext cx="1451424" cy="210312"/>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42603E"/>
                </a:solidFill>
                <a:effectLst/>
                <a:uLnTx/>
                <a:uFillTx/>
                <a:latin typeface="Fira Sans Medium"/>
                <a:ea typeface="+mn-ea"/>
                <a:cs typeface="+mn-cs"/>
              </a:rPr>
              <a:t>Relationship benefits</a:t>
            </a:r>
          </a:p>
        </p:txBody>
      </p:sp>
      <p:sp>
        <p:nvSpPr>
          <p:cNvPr id="124" name="Rounded Rectangle 123">
            <a:extLst>
              <a:ext uri="{FF2B5EF4-FFF2-40B4-BE49-F238E27FC236}">
                <a16:creationId xmlns:a16="http://schemas.microsoft.com/office/drawing/2014/main" id="{B12DE1D8-FCEC-F3E1-A808-791FE1A68B1F}"/>
              </a:ext>
            </a:extLst>
          </p:cNvPr>
          <p:cNvSpPr/>
          <p:nvPr/>
        </p:nvSpPr>
        <p:spPr>
          <a:xfrm>
            <a:off x="7746356" y="4968810"/>
            <a:ext cx="3484095" cy="549920"/>
          </a:xfrm>
          <a:prstGeom prst="roundRect">
            <a:avLst>
              <a:gd name="adj" fmla="val 9993"/>
            </a:avLst>
          </a:prstGeom>
          <a:solidFill>
            <a:srgbClr val="ECE6F2"/>
          </a:solidFill>
          <a:ln w="11887">
            <a:solidFill>
              <a:srgbClr val="7761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5" name="TextBox 124">
            <a:extLst>
              <a:ext uri="{FF2B5EF4-FFF2-40B4-BE49-F238E27FC236}">
                <a16:creationId xmlns:a16="http://schemas.microsoft.com/office/drawing/2014/main" id="{403E028F-09E9-762F-6566-0B891B21CFC0}"/>
              </a:ext>
            </a:extLst>
          </p:cNvPr>
          <p:cNvSpPr txBox="1"/>
          <p:nvPr/>
        </p:nvSpPr>
        <p:spPr>
          <a:xfrm>
            <a:off x="8391581" y="5134134"/>
            <a:ext cx="2193737" cy="210312"/>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D4B73"/>
                </a:solidFill>
                <a:effectLst/>
                <a:uLnTx/>
                <a:uFillTx/>
                <a:latin typeface="Fira Sans Medium"/>
                <a:ea typeface="+mn-ea"/>
                <a:cs typeface="+mn-cs"/>
              </a:rPr>
              <a:t>Dedicated service and a pathway</a:t>
            </a:r>
          </a:p>
        </p:txBody>
      </p:sp>
      <p:cxnSp>
        <p:nvCxnSpPr>
          <p:cNvPr id="126" name="Connector 125">
            <a:extLst>
              <a:ext uri="{FF2B5EF4-FFF2-40B4-BE49-F238E27FC236}">
                <a16:creationId xmlns:a16="http://schemas.microsoft.com/office/drawing/2014/main" id="{8AAD8880-1F3F-75E3-C5D2-BFD6E50B3BA0}"/>
              </a:ext>
            </a:extLst>
          </p:cNvPr>
          <p:cNvCxnSpPr/>
          <p:nvPr/>
        </p:nvCxnSpPr>
        <p:spPr>
          <a:xfrm>
            <a:off x="503046" y="6414516"/>
            <a:ext cx="11185908" cy="0"/>
          </a:xfrm>
          <a:prstGeom prst="line">
            <a:avLst/>
          </a:prstGeom>
          <a:ln w="9144">
            <a:solidFill>
              <a:srgbClr val="DDDBCE"/>
            </a:solidFill>
          </a:ln>
          <a:effectLst/>
        </p:spPr>
      </p:cxnSp>
      <p:sp>
        <p:nvSpPr>
          <p:cNvPr id="127" name="TextBox 126">
            <a:extLst>
              <a:ext uri="{FF2B5EF4-FFF2-40B4-BE49-F238E27FC236}">
                <a16:creationId xmlns:a16="http://schemas.microsoft.com/office/drawing/2014/main" id="{7636E7C1-2EB4-EFE8-2083-1490A099A9AA}"/>
              </a:ext>
            </a:extLst>
          </p:cNvPr>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Citizens published program rules and working sessions, Aug 2026 · Illustrative, not customer records.</a:t>
            </a:r>
          </a:p>
        </p:txBody>
      </p:sp>
      <p:sp>
        <p:nvSpPr>
          <p:cNvPr id="90" name="Slide Number">
            <a:extLst>
              <a:ext uri="{FF2B5EF4-FFF2-40B4-BE49-F238E27FC236}">
                <a16:creationId xmlns:a16="http://schemas.microsoft.com/office/drawing/2014/main" id="{57AE4DF8-8F6F-CB6C-6274-581D65068D60}"/>
              </a:ext>
            </a:extLst>
          </p:cNvP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3" name="TextBox 2">
            <a:extLst>
              <a:ext uri="{FF2B5EF4-FFF2-40B4-BE49-F238E27FC236}">
                <a16:creationId xmlns:a16="http://schemas.microsoft.com/office/drawing/2014/main" id="{1AC83DE3-AD79-E20C-7287-E3AA17CCB3AC}"/>
              </a:ext>
            </a:extLst>
          </p:cNvPr>
          <p:cNvSpPr txBox="1"/>
          <p:nvPr/>
        </p:nvSpPr>
        <p:spPr>
          <a:xfrm>
            <a:off x="509954" y="2690444"/>
            <a:ext cx="1023037"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17651"/>
                </a:solidFill>
                <a:effectLst/>
                <a:uLnTx/>
                <a:uFillTx/>
                <a:latin typeface="Fira Sans" panose="020B0503050000020004" pitchFamily="34" charset="0"/>
                <a:ea typeface="+mn-ea"/>
                <a:cs typeface="+mn-cs"/>
              </a:rPr>
              <a:t>ILLUSTRATIVE</a:t>
            </a:r>
          </a:p>
        </p:txBody>
      </p:sp>
    </p:spTree>
    <p:extLst>
      <p:ext uri="{BB962C8B-B14F-4D97-AF65-F5344CB8AC3E}">
        <p14:creationId xmlns:p14="http://schemas.microsoft.com/office/powerpoint/2010/main" val="2072023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181508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THE CUSTOMER TO WIN</a:t>
            </a:r>
          </a:p>
        </p:txBody>
      </p:sp>
      <p:sp>
        <p:nvSpPr>
          <p:cNvPr id="92" name="TextBox 91"/>
          <p:cNvSpPr txBox="1"/>
          <p:nvPr/>
        </p:nvSpPr>
        <p:spPr>
          <a:xfrm>
            <a:off x="2337318" y="2666994"/>
            <a:ext cx="7517363" cy="471830"/>
          </a:xfrm>
          <a:prstGeom prst="rect">
            <a:avLst/>
          </a:prstGeom>
          <a:noFill/>
        </p:spPr>
        <p:txBody>
          <a:bodyPr wrap="square" lIns="0" tIns="0" rIns="0" bIns="0" anchor="t">
            <a:noAutofit/>
          </a:bodyPr>
          <a:lstStyle/>
          <a:p>
            <a:pPr marL="0" marR="0" lvl="0" indent="0" algn="ctr"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Light" panose="020B0403050000020004" pitchFamily="34" charset="0"/>
                <a:ea typeface="+mn-ea"/>
                <a:cs typeface="+mn-cs"/>
              </a:rPr>
              <a:t>Ultimately, the question to answer for Wealth Builders and beyond: how should Citizens </a:t>
            </a:r>
            <a:r>
              <a:rPr kumimoji="0" lang="en-US" sz="2900" b="0" i="1" u="none" strike="noStrike" kern="1200" cap="none" spc="-14" normalizeH="0" baseline="0" noProof="0">
                <a:ln>
                  <a:noFill/>
                </a:ln>
                <a:solidFill>
                  <a:srgbClr val="232422"/>
                </a:solidFill>
                <a:effectLst/>
                <a:uLnTx/>
                <a:uFillTx/>
                <a:latin typeface="Fira Sans Light" panose="020B0403050000020004" pitchFamily="34" charset="0"/>
                <a:ea typeface="+mn-ea"/>
                <a:cs typeface="+mn-cs"/>
              </a:rPr>
              <a:t>recognize</a:t>
            </a:r>
            <a:r>
              <a:rPr kumimoji="0" lang="en-US" sz="2900" b="0" i="0" u="none" strike="noStrike" kern="1200" cap="none" spc="-14" normalizeH="0" baseline="0" noProof="0">
                <a:ln>
                  <a:noFill/>
                </a:ln>
                <a:solidFill>
                  <a:srgbClr val="232422"/>
                </a:solidFill>
                <a:effectLst/>
                <a:uLnTx/>
                <a:uFillTx/>
                <a:latin typeface="Fira Sans Light" panose="020B0403050000020004" pitchFamily="34" charset="0"/>
                <a:ea typeface="+mn-ea"/>
                <a:cs typeface="+mn-cs"/>
              </a:rPr>
              <a:t> and </a:t>
            </a:r>
            <a:r>
              <a:rPr kumimoji="0" lang="en-US" sz="2900" b="0" i="1" u="none" strike="noStrike" kern="1200" cap="none" spc="-14" normalizeH="0" baseline="0" noProof="0">
                <a:ln>
                  <a:noFill/>
                </a:ln>
                <a:solidFill>
                  <a:srgbClr val="232422"/>
                </a:solidFill>
                <a:effectLst/>
                <a:uLnTx/>
                <a:uFillTx/>
                <a:latin typeface="Fira Sans Light" panose="020B0403050000020004" pitchFamily="34" charset="0"/>
                <a:ea typeface="+mn-ea"/>
                <a:cs typeface="+mn-cs"/>
              </a:rPr>
              <a:t>grow</a:t>
            </a:r>
            <a:r>
              <a:rPr kumimoji="0" lang="en-US" sz="2900" b="0" i="0" u="none" strike="noStrike" kern="1200" cap="none" spc="-14" normalizeH="0" baseline="0" noProof="0">
                <a:ln>
                  <a:noFill/>
                </a:ln>
                <a:solidFill>
                  <a:srgbClr val="232422"/>
                </a:solidFill>
                <a:effectLst/>
                <a:uLnTx/>
                <a:uFillTx/>
                <a:latin typeface="Fira Sans Light" panose="020B0403050000020004" pitchFamily="34" charset="0"/>
                <a:ea typeface="+mn-ea"/>
                <a:cs typeface="+mn-cs"/>
              </a:rPr>
              <a:t> a customer relationship, before and after it becomes primary?</a:t>
            </a:r>
          </a:p>
        </p:txBody>
      </p:sp>
      <p:cxnSp>
        <p:nvCxnSpPr>
          <p:cNvPr id="109" name="Connector 108"/>
          <p:cNvCxnSpPr/>
          <p:nvPr/>
        </p:nvCxnSpPr>
        <p:spPr>
          <a:xfrm>
            <a:off x="503046" y="6414516"/>
            <a:ext cx="11185908" cy="0"/>
          </a:xfrm>
          <a:prstGeom prst="line">
            <a:avLst/>
          </a:prstGeom>
          <a:ln w="9144">
            <a:solidFill>
              <a:srgbClr val="DDDBCE"/>
            </a:solidFill>
          </a:ln>
          <a:effectLst/>
        </p:spPr>
      </p:cxn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17651"/>
        </a:solidFill>
        <a:effectLst/>
      </p:bgPr>
    </p:bg>
    <p:spTree>
      <p:nvGrpSpPr>
        <p:cNvPr id="1" name=""/>
        <p:cNvGrpSpPr/>
        <p:nvPr/>
      </p:nvGrpSpPr>
      <p:grpSpPr>
        <a:xfrm>
          <a:off x="0" y="0"/>
          <a:ext cx="0" cy="0"/>
          <a:chOff x="0" y="0"/>
          <a:chExt cx="0" cy="0"/>
        </a:xfrm>
      </p:grpSpPr>
      <p:sp>
        <p:nvSpPr>
          <p:cNvPr id="92" name="TextBox 91"/>
          <p:cNvSpPr txBox="1"/>
          <p:nvPr/>
        </p:nvSpPr>
        <p:spPr>
          <a:xfrm>
            <a:off x="503046" y="358054"/>
            <a:ext cx="707557"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14" normalizeH="0" baseline="0" noProof="0">
                <a:ln>
                  <a:noFill/>
                </a:ln>
                <a:solidFill>
                  <a:srgbClr val="FFFFFF"/>
                </a:solidFill>
                <a:effectLst/>
                <a:uLnTx/>
                <a:uFillTx/>
                <a:latin typeface="Fira Sans SemiBold"/>
                <a:ea typeface="+mn-ea"/>
                <a:cs typeface="+mn-cs"/>
              </a:rPr>
              <a:t>Citizens</a:t>
            </a:r>
          </a:p>
        </p:txBody>
      </p:sp>
      <p:sp>
        <p:nvSpPr>
          <p:cNvPr id="93" name="TextBox 92"/>
          <p:cNvSpPr txBox="1"/>
          <p:nvPr/>
        </p:nvSpPr>
        <p:spPr>
          <a:xfrm>
            <a:off x="503046" y="182961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1</a:t>
            </a:r>
          </a:p>
        </p:txBody>
      </p:sp>
      <p:sp>
        <p:nvSpPr>
          <p:cNvPr id="95" name="TextBox 94"/>
          <p:cNvSpPr txBox="1"/>
          <p:nvPr/>
        </p:nvSpPr>
        <p:spPr>
          <a:xfrm>
            <a:off x="503046" y="2542845"/>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2</a:t>
            </a:r>
          </a:p>
        </p:txBody>
      </p:sp>
      <p:sp>
        <p:nvSpPr>
          <p:cNvPr id="96" name="TextBox 95"/>
          <p:cNvSpPr txBox="1"/>
          <p:nvPr/>
        </p:nvSpPr>
        <p:spPr>
          <a:xfrm>
            <a:off x="1124993" y="2343789"/>
            <a:ext cx="2375739"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Citizens today</a:t>
            </a:r>
          </a:p>
        </p:txBody>
      </p:sp>
      <p:sp>
        <p:nvSpPr>
          <p:cNvPr id="97" name="TextBox 96"/>
          <p:cNvSpPr txBox="1"/>
          <p:nvPr/>
        </p:nvSpPr>
        <p:spPr>
          <a:xfrm>
            <a:off x="503046" y="3256077"/>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3</a:t>
            </a:r>
          </a:p>
        </p:txBody>
      </p:sp>
      <p:sp>
        <p:nvSpPr>
          <p:cNvPr id="98" name="TextBox 97"/>
          <p:cNvSpPr txBox="1"/>
          <p:nvPr/>
        </p:nvSpPr>
        <p:spPr>
          <a:xfrm>
            <a:off x="1124993" y="3057021"/>
            <a:ext cx="3483514"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The customer to win</a:t>
            </a:r>
          </a:p>
        </p:txBody>
      </p:sp>
      <p:sp>
        <p:nvSpPr>
          <p:cNvPr id="99" name="TextBox 98"/>
          <p:cNvSpPr txBox="1"/>
          <p:nvPr/>
        </p:nvSpPr>
        <p:spPr>
          <a:xfrm>
            <a:off x="503046" y="3969309"/>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Medium"/>
                <a:ea typeface="+mn-ea"/>
                <a:cs typeface="+mn-cs"/>
              </a:rPr>
              <a:t>4</a:t>
            </a:r>
          </a:p>
        </p:txBody>
      </p:sp>
      <p:sp>
        <p:nvSpPr>
          <p:cNvPr id="100" name="TextBox 99"/>
          <p:cNvSpPr txBox="1"/>
          <p:nvPr/>
        </p:nvSpPr>
        <p:spPr>
          <a:xfrm>
            <a:off x="1124993" y="3770253"/>
            <a:ext cx="6124504"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sz="2900" b="0" i="0" u="none" strike="noStrike" kern="1200" cap="none" spc="0" normalizeH="0" baseline="0" noProof="0">
                <a:ln>
                  <a:noFill/>
                </a:ln>
                <a:solidFill>
                  <a:srgbClr val="FFFFFF"/>
                </a:solidFill>
                <a:effectLst/>
                <a:uLnTx/>
                <a:uFillTx/>
                <a:latin typeface="Fira Sans Medium"/>
                <a:ea typeface="+mn-ea"/>
                <a:cs typeface="+mn-cs"/>
              </a:rPr>
              <a:t>What we learned from the category</a:t>
            </a:r>
          </a:p>
        </p:txBody>
      </p:sp>
      <p:sp>
        <p:nvSpPr>
          <p:cNvPr id="101" name="TextBox 100"/>
          <p:cNvSpPr txBox="1"/>
          <p:nvPr/>
        </p:nvSpPr>
        <p:spPr>
          <a:xfrm>
            <a:off x="503046" y="4682541"/>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5</a:t>
            </a:r>
          </a:p>
        </p:txBody>
      </p:sp>
      <p:sp>
        <p:nvSpPr>
          <p:cNvPr id="102" name="TextBox 101"/>
          <p:cNvSpPr txBox="1"/>
          <p:nvPr/>
        </p:nvSpPr>
        <p:spPr>
          <a:xfrm>
            <a:off x="1124993" y="4483485"/>
            <a:ext cx="3732055"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Where loyalty is going</a:t>
            </a:r>
          </a:p>
        </p:txBody>
      </p:sp>
      <p:sp>
        <p:nvSpPr>
          <p:cNvPr id="103" name="TextBox 102"/>
          <p:cNvSpPr txBox="1"/>
          <p:nvPr/>
        </p:nvSpPr>
        <p:spPr>
          <a:xfrm>
            <a:off x="503046" y="539577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6</a:t>
            </a:r>
          </a:p>
        </p:txBody>
      </p:sp>
      <p:sp>
        <p:nvSpPr>
          <p:cNvPr id="104" name="TextBox 103"/>
          <p:cNvSpPr txBox="1"/>
          <p:nvPr/>
        </p:nvSpPr>
        <p:spPr>
          <a:xfrm>
            <a:off x="1124993" y="5196717"/>
            <a:ext cx="7082836"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Initial ecosystem recommendation</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prstClr val="black">
                    <a:tint val="75000"/>
                  </a:prstClr>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950" b="0" i="0" u="none" strike="noStrike" kern="1200" cap="none" spc="0" normalizeH="0" baseline="0" noProof="0">
              <a:ln>
                <a:noFill/>
              </a:ln>
              <a:solidFill>
                <a:prstClr val="black">
                  <a:tint val="75000"/>
                </a:prstClr>
              </a:solidFill>
              <a:effectLst/>
              <a:uLnTx/>
              <a:uFillTx/>
              <a:latin typeface="Fira Mono"/>
              <a:ea typeface="+mn-ea"/>
              <a:cs typeface="+mn-cs"/>
            </a:endParaRPr>
          </a:p>
        </p:txBody>
      </p:sp>
      <p:sp>
        <p:nvSpPr>
          <p:cNvPr id="2" name="TextBox 1">
            <a:extLst>
              <a:ext uri="{FF2B5EF4-FFF2-40B4-BE49-F238E27FC236}">
                <a16:creationId xmlns:a16="http://schemas.microsoft.com/office/drawing/2014/main" id="{4356B722-5314-63E8-D84C-27649A30D396}"/>
              </a:ext>
            </a:extLst>
          </p:cNvPr>
          <p:cNvSpPr txBox="1"/>
          <p:nvPr/>
        </p:nvSpPr>
        <p:spPr>
          <a:xfrm>
            <a:off x="1124993" y="1630557"/>
            <a:ext cx="520784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How we analyze ecosystems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319060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a:t>
            </a:r>
          </a:p>
        </p:txBody>
      </p:sp>
      <p:sp>
        <p:nvSpPr>
          <p:cNvPr id="92" name="TextBox 91"/>
          <p:cNvSpPr txBox="1"/>
          <p:nvPr/>
        </p:nvSpPr>
        <p:spPr>
          <a:xfrm>
            <a:off x="503046" y="743648"/>
            <a:ext cx="9030421"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The category uses </a:t>
            </a:r>
            <a:r>
              <a:rPr kumimoji="0" sz="2900" b="0" i="0" u="none" strike="noStrike" kern="1200" cap="none" spc="-14" normalizeH="0" baseline="0" noProof="0">
                <a:ln>
                  <a:noFill/>
                </a:ln>
                <a:solidFill>
                  <a:srgbClr val="232422"/>
                </a:solidFill>
                <a:effectLst/>
                <a:uLnTx/>
                <a:uFillTx/>
                <a:latin typeface="Fira Sans"/>
                <a:ea typeface="+mn-ea"/>
                <a:cs typeface="+mn-cs"/>
              </a:rPr>
              <a:t>three primary ecosystem types</a:t>
            </a:r>
            <a:r>
              <a:rPr kumimoji="0" lang="en-US" sz="2900" b="0" i="0" u="none" strike="noStrike" kern="1200" cap="none" spc="-14" normalizeH="0" baseline="0" noProof="0">
                <a:ln>
                  <a:noFill/>
                </a:ln>
                <a:solidFill>
                  <a:srgbClr val="232422"/>
                </a:solidFill>
                <a:effectLst/>
                <a:uLnTx/>
                <a:uFillTx/>
                <a:latin typeface="Fira Sans"/>
                <a:ea typeface="+mn-ea"/>
                <a:cs typeface="+mn-cs"/>
              </a:rPr>
              <a:t>, each a different answer to the recognition question</a:t>
            </a:r>
            <a:endParaRPr kumimoji="0" sz="2900" b="0" i="0" u="none" strike="noStrike" kern="1200" cap="none" spc="-14" normalizeH="0" baseline="0" noProof="0">
              <a:ln>
                <a:noFill/>
              </a:ln>
              <a:solidFill>
                <a:srgbClr val="232422"/>
              </a:solidFill>
              <a:effectLst/>
              <a:uLnTx/>
              <a:uFillTx/>
              <a:latin typeface="Fira Sans"/>
              <a:ea typeface="+mn-ea"/>
              <a:cs typeface="+mn-cs"/>
            </a:endParaRPr>
          </a:p>
        </p:txBody>
      </p:sp>
      <p:sp>
        <p:nvSpPr>
          <p:cNvPr id="94" name="Rounded Rectangle 93"/>
          <p:cNvSpPr/>
          <p:nvPr/>
        </p:nvSpPr>
        <p:spPr>
          <a:xfrm>
            <a:off x="503046" y="1958178"/>
            <a:ext cx="3594491" cy="3246415"/>
          </a:xfrm>
          <a:prstGeom prst="roundRect">
            <a:avLst>
              <a:gd name="adj" fmla="val 587"/>
            </a:avLst>
          </a:prstGeom>
          <a:no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5" name="TextBox 94"/>
          <p:cNvSpPr txBox="1"/>
          <p:nvPr/>
        </p:nvSpPr>
        <p:spPr>
          <a:xfrm>
            <a:off x="713410" y="2094353"/>
            <a:ext cx="3332450" cy="493776"/>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lang="en-US" sz="1600" b="0" i="0" u="none" strike="noStrike" kern="1200" cap="none" spc="0" normalizeH="0" baseline="0" noProof="0">
                <a:ln>
                  <a:noFill/>
                </a:ln>
                <a:solidFill>
                  <a:srgbClr val="217651"/>
                </a:solidFill>
                <a:effectLst/>
                <a:uLnTx/>
                <a:uFillTx/>
                <a:latin typeface="Fira Sans Light" panose="020B0403050000020004" pitchFamily="34" charset="0"/>
                <a:ea typeface="+mn-ea"/>
                <a:cs typeface="+mn-cs"/>
              </a:rPr>
              <a:t>1</a:t>
            </a:r>
            <a:r>
              <a:rPr kumimoji="0" lang="en-US" sz="1350" b="0" i="0" u="none" strike="noStrike" kern="1200" cap="none" spc="0" normalizeH="0" baseline="0" noProof="0">
                <a:ln>
                  <a:noFill/>
                </a:ln>
                <a:solidFill>
                  <a:srgbClr val="217651"/>
                </a:solidFill>
                <a:effectLst/>
                <a:uLnTx/>
                <a:uFillTx/>
                <a:latin typeface="Fira Sans Medium"/>
                <a:ea typeface="+mn-ea"/>
                <a:cs typeface="+mn-cs"/>
              </a:rPr>
              <a:t> </a:t>
            </a:r>
          </a:p>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Status in the product</a:t>
            </a:r>
          </a:p>
        </p:txBody>
      </p:sp>
      <p:sp>
        <p:nvSpPr>
          <p:cNvPr id="96" name="TextBox 95"/>
          <p:cNvSpPr txBox="1"/>
          <p:nvPr/>
        </p:nvSpPr>
        <p:spPr>
          <a:xfrm>
            <a:off x="713410" y="2694911"/>
            <a:ext cx="3189723" cy="614934"/>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The checking product determines the relationship</a:t>
            </a:r>
          </a:p>
          <a:p>
            <a:pPr marL="0" marR="0" lvl="0" indent="0" algn="l" defTabSz="457200" rtl="0" eaLnBrk="1" fontAlgn="auto" latinLnBrk="0" hangingPunct="1">
              <a:lnSpc>
                <a:spcPts val="1566"/>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state – Wells Fargo leaves it inside the product;</a:t>
            </a:r>
          </a:p>
          <a:p>
            <a:pPr marL="0" marR="0" lvl="0" indent="0" algn="l" defTabSz="457200" rtl="0" eaLnBrk="1" fontAlgn="auto" latinLnBrk="0" hangingPunct="1">
              <a:lnSpc>
                <a:spcPts val="1566"/>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Citizens names it </a:t>
            </a:r>
            <a:r>
              <a:rPr kumimoji="0" lang="en-US" sz="1100" b="0" i="0" u="none" strike="noStrike" kern="1200" cap="none" spc="0" normalizeH="0" baseline="0" noProof="0" err="1">
                <a:ln>
                  <a:noFill/>
                </a:ln>
                <a:solidFill>
                  <a:srgbClr val="575757"/>
                </a:solidFill>
                <a:effectLst/>
                <a:uLnTx/>
                <a:uFillTx/>
                <a:latin typeface="Fira Sans"/>
                <a:ea typeface="+mn-ea"/>
                <a:cs typeface="+mn-cs"/>
              </a:rPr>
              <a:t>CitizensPlus</a:t>
            </a:r>
            <a:r>
              <a:rPr kumimoji="0" sz="1100" b="0" i="0" u="none" strike="noStrike" kern="1200" cap="none" spc="0" normalizeH="0" baseline="0" noProof="0">
                <a:ln>
                  <a:noFill/>
                </a:ln>
                <a:solidFill>
                  <a:srgbClr val="575757"/>
                </a:solidFill>
                <a:effectLst/>
                <a:uLnTx/>
                <a:uFillTx/>
                <a:latin typeface="Fira Sans"/>
                <a:ea typeface="+mn-ea"/>
                <a:cs typeface="+mn-cs"/>
              </a:rPr>
              <a:t>.</a:t>
            </a:r>
          </a:p>
        </p:txBody>
      </p:sp>
      <p:sp>
        <p:nvSpPr>
          <p:cNvPr id="97" name="Rounded Rectangle 96"/>
          <p:cNvSpPr/>
          <p:nvPr/>
        </p:nvSpPr>
        <p:spPr>
          <a:xfrm>
            <a:off x="788227" y="3521796"/>
            <a:ext cx="877403" cy="485181"/>
          </a:xfrm>
          <a:prstGeom prst="roundRect">
            <a:avLst>
              <a:gd name="adj" fmla="val 11534"/>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Rounded Rectangle 97"/>
          <p:cNvSpPr/>
          <p:nvPr/>
        </p:nvSpPr>
        <p:spPr>
          <a:xfrm>
            <a:off x="1852306" y="3521796"/>
            <a:ext cx="877312" cy="485181"/>
          </a:xfrm>
          <a:prstGeom prst="roundRect">
            <a:avLst>
              <a:gd name="adj" fmla="val 11534"/>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 name="Rounded Rectangle 98"/>
          <p:cNvSpPr/>
          <p:nvPr/>
        </p:nvSpPr>
        <p:spPr>
          <a:xfrm>
            <a:off x="2916293" y="3521796"/>
            <a:ext cx="877403" cy="485181"/>
          </a:xfrm>
          <a:prstGeom prst="roundRect">
            <a:avLst>
              <a:gd name="adj" fmla="val 11534"/>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Rounded Rectangle 99"/>
          <p:cNvSpPr/>
          <p:nvPr/>
        </p:nvSpPr>
        <p:spPr>
          <a:xfrm>
            <a:off x="900269" y="3727079"/>
            <a:ext cx="653319" cy="186629"/>
          </a:xfrm>
          <a:prstGeom prst="roundRect">
            <a:avLst>
              <a:gd name="adj" fmla="val 19990"/>
            </a:avLst>
          </a:prstGeom>
          <a:solidFill>
            <a:srgbClr val="F6EAD6"/>
          </a:solidFill>
          <a:ln w="11155">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Rounded Rectangle 100"/>
          <p:cNvSpPr/>
          <p:nvPr/>
        </p:nvSpPr>
        <p:spPr>
          <a:xfrm>
            <a:off x="1964257" y="3727079"/>
            <a:ext cx="653411" cy="186629"/>
          </a:xfrm>
          <a:prstGeom prst="roundRect">
            <a:avLst>
              <a:gd name="adj" fmla="val 19990"/>
            </a:avLst>
          </a:prstGeom>
          <a:solidFill>
            <a:srgbClr val="F6EAD6"/>
          </a:solidFill>
          <a:ln w="11155">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Rounded Rectangle 101"/>
          <p:cNvSpPr/>
          <p:nvPr/>
        </p:nvSpPr>
        <p:spPr>
          <a:xfrm>
            <a:off x="3028335" y="3727079"/>
            <a:ext cx="653319" cy="186629"/>
          </a:xfrm>
          <a:prstGeom prst="roundRect">
            <a:avLst>
              <a:gd name="adj" fmla="val 19990"/>
            </a:avLst>
          </a:prstGeom>
          <a:solidFill>
            <a:srgbClr val="F6EAD6"/>
          </a:solidFill>
          <a:ln w="11155">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TextBox 102"/>
          <p:cNvSpPr txBox="1"/>
          <p:nvPr/>
        </p:nvSpPr>
        <p:spPr>
          <a:xfrm>
            <a:off x="1245358" y="4131060"/>
            <a:ext cx="2109865"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F5C20"/>
                </a:solidFill>
                <a:effectLst/>
                <a:uLnTx/>
                <a:uFillTx/>
                <a:latin typeface="Fira Sans"/>
                <a:ea typeface="+mn-ea"/>
                <a:cs typeface="+mn-cs"/>
              </a:rPr>
              <a:t>the account carries the relationship</a:t>
            </a:r>
          </a:p>
        </p:txBody>
      </p:sp>
      <p:sp>
        <p:nvSpPr>
          <p:cNvPr id="104" name="TextBox 103"/>
          <p:cNvSpPr txBox="1"/>
          <p:nvPr/>
        </p:nvSpPr>
        <p:spPr>
          <a:xfrm>
            <a:off x="713410" y="4587401"/>
            <a:ext cx="3332450" cy="190652"/>
          </a:xfrm>
          <a:prstGeom prst="rect">
            <a:avLst/>
          </a:prstGeom>
          <a:noFill/>
        </p:spPr>
        <p:txBody>
          <a:bodyPr wrap="square" lIns="0" tIns="0" rIns="0" bIns="0" anchor="t">
            <a:noAutofit/>
          </a:bodyPr>
          <a:lstStyle/>
          <a:p>
            <a:pPr marL="0" marR="0" lvl="0" indent="0" algn="l" defTabSz="457200" rtl="0" eaLnBrk="1" fontAlgn="auto" latinLnBrk="0" hangingPunct="1">
              <a:lnSpc>
                <a:spcPts val="1357"/>
              </a:lnSpc>
              <a:spcBef>
                <a:spcPts val="0"/>
              </a:spcBef>
              <a:spcAft>
                <a:spcPts val="0"/>
              </a:spcAft>
              <a:buClrTx/>
              <a:buSzTx/>
              <a:buFontTx/>
              <a:buNone/>
              <a:tabLst/>
              <a:defRPr/>
            </a:pPr>
            <a:r>
              <a:rPr kumimoji="0" sz="950" b="0" i="0" u="none" strike="noStrike" kern="1200" cap="all" spc="75" normalizeH="0" baseline="0" noProof="0">
                <a:ln>
                  <a:noFill/>
                </a:ln>
                <a:solidFill>
                  <a:srgbClr val="575757"/>
                </a:solidFill>
                <a:effectLst/>
                <a:uLnTx/>
                <a:uFillTx/>
                <a:latin typeface="Fira Sans"/>
                <a:ea typeface="+mn-ea"/>
                <a:cs typeface="+mn-cs"/>
              </a:rPr>
              <a:t>Who runs it</a:t>
            </a:r>
          </a:p>
        </p:txBody>
      </p:sp>
      <p:pic>
        <p:nvPicPr>
          <p:cNvPr id="105" name="Picture 104" descr="wells-fargo.png"/>
          <p:cNvPicPr>
            <a:picLocks noChangeAspect="1"/>
          </p:cNvPicPr>
          <p:nvPr/>
        </p:nvPicPr>
        <p:blipFill>
          <a:blip r:embed="rId2"/>
          <a:stretch>
            <a:fillRect/>
          </a:stretch>
        </p:blipFill>
        <p:spPr>
          <a:xfrm>
            <a:off x="713410" y="4847977"/>
            <a:ext cx="182926" cy="182880"/>
          </a:xfrm>
          <a:prstGeom prst="rect">
            <a:avLst/>
          </a:prstGeom>
        </p:spPr>
      </p:pic>
      <p:pic>
        <p:nvPicPr>
          <p:cNvPr id="106" name="Picture 105" descr="citizens.png"/>
          <p:cNvPicPr>
            <a:picLocks noChangeAspect="1"/>
          </p:cNvPicPr>
          <p:nvPr/>
        </p:nvPicPr>
        <p:blipFill>
          <a:blip r:embed="rId3"/>
          <a:stretch>
            <a:fillRect/>
          </a:stretch>
        </p:blipFill>
        <p:spPr>
          <a:xfrm>
            <a:off x="1060969" y="4852549"/>
            <a:ext cx="1043866" cy="173736"/>
          </a:xfrm>
          <a:prstGeom prst="rect">
            <a:avLst/>
          </a:prstGeom>
        </p:spPr>
      </p:pic>
      <p:sp>
        <p:nvSpPr>
          <p:cNvPr id="107" name="Rounded Rectangle 106"/>
          <p:cNvSpPr/>
          <p:nvPr/>
        </p:nvSpPr>
        <p:spPr>
          <a:xfrm>
            <a:off x="4298755" y="1958178"/>
            <a:ext cx="3594491" cy="3246415"/>
          </a:xfrm>
          <a:prstGeom prst="roundRect">
            <a:avLst>
              <a:gd name="adj" fmla="val 587"/>
            </a:avLst>
          </a:prstGeom>
          <a:no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8" name="TextBox 107"/>
          <p:cNvSpPr txBox="1"/>
          <p:nvPr/>
        </p:nvSpPr>
        <p:spPr>
          <a:xfrm>
            <a:off x="4509119" y="2094353"/>
            <a:ext cx="3332450" cy="493776"/>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lang="en-US" sz="1400" b="0" i="0" u="none" strike="noStrike" kern="1200" cap="none" spc="0" normalizeH="0" baseline="0" noProof="0">
                <a:ln>
                  <a:noFill/>
                </a:ln>
                <a:solidFill>
                  <a:srgbClr val="217651"/>
                </a:solidFill>
                <a:effectLst/>
                <a:uLnTx/>
                <a:uFillTx/>
                <a:latin typeface="Fira Sans Light" panose="020B0403050000020004" pitchFamily="34" charset="0"/>
                <a:ea typeface="+mn-ea"/>
                <a:cs typeface="+mn-cs"/>
              </a:rPr>
              <a:t>2</a:t>
            </a:r>
            <a:endParaRPr kumimoji="0" lang="en-US" sz="1350" b="0" i="0" u="none" strike="noStrike" kern="1200" cap="none" spc="0" normalizeH="0" baseline="0" noProof="0">
              <a:ln>
                <a:noFill/>
              </a:ln>
              <a:solidFill>
                <a:srgbClr val="232422"/>
              </a:solidFill>
              <a:effectLst/>
              <a:uLnTx/>
              <a:uFillTx/>
              <a:latin typeface="Fira Sans Medium"/>
              <a:ea typeface="+mn-ea"/>
              <a:cs typeface="+mn-cs"/>
            </a:endParaRPr>
          </a:p>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Status earned by balances</a:t>
            </a:r>
          </a:p>
        </p:txBody>
      </p:sp>
      <p:sp>
        <p:nvSpPr>
          <p:cNvPr id="109" name="TextBox 108"/>
          <p:cNvSpPr txBox="1"/>
          <p:nvPr/>
        </p:nvSpPr>
        <p:spPr>
          <a:xfrm>
            <a:off x="4509119" y="2694911"/>
            <a:ext cx="3332450" cy="420624"/>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A status layer across all accounts – combined</a:t>
            </a:r>
          </a:p>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balances set the tier.</a:t>
            </a:r>
          </a:p>
        </p:txBody>
      </p:sp>
      <p:sp>
        <p:nvSpPr>
          <p:cNvPr id="110" name="Rounded Rectangle 109"/>
          <p:cNvSpPr/>
          <p:nvPr/>
        </p:nvSpPr>
        <p:spPr>
          <a:xfrm>
            <a:off x="4583936" y="3507417"/>
            <a:ext cx="877403" cy="354604"/>
          </a:xfrm>
          <a:prstGeom prst="roundRect">
            <a:avLst>
              <a:gd name="adj" fmla="val 15781"/>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1" name="Rounded Rectangle 110"/>
          <p:cNvSpPr/>
          <p:nvPr/>
        </p:nvSpPr>
        <p:spPr>
          <a:xfrm>
            <a:off x="5648015" y="3507417"/>
            <a:ext cx="877312" cy="354604"/>
          </a:xfrm>
          <a:prstGeom prst="roundRect">
            <a:avLst>
              <a:gd name="adj" fmla="val 15781"/>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2" name="Rounded Rectangle 111"/>
          <p:cNvSpPr/>
          <p:nvPr/>
        </p:nvSpPr>
        <p:spPr>
          <a:xfrm>
            <a:off x="6712002" y="3507417"/>
            <a:ext cx="877403" cy="354604"/>
          </a:xfrm>
          <a:prstGeom prst="roundRect">
            <a:avLst>
              <a:gd name="adj" fmla="val 15781"/>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3" name="TextBox 112"/>
          <p:cNvSpPr txBox="1"/>
          <p:nvPr/>
        </p:nvSpPr>
        <p:spPr>
          <a:xfrm>
            <a:off x="4952668" y="3603521"/>
            <a:ext cx="140030"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a:t>
            </a:r>
          </a:p>
        </p:txBody>
      </p:sp>
      <p:sp>
        <p:nvSpPr>
          <p:cNvPr id="114" name="TextBox 113"/>
          <p:cNvSpPr txBox="1"/>
          <p:nvPr/>
        </p:nvSpPr>
        <p:spPr>
          <a:xfrm>
            <a:off x="6016610" y="3603521"/>
            <a:ext cx="140121"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a:t>
            </a:r>
          </a:p>
        </p:txBody>
      </p:sp>
      <p:sp>
        <p:nvSpPr>
          <p:cNvPr id="115" name="TextBox 114"/>
          <p:cNvSpPr txBox="1"/>
          <p:nvPr/>
        </p:nvSpPr>
        <p:spPr>
          <a:xfrm>
            <a:off x="7080643" y="3603521"/>
            <a:ext cx="140030"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a:t>
            </a:r>
          </a:p>
        </p:txBody>
      </p:sp>
      <p:sp>
        <p:nvSpPr>
          <p:cNvPr id="116" name="Rounded Rectangle 115"/>
          <p:cNvSpPr/>
          <p:nvPr/>
        </p:nvSpPr>
        <p:spPr>
          <a:xfrm>
            <a:off x="4583936" y="4029997"/>
            <a:ext cx="3005470" cy="261244"/>
          </a:xfrm>
          <a:prstGeom prst="roundRect">
            <a:avLst>
              <a:gd name="adj" fmla="val 17850"/>
            </a:avLst>
          </a:prstGeom>
          <a:solidFill>
            <a:srgbClr val="F6EAD6"/>
          </a:solidFill>
          <a:ln w="12161">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17" name="Connector 116"/>
          <p:cNvCxnSpPr/>
          <p:nvPr/>
        </p:nvCxnSpPr>
        <p:spPr>
          <a:xfrm>
            <a:off x="6086671" y="3862022"/>
            <a:ext cx="0" cy="167975"/>
          </a:xfrm>
          <a:prstGeom prst="line">
            <a:avLst/>
          </a:prstGeom>
          <a:ln w="13075">
            <a:solidFill>
              <a:srgbClr val="8F5C20"/>
            </a:solidFill>
          </a:ln>
          <a:effectLst/>
        </p:spPr>
      </p:cxnSp>
      <p:sp>
        <p:nvSpPr>
          <p:cNvPr id="2" name="Freeform 1"/>
          <p:cNvSpPr/>
          <p:nvPr/>
        </p:nvSpPr>
        <p:spPr>
          <a:xfrm>
            <a:off x="6044964" y="3955839"/>
            <a:ext cx="83414" cy="74158"/>
          </a:xfrm>
          <a:custGeom>
            <a:avLst/>
            <a:gdLst/>
            <a:ahLst/>
            <a:cxnLst/>
            <a:rect l="l" t="t" r="r" b="b"/>
            <a:pathLst>
              <a:path w="83414" h="74158">
                <a:moveTo>
                  <a:pt x="41707" y="74158"/>
                </a:moveTo>
                <a:lnTo>
                  <a:pt x="0" y="0"/>
                </a:lnTo>
                <a:lnTo>
                  <a:pt x="83414" y="0"/>
                </a:lnTo>
                <a:lnTo>
                  <a:pt x="41707" y="74158"/>
                </a:lnTo>
                <a:close/>
              </a:path>
            </a:pathLst>
          </a:custGeom>
          <a:solidFill>
            <a:srgbClr val="8F5C20"/>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8" name="TextBox 117"/>
          <p:cNvSpPr txBox="1"/>
          <p:nvPr/>
        </p:nvSpPr>
        <p:spPr>
          <a:xfrm>
            <a:off x="5195182" y="4060812"/>
            <a:ext cx="1782977"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A5A1E"/>
                </a:solidFill>
                <a:effectLst/>
                <a:uLnTx/>
                <a:uFillTx/>
                <a:latin typeface="Fira Sans Medium"/>
                <a:ea typeface="+mn-ea"/>
                <a:cs typeface="+mn-cs"/>
              </a:rPr>
              <a:t>earned by combined balances</a:t>
            </a:r>
          </a:p>
        </p:txBody>
      </p:sp>
      <p:sp>
        <p:nvSpPr>
          <p:cNvPr id="119" name="TextBox 118"/>
          <p:cNvSpPr txBox="1"/>
          <p:nvPr/>
        </p:nvSpPr>
        <p:spPr>
          <a:xfrm>
            <a:off x="4509119" y="4587401"/>
            <a:ext cx="3332450" cy="190652"/>
          </a:xfrm>
          <a:prstGeom prst="rect">
            <a:avLst/>
          </a:prstGeom>
          <a:noFill/>
        </p:spPr>
        <p:txBody>
          <a:bodyPr wrap="square" lIns="0" tIns="0" rIns="0" bIns="0" anchor="t">
            <a:noAutofit/>
          </a:bodyPr>
          <a:lstStyle/>
          <a:p>
            <a:pPr marL="0" marR="0" lvl="0" indent="0" algn="l" defTabSz="457200" rtl="0" eaLnBrk="1" fontAlgn="auto" latinLnBrk="0" hangingPunct="1">
              <a:lnSpc>
                <a:spcPts val="1357"/>
              </a:lnSpc>
              <a:spcBef>
                <a:spcPts val="0"/>
              </a:spcBef>
              <a:spcAft>
                <a:spcPts val="0"/>
              </a:spcAft>
              <a:buClrTx/>
              <a:buSzTx/>
              <a:buFontTx/>
              <a:buNone/>
              <a:tabLst/>
              <a:defRPr/>
            </a:pPr>
            <a:r>
              <a:rPr kumimoji="0" sz="950" b="0" i="0" u="none" strike="noStrike" kern="1200" cap="all" spc="75" normalizeH="0" baseline="0" noProof="0">
                <a:ln>
                  <a:noFill/>
                </a:ln>
                <a:solidFill>
                  <a:srgbClr val="575757"/>
                </a:solidFill>
                <a:effectLst/>
                <a:uLnTx/>
                <a:uFillTx/>
                <a:latin typeface="Fira Sans"/>
                <a:ea typeface="+mn-ea"/>
                <a:cs typeface="+mn-cs"/>
              </a:rPr>
              <a:t>Who runs it</a:t>
            </a:r>
          </a:p>
        </p:txBody>
      </p:sp>
      <p:pic>
        <p:nvPicPr>
          <p:cNvPr id="120" name="Picture 119" descr="citi.png"/>
          <p:cNvPicPr>
            <a:picLocks noChangeAspect="1"/>
          </p:cNvPicPr>
          <p:nvPr/>
        </p:nvPicPr>
        <p:blipFill>
          <a:blip r:embed="rId4"/>
          <a:stretch>
            <a:fillRect/>
          </a:stretch>
        </p:blipFill>
        <p:spPr>
          <a:xfrm>
            <a:off x="4509119" y="4843238"/>
            <a:ext cx="337407" cy="219456"/>
          </a:xfrm>
          <a:prstGeom prst="rect">
            <a:avLst/>
          </a:prstGeom>
        </p:spPr>
      </p:pic>
      <p:pic>
        <p:nvPicPr>
          <p:cNvPr id="121" name="Picture 120" descr="pnc.png"/>
          <p:cNvPicPr>
            <a:picLocks noChangeAspect="1"/>
          </p:cNvPicPr>
          <p:nvPr/>
        </p:nvPicPr>
        <p:blipFill>
          <a:blip r:embed="rId5"/>
          <a:stretch>
            <a:fillRect/>
          </a:stretch>
        </p:blipFill>
        <p:spPr>
          <a:xfrm>
            <a:off x="5011159" y="4861526"/>
            <a:ext cx="604844" cy="182880"/>
          </a:xfrm>
          <a:prstGeom prst="rect">
            <a:avLst/>
          </a:prstGeom>
        </p:spPr>
      </p:pic>
      <p:pic>
        <p:nvPicPr>
          <p:cNvPr id="122" name="Picture 121" descr="bofa.png"/>
          <p:cNvPicPr>
            <a:picLocks noChangeAspect="1"/>
          </p:cNvPicPr>
          <p:nvPr/>
        </p:nvPicPr>
        <p:blipFill>
          <a:blip r:embed="rId6"/>
          <a:stretch>
            <a:fillRect/>
          </a:stretch>
        </p:blipFill>
        <p:spPr>
          <a:xfrm>
            <a:off x="5780636" y="4884386"/>
            <a:ext cx="1353102" cy="137160"/>
          </a:xfrm>
          <a:prstGeom prst="rect">
            <a:avLst/>
          </a:prstGeom>
        </p:spPr>
      </p:pic>
      <p:sp>
        <p:nvSpPr>
          <p:cNvPr id="123" name="Rounded Rectangle 122"/>
          <p:cNvSpPr/>
          <p:nvPr/>
        </p:nvSpPr>
        <p:spPr>
          <a:xfrm>
            <a:off x="8094464" y="1958178"/>
            <a:ext cx="3594491" cy="3246415"/>
          </a:xfrm>
          <a:prstGeom prst="roundRect">
            <a:avLst>
              <a:gd name="adj" fmla="val 587"/>
            </a:avLst>
          </a:prstGeom>
          <a:no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4" name="TextBox 123"/>
          <p:cNvSpPr txBox="1"/>
          <p:nvPr/>
        </p:nvSpPr>
        <p:spPr>
          <a:xfrm>
            <a:off x="8304828" y="2115417"/>
            <a:ext cx="3332450" cy="493776"/>
          </a:xfrm>
          <a:prstGeom prst="rect">
            <a:avLst/>
          </a:prstGeom>
          <a:noFill/>
        </p:spPr>
        <p:txBody>
          <a:bodyPr wrap="square" lIns="0" tIns="0" rIns="0" bIns="0" anchor="t">
            <a:noAutofit/>
          </a:bodyPr>
          <a:lstStyle/>
          <a:p>
            <a:pPr marL="0" marR="0" lvl="0" indent="0" algn="l" defTabSz="457200" rtl="0" eaLnBrk="1" fontAlgn="auto" latinLnBrk="0" hangingPunct="1">
              <a:lnSpc>
                <a:spcPts val="1655"/>
              </a:lnSpc>
              <a:spcBef>
                <a:spcPts val="0"/>
              </a:spcBef>
              <a:spcAft>
                <a:spcPts val="0"/>
              </a:spcAft>
              <a:buClrTx/>
              <a:buSzTx/>
              <a:buFontTx/>
              <a:buNone/>
              <a:tabLst/>
              <a:defRPr/>
            </a:pPr>
            <a:r>
              <a:rPr kumimoji="0" lang="en-US" sz="1400" b="0" i="0" u="none" strike="noStrike" kern="1200" cap="none" spc="0" normalizeH="0" baseline="0" noProof="0">
                <a:ln>
                  <a:noFill/>
                </a:ln>
                <a:solidFill>
                  <a:srgbClr val="217651"/>
                </a:solidFill>
                <a:effectLst/>
                <a:uLnTx/>
                <a:uFillTx/>
                <a:latin typeface="Fira Sans Light" panose="020B0403050000020004" pitchFamily="34" charset="0"/>
                <a:ea typeface="+mn-ea"/>
                <a:cs typeface="+mn-cs"/>
              </a:rPr>
              <a:t>3</a:t>
            </a:r>
            <a:endParaRPr kumimoji="0" lang="en-US" sz="1350" b="0" i="0" u="none" strike="noStrike" kern="1200" cap="none" spc="0" normalizeH="0" baseline="0" noProof="0">
              <a:ln>
                <a:noFill/>
              </a:ln>
              <a:solidFill>
                <a:srgbClr val="232422"/>
              </a:solidFill>
              <a:effectLst/>
              <a:uLnTx/>
              <a:uFillTx/>
              <a:latin typeface="Fira Sans Medium"/>
              <a:ea typeface="+mn-ea"/>
              <a:cs typeface="+mn-cs"/>
            </a:endParaRPr>
          </a:p>
          <a:p>
            <a:pPr marL="0" marR="0" lvl="0" indent="0" algn="l" defTabSz="457200" rtl="0" eaLnBrk="1" fontAlgn="auto" latinLnBrk="0" hangingPunct="1">
              <a:lnSpc>
                <a:spcPts val="1655"/>
              </a:lnSpc>
              <a:spcBef>
                <a:spcPts val="0"/>
              </a:spcBef>
              <a:spcAft>
                <a:spcPts val="0"/>
              </a:spcAft>
              <a:buClrTx/>
              <a:buSzTx/>
              <a:buFontTx/>
              <a:buNone/>
              <a:tabLst/>
              <a:defRPr/>
            </a:pPr>
            <a:r>
              <a:rPr kumimoji="0" sz="1350" b="0" i="0" u="none" strike="noStrike" kern="1200" cap="none" spc="0" normalizeH="0" baseline="0" noProof="0">
                <a:ln>
                  <a:noFill/>
                </a:ln>
                <a:solidFill>
                  <a:srgbClr val="232422"/>
                </a:solidFill>
                <a:effectLst/>
                <a:uLnTx/>
                <a:uFillTx/>
                <a:latin typeface="Fira Sans Medium"/>
                <a:ea typeface="+mn-ea"/>
                <a:cs typeface="+mn-cs"/>
              </a:rPr>
              <a:t>Status earned by behavior</a:t>
            </a:r>
            <a:r>
              <a:rPr kumimoji="0" lang="en-US" sz="1350" b="0" i="0" u="none" strike="noStrike" kern="1200" cap="none" spc="0" normalizeH="0" baseline="0" noProof="0">
                <a:ln>
                  <a:noFill/>
                </a:ln>
                <a:solidFill>
                  <a:srgbClr val="232422"/>
                </a:solidFill>
                <a:effectLst/>
                <a:uLnTx/>
                <a:uFillTx/>
                <a:latin typeface="Fira Sans Medium"/>
                <a:ea typeface="+mn-ea"/>
                <a:cs typeface="+mn-cs"/>
              </a:rPr>
              <a:t> +</a:t>
            </a:r>
            <a:r>
              <a:rPr kumimoji="0" sz="1350" b="0" i="0" u="none" strike="noStrike" kern="1200" cap="none" spc="0" normalizeH="0" baseline="0" noProof="0">
                <a:ln>
                  <a:noFill/>
                </a:ln>
                <a:solidFill>
                  <a:srgbClr val="232422"/>
                </a:solidFill>
                <a:effectLst/>
                <a:uLnTx/>
                <a:uFillTx/>
                <a:latin typeface="Fira Sans Medium"/>
                <a:ea typeface="+mn-ea"/>
                <a:cs typeface="+mn-cs"/>
              </a:rPr>
              <a:t> breadth</a:t>
            </a:r>
          </a:p>
        </p:txBody>
      </p:sp>
      <p:sp>
        <p:nvSpPr>
          <p:cNvPr id="125" name="TextBox 124"/>
          <p:cNvSpPr txBox="1"/>
          <p:nvPr/>
        </p:nvSpPr>
        <p:spPr>
          <a:xfrm>
            <a:off x="8304828" y="2694911"/>
            <a:ext cx="3332450" cy="420624"/>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A status layer across all accounts – activity and</a:t>
            </a:r>
          </a:p>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product breadth earn it.</a:t>
            </a:r>
          </a:p>
        </p:txBody>
      </p:sp>
      <p:sp>
        <p:nvSpPr>
          <p:cNvPr id="126" name="Rounded Rectangle 125"/>
          <p:cNvSpPr/>
          <p:nvPr/>
        </p:nvSpPr>
        <p:spPr>
          <a:xfrm>
            <a:off x="8883697" y="3507418"/>
            <a:ext cx="877312" cy="354604"/>
          </a:xfrm>
          <a:prstGeom prst="roundRect">
            <a:avLst>
              <a:gd name="adj" fmla="val 15781"/>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7" name="Rounded Rectangle 126"/>
          <p:cNvSpPr/>
          <p:nvPr/>
        </p:nvSpPr>
        <p:spPr>
          <a:xfrm>
            <a:off x="10022409" y="3507418"/>
            <a:ext cx="877312" cy="354604"/>
          </a:xfrm>
          <a:prstGeom prst="roundRect">
            <a:avLst>
              <a:gd name="adj" fmla="val 15781"/>
            </a:avLst>
          </a:prstGeom>
          <a:solidFill>
            <a:srgbClr val="E7EDF3"/>
          </a:solidFill>
          <a:ln w="12161">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8" name="TextBox 127"/>
          <p:cNvSpPr txBox="1"/>
          <p:nvPr/>
        </p:nvSpPr>
        <p:spPr>
          <a:xfrm>
            <a:off x="9045129" y="3603522"/>
            <a:ext cx="554448"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a:t>
            </a:r>
          </a:p>
        </p:txBody>
      </p:sp>
      <p:sp>
        <p:nvSpPr>
          <p:cNvPr id="129" name="TextBox 128"/>
          <p:cNvSpPr txBox="1"/>
          <p:nvPr/>
        </p:nvSpPr>
        <p:spPr>
          <a:xfrm>
            <a:off x="10370151" y="3603522"/>
            <a:ext cx="181828"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+1</a:t>
            </a:r>
          </a:p>
        </p:txBody>
      </p:sp>
      <p:sp>
        <p:nvSpPr>
          <p:cNvPr id="130" name="Rounded Rectangle 129"/>
          <p:cNvSpPr/>
          <p:nvPr/>
        </p:nvSpPr>
        <p:spPr>
          <a:xfrm>
            <a:off x="8379645" y="4029998"/>
            <a:ext cx="3005470" cy="261244"/>
          </a:xfrm>
          <a:prstGeom prst="roundRect">
            <a:avLst>
              <a:gd name="adj" fmla="val 17850"/>
            </a:avLst>
          </a:prstGeom>
          <a:solidFill>
            <a:srgbClr val="F6EAD6"/>
          </a:solidFill>
          <a:ln w="12161">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31" name="Connector 130"/>
          <p:cNvCxnSpPr/>
          <p:nvPr/>
        </p:nvCxnSpPr>
        <p:spPr>
          <a:xfrm>
            <a:off x="9882380" y="3862023"/>
            <a:ext cx="0" cy="167975"/>
          </a:xfrm>
          <a:prstGeom prst="line">
            <a:avLst/>
          </a:prstGeom>
          <a:ln w="13075">
            <a:solidFill>
              <a:srgbClr val="8F5C20"/>
            </a:solidFill>
          </a:ln>
          <a:effectLst/>
        </p:spPr>
      </p:cxnSp>
      <p:sp>
        <p:nvSpPr>
          <p:cNvPr id="3" name="Freeform 2"/>
          <p:cNvSpPr/>
          <p:nvPr/>
        </p:nvSpPr>
        <p:spPr>
          <a:xfrm>
            <a:off x="9840673" y="3955840"/>
            <a:ext cx="83414" cy="74158"/>
          </a:xfrm>
          <a:custGeom>
            <a:avLst/>
            <a:gdLst/>
            <a:ahLst/>
            <a:cxnLst/>
            <a:rect l="l" t="t" r="r" b="b"/>
            <a:pathLst>
              <a:path w="83414" h="74158">
                <a:moveTo>
                  <a:pt x="41707" y="74158"/>
                </a:moveTo>
                <a:lnTo>
                  <a:pt x="0" y="0"/>
                </a:lnTo>
                <a:lnTo>
                  <a:pt x="83414" y="0"/>
                </a:lnTo>
                <a:lnTo>
                  <a:pt x="41707" y="74158"/>
                </a:lnTo>
                <a:close/>
              </a:path>
            </a:pathLst>
          </a:custGeom>
          <a:solidFill>
            <a:srgbClr val="8F5C20"/>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2" name="TextBox 131"/>
          <p:cNvSpPr txBox="1"/>
          <p:nvPr/>
        </p:nvSpPr>
        <p:spPr>
          <a:xfrm>
            <a:off x="8965830" y="4060813"/>
            <a:ext cx="1833099"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8A5A1E"/>
                </a:solidFill>
                <a:effectLst/>
                <a:uLnTx/>
                <a:uFillTx/>
                <a:latin typeface="Fira Sans Medium"/>
                <a:ea typeface="+mn-ea"/>
                <a:cs typeface="+mn-cs"/>
              </a:rPr>
              <a:t>earned by activity and breadth</a:t>
            </a:r>
          </a:p>
        </p:txBody>
      </p:sp>
      <p:sp>
        <p:nvSpPr>
          <p:cNvPr id="133" name="TextBox 132"/>
          <p:cNvSpPr txBox="1"/>
          <p:nvPr/>
        </p:nvSpPr>
        <p:spPr>
          <a:xfrm>
            <a:off x="8304828" y="4587401"/>
            <a:ext cx="3332450" cy="190652"/>
          </a:xfrm>
          <a:prstGeom prst="rect">
            <a:avLst/>
          </a:prstGeom>
          <a:noFill/>
        </p:spPr>
        <p:txBody>
          <a:bodyPr wrap="square" lIns="0" tIns="0" rIns="0" bIns="0" anchor="t">
            <a:noAutofit/>
          </a:bodyPr>
          <a:lstStyle/>
          <a:p>
            <a:pPr marL="0" marR="0" lvl="0" indent="0" algn="l" defTabSz="457200" rtl="0" eaLnBrk="1" fontAlgn="auto" latinLnBrk="0" hangingPunct="1">
              <a:lnSpc>
                <a:spcPts val="1357"/>
              </a:lnSpc>
              <a:spcBef>
                <a:spcPts val="0"/>
              </a:spcBef>
              <a:spcAft>
                <a:spcPts val="0"/>
              </a:spcAft>
              <a:buClrTx/>
              <a:buSzTx/>
              <a:buFontTx/>
              <a:buNone/>
              <a:tabLst/>
              <a:defRPr/>
            </a:pPr>
            <a:r>
              <a:rPr kumimoji="0" sz="950" b="0" i="0" u="none" strike="noStrike" kern="1200" cap="all" spc="75" normalizeH="0" baseline="0" noProof="0">
                <a:ln>
                  <a:noFill/>
                </a:ln>
                <a:solidFill>
                  <a:srgbClr val="575757"/>
                </a:solidFill>
                <a:effectLst/>
                <a:uLnTx/>
                <a:uFillTx/>
                <a:latin typeface="Fira Sans"/>
                <a:ea typeface="+mn-ea"/>
                <a:cs typeface="+mn-cs"/>
              </a:rPr>
              <a:t>Who runs it</a:t>
            </a:r>
          </a:p>
        </p:txBody>
      </p:sp>
      <p:pic>
        <p:nvPicPr>
          <p:cNvPr id="134" name="Picture 133" descr="keybank.png"/>
          <p:cNvPicPr>
            <a:picLocks noChangeAspect="1"/>
          </p:cNvPicPr>
          <p:nvPr/>
        </p:nvPicPr>
        <p:blipFill>
          <a:blip r:embed="rId7"/>
          <a:stretch>
            <a:fillRect/>
          </a:stretch>
        </p:blipFill>
        <p:spPr>
          <a:xfrm>
            <a:off x="8304828" y="4843238"/>
            <a:ext cx="1033530" cy="182880"/>
          </a:xfrm>
          <a:prstGeom prst="rect">
            <a:avLst/>
          </a:prstGeom>
        </p:spPr>
      </p:pic>
      <p:cxnSp>
        <p:nvCxnSpPr>
          <p:cNvPr id="135" name="Connector 134"/>
          <p:cNvCxnSpPr/>
          <p:nvPr/>
        </p:nvCxnSpPr>
        <p:spPr>
          <a:xfrm>
            <a:off x="503046" y="5489707"/>
            <a:ext cx="5492345" cy="0"/>
          </a:xfrm>
          <a:prstGeom prst="line">
            <a:avLst/>
          </a:prstGeom>
          <a:ln w="9144">
            <a:solidFill>
              <a:srgbClr val="DDDBCE"/>
            </a:solidFill>
          </a:ln>
          <a:effectLst/>
        </p:spPr>
      </p:cxnSp>
      <p:pic>
        <p:nvPicPr>
          <p:cNvPr id="136" name="Picture 135" descr="td.png"/>
          <p:cNvPicPr>
            <a:picLocks noChangeAspect="1"/>
          </p:cNvPicPr>
          <p:nvPr/>
        </p:nvPicPr>
        <p:blipFill>
          <a:blip r:embed="rId8"/>
          <a:stretch>
            <a:fillRect/>
          </a:stretch>
        </p:blipFill>
        <p:spPr>
          <a:xfrm>
            <a:off x="503046" y="5870139"/>
            <a:ext cx="642527" cy="201168"/>
          </a:xfrm>
          <a:prstGeom prst="rect">
            <a:avLst/>
          </a:prstGeom>
        </p:spPr>
      </p:pic>
      <p:sp>
        <p:nvSpPr>
          <p:cNvPr id="137" name="TextBox 136"/>
          <p:cNvSpPr txBox="1"/>
          <p:nvPr/>
        </p:nvSpPr>
        <p:spPr>
          <a:xfrm>
            <a:off x="1273620" y="5723793"/>
            <a:ext cx="4721827" cy="51675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Medium"/>
                <a:ea typeface="+mn-ea"/>
                <a:cs typeface="+mn-cs"/>
              </a:rPr>
              <a:t>TD builds a service state instead</a:t>
            </a:r>
            <a:r>
              <a:rPr kumimoji="0" sz="1200" b="0" i="0" u="none" strike="noStrike" kern="1200" cap="none" spc="0" normalizeH="0" baseline="0" noProof="0">
                <a:ln>
                  <a:noFill/>
                </a:ln>
                <a:solidFill>
                  <a:srgbClr val="575757"/>
                </a:solidFill>
                <a:effectLst/>
                <a:uLnTx/>
                <a:uFillTx/>
                <a:latin typeface="Fira Sans"/>
                <a:ea typeface="+mn-ea"/>
                <a:cs typeface="+mn-cs"/>
              </a:rPr>
              <a:t> – $100K in deposits or</a:t>
            </a:r>
            <a:r>
              <a:rPr kumimoji="0" lang="en-US" sz="1200" b="0" i="0" u="none" strike="noStrike" kern="1200" cap="none" spc="0" normalizeH="0" baseline="0" noProof="0">
                <a:ln>
                  <a:noFill/>
                </a:ln>
                <a:solidFill>
                  <a:srgbClr val="575757"/>
                </a:solidFill>
                <a:effectLst/>
                <a:uLnTx/>
                <a:uFillTx/>
                <a:latin typeface="Fira Sans"/>
                <a:ea typeface="+mn-ea"/>
                <a:cs typeface="+mn-cs"/>
              </a:rPr>
              <a:t> </a:t>
            </a:r>
            <a:r>
              <a:rPr kumimoji="0" sz="1200" b="0" i="0" u="none" strike="noStrike" kern="1200" cap="none" spc="0" normalizeH="0" baseline="0" noProof="0">
                <a:ln>
                  <a:noFill/>
                </a:ln>
                <a:solidFill>
                  <a:srgbClr val="575757"/>
                </a:solidFill>
                <a:effectLst/>
                <a:uLnTx/>
                <a:uFillTx/>
                <a:latin typeface="Fira Sans"/>
                <a:ea typeface="+mn-ea"/>
                <a:cs typeface="+mn-cs"/>
              </a:rPr>
              <a:t>investments </a:t>
            </a:r>
            <a:r>
              <a:rPr kumimoji="0" lang="en-US" sz="1200" b="0" i="0" u="none" strike="noStrike" kern="1200" cap="none" spc="0" normalizeH="0" baseline="0" noProof="0">
                <a:ln>
                  <a:noFill/>
                </a:ln>
                <a:solidFill>
                  <a:srgbClr val="575757"/>
                </a:solidFill>
                <a:effectLst/>
                <a:uLnTx/>
                <a:uFillTx/>
                <a:latin typeface="Fira Sans"/>
                <a:ea typeface="+mn-ea"/>
                <a:cs typeface="+mn-cs"/>
              </a:rPr>
              <a:t>qualifies</a:t>
            </a:r>
            <a:r>
              <a:rPr kumimoji="0" sz="1200" b="0" i="0" u="none" strike="noStrike" kern="1200" cap="none" spc="0" normalizeH="0" baseline="0" noProof="0">
                <a:ln>
                  <a:noFill/>
                </a:ln>
                <a:solidFill>
                  <a:srgbClr val="575757"/>
                </a:solidFill>
                <a:effectLst/>
                <a:uLnTx/>
                <a:uFillTx/>
                <a:latin typeface="Fira Sans"/>
                <a:ea typeface="+mn-ea"/>
                <a:cs typeface="+mn-cs"/>
              </a:rPr>
              <a:t> </a:t>
            </a:r>
            <a:r>
              <a:rPr kumimoji="0" lang="en-US" sz="1200" b="0" i="0" u="none" strike="noStrike" kern="1200" cap="none" spc="0" normalizeH="0" baseline="0" noProof="0">
                <a:ln>
                  <a:noFill/>
                </a:ln>
                <a:solidFill>
                  <a:srgbClr val="575757"/>
                </a:solidFill>
                <a:effectLst/>
                <a:uLnTx/>
                <a:uFillTx/>
                <a:latin typeface="Fira Sans"/>
                <a:ea typeface="+mn-ea"/>
                <a:cs typeface="+mn-cs"/>
              </a:rPr>
              <a:t>a</a:t>
            </a:r>
            <a:r>
              <a:rPr kumimoji="0" sz="1200" b="0" i="0" u="none" strike="noStrike" kern="1200" cap="none" spc="0" normalizeH="0" baseline="0" noProof="0">
                <a:ln>
                  <a:noFill/>
                </a:ln>
                <a:solidFill>
                  <a:srgbClr val="575757"/>
                </a:solidFill>
                <a:effectLst/>
                <a:uLnTx/>
                <a:uFillTx/>
                <a:latin typeface="Fira Sans"/>
                <a:ea typeface="+mn-ea"/>
                <a:cs typeface="+mn-cs"/>
              </a:rPr>
              <a:t> customer </a:t>
            </a:r>
            <a:r>
              <a:rPr kumimoji="0" lang="en-US" sz="1200" b="0" i="0" u="none" strike="noStrike" kern="1200" cap="none" spc="0" normalizeH="0" baseline="0" noProof="0">
                <a:ln>
                  <a:noFill/>
                </a:ln>
                <a:solidFill>
                  <a:srgbClr val="575757"/>
                </a:solidFill>
                <a:effectLst/>
                <a:uLnTx/>
                <a:uFillTx/>
                <a:latin typeface="Fira Sans"/>
                <a:ea typeface="+mn-ea"/>
                <a:cs typeface="+mn-cs"/>
              </a:rPr>
              <a:t>for</a:t>
            </a:r>
            <a:r>
              <a:rPr kumimoji="0" sz="1200" b="0" i="0" u="none" strike="noStrike" kern="1200" cap="none" spc="0" normalizeH="0" baseline="0" noProof="0">
                <a:ln>
                  <a:noFill/>
                </a:ln>
                <a:solidFill>
                  <a:srgbClr val="575757"/>
                </a:solidFill>
                <a:effectLst/>
                <a:uLnTx/>
                <a:uFillTx/>
                <a:latin typeface="Fira Sans"/>
                <a:ea typeface="+mn-ea"/>
                <a:cs typeface="+mn-cs"/>
              </a:rPr>
              <a:t> TD Premier</a:t>
            </a:r>
            <a:r>
              <a:rPr kumimoji="0" lang="en-US" sz="1200" b="0" i="0" u="none" strike="noStrike" kern="1200" cap="none" spc="0" normalizeH="0" baseline="0" noProof="0">
                <a:ln>
                  <a:noFill/>
                </a:ln>
                <a:solidFill>
                  <a:srgbClr val="575757"/>
                </a:solidFill>
                <a:effectLst/>
                <a:uLnTx/>
                <a:uFillTx/>
                <a:latin typeface="Fira Sans"/>
                <a:ea typeface="+mn-ea"/>
                <a:cs typeface="+mn-cs"/>
              </a:rPr>
              <a:t>.</a:t>
            </a:r>
            <a:r>
              <a:rPr kumimoji="0" sz="1200" b="0" i="0" u="none" strike="noStrike" kern="1200" cap="none" spc="0" normalizeH="0" baseline="0" noProof="0">
                <a:ln>
                  <a:noFill/>
                </a:ln>
                <a:solidFill>
                  <a:srgbClr val="575757"/>
                </a:solidFill>
                <a:effectLst/>
                <a:uLnTx/>
                <a:uFillTx/>
                <a:latin typeface="Fira Sans"/>
                <a:ea typeface="+mn-ea"/>
                <a:cs typeface="+mn-cs"/>
              </a:rPr>
              <a:t> No </a:t>
            </a:r>
            <a:r>
              <a:rPr kumimoji="0" lang="en-US" sz="1200" b="0" i="0" u="none" strike="noStrike" kern="1200" cap="none" spc="0" normalizeH="0" baseline="0" noProof="0">
                <a:ln>
                  <a:noFill/>
                </a:ln>
                <a:solidFill>
                  <a:srgbClr val="575757"/>
                </a:solidFill>
                <a:effectLst/>
                <a:uLnTx/>
                <a:uFillTx/>
                <a:latin typeface="Fira Sans"/>
                <a:ea typeface="+mn-ea"/>
                <a:cs typeface="+mn-cs"/>
              </a:rPr>
              <a:t>status </a:t>
            </a:r>
            <a:r>
              <a:rPr kumimoji="0" sz="1200" b="0" i="0" u="none" strike="noStrike" kern="1200" cap="none" spc="0" normalizeH="0" baseline="0" noProof="0">
                <a:ln>
                  <a:noFill/>
                </a:ln>
                <a:solidFill>
                  <a:srgbClr val="575757"/>
                </a:solidFill>
                <a:effectLst/>
                <a:uLnTx/>
                <a:uFillTx/>
                <a:latin typeface="Fira Sans"/>
                <a:ea typeface="+mn-ea"/>
                <a:cs typeface="+mn-cs"/>
              </a:rPr>
              <a:t>program beneath it.</a:t>
            </a:r>
          </a:p>
        </p:txBody>
      </p:sp>
      <p:cxnSp>
        <p:nvCxnSpPr>
          <p:cNvPr id="138" name="Connector 137"/>
          <p:cNvCxnSpPr/>
          <p:nvPr/>
        </p:nvCxnSpPr>
        <p:spPr>
          <a:xfrm>
            <a:off x="6196609" y="5489707"/>
            <a:ext cx="5492345" cy="0"/>
          </a:xfrm>
          <a:prstGeom prst="line">
            <a:avLst/>
          </a:prstGeom>
          <a:ln w="9144">
            <a:solidFill>
              <a:srgbClr val="DDDBCE"/>
            </a:solidFill>
          </a:ln>
          <a:effectLst/>
        </p:spPr>
      </p:cxnSp>
      <p:pic>
        <p:nvPicPr>
          <p:cNvPr id="139" name="Picture 138" descr="chase.png"/>
          <p:cNvPicPr>
            <a:picLocks noChangeAspect="1"/>
          </p:cNvPicPr>
          <p:nvPr/>
        </p:nvPicPr>
        <p:blipFill>
          <a:blip r:embed="rId9"/>
          <a:stretch>
            <a:fillRect/>
          </a:stretch>
        </p:blipFill>
        <p:spPr>
          <a:xfrm>
            <a:off x="6480565" y="5879283"/>
            <a:ext cx="984415" cy="182880"/>
          </a:xfrm>
          <a:prstGeom prst="rect">
            <a:avLst/>
          </a:prstGeom>
        </p:spPr>
      </p:pic>
      <p:sp>
        <p:nvSpPr>
          <p:cNvPr id="140" name="TextBox 139"/>
          <p:cNvSpPr txBox="1"/>
          <p:nvPr/>
        </p:nvSpPr>
        <p:spPr>
          <a:xfrm>
            <a:off x="7593028" y="5733220"/>
            <a:ext cx="4598972" cy="468904"/>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Medium"/>
                <a:ea typeface="+mn-ea"/>
                <a:cs typeface="+mn-cs"/>
              </a:rPr>
              <a:t>Chase publishes no relationship program</a:t>
            </a:r>
            <a:r>
              <a:rPr kumimoji="0" sz="1200" b="0" i="0" u="none" strike="noStrike" kern="1200" cap="none" spc="0" normalizeH="0" baseline="0" noProof="0">
                <a:ln>
                  <a:noFill/>
                </a:ln>
                <a:solidFill>
                  <a:srgbClr val="575757"/>
                </a:solidFill>
                <a:effectLst/>
                <a:uLnTx/>
                <a:uFillTx/>
                <a:latin typeface="Fira Sans"/>
                <a:ea typeface="+mn-ea"/>
                <a:cs typeface="+mn-cs"/>
              </a:rPr>
              <a:t> – branches,</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referrals, and the card engine carry coherence instead.</a:t>
            </a:r>
          </a:p>
        </p:txBody>
      </p:sp>
      <p:cxnSp>
        <p:nvCxnSpPr>
          <p:cNvPr id="141" name="Connector 140"/>
          <p:cNvCxnSpPr/>
          <p:nvPr/>
        </p:nvCxnSpPr>
        <p:spPr>
          <a:xfrm>
            <a:off x="503046" y="6414516"/>
            <a:ext cx="11185908" cy="0"/>
          </a:xfrm>
          <a:prstGeom prst="line">
            <a:avLst/>
          </a:prstGeom>
          <a:ln w="9144">
            <a:solidFill>
              <a:srgbClr val="DDDBCE"/>
            </a:solidFill>
          </a:ln>
          <a:effectLst/>
        </p:spPr>
      </p:cxnSp>
      <p:sp>
        <p:nvSpPr>
          <p:cNvPr id="142" name="TextBox 141"/>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Eight-institution audit of published program terms, verified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extLst>
      <p:ext uri="{BB962C8B-B14F-4D97-AF65-F5344CB8AC3E}">
        <p14:creationId xmlns:p14="http://schemas.microsoft.com/office/powerpoint/2010/main" val="517495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pic>
        <p:nvPicPr>
          <p:cNvPr id="5" name="Picture 4" descr="map-wells-fargo-cut.png">
            <a:extLst>
              <a:ext uri="{FF2B5EF4-FFF2-40B4-BE49-F238E27FC236}">
                <a16:creationId xmlns:a16="http://schemas.microsoft.com/office/drawing/2014/main" id="{7530193A-33E2-F124-F7A8-9C8846365B40}"/>
              </a:ext>
            </a:extLst>
          </p:cNvPr>
          <p:cNvPicPr>
            <a:picLocks noChangeAspect="1"/>
          </p:cNvPicPr>
          <p:nvPr/>
        </p:nvPicPr>
        <p:blipFill>
          <a:blip r:embed="rId2"/>
          <a:stretch>
            <a:fillRect/>
          </a:stretch>
        </p:blipFill>
        <p:spPr>
          <a:xfrm>
            <a:off x="3640222" y="825795"/>
            <a:ext cx="8167634" cy="5188123"/>
          </a:xfrm>
          <a:prstGeom prst="rect">
            <a:avLst/>
          </a:prstGeom>
        </p:spPr>
      </p:pic>
      <p:sp>
        <p:nvSpPr>
          <p:cNvPr id="91" name="TextBox 90"/>
          <p:cNvSpPr txBox="1"/>
          <p:nvPr/>
        </p:nvSpPr>
        <p:spPr>
          <a:xfrm>
            <a:off x="503046" y="366045"/>
            <a:ext cx="319060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a:t>
            </a:r>
          </a:p>
        </p:txBody>
      </p:sp>
      <p:sp>
        <p:nvSpPr>
          <p:cNvPr id="92" name="Rounded Rectangle 91"/>
          <p:cNvSpPr/>
          <p:nvPr/>
        </p:nvSpPr>
        <p:spPr>
          <a:xfrm>
            <a:off x="7441053" y="347472"/>
            <a:ext cx="1005085" cy="219456"/>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Medium"/>
                <a:ea typeface="+mn-ea"/>
                <a:cs typeface="+mn-cs"/>
              </a:rPr>
              <a:t>In the product</a:t>
            </a:r>
          </a:p>
        </p:txBody>
      </p:sp>
      <p:sp>
        <p:nvSpPr>
          <p:cNvPr id="93" name="Rounded Rectangle 92"/>
          <p:cNvSpPr/>
          <p:nvPr/>
        </p:nvSpPr>
        <p:spPr>
          <a:xfrm>
            <a:off x="8510162" y="347472"/>
            <a:ext cx="1284230"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Earned by balances</a:t>
            </a:r>
          </a:p>
        </p:txBody>
      </p:sp>
      <p:sp>
        <p:nvSpPr>
          <p:cNvPr id="94" name="Rounded Rectangle 93"/>
          <p:cNvSpPr/>
          <p:nvPr/>
        </p:nvSpPr>
        <p:spPr>
          <a:xfrm>
            <a:off x="9858416" y="347472"/>
            <a:ext cx="1830538"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Earned by behavior + breadth</a:t>
            </a:r>
          </a:p>
        </p:txBody>
      </p:sp>
      <p:sp>
        <p:nvSpPr>
          <p:cNvPr id="95" name="TextBox 94"/>
          <p:cNvSpPr txBox="1"/>
          <p:nvPr/>
        </p:nvSpPr>
        <p:spPr>
          <a:xfrm>
            <a:off x="503046" y="743648"/>
            <a:ext cx="2881080" cy="2285726"/>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Wells Fargo</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is closest</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to Citizens:</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the account</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is the status</a:t>
            </a:r>
          </a:p>
        </p:txBody>
      </p:sp>
      <p:cxnSp>
        <p:nvCxnSpPr>
          <p:cNvPr id="96" name="Connector 95"/>
          <p:cNvCxnSpPr/>
          <p:nvPr/>
        </p:nvCxnSpPr>
        <p:spPr>
          <a:xfrm>
            <a:off x="503046" y="3268706"/>
            <a:ext cx="2743886" cy="0"/>
          </a:xfrm>
          <a:prstGeom prst="line">
            <a:avLst/>
          </a:prstGeom>
          <a:ln w="9144">
            <a:solidFill>
              <a:srgbClr val="DDDBCE"/>
            </a:solidFill>
          </a:ln>
          <a:effectLst/>
        </p:spPr>
      </p:cxnSp>
      <p:sp>
        <p:nvSpPr>
          <p:cNvPr id="97" name="TextBox 96"/>
          <p:cNvSpPr txBox="1"/>
          <p:nvPr/>
        </p:nvSpPr>
        <p:spPr>
          <a:xfrm>
            <a:off x="503046" y="335585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The rule</a:t>
            </a:r>
          </a:p>
        </p:txBody>
      </p:sp>
      <p:sp>
        <p:nvSpPr>
          <p:cNvPr id="98" name="TextBox 97"/>
          <p:cNvSpPr txBox="1"/>
          <p:nvPr/>
        </p:nvSpPr>
        <p:spPr>
          <a:xfrm>
            <a:off x="1490845" y="3372345"/>
            <a:ext cx="1843891" cy="676656"/>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The account is the status –</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moving up means switching</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products; $20K and $250K</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set fees, not recognition</a:t>
            </a:r>
          </a:p>
        </p:txBody>
      </p:sp>
      <p:cxnSp>
        <p:nvCxnSpPr>
          <p:cNvPr id="99" name="Connector 98"/>
          <p:cNvCxnSpPr/>
          <p:nvPr/>
        </p:nvCxnSpPr>
        <p:spPr>
          <a:xfrm>
            <a:off x="503046" y="4137386"/>
            <a:ext cx="2743886" cy="0"/>
          </a:xfrm>
          <a:prstGeom prst="line">
            <a:avLst/>
          </a:prstGeom>
          <a:ln w="9144">
            <a:solidFill>
              <a:srgbClr val="DDDBCE"/>
            </a:solidFill>
          </a:ln>
          <a:effectLst/>
        </p:spPr>
      </p:cxnSp>
      <p:sp>
        <p:nvSpPr>
          <p:cNvPr id="100" name="TextBox 99"/>
          <p:cNvSpPr txBox="1"/>
          <p:nvPr/>
        </p:nvSpPr>
        <p:spPr>
          <a:xfrm>
            <a:off x="503046" y="422453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What it buys</a:t>
            </a:r>
          </a:p>
        </p:txBody>
      </p:sp>
      <p:sp>
        <p:nvSpPr>
          <p:cNvPr id="101" name="TextBox 100"/>
          <p:cNvSpPr txBox="1"/>
          <p:nvPr/>
        </p:nvSpPr>
        <p:spPr>
          <a:xfrm>
            <a:off x="1490845" y="4241025"/>
            <a:ext cx="1843891" cy="676656"/>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Each product carries its</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own benefits – Premier</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adds bankers, planning, and</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advisor access</a:t>
            </a:r>
          </a:p>
        </p:txBody>
      </p:sp>
      <p:cxnSp>
        <p:nvCxnSpPr>
          <p:cNvPr id="102" name="Connector 101"/>
          <p:cNvCxnSpPr/>
          <p:nvPr/>
        </p:nvCxnSpPr>
        <p:spPr>
          <a:xfrm>
            <a:off x="503046" y="5006066"/>
            <a:ext cx="2743886" cy="0"/>
          </a:xfrm>
          <a:prstGeom prst="line">
            <a:avLst/>
          </a:prstGeom>
          <a:ln w="9144">
            <a:solidFill>
              <a:srgbClr val="DDDBCE"/>
            </a:solidFill>
          </a:ln>
          <a:effectLst/>
        </p:spPr>
      </p:cxnSp>
      <p:cxnSp>
        <p:nvCxnSpPr>
          <p:cNvPr id="103" name="Connector 102"/>
          <p:cNvCxnSpPr/>
          <p:nvPr/>
        </p:nvCxnSpPr>
        <p:spPr>
          <a:xfrm>
            <a:off x="503046" y="6203930"/>
            <a:ext cx="2743886" cy="0"/>
          </a:xfrm>
          <a:prstGeom prst="line">
            <a:avLst/>
          </a:prstGeom>
          <a:ln w="9144">
            <a:solidFill>
              <a:srgbClr val="DDDBCE"/>
            </a:solidFill>
          </a:ln>
          <a:effectLst/>
        </p:spPr>
      </p:cxnSp>
      <p:sp>
        <p:nvSpPr>
          <p:cNvPr id="104" name="TextBox 103"/>
          <p:cNvSpPr txBox="1"/>
          <p:nvPr/>
        </p:nvSpPr>
        <p:spPr>
          <a:xfrm>
            <a:off x="503046" y="509321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The limit</a:t>
            </a:r>
          </a:p>
        </p:txBody>
      </p:sp>
      <p:sp>
        <p:nvSpPr>
          <p:cNvPr id="105" name="TextBox 104"/>
          <p:cNvSpPr txBox="1"/>
          <p:nvPr/>
        </p:nvSpPr>
        <p:spPr>
          <a:xfrm>
            <a:off x="1490845" y="5109705"/>
            <a:ext cx="1843891" cy="100584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No status object and</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nothing automatic –</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affluent growth runs</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through Premier bankers</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and referrals, not</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a mechanic</a:t>
            </a:r>
          </a:p>
        </p:txBody>
      </p:sp>
      <p:cxnSp>
        <p:nvCxnSpPr>
          <p:cNvPr id="107" name="Connector 106"/>
          <p:cNvCxnSpPr/>
          <p:nvPr/>
        </p:nvCxnSpPr>
        <p:spPr>
          <a:xfrm>
            <a:off x="503046" y="6414516"/>
            <a:ext cx="11185908" cy="0"/>
          </a:xfrm>
          <a:prstGeom prst="line">
            <a:avLst/>
          </a:prstGeom>
          <a:ln w="9144">
            <a:solidFill>
              <a:srgbClr val="DDDBCE"/>
            </a:solidFill>
          </a:ln>
          <a:effectLst/>
        </p:spPr>
      </p:cxnSp>
      <p:sp>
        <p:nvSpPr>
          <p:cNvPr id="108" name="TextBox 107"/>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Wells Fargo published product and program terms · Wells Fargo 2025 Annual Report.</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pic>
        <p:nvPicPr>
          <p:cNvPr id="3" name="Picture 2" descr="wells-fargo.png">
            <a:extLst>
              <a:ext uri="{FF2B5EF4-FFF2-40B4-BE49-F238E27FC236}">
                <a16:creationId xmlns:a16="http://schemas.microsoft.com/office/drawing/2014/main" id="{5C86C9A7-B473-42C9-EBFF-A186F4553C8D}"/>
              </a:ext>
            </a:extLst>
          </p:cNvPr>
          <p:cNvPicPr>
            <a:picLocks noChangeAspect="1"/>
          </p:cNvPicPr>
          <p:nvPr/>
        </p:nvPicPr>
        <p:blipFill>
          <a:blip r:embed="rId3"/>
          <a:stretch>
            <a:fillRect/>
          </a:stretch>
        </p:blipFill>
        <p:spPr>
          <a:xfrm>
            <a:off x="3801993" y="825857"/>
            <a:ext cx="347559" cy="347472"/>
          </a:xfrm>
          <a:prstGeom prst="rect">
            <a:avLst/>
          </a:prstGeom>
        </p:spPr>
      </p:pic>
    </p:spTree>
    <p:extLst>
      <p:ext uri="{BB962C8B-B14F-4D97-AF65-F5344CB8AC3E}">
        <p14:creationId xmlns:p14="http://schemas.microsoft.com/office/powerpoint/2010/main" val="3823939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pic>
        <p:nvPicPr>
          <p:cNvPr id="7" name="Picture 6" descr="map-citi-cut.png">
            <a:extLst>
              <a:ext uri="{FF2B5EF4-FFF2-40B4-BE49-F238E27FC236}">
                <a16:creationId xmlns:a16="http://schemas.microsoft.com/office/drawing/2014/main" id="{8D82CBA1-4DA7-2E55-24A6-866C3AD8E747}"/>
              </a:ext>
            </a:extLst>
          </p:cNvPr>
          <p:cNvPicPr>
            <a:picLocks noGrp="1" noRot="1" noChangeAspect="1" noMove="1" noResize="1" noEditPoints="1" noAdjustHandles="1" noChangeArrowheads="1" noChangeShapeType="1" noCrop="1"/>
          </p:cNvPicPr>
          <p:nvPr/>
        </p:nvPicPr>
        <p:blipFill>
          <a:blip r:embed="rId2"/>
          <a:stretch>
            <a:fillRect/>
          </a:stretch>
        </p:blipFill>
        <p:spPr>
          <a:xfrm>
            <a:off x="3640222" y="825795"/>
            <a:ext cx="8167634" cy="5188123"/>
          </a:xfrm>
          <a:prstGeom prst="rect">
            <a:avLst/>
          </a:prstGeom>
        </p:spPr>
      </p:pic>
      <p:sp>
        <p:nvSpPr>
          <p:cNvPr id="91" name="TextBox 90"/>
          <p:cNvSpPr txBox="1"/>
          <p:nvPr/>
        </p:nvSpPr>
        <p:spPr>
          <a:xfrm>
            <a:off x="503046" y="366045"/>
            <a:ext cx="319060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a:t>
            </a:r>
          </a:p>
        </p:txBody>
      </p:sp>
      <p:sp>
        <p:nvSpPr>
          <p:cNvPr id="92" name="Rounded Rectangle 91"/>
          <p:cNvSpPr/>
          <p:nvPr/>
        </p:nvSpPr>
        <p:spPr>
          <a:xfrm>
            <a:off x="7439955" y="347472"/>
            <a:ext cx="1005543"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In the product</a:t>
            </a:r>
          </a:p>
        </p:txBody>
      </p:sp>
      <p:sp>
        <p:nvSpPr>
          <p:cNvPr id="93" name="Rounded Rectangle 92"/>
          <p:cNvSpPr/>
          <p:nvPr/>
        </p:nvSpPr>
        <p:spPr>
          <a:xfrm>
            <a:off x="8509522" y="347472"/>
            <a:ext cx="1284870" cy="219456"/>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Medium"/>
                <a:ea typeface="+mn-ea"/>
                <a:cs typeface="+mn-cs"/>
              </a:rPr>
              <a:t>Earned by balances</a:t>
            </a:r>
          </a:p>
        </p:txBody>
      </p:sp>
      <p:sp>
        <p:nvSpPr>
          <p:cNvPr id="94" name="Rounded Rectangle 93"/>
          <p:cNvSpPr/>
          <p:nvPr/>
        </p:nvSpPr>
        <p:spPr>
          <a:xfrm>
            <a:off x="9858416" y="347472"/>
            <a:ext cx="1830538"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Earned by behavior + breadth</a:t>
            </a:r>
          </a:p>
        </p:txBody>
      </p:sp>
      <p:sp>
        <p:nvSpPr>
          <p:cNvPr id="95" name="TextBox 94"/>
          <p:cNvSpPr txBox="1"/>
          <p:nvPr/>
        </p:nvSpPr>
        <p:spPr>
          <a:xfrm>
            <a:off x="503046" y="743648"/>
            <a:ext cx="2881080" cy="2285726"/>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Citi, PNC &amp;</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BofA set status</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by combined</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balances</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across products</a:t>
            </a:r>
          </a:p>
        </p:txBody>
      </p:sp>
      <p:cxnSp>
        <p:nvCxnSpPr>
          <p:cNvPr id="96" name="Connector 95"/>
          <p:cNvCxnSpPr/>
          <p:nvPr/>
        </p:nvCxnSpPr>
        <p:spPr>
          <a:xfrm>
            <a:off x="503046" y="3268706"/>
            <a:ext cx="2743886" cy="0"/>
          </a:xfrm>
          <a:prstGeom prst="line">
            <a:avLst/>
          </a:prstGeom>
          <a:ln w="9144">
            <a:solidFill>
              <a:srgbClr val="DDDBCE"/>
            </a:solidFill>
          </a:ln>
          <a:effectLst/>
        </p:spPr>
      </p:cxnSp>
      <p:sp>
        <p:nvSpPr>
          <p:cNvPr id="97" name="TextBox 96"/>
          <p:cNvSpPr txBox="1"/>
          <p:nvPr/>
        </p:nvSpPr>
        <p:spPr>
          <a:xfrm>
            <a:off x="503046" y="335585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The rule</a:t>
            </a:r>
          </a:p>
        </p:txBody>
      </p:sp>
      <p:sp>
        <p:nvSpPr>
          <p:cNvPr id="98" name="TextBox 97"/>
          <p:cNvSpPr txBox="1"/>
          <p:nvPr/>
        </p:nvSpPr>
        <p:spPr>
          <a:xfrm>
            <a:off x="1490845" y="3372345"/>
            <a:ext cx="1843891" cy="676656"/>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Combined deposits and</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investments set the tier,</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automatically – floors at</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$30K Citi, $25K PNC, $0 BofA</a:t>
            </a:r>
          </a:p>
        </p:txBody>
      </p:sp>
      <p:cxnSp>
        <p:nvCxnSpPr>
          <p:cNvPr id="99" name="Connector 98"/>
          <p:cNvCxnSpPr/>
          <p:nvPr/>
        </p:nvCxnSpPr>
        <p:spPr>
          <a:xfrm>
            <a:off x="503046" y="4137386"/>
            <a:ext cx="2743886" cy="0"/>
          </a:xfrm>
          <a:prstGeom prst="line">
            <a:avLst/>
          </a:prstGeom>
          <a:ln w="9144">
            <a:solidFill>
              <a:srgbClr val="DDDBCE"/>
            </a:solidFill>
          </a:ln>
          <a:effectLst/>
        </p:spPr>
      </p:cxnSp>
      <p:sp>
        <p:nvSpPr>
          <p:cNvPr id="100" name="TextBox 99"/>
          <p:cNvSpPr txBox="1"/>
          <p:nvPr/>
        </p:nvSpPr>
        <p:spPr>
          <a:xfrm>
            <a:off x="503046" y="422453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What it buys</a:t>
            </a:r>
          </a:p>
        </p:txBody>
      </p:sp>
      <p:sp>
        <p:nvSpPr>
          <p:cNvPr id="101" name="TextBox 100"/>
          <p:cNvSpPr txBox="1"/>
          <p:nvPr/>
        </p:nvSpPr>
        <p:spPr>
          <a:xfrm>
            <a:off x="1490845" y="4241025"/>
            <a:ext cx="1843891" cy="676656"/>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Value rises by tier –</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rates, lending discounts,</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fee treatment, and</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service access</a:t>
            </a:r>
          </a:p>
        </p:txBody>
      </p:sp>
      <p:cxnSp>
        <p:nvCxnSpPr>
          <p:cNvPr id="102" name="Connector 101"/>
          <p:cNvCxnSpPr/>
          <p:nvPr/>
        </p:nvCxnSpPr>
        <p:spPr>
          <a:xfrm>
            <a:off x="503046" y="5006066"/>
            <a:ext cx="2743886" cy="0"/>
          </a:xfrm>
          <a:prstGeom prst="line">
            <a:avLst/>
          </a:prstGeom>
          <a:ln w="9144">
            <a:solidFill>
              <a:srgbClr val="DDDBCE"/>
            </a:solidFill>
          </a:ln>
          <a:effectLst/>
        </p:spPr>
      </p:cxnSp>
      <p:cxnSp>
        <p:nvCxnSpPr>
          <p:cNvPr id="103" name="Connector 102"/>
          <p:cNvCxnSpPr/>
          <p:nvPr/>
        </p:nvCxnSpPr>
        <p:spPr>
          <a:xfrm>
            <a:off x="503046" y="5874746"/>
            <a:ext cx="2743886" cy="0"/>
          </a:xfrm>
          <a:prstGeom prst="line">
            <a:avLst/>
          </a:prstGeom>
          <a:ln w="9144">
            <a:solidFill>
              <a:srgbClr val="DDDBCE"/>
            </a:solidFill>
          </a:ln>
          <a:effectLst/>
        </p:spPr>
      </p:cxnSp>
      <p:sp>
        <p:nvSpPr>
          <p:cNvPr id="104" name="TextBox 103"/>
          <p:cNvSpPr txBox="1"/>
          <p:nvPr/>
        </p:nvSpPr>
        <p:spPr>
          <a:xfrm>
            <a:off x="503046" y="509321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The limit</a:t>
            </a:r>
          </a:p>
        </p:txBody>
      </p:sp>
      <p:sp>
        <p:nvSpPr>
          <p:cNvPr id="105" name="TextBox 104"/>
          <p:cNvSpPr txBox="1"/>
          <p:nvPr/>
        </p:nvSpPr>
        <p:spPr>
          <a:xfrm>
            <a:off x="1490845" y="5109705"/>
            <a:ext cx="1843891" cy="676656"/>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It rewards consolidation –</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some customers move</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exactly enough to qualify,</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and park the rest</a:t>
            </a:r>
          </a:p>
        </p:txBody>
      </p:sp>
      <p:sp>
        <p:nvSpPr>
          <p:cNvPr id="106" name="TextBox 105"/>
          <p:cNvSpPr txBox="1"/>
          <p:nvPr/>
        </p:nvSpPr>
        <p:spPr>
          <a:xfrm>
            <a:off x="503046" y="6002868"/>
            <a:ext cx="2881080" cy="416052"/>
          </a:xfrm>
          <a:prstGeom prst="rect">
            <a:avLst/>
          </a:prstGeom>
          <a:noFill/>
        </p:spPr>
        <p:txBody>
          <a:bodyPr wrap="square" lIns="0" tIns="0" rIns="0" bIns="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75757"/>
                </a:solidFill>
                <a:effectLst/>
                <a:uLnTx/>
                <a:uFillTx/>
                <a:latin typeface="Fira Sans"/>
                <a:ea typeface="+mn-ea"/>
                <a:cs typeface="+mn-cs"/>
              </a:rPr>
              <a:t>Citi shown – the same shape runs at PNC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75757"/>
                </a:solidFill>
                <a:effectLst/>
                <a:uLnTx/>
                <a:uFillTx/>
                <a:latin typeface="Fira Sans"/>
                <a:ea typeface="+mn-ea"/>
                <a:cs typeface="+mn-cs"/>
              </a:rPr>
              <a:t>and BofA.</a:t>
            </a:r>
          </a:p>
        </p:txBody>
      </p:sp>
      <p:cxnSp>
        <p:nvCxnSpPr>
          <p:cNvPr id="108" name="Connector 107"/>
          <p:cNvCxnSpPr/>
          <p:nvPr/>
        </p:nvCxnSpPr>
        <p:spPr>
          <a:xfrm>
            <a:off x="503046" y="6414516"/>
            <a:ext cx="11185908" cy="0"/>
          </a:xfrm>
          <a:prstGeom prst="line">
            <a:avLst/>
          </a:prstGeom>
          <a:ln w="9144">
            <a:solidFill>
              <a:srgbClr val="DDDBCE"/>
            </a:solidFill>
          </a:ln>
          <a:effectLst/>
        </p:spPr>
      </p:cxnSp>
      <p:sp>
        <p:nvSpPr>
          <p:cNvPr id="109" name="TextBox 108"/>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Citi, PNC, and Bank of America published program terms, verified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pic>
        <p:nvPicPr>
          <p:cNvPr id="3" name="Picture 2" descr="citi.png">
            <a:extLst>
              <a:ext uri="{FF2B5EF4-FFF2-40B4-BE49-F238E27FC236}">
                <a16:creationId xmlns:a16="http://schemas.microsoft.com/office/drawing/2014/main" id="{AD1A9962-6E16-DFAC-49E9-CFAFA2F0950C}"/>
              </a:ext>
            </a:extLst>
          </p:cNvPr>
          <p:cNvPicPr>
            <a:picLocks noChangeAspect="1"/>
          </p:cNvPicPr>
          <p:nvPr/>
        </p:nvPicPr>
        <p:blipFill>
          <a:blip r:embed="rId3"/>
          <a:stretch>
            <a:fillRect/>
          </a:stretch>
        </p:blipFill>
        <p:spPr>
          <a:xfrm>
            <a:off x="3817184" y="875035"/>
            <a:ext cx="318468" cy="207924"/>
          </a:xfrm>
          <a:prstGeom prst="rect">
            <a:avLst/>
          </a:prstGeom>
        </p:spPr>
      </p:pic>
      <p:sp>
        <p:nvSpPr>
          <p:cNvPr id="6" name="Arc 5">
            <a:extLst>
              <a:ext uri="{FF2B5EF4-FFF2-40B4-BE49-F238E27FC236}">
                <a16:creationId xmlns:a16="http://schemas.microsoft.com/office/drawing/2014/main" id="{84495F06-0A6F-B04B-6713-FF6DBB671CFE}"/>
              </a:ext>
            </a:extLst>
          </p:cNvPr>
          <p:cNvSpPr/>
          <p:nvPr/>
        </p:nvSpPr>
        <p:spPr>
          <a:xfrm rot="817281">
            <a:off x="7705586" y="3183429"/>
            <a:ext cx="1048030" cy="1565680"/>
          </a:xfrm>
          <a:prstGeom prst="arc">
            <a:avLst>
              <a:gd name="adj1" fmla="val 16704635"/>
              <a:gd name="adj2" fmla="val 3055447"/>
            </a:avLst>
          </a:prstGeom>
          <a:ln>
            <a:tailEnd type="triangle" w="med" len="sm"/>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Arc 7">
            <a:extLst>
              <a:ext uri="{FF2B5EF4-FFF2-40B4-BE49-F238E27FC236}">
                <a16:creationId xmlns:a16="http://schemas.microsoft.com/office/drawing/2014/main" id="{244C867A-C407-4D86-A7F4-11269CBE2C1A}"/>
              </a:ext>
            </a:extLst>
          </p:cNvPr>
          <p:cNvSpPr/>
          <p:nvPr/>
        </p:nvSpPr>
        <p:spPr>
          <a:xfrm rot="817281">
            <a:off x="10745075" y="3187297"/>
            <a:ext cx="1048030" cy="1565680"/>
          </a:xfrm>
          <a:prstGeom prst="arc">
            <a:avLst>
              <a:gd name="adj1" fmla="val 16704635"/>
              <a:gd name="adj2" fmla="val 3055447"/>
            </a:avLst>
          </a:prstGeom>
          <a:ln>
            <a:tailEnd type="triangle" w="med" len="sm"/>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03438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pic>
        <p:nvPicPr>
          <p:cNvPr id="7" name="Picture 6" descr="map-keybank-cut.png">
            <a:extLst>
              <a:ext uri="{FF2B5EF4-FFF2-40B4-BE49-F238E27FC236}">
                <a16:creationId xmlns:a16="http://schemas.microsoft.com/office/drawing/2014/main" id="{D39FB0E2-1DE7-F109-650C-FF4C5300AA62}"/>
              </a:ext>
            </a:extLst>
          </p:cNvPr>
          <p:cNvPicPr>
            <a:picLocks noChangeAspect="1"/>
          </p:cNvPicPr>
          <p:nvPr/>
        </p:nvPicPr>
        <p:blipFill>
          <a:blip r:embed="rId2"/>
          <a:stretch>
            <a:fillRect/>
          </a:stretch>
        </p:blipFill>
        <p:spPr>
          <a:xfrm>
            <a:off x="3640222" y="810798"/>
            <a:ext cx="8167634" cy="5217932"/>
          </a:xfrm>
          <a:prstGeom prst="rect">
            <a:avLst/>
          </a:prstGeom>
        </p:spPr>
      </p:pic>
      <p:sp>
        <p:nvSpPr>
          <p:cNvPr id="91" name="TextBox 90"/>
          <p:cNvSpPr txBox="1"/>
          <p:nvPr/>
        </p:nvSpPr>
        <p:spPr>
          <a:xfrm>
            <a:off x="503046" y="366045"/>
            <a:ext cx="319060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a:t>
            </a:r>
          </a:p>
        </p:txBody>
      </p:sp>
      <p:sp>
        <p:nvSpPr>
          <p:cNvPr id="92" name="Rounded Rectangle 91"/>
          <p:cNvSpPr/>
          <p:nvPr/>
        </p:nvSpPr>
        <p:spPr>
          <a:xfrm>
            <a:off x="7437486" y="347472"/>
            <a:ext cx="1005543"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In the product</a:t>
            </a:r>
          </a:p>
        </p:txBody>
      </p:sp>
      <p:sp>
        <p:nvSpPr>
          <p:cNvPr id="93" name="Rounded Rectangle 92"/>
          <p:cNvSpPr/>
          <p:nvPr/>
        </p:nvSpPr>
        <p:spPr>
          <a:xfrm>
            <a:off x="8507053" y="347472"/>
            <a:ext cx="1284230"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Earned by balances</a:t>
            </a:r>
          </a:p>
        </p:txBody>
      </p:sp>
      <p:sp>
        <p:nvSpPr>
          <p:cNvPr id="94" name="Rounded Rectangle 93"/>
          <p:cNvSpPr/>
          <p:nvPr/>
        </p:nvSpPr>
        <p:spPr>
          <a:xfrm>
            <a:off x="9855307" y="347472"/>
            <a:ext cx="1833648" cy="219456"/>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Medium"/>
                <a:ea typeface="+mn-ea"/>
                <a:cs typeface="+mn-cs"/>
              </a:rPr>
              <a:t>Earned by behavior + breadth</a:t>
            </a:r>
          </a:p>
        </p:txBody>
      </p:sp>
      <p:sp>
        <p:nvSpPr>
          <p:cNvPr id="95" name="TextBox 94"/>
          <p:cNvSpPr txBox="1"/>
          <p:nvPr/>
        </p:nvSpPr>
        <p:spPr>
          <a:xfrm>
            <a:off x="503046" y="743648"/>
            <a:ext cx="2881080" cy="2285726"/>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KeyBank lets activity &amp; breadth earn status: </a:t>
            </a:r>
            <a:r>
              <a:rPr kumimoji="0" sz="2900" b="0" i="0" u="none" strike="noStrike" kern="1200" cap="none" spc="-14" normalizeH="0" baseline="0" noProof="0">
                <a:ln>
                  <a:noFill/>
                </a:ln>
                <a:solidFill>
                  <a:srgbClr val="232422"/>
                </a:solidFill>
                <a:effectLst/>
                <a:uLnTx/>
                <a:uFillTx/>
                <a:latin typeface="Fira Sans"/>
                <a:ea typeface="+mn-ea"/>
                <a:cs typeface="+mn-cs"/>
              </a:rPr>
              <a:t>a design aimed</a:t>
            </a:r>
            <a:r>
              <a:rPr kumimoji="0" lang="en-US" sz="2900" b="0" i="0" u="none" strike="noStrike" kern="1200" cap="none" spc="-14" normalizeH="0" baseline="0" noProof="0">
                <a:ln>
                  <a:noFill/>
                </a:ln>
                <a:solidFill>
                  <a:srgbClr val="232422"/>
                </a:solidFill>
                <a:effectLst/>
                <a:uLnTx/>
                <a:uFillTx/>
                <a:latin typeface="Fira Sans"/>
                <a:ea typeface="+mn-ea"/>
                <a:cs typeface="+mn-cs"/>
              </a:rPr>
              <a:t> </a:t>
            </a:r>
            <a:r>
              <a:rPr kumimoji="0" sz="2900" b="0" i="0" u="none" strike="noStrike" kern="1200" cap="none" spc="-14" normalizeH="0" baseline="0" noProof="0">
                <a:ln>
                  <a:noFill/>
                </a:ln>
                <a:solidFill>
                  <a:srgbClr val="232422"/>
                </a:solidFill>
                <a:effectLst/>
                <a:uLnTx/>
                <a:uFillTx/>
                <a:latin typeface="Fira Sans"/>
                <a:ea typeface="+mn-ea"/>
                <a:cs typeface="+mn-cs"/>
              </a:rPr>
              <a:t>at primacy</a:t>
            </a:r>
          </a:p>
        </p:txBody>
      </p:sp>
      <p:cxnSp>
        <p:nvCxnSpPr>
          <p:cNvPr id="96" name="Connector 95"/>
          <p:cNvCxnSpPr/>
          <p:nvPr/>
        </p:nvCxnSpPr>
        <p:spPr>
          <a:xfrm>
            <a:off x="503046" y="3268706"/>
            <a:ext cx="2743886" cy="0"/>
          </a:xfrm>
          <a:prstGeom prst="line">
            <a:avLst/>
          </a:prstGeom>
          <a:ln w="9144">
            <a:solidFill>
              <a:srgbClr val="DDDBCE"/>
            </a:solidFill>
          </a:ln>
          <a:effectLst/>
        </p:spPr>
      </p:cxnSp>
      <p:sp>
        <p:nvSpPr>
          <p:cNvPr id="97" name="TextBox 96"/>
          <p:cNvSpPr txBox="1"/>
          <p:nvPr/>
        </p:nvSpPr>
        <p:spPr>
          <a:xfrm>
            <a:off x="503046" y="335585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The rule</a:t>
            </a:r>
          </a:p>
        </p:txBody>
      </p:sp>
      <p:sp>
        <p:nvSpPr>
          <p:cNvPr id="98" name="TextBox 97"/>
          <p:cNvSpPr txBox="1"/>
          <p:nvPr/>
        </p:nvSpPr>
        <p:spPr>
          <a:xfrm>
            <a:off x="1490845" y="3372345"/>
            <a:ext cx="1843891" cy="512064"/>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Five checking transactions a</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month, plus one more Key</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product – no balance test</a:t>
            </a:r>
          </a:p>
        </p:txBody>
      </p:sp>
      <p:cxnSp>
        <p:nvCxnSpPr>
          <p:cNvPr id="99" name="Connector 98"/>
          <p:cNvCxnSpPr/>
          <p:nvPr/>
        </p:nvCxnSpPr>
        <p:spPr>
          <a:xfrm>
            <a:off x="503046" y="4137386"/>
            <a:ext cx="2743886" cy="0"/>
          </a:xfrm>
          <a:prstGeom prst="line">
            <a:avLst/>
          </a:prstGeom>
          <a:ln w="9144">
            <a:solidFill>
              <a:srgbClr val="DDDBCE"/>
            </a:solidFill>
          </a:ln>
          <a:effectLst/>
        </p:spPr>
      </p:cxnSp>
      <p:sp>
        <p:nvSpPr>
          <p:cNvPr id="100" name="TextBox 99"/>
          <p:cNvSpPr txBox="1"/>
          <p:nvPr/>
        </p:nvSpPr>
        <p:spPr>
          <a:xfrm>
            <a:off x="503046" y="422453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What it buys</a:t>
            </a:r>
          </a:p>
        </p:txBody>
      </p:sp>
      <p:sp>
        <p:nvSpPr>
          <p:cNvPr id="101" name="TextBox 100"/>
          <p:cNvSpPr txBox="1"/>
          <p:nvPr/>
        </p:nvSpPr>
        <p:spPr>
          <a:xfrm>
            <a:off x="1490845" y="4241025"/>
            <a:ext cx="1843891" cy="512064"/>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Better savings rates, 2%</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card cash back,</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loan discounts</a:t>
            </a:r>
          </a:p>
        </p:txBody>
      </p:sp>
      <p:cxnSp>
        <p:nvCxnSpPr>
          <p:cNvPr id="102" name="Connector 101"/>
          <p:cNvCxnSpPr/>
          <p:nvPr/>
        </p:nvCxnSpPr>
        <p:spPr>
          <a:xfrm>
            <a:off x="503046" y="5006066"/>
            <a:ext cx="2743886" cy="0"/>
          </a:xfrm>
          <a:prstGeom prst="line">
            <a:avLst/>
          </a:prstGeom>
          <a:ln w="9144">
            <a:solidFill>
              <a:srgbClr val="DDDBCE"/>
            </a:solidFill>
          </a:ln>
          <a:effectLst/>
        </p:spPr>
      </p:cxnSp>
      <p:cxnSp>
        <p:nvCxnSpPr>
          <p:cNvPr id="103" name="Connector 102"/>
          <p:cNvCxnSpPr/>
          <p:nvPr/>
        </p:nvCxnSpPr>
        <p:spPr>
          <a:xfrm>
            <a:off x="503046" y="5874746"/>
            <a:ext cx="2743886" cy="0"/>
          </a:xfrm>
          <a:prstGeom prst="line">
            <a:avLst/>
          </a:prstGeom>
          <a:ln w="9144">
            <a:solidFill>
              <a:srgbClr val="DDDBCE"/>
            </a:solidFill>
          </a:ln>
          <a:effectLst/>
        </p:spPr>
      </p:cxnSp>
      <p:sp>
        <p:nvSpPr>
          <p:cNvPr id="104" name="TextBox 103"/>
          <p:cNvSpPr txBox="1"/>
          <p:nvPr/>
        </p:nvSpPr>
        <p:spPr>
          <a:xfrm>
            <a:off x="503046" y="5093219"/>
            <a:ext cx="95121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Medium"/>
                <a:ea typeface="+mn-ea"/>
                <a:cs typeface="+mn-cs"/>
              </a:rPr>
              <a:t>The limit</a:t>
            </a:r>
          </a:p>
        </p:txBody>
      </p:sp>
      <p:sp>
        <p:nvSpPr>
          <p:cNvPr id="105" name="TextBox 104"/>
          <p:cNvSpPr txBox="1"/>
          <p:nvPr/>
        </p:nvSpPr>
        <p:spPr>
          <a:xfrm>
            <a:off x="1490845" y="5109705"/>
            <a:ext cx="1843891" cy="676656"/>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No next recognized step</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until Private Client at $200K</a:t>
            </a:r>
          </a:p>
          <a:p>
            <a:pPr marL="0" marR="0" lvl="0" indent="0" algn="l" defTabSz="457200" rtl="0" eaLnBrk="1" fontAlgn="auto" latinLnBrk="0" hangingPunct="1">
              <a:lnSpc>
                <a:spcPts val="1296"/>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 the middle</a:t>
            </a:r>
            <a:r>
              <a:rPr kumimoji="0" lang="en-US" sz="1100" b="0" i="0" u="none" strike="noStrike" kern="1200" cap="none" spc="0" normalizeH="0" baseline="0" noProof="0">
                <a:ln>
                  <a:noFill/>
                </a:ln>
                <a:solidFill>
                  <a:srgbClr val="232422"/>
                </a:solidFill>
                <a:effectLst/>
                <a:uLnTx/>
                <a:uFillTx/>
                <a:latin typeface="Fira Sans"/>
                <a:ea typeface="+mn-ea"/>
                <a:cs typeface="+mn-cs"/>
              </a:rPr>
              <a:t> </a:t>
            </a:r>
            <a:r>
              <a:rPr kumimoji="0" sz="1100" b="0" i="0" u="none" strike="noStrike" kern="1200" cap="none" spc="0" normalizeH="0" baseline="0" noProof="0">
                <a:ln>
                  <a:noFill/>
                </a:ln>
                <a:solidFill>
                  <a:srgbClr val="232422"/>
                </a:solidFill>
                <a:effectLst/>
                <a:uLnTx/>
                <a:uFillTx/>
                <a:latin typeface="Fira Sans"/>
                <a:ea typeface="+mn-ea"/>
                <a:cs typeface="+mn-cs"/>
              </a:rPr>
              <a:t>goes unmarked</a:t>
            </a:r>
          </a:p>
        </p:txBody>
      </p:sp>
      <p:cxnSp>
        <p:nvCxnSpPr>
          <p:cNvPr id="114" name="Connector 113"/>
          <p:cNvCxnSpPr/>
          <p:nvPr/>
        </p:nvCxnSpPr>
        <p:spPr>
          <a:xfrm>
            <a:off x="503046" y="6414516"/>
            <a:ext cx="11185908" cy="0"/>
          </a:xfrm>
          <a:prstGeom prst="line">
            <a:avLst/>
          </a:prstGeom>
          <a:ln w="9144">
            <a:solidFill>
              <a:srgbClr val="DDDBCE"/>
            </a:solidFill>
          </a:ln>
          <a:effectLst/>
        </p:spPr>
      </p:cxnSp>
      <p:sp>
        <p:nvSpPr>
          <p:cNvPr id="115" name="TextBox 114"/>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KeyBank published program terms and disclosures, verified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Rectangle 1">
            <a:extLst>
              <a:ext uri="{FF2B5EF4-FFF2-40B4-BE49-F238E27FC236}">
                <a16:creationId xmlns:a16="http://schemas.microsoft.com/office/drawing/2014/main" id="{99BCB872-4B1C-AA43-C753-21F9C33DA0E7}"/>
              </a:ext>
            </a:extLst>
          </p:cNvPr>
          <p:cNvSpPr/>
          <p:nvPr/>
        </p:nvSpPr>
        <p:spPr>
          <a:xfrm>
            <a:off x="3713356" y="836341"/>
            <a:ext cx="4393581" cy="3490332"/>
          </a:xfrm>
          <a:prstGeom prst="rect">
            <a:avLst/>
          </a:prstGeom>
          <a:noFill/>
          <a:ln w="19050">
            <a:solidFill>
              <a:srgbClr val="00765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A09F1310-D643-4B52-CE65-1FFF1B5B1A89}"/>
              </a:ext>
            </a:extLst>
          </p:cNvPr>
          <p:cNvGrpSpPr/>
          <p:nvPr/>
        </p:nvGrpSpPr>
        <p:grpSpPr>
          <a:xfrm>
            <a:off x="7779949" y="1869704"/>
            <a:ext cx="4042638" cy="2336618"/>
            <a:chOff x="7870560" y="2436104"/>
            <a:chExt cx="3585344" cy="2072305"/>
          </a:xfrm>
        </p:grpSpPr>
        <p:grpSp>
          <p:nvGrpSpPr>
            <p:cNvPr id="3" name="Group 2">
              <a:extLst>
                <a:ext uri="{FF2B5EF4-FFF2-40B4-BE49-F238E27FC236}">
                  <a16:creationId xmlns:a16="http://schemas.microsoft.com/office/drawing/2014/main" id="{1F152C6D-D664-FFCD-49E9-99CBAA70924B}"/>
                </a:ext>
              </a:extLst>
            </p:cNvPr>
            <p:cNvGrpSpPr/>
            <p:nvPr/>
          </p:nvGrpSpPr>
          <p:grpSpPr>
            <a:xfrm>
              <a:off x="7870560" y="2436104"/>
              <a:ext cx="3585344" cy="2072305"/>
              <a:chOff x="7870560" y="2436104"/>
              <a:chExt cx="3585344" cy="2072305"/>
            </a:xfrm>
          </p:grpSpPr>
          <p:sp>
            <p:nvSpPr>
              <p:cNvPr id="111" name="Rounded Rectangle 110"/>
              <p:cNvSpPr/>
              <p:nvPr/>
            </p:nvSpPr>
            <p:spPr>
              <a:xfrm>
                <a:off x="7870560" y="2436104"/>
                <a:ext cx="3585344" cy="2072305"/>
              </a:xfrm>
              <a:prstGeom prst="roundRect">
                <a:avLst>
                  <a:gd name="adj" fmla="val 882"/>
                </a:avLst>
              </a:prstGeom>
              <a:solidFill>
                <a:srgbClr val="FFFFFF"/>
              </a:solidFill>
              <a:ln w="9144">
                <a:solidFill>
                  <a:srgbClr val="007651"/>
                </a:solidFill>
              </a:ln>
              <a:effectLst>
                <a:outerShdw blurRad="50800" dist="38100" dir="2700000" algn="tl" rotWithShape="0">
                  <a:prstClr val="black">
                    <a:alpha val="40000"/>
                  </a:prst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12" name="Picture 111" descr="key-qualifying-rule.png"/>
              <p:cNvPicPr>
                <a:picLocks noChangeAspect="1"/>
              </p:cNvPicPr>
              <p:nvPr/>
            </p:nvPicPr>
            <p:blipFill>
              <a:blip r:embed="rId3"/>
              <a:stretch>
                <a:fillRect/>
              </a:stretch>
            </p:blipFill>
            <p:spPr>
              <a:xfrm>
                <a:off x="8044340" y="2573264"/>
                <a:ext cx="3237603" cy="1398483"/>
              </a:xfrm>
              <a:prstGeom prst="rect">
                <a:avLst/>
              </a:prstGeom>
            </p:spPr>
          </p:pic>
        </p:grpSp>
        <p:sp>
          <p:nvSpPr>
            <p:cNvPr id="113" name="TextBox 112"/>
            <p:cNvSpPr txBox="1"/>
            <p:nvPr/>
          </p:nvSpPr>
          <p:spPr>
            <a:xfrm>
              <a:off x="8044340" y="4011460"/>
              <a:ext cx="3399675" cy="362925"/>
            </a:xfrm>
            <a:prstGeom prst="rect">
              <a:avLst/>
            </a:prstGeom>
            <a:noFill/>
          </p:spPr>
          <p:txBody>
            <a:bodyPr wrap="square" lIns="0" tIns="0" rIns="0" bIns="0" anchor="t">
              <a:noAutofit/>
            </a:bodyPr>
            <a:lstStyle/>
            <a:p>
              <a:pPr marL="0" marR="0" lvl="0" indent="0" algn="l" defTabSz="457200" rtl="0" eaLnBrk="1" fontAlgn="auto" latinLnBrk="0" hangingPunct="1">
                <a:lnSpc>
                  <a:spcPts val="1357"/>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a:ea typeface="+mn-ea"/>
                  <a:cs typeface="+mn-cs"/>
                </a:rPr>
                <a:t>The published rule behind the highlighted region – </a:t>
              </a:r>
              <a:r>
                <a:rPr kumimoji="0" sz="950" b="0" i="0" u="none" strike="noStrike" kern="1200" cap="none" spc="0" normalizeH="0" baseline="0" noProof="0" err="1">
                  <a:ln>
                    <a:noFill/>
                  </a:ln>
                  <a:solidFill>
                    <a:srgbClr val="575757"/>
                  </a:solidFill>
                  <a:effectLst/>
                  <a:uLnTx/>
                  <a:uFillTx/>
                  <a:latin typeface="Fira Sans"/>
                  <a:ea typeface="+mn-ea"/>
                  <a:cs typeface="+mn-cs"/>
                </a:rPr>
                <a:t>key.com</a:t>
              </a:r>
              <a:r>
                <a:rPr kumimoji="0" sz="950" b="0" i="0" u="none" strike="noStrike" kern="1200" cap="none" spc="0" normalizeH="0" baseline="0" noProof="0">
                  <a:ln>
                    <a:noFill/>
                  </a:ln>
                  <a:solidFill>
                    <a:srgbClr val="575757"/>
                  </a:solidFill>
                  <a:effectLst/>
                  <a:uLnTx/>
                  <a:uFillTx/>
                  <a:latin typeface="Fira Sans"/>
                  <a:ea typeface="+mn-ea"/>
                  <a:cs typeface="+mn-cs"/>
                </a:rPr>
                <a:t>,</a:t>
              </a:r>
            </a:p>
            <a:p>
              <a:pPr marL="0" marR="0" lvl="0" indent="0" algn="l" defTabSz="457200" rtl="0" eaLnBrk="1" fontAlgn="auto" latinLnBrk="0" hangingPunct="1">
                <a:lnSpc>
                  <a:spcPts val="1357"/>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a:ea typeface="+mn-ea"/>
                  <a:cs typeface="+mn-cs"/>
                </a:rPr>
                <a:t>captured Aug 2026</a:t>
              </a:r>
            </a:p>
          </p:txBody>
        </p:sp>
      </p:grpSp>
      <p:pic>
        <p:nvPicPr>
          <p:cNvPr id="6" name="Picture 5" descr="keybank.png">
            <a:extLst>
              <a:ext uri="{FF2B5EF4-FFF2-40B4-BE49-F238E27FC236}">
                <a16:creationId xmlns:a16="http://schemas.microsoft.com/office/drawing/2014/main" id="{C24AA1C4-F5BF-16EB-1135-4DEAF9B83F85}"/>
              </a:ext>
            </a:extLst>
          </p:cNvPr>
          <p:cNvPicPr>
            <a:picLocks noChangeAspect="1"/>
          </p:cNvPicPr>
          <p:nvPr/>
        </p:nvPicPr>
        <p:blipFill>
          <a:blip r:embed="rId4"/>
          <a:stretch>
            <a:fillRect/>
          </a:stretch>
        </p:blipFill>
        <p:spPr>
          <a:xfrm>
            <a:off x="3790129" y="973694"/>
            <a:ext cx="699918" cy="123879"/>
          </a:xfrm>
          <a:prstGeom prst="rect">
            <a:avLst/>
          </a:prstGeom>
        </p:spPr>
      </p:pic>
    </p:spTree>
    <p:extLst>
      <p:ext uri="{BB962C8B-B14F-4D97-AF65-F5344CB8AC3E}">
        <p14:creationId xmlns:p14="http://schemas.microsoft.com/office/powerpoint/2010/main" val="2693096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3073843" y="2688621"/>
            <a:ext cx="6044314" cy="215798"/>
          </a:xfrm>
          <a:prstGeom prst="rect">
            <a:avLst/>
          </a:prstGeom>
          <a:noFill/>
        </p:spPr>
        <p:txBody>
          <a:bodyPr wrap="square" lIns="0" tIns="0" rIns="0" bIns="0" anchor="t">
            <a:noAutofit/>
          </a:bodyPr>
          <a:lstStyle/>
          <a:p>
            <a:pPr marL="0" marR="0" lvl="0" indent="0" algn="ctr"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a:t>
            </a:r>
          </a:p>
        </p:txBody>
      </p:sp>
      <p:sp>
        <p:nvSpPr>
          <p:cNvPr id="92" name="TextBox 91"/>
          <p:cNvSpPr txBox="1"/>
          <p:nvPr/>
        </p:nvSpPr>
        <p:spPr>
          <a:xfrm>
            <a:off x="3073843" y="3027787"/>
            <a:ext cx="6044314" cy="512064"/>
          </a:xfrm>
          <a:prstGeom prst="rect">
            <a:avLst/>
          </a:prstGeom>
          <a:noFill/>
        </p:spPr>
        <p:txBody>
          <a:bodyPr wrap="square" lIns="0" tIns="0" rIns="0" bIns="0" anchor="t">
            <a:noAutofit/>
          </a:bodyPr>
          <a:lstStyle/>
          <a:p>
            <a:pPr marL="0" marR="0" lvl="0" indent="0" algn="ctr" defTabSz="457200" rtl="0" eaLnBrk="1" fontAlgn="auto" latinLnBrk="0" hangingPunct="1">
              <a:lnSpc>
                <a:spcPts val="3887"/>
              </a:lnSpc>
              <a:spcBef>
                <a:spcPts val="0"/>
              </a:spcBef>
              <a:spcAft>
                <a:spcPts val="0"/>
              </a:spcAft>
              <a:buClrTx/>
              <a:buSzTx/>
              <a:buFontTx/>
              <a:buNone/>
              <a:tabLst/>
              <a:defRPr/>
            </a:pPr>
            <a:r>
              <a:rPr kumimoji="0" sz="2900" b="0" i="0" u="none" strike="noStrike" kern="1200" cap="none" spc="0" normalizeH="0" baseline="0" noProof="0">
                <a:ln>
                  <a:noFill/>
                </a:ln>
                <a:solidFill>
                  <a:srgbClr val="232422"/>
                </a:solidFill>
                <a:effectLst/>
                <a:uLnTx/>
                <a:uFillTx/>
                <a:latin typeface="Fira Sans Light"/>
                <a:ea typeface="+mn-ea"/>
                <a:cs typeface="+mn-cs"/>
              </a:rPr>
              <a:t>Five key findings across the models</a:t>
            </a:r>
          </a:p>
        </p:txBody>
      </p:sp>
      <p:sp>
        <p:nvSpPr>
          <p:cNvPr id="93" name="Rounded Rectangle 92"/>
          <p:cNvSpPr/>
          <p:nvPr/>
        </p:nvSpPr>
        <p:spPr>
          <a:xfrm>
            <a:off x="5227103" y="3877056"/>
            <a:ext cx="274389" cy="274320"/>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9A9A9A"/>
                </a:solidFill>
                <a:effectLst/>
                <a:uLnTx/>
                <a:uFillTx/>
                <a:latin typeface="Fira Sans"/>
                <a:ea typeface="+mn-ea"/>
                <a:cs typeface="+mn-cs"/>
              </a:rPr>
              <a:t>1</a:t>
            </a:r>
          </a:p>
        </p:txBody>
      </p:sp>
      <p:sp>
        <p:nvSpPr>
          <p:cNvPr id="94" name="Rounded Rectangle 93"/>
          <p:cNvSpPr/>
          <p:nvPr/>
        </p:nvSpPr>
        <p:spPr>
          <a:xfrm>
            <a:off x="5592954" y="3877056"/>
            <a:ext cx="274389" cy="274320"/>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9A9A9A"/>
                </a:solidFill>
                <a:effectLst/>
                <a:uLnTx/>
                <a:uFillTx/>
                <a:latin typeface="Fira Sans"/>
                <a:ea typeface="+mn-ea"/>
                <a:cs typeface="+mn-cs"/>
              </a:rPr>
              <a:t>2</a:t>
            </a:r>
          </a:p>
        </p:txBody>
      </p:sp>
      <p:sp>
        <p:nvSpPr>
          <p:cNvPr id="95" name="Rounded Rectangle 94"/>
          <p:cNvSpPr/>
          <p:nvPr/>
        </p:nvSpPr>
        <p:spPr>
          <a:xfrm>
            <a:off x="5958806" y="3877056"/>
            <a:ext cx="274389" cy="274320"/>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9A9A9A"/>
                </a:solidFill>
                <a:effectLst/>
                <a:uLnTx/>
                <a:uFillTx/>
                <a:latin typeface="Fira Sans"/>
                <a:ea typeface="+mn-ea"/>
                <a:cs typeface="+mn-cs"/>
              </a:rPr>
              <a:t>3</a:t>
            </a:r>
          </a:p>
        </p:txBody>
      </p:sp>
      <p:sp>
        <p:nvSpPr>
          <p:cNvPr id="96" name="Rounded Rectangle 95"/>
          <p:cNvSpPr/>
          <p:nvPr/>
        </p:nvSpPr>
        <p:spPr>
          <a:xfrm>
            <a:off x="6324657" y="3877056"/>
            <a:ext cx="274389" cy="274320"/>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9A9A9A"/>
                </a:solidFill>
                <a:effectLst/>
                <a:uLnTx/>
                <a:uFillTx/>
                <a:latin typeface="Fira Sans"/>
                <a:ea typeface="+mn-ea"/>
                <a:cs typeface="+mn-cs"/>
              </a:rPr>
              <a:t>4</a:t>
            </a:r>
          </a:p>
        </p:txBody>
      </p:sp>
      <p:sp>
        <p:nvSpPr>
          <p:cNvPr id="97" name="Rounded Rectangle 96"/>
          <p:cNvSpPr/>
          <p:nvPr/>
        </p:nvSpPr>
        <p:spPr>
          <a:xfrm>
            <a:off x="6690509" y="3877056"/>
            <a:ext cx="274389" cy="274320"/>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9A9A9A"/>
                </a:solidFill>
                <a:effectLst/>
                <a:uLnTx/>
                <a:uFillTx/>
                <a:latin typeface="Fira Sans"/>
                <a:ea typeface="+mn-ea"/>
                <a:cs typeface="+mn-cs"/>
              </a:rPr>
              <a:t>5</a:t>
            </a:r>
          </a:p>
        </p:txBody>
      </p:sp>
      <p:cxnSp>
        <p:nvCxnSpPr>
          <p:cNvPr id="98" name="Connector 97"/>
          <p:cNvCxnSpPr/>
          <p:nvPr/>
        </p:nvCxnSpPr>
        <p:spPr>
          <a:xfrm>
            <a:off x="503046" y="6615684"/>
            <a:ext cx="11185908" cy="0"/>
          </a:xfrm>
          <a:prstGeom prst="line">
            <a:avLst/>
          </a:prstGeom>
          <a:ln w="9144">
            <a:solidFill>
              <a:srgbClr val="DDDBCE"/>
            </a:solidFill>
          </a:ln>
          <a:effectLst/>
        </p:spPr>
      </p:cxn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454279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 · FINDING 1 OF 5</a:t>
            </a:r>
          </a:p>
        </p:txBody>
      </p:sp>
      <p:sp>
        <p:nvSpPr>
          <p:cNvPr id="92" name="Rounded Rectangle 91"/>
          <p:cNvSpPr/>
          <p:nvPr/>
        </p:nvSpPr>
        <p:spPr>
          <a:xfrm>
            <a:off x="10243841"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Medium"/>
                <a:ea typeface="+mn-ea"/>
                <a:cs typeface="+mn-cs"/>
              </a:rPr>
              <a:t>1</a:t>
            </a:r>
          </a:p>
        </p:txBody>
      </p:sp>
      <p:sp>
        <p:nvSpPr>
          <p:cNvPr id="93" name="Rounded Rectangle 92"/>
          <p:cNvSpPr/>
          <p:nvPr/>
        </p:nvSpPr>
        <p:spPr>
          <a:xfrm>
            <a:off x="10545668"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2</a:t>
            </a:r>
          </a:p>
        </p:txBody>
      </p:sp>
      <p:sp>
        <p:nvSpPr>
          <p:cNvPr id="94" name="Rounded Rectangle 93"/>
          <p:cNvSpPr/>
          <p:nvPr/>
        </p:nvSpPr>
        <p:spPr>
          <a:xfrm>
            <a:off x="10847496"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3</a:t>
            </a:r>
          </a:p>
        </p:txBody>
      </p:sp>
      <p:sp>
        <p:nvSpPr>
          <p:cNvPr id="95" name="Rounded Rectangle 94"/>
          <p:cNvSpPr/>
          <p:nvPr/>
        </p:nvSpPr>
        <p:spPr>
          <a:xfrm>
            <a:off x="11149323"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4</a:t>
            </a:r>
          </a:p>
        </p:txBody>
      </p:sp>
      <p:sp>
        <p:nvSpPr>
          <p:cNvPr id="96" name="Rounded Rectangle 95"/>
          <p:cNvSpPr/>
          <p:nvPr/>
        </p:nvSpPr>
        <p:spPr>
          <a:xfrm>
            <a:off x="1145115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5</a:t>
            </a:r>
          </a:p>
        </p:txBody>
      </p:sp>
      <p:sp>
        <p:nvSpPr>
          <p:cNvPr id="97" name="TextBox 96"/>
          <p:cNvSpPr txBox="1"/>
          <p:nvPr/>
        </p:nvSpPr>
        <p:spPr>
          <a:xfrm>
            <a:off x="503046" y="743648"/>
            <a:ext cx="11197887"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Most banks treat checking as the start of a primary relationship,</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but many customers treat it as just another account</a:t>
            </a:r>
          </a:p>
        </p:txBody>
      </p:sp>
      <p:sp>
        <p:nvSpPr>
          <p:cNvPr id="98" name="TextBox 97"/>
          <p:cNvSpPr txBox="1"/>
          <p:nvPr/>
        </p:nvSpPr>
        <p:spPr>
          <a:xfrm>
            <a:off x="503046" y="2021127"/>
            <a:ext cx="6152163"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0" i="0" u="none" strike="noStrike" kern="1200" cap="all" spc="104" normalizeH="0" baseline="0" noProof="0">
                <a:ln>
                  <a:noFill/>
                </a:ln>
                <a:solidFill>
                  <a:srgbClr val="007651"/>
                </a:solidFill>
                <a:effectLst/>
                <a:uLnTx/>
                <a:uFillTx/>
                <a:latin typeface="Fira Sans SemiBold"/>
                <a:ea typeface="+mn-ea"/>
                <a:cs typeface="+mn-cs"/>
              </a:rPr>
              <a:t>WHERE CHECKING IS REQUIRED TO ACCESS STATUS / BENEFITS</a:t>
            </a:r>
            <a:endParaRPr kumimoji="0" sz="1050" b="0" i="0" u="none" strike="noStrike" kern="1200" cap="all" spc="104" normalizeH="0" baseline="0" noProof="0">
              <a:ln>
                <a:noFill/>
              </a:ln>
              <a:solidFill>
                <a:srgbClr val="007651"/>
              </a:solidFill>
              <a:effectLst/>
              <a:uLnTx/>
              <a:uFillTx/>
              <a:latin typeface="Fira Sans SemiBold"/>
              <a:ea typeface="+mn-ea"/>
              <a:cs typeface="+mn-cs"/>
            </a:endParaRPr>
          </a:p>
        </p:txBody>
      </p:sp>
      <p:cxnSp>
        <p:nvCxnSpPr>
          <p:cNvPr id="99" name="Connector 98"/>
          <p:cNvCxnSpPr>
            <a:cxnSpLocks/>
          </p:cNvCxnSpPr>
          <p:nvPr/>
        </p:nvCxnSpPr>
        <p:spPr>
          <a:xfrm>
            <a:off x="503046" y="2264270"/>
            <a:ext cx="5859202" cy="0"/>
          </a:xfrm>
          <a:prstGeom prst="line">
            <a:avLst/>
          </a:prstGeom>
          <a:ln w="19050">
            <a:solidFill>
              <a:srgbClr val="217651"/>
            </a:solidFill>
          </a:ln>
          <a:effectLst/>
        </p:spPr>
      </p:cxnSp>
      <p:grpSp>
        <p:nvGrpSpPr>
          <p:cNvPr id="14" name="Group 13">
            <a:extLst>
              <a:ext uri="{FF2B5EF4-FFF2-40B4-BE49-F238E27FC236}">
                <a16:creationId xmlns:a16="http://schemas.microsoft.com/office/drawing/2014/main" id="{1E17DF95-7BA6-20C1-481C-036211AB25AC}"/>
              </a:ext>
            </a:extLst>
          </p:cNvPr>
          <p:cNvGrpSpPr/>
          <p:nvPr/>
        </p:nvGrpSpPr>
        <p:grpSpPr>
          <a:xfrm>
            <a:off x="503046" y="2452344"/>
            <a:ext cx="4711618" cy="248717"/>
            <a:chOff x="503046" y="2410011"/>
            <a:chExt cx="4711618" cy="248717"/>
          </a:xfrm>
        </p:grpSpPr>
        <p:sp>
          <p:nvSpPr>
            <p:cNvPr id="100" name="TextBox 99"/>
            <p:cNvSpPr txBox="1"/>
            <p:nvPr/>
          </p:nvSpPr>
          <p:spPr>
            <a:xfrm>
              <a:off x="503046" y="2410011"/>
              <a:ext cx="2323157"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endParaRPr kumimoji="0" sz="1200" b="0" i="0" u="none" strike="noStrike" kern="1200" cap="none" spc="0" normalizeH="0" baseline="0" noProof="0">
                <a:ln>
                  <a:noFill/>
                </a:ln>
                <a:solidFill>
                  <a:srgbClr val="007651"/>
                </a:solidFill>
                <a:effectLst/>
                <a:uLnTx/>
                <a:uFillTx/>
                <a:latin typeface="Fira Sans Medium"/>
                <a:ea typeface="+mn-ea"/>
                <a:cs typeface="+mn-cs"/>
              </a:endParaRPr>
            </a:p>
          </p:txBody>
        </p:sp>
        <p:sp>
          <p:nvSpPr>
            <p:cNvPr id="101" name="TextBox 100"/>
            <p:cNvSpPr txBox="1"/>
            <p:nvPr/>
          </p:nvSpPr>
          <p:spPr>
            <a:xfrm>
              <a:off x="2844495" y="2410011"/>
              <a:ext cx="2370169"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Quest or Private Client checking</a:t>
              </a:r>
            </a:p>
          </p:txBody>
        </p:sp>
      </p:grpSp>
      <p:cxnSp>
        <p:nvCxnSpPr>
          <p:cNvPr id="102" name="Connector 101"/>
          <p:cNvCxnSpPr>
            <a:cxnSpLocks/>
          </p:cNvCxnSpPr>
          <p:nvPr/>
        </p:nvCxnSpPr>
        <p:spPr>
          <a:xfrm>
            <a:off x="503046" y="2798993"/>
            <a:ext cx="5859202" cy="0"/>
          </a:xfrm>
          <a:prstGeom prst="line">
            <a:avLst/>
          </a:prstGeom>
          <a:ln w="12700">
            <a:solidFill>
              <a:schemeClr val="bg1">
                <a:lumMod val="65000"/>
              </a:schemeClr>
            </a:solidFill>
            <a:prstDash val="sysDot"/>
          </a:ln>
          <a:effectLst/>
        </p:spPr>
      </p:cxnSp>
      <p:sp>
        <p:nvSpPr>
          <p:cNvPr id="104" name="TextBox 103"/>
          <p:cNvSpPr txBox="1"/>
          <p:nvPr/>
        </p:nvSpPr>
        <p:spPr>
          <a:xfrm>
            <a:off x="2844495" y="3036311"/>
            <a:ext cx="3458833"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A checking product, </a:t>
            </a:r>
            <a:r>
              <a:rPr kumimoji="0" lang="en-US" sz="1200" b="0" i="1" u="none" strike="noStrike" kern="1200" cap="none" spc="0" normalizeH="0" baseline="0" noProof="0">
                <a:ln>
                  <a:noFill/>
                </a:ln>
                <a:solidFill>
                  <a:srgbClr val="232422"/>
                </a:solidFill>
                <a:effectLst/>
                <a:uLnTx/>
                <a:uFillTx/>
                <a:latin typeface="Fira Sans"/>
                <a:ea typeface="+mn-ea"/>
                <a:cs typeface="+mn-cs"/>
              </a:rPr>
              <a:t>or</a:t>
            </a:r>
            <a:r>
              <a:rPr kumimoji="0" sz="1200" b="0" i="0" u="none" strike="noStrike" kern="1200" cap="none" spc="0" normalizeH="0" baseline="0" noProof="0">
                <a:ln>
                  <a:noFill/>
                </a:ln>
                <a:solidFill>
                  <a:srgbClr val="232422"/>
                </a:solidFill>
                <a:effectLst/>
                <a:uLnTx/>
                <a:uFillTx/>
                <a:latin typeface="Fira Sans"/>
                <a:ea typeface="+mn-ea"/>
                <a:cs typeface="+mn-cs"/>
              </a:rPr>
              <a:t> enrollment built on one</a:t>
            </a:r>
          </a:p>
        </p:txBody>
      </p:sp>
      <p:cxnSp>
        <p:nvCxnSpPr>
          <p:cNvPr id="105" name="Connector 104"/>
          <p:cNvCxnSpPr>
            <a:cxnSpLocks/>
          </p:cNvCxnSpPr>
          <p:nvPr/>
        </p:nvCxnSpPr>
        <p:spPr>
          <a:xfrm>
            <a:off x="503046" y="3564819"/>
            <a:ext cx="5859202" cy="0"/>
          </a:xfrm>
          <a:prstGeom prst="line">
            <a:avLst/>
          </a:prstGeom>
          <a:ln w="12700">
            <a:solidFill>
              <a:schemeClr val="bg1">
                <a:lumMod val="65000"/>
              </a:schemeClr>
            </a:solidFill>
            <a:prstDash val="sysDot"/>
          </a:ln>
          <a:effectLst/>
        </p:spPr>
      </p:cxnSp>
      <p:sp>
        <p:nvSpPr>
          <p:cNvPr id="107" name="TextBox 106"/>
          <p:cNvSpPr txBox="1"/>
          <p:nvPr/>
        </p:nvSpPr>
        <p:spPr>
          <a:xfrm>
            <a:off x="2844495" y="4227228"/>
            <a:ext cx="2789846"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Checking, savings, </a:t>
            </a:r>
            <a:r>
              <a:rPr kumimoji="0" sz="1200" b="0" i="1" u="none" strike="noStrike" kern="1200" cap="none" spc="0" normalizeH="0" baseline="0" noProof="0">
                <a:ln>
                  <a:noFill/>
                </a:ln>
                <a:solidFill>
                  <a:srgbClr val="232422"/>
                </a:solidFill>
                <a:effectLst/>
                <a:uLnTx/>
                <a:uFillTx/>
                <a:latin typeface="Fira Sans"/>
                <a:ea typeface="+mn-ea"/>
                <a:cs typeface="+mn-cs"/>
              </a:rPr>
              <a:t>or</a:t>
            </a:r>
            <a:r>
              <a:rPr kumimoji="0" sz="1200" b="0" i="0" u="none" strike="noStrike" kern="1200" cap="none" spc="0" normalizeH="0" baseline="0" noProof="0">
                <a:ln>
                  <a:noFill/>
                </a:ln>
                <a:solidFill>
                  <a:srgbClr val="232422"/>
                </a:solidFill>
                <a:effectLst/>
                <a:uLnTx/>
                <a:uFillTx/>
                <a:latin typeface="Fira Sans"/>
                <a:ea typeface="+mn-ea"/>
                <a:cs typeface="+mn-cs"/>
              </a:rPr>
              <a:t> CD </a:t>
            </a:r>
            <a:r>
              <a:rPr kumimoji="0" sz="1200" b="0" i="0" u="none" strike="noStrike" kern="1200" cap="none" spc="0" normalizeH="0" baseline="0" noProof="0">
                <a:ln>
                  <a:noFill/>
                </a:ln>
                <a:solidFill>
                  <a:srgbClr val="007651"/>
                </a:solidFill>
                <a:effectLst/>
                <a:uLnTx/>
                <a:uFillTx/>
                <a:latin typeface="Fira Sans SemiBold"/>
                <a:ea typeface="+mn-ea"/>
                <a:cs typeface="+mn-cs"/>
              </a:rPr>
              <a:t>– more doors</a:t>
            </a:r>
          </a:p>
        </p:txBody>
      </p:sp>
      <p:cxnSp>
        <p:nvCxnSpPr>
          <p:cNvPr id="108" name="Connector 107"/>
          <p:cNvCxnSpPr>
            <a:cxnSpLocks/>
          </p:cNvCxnSpPr>
          <p:nvPr/>
        </p:nvCxnSpPr>
        <p:spPr>
          <a:xfrm>
            <a:off x="503046" y="4622713"/>
            <a:ext cx="5859202" cy="0"/>
          </a:xfrm>
          <a:prstGeom prst="line">
            <a:avLst/>
          </a:prstGeom>
          <a:ln w="12700">
            <a:solidFill>
              <a:schemeClr val="bg1">
                <a:lumMod val="65000"/>
              </a:schemeClr>
            </a:solidFill>
            <a:prstDash val="sysDot"/>
          </a:ln>
          <a:effectLst/>
        </p:spPr>
      </p:cxnSp>
      <p:sp>
        <p:nvSpPr>
          <p:cNvPr id="110" name="TextBox 109"/>
          <p:cNvSpPr txBox="1"/>
          <p:nvPr/>
        </p:nvSpPr>
        <p:spPr>
          <a:xfrm>
            <a:off x="2844495" y="4779627"/>
            <a:ext cx="3465747"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$100K in deposits </a:t>
            </a:r>
            <a:r>
              <a:rPr kumimoji="0" sz="1200" b="0" i="1" u="none" strike="noStrike" kern="1200" cap="none" spc="0" normalizeH="0" baseline="0" noProof="0">
                <a:ln>
                  <a:noFill/>
                </a:ln>
                <a:solidFill>
                  <a:srgbClr val="232422"/>
                </a:solidFill>
                <a:effectLst/>
                <a:uLnTx/>
                <a:uFillTx/>
                <a:latin typeface="Fira Sans"/>
                <a:ea typeface="+mn-ea"/>
                <a:cs typeface="+mn-cs"/>
              </a:rPr>
              <a:t>or</a:t>
            </a:r>
            <a:r>
              <a:rPr kumimoji="0" sz="1200" b="0" i="0" u="none" strike="noStrike" kern="1200" cap="none" spc="0" normalizeH="0" baseline="0" noProof="0">
                <a:ln>
                  <a:noFill/>
                </a:ln>
                <a:solidFill>
                  <a:srgbClr val="232422"/>
                </a:solidFill>
                <a:effectLst/>
                <a:uLnTx/>
                <a:uFillTx/>
                <a:latin typeface="Fira Sans"/>
                <a:ea typeface="+mn-ea"/>
                <a:cs typeface="+mn-cs"/>
              </a:rPr>
              <a:t> investments </a:t>
            </a:r>
            <a:r>
              <a:rPr kumimoji="0" sz="1200" b="0" i="0" u="none" strike="noStrike" kern="1200" cap="none" spc="0" normalizeH="0" baseline="0" noProof="0">
                <a:ln>
                  <a:noFill/>
                </a:ln>
                <a:solidFill>
                  <a:srgbClr val="007651"/>
                </a:solidFill>
                <a:effectLst/>
                <a:uLnTx/>
                <a:uFillTx/>
                <a:latin typeface="Fira Sans SemiBold"/>
                <a:ea typeface="+mn-ea"/>
                <a:cs typeface="+mn-cs"/>
              </a:rPr>
              <a:t>– more doors</a:t>
            </a:r>
          </a:p>
        </p:txBody>
      </p:sp>
      <p:cxnSp>
        <p:nvCxnSpPr>
          <p:cNvPr id="111" name="Connector 110"/>
          <p:cNvCxnSpPr>
            <a:cxnSpLocks/>
          </p:cNvCxnSpPr>
          <p:nvPr/>
        </p:nvCxnSpPr>
        <p:spPr>
          <a:xfrm>
            <a:off x="503046" y="5201494"/>
            <a:ext cx="5859202" cy="0"/>
          </a:xfrm>
          <a:prstGeom prst="line">
            <a:avLst/>
          </a:prstGeom>
          <a:ln w="12700">
            <a:solidFill>
              <a:schemeClr val="bg1">
                <a:lumMod val="65000"/>
              </a:schemeClr>
            </a:solidFill>
            <a:prstDash val="sysDot"/>
          </a:ln>
          <a:effectLst/>
        </p:spPr>
      </p:cxnSp>
      <p:cxnSp>
        <p:nvCxnSpPr>
          <p:cNvPr id="116" name="Connector 115"/>
          <p:cNvCxnSpPr/>
          <p:nvPr/>
        </p:nvCxnSpPr>
        <p:spPr>
          <a:xfrm>
            <a:off x="6714380" y="2041565"/>
            <a:ext cx="0" cy="3230850"/>
          </a:xfrm>
          <a:prstGeom prst="line">
            <a:avLst/>
          </a:prstGeom>
          <a:ln w="9144">
            <a:solidFill>
              <a:srgbClr val="DDDBCE"/>
            </a:solidFill>
          </a:ln>
          <a:effectLst/>
        </p:spPr>
      </p:cxnSp>
      <p:sp>
        <p:nvSpPr>
          <p:cNvPr id="117" name="TextBox 116"/>
          <p:cNvSpPr txBox="1"/>
          <p:nvPr/>
        </p:nvSpPr>
        <p:spPr>
          <a:xfrm>
            <a:off x="7066512" y="2021127"/>
            <a:ext cx="485356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0" i="0" u="none" strike="noStrike" kern="1200" cap="all" spc="104" normalizeH="0" baseline="0" noProof="0">
                <a:ln>
                  <a:noFill/>
                </a:ln>
                <a:solidFill>
                  <a:srgbClr val="007651"/>
                </a:solidFill>
                <a:effectLst/>
                <a:uLnTx/>
                <a:uFillTx/>
                <a:latin typeface="Fira Sans SemiBold"/>
                <a:ea typeface="+mn-ea"/>
                <a:cs typeface="+mn-cs"/>
              </a:rPr>
              <a:t>Primacy often comes later</a:t>
            </a:r>
          </a:p>
        </p:txBody>
      </p:sp>
      <p:sp>
        <p:nvSpPr>
          <p:cNvPr id="118" name="TextBox 117"/>
          <p:cNvSpPr txBox="1"/>
          <p:nvPr/>
        </p:nvSpPr>
        <p:spPr>
          <a:xfrm>
            <a:off x="7066512" y="2431042"/>
            <a:ext cx="1169444" cy="556687"/>
          </a:xfrm>
          <a:prstGeom prst="rect">
            <a:avLst/>
          </a:prstGeom>
          <a:noFill/>
        </p:spPr>
        <p:txBody>
          <a:bodyPr wrap="square" lIns="0" tIns="0" rIns="0" bIns="0" anchor="t">
            <a:noAutofit/>
          </a:bodyPr>
          <a:lstStyle/>
          <a:p>
            <a:pPr marL="0" marR="0" lvl="0" indent="0" algn="l" defTabSz="457200" rtl="0" eaLnBrk="1" fontAlgn="auto" latinLnBrk="0" hangingPunct="1">
              <a:lnSpc>
                <a:spcPts val="4239"/>
              </a:lnSpc>
              <a:spcBef>
                <a:spcPts val="0"/>
              </a:spcBef>
              <a:spcAft>
                <a:spcPts val="0"/>
              </a:spcAft>
              <a:buClrTx/>
              <a:buSzTx/>
              <a:buFontTx/>
              <a:buNone/>
              <a:tabLst/>
              <a:defRPr/>
            </a:pPr>
            <a:r>
              <a:rPr kumimoji="0" sz="4600" b="0" i="0" u="none" strike="noStrike" kern="1200" cap="none" spc="-46" normalizeH="0" baseline="0" noProof="0">
                <a:ln>
                  <a:noFill/>
                </a:ln>
                <a:solidFill>
                  <a:srgbClr val="007651"/>
                </a:solidFill>
                <a:effectLst/>
                <a:uLnTx/>
                <a:uFillTx/>
                <a:latin typeface="Fira Sans Light"/>
                <a:ea typeface="+mn-ea"/>
                <a:cs typeface="+mn-cs"/>
              </a:rPr>
              <a:t>49%</a:t>
            </a:r>
          </a:p>
        </p:txBody>
      </p:sp>
      <p:sp>
        <p:nvSpPr>
          <p:cNvPr id="119" name="TextBox 118"/>
          <p:cNvSpPr txBox="1"/>
          <p:nvPr/>
        </p:nvSpPr>
        <p:spPr>
          <a:xfrm>
            <a:off x="7066512" y="2978098"/>
            <a:ext cx="2865330" cy="437815"/>
          </a:xfrm>
          <a:prstGeom prst="rect">
            <a:avLst/>
          </a:prstGeom>
          <a:noFill/>
        </p:spPr>
        <p:txBody>
          <a:bodyPr wrap="square" lIns="0" tIns="0" rIns="0" bIns="0" anchor="t">
            <a:noAutofit/>
          </a:bodyPr>
          <a:lstStyle/>
          <a:p>
            <a:pPr marL="0" marR="0" lvl="0" indent="0" algn="l" defTabSz="457200" rtl="0" eaLnBrk="1" fontAlgn="auto" latinLnBrk="0" hangingPunct="1">
              <a:lnSpc>
                <a:spcPts val="1652"/>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Medium"/>
                <a:ea typeface="+mn-ea"/>
                <a:cs typeface="+mn-cs"/>
              </a:rPr>
              <a:t>of new checking openings were</a:t>
            </a:r>
          </a:p>
          <a:p>
            <a:pPr marL="0" marR="0" lvl="0" indent="0" algn="l" defTabSz="457200" rtl="0" eaLnBrk="1" fontAlgn="auto" latinLnBrk="0" hangingPunct="1">
              <a:lnSpc>
                <a:spcPts val="1652"/>
              </a:lnSpc>
              <a:spcBef>
                <a:spcPts val="0"/>
              </a:spcBef>
              <a:spcAft>
                <a:spcPts val="0"/>
              </a:spcAft>
              <a:buClrTx/>
              <a:buSzTx/>
              <a:buFontTx/>
              <a:buNone/>
              <a:tabLst/>
              <a:defRPr/>
            </a:pPr>
            <a:r>
              <a:rPr kumimoji="0" sz="1200" b="0" i="0" u="none" strike="noStrike" kern="1200" cap="none" spc="0" normalizeH="0" baseline="0" noProof="0">
                <a:ln>
                  <a:noFill/>
                </a:ln>
                <a:solidFill>
                  <a:srgbClr val="007651"/>
                </a:solidFill>
                <a:effectLst/>
                <a:uLnTx/>
                <a:uFillTx/>
                <a:latin typeface="Fira Sans Medium"/>
                <a:ea typeface="+mn-ea"/>
                <a:cs typeface="+mn-cs"/>
              </a:rPr>
              <a:t>secondary accounts</a:t>
            </a:r>
          </a:p>
        </p:txBody>
      </p:sp>
      <p:sp>
        <p:nvSpPr>
          <p:cNvPr id="120" name="TextBox 119"/>
          <p:cNvSpPr txBox="1"/>
          <p:nvPr/>
        </p:nvSpPr>
        <p:spPr>
          <a:xfrm>
            <a:off x="10051495" y="2520028"/>
            <a:ext cx="871184" cy="438912"/>
          </a:xfrm>
          <a:prstGeom prst="rect">
            <a:avLst/>
          </a:prstGeom>
          <a:noFill/>
        </p:spPr>
        <p:txBody>
          <a:bodyPr wrap="square" lIns="0" tIns="0" rIns="0" bIns="0" anchor="t">
            <a:noAutofit/>
          </a:bodyPr>
          <a:lstStyle/>
          <a:p>
            <a:pPr marL="0" marR="0" lvl="0" indent="0" algn="l" defTabSz="457200" rtl="0" eaLnBrk="1" fontAlgn="auto" latinLnBrk="0" hangingPunct="1">
              <a:lnSpc>
                <a:spcPts val="3311"/>
              </a:lnSpc>
              <a:spcBef>
                <a:spcPts val="0"/>
              </a:spcBef>
              <a:spcAft>
                <a:spcPts val="0"/>
              </a:spcAft>
              <a:buClrTx/>
              <a:buSzTx/>
              <a:buFontTx/>
              <a:buNone/>
              <a:tabLst/>
              <a:defRPr/>
            </a:pPr>
            <a:r>
              <a:rPr kumimoji="0" sz="3300" b="0" i="0" u="none" strike="noStrike" kern="1200" cap="none" spc="-33" normalizeH="0" baseline="0" noProof="0">
                <a:ln>
                  <a:noFill/>
                </a:ln>
                <a:solidFill>
                  <a:srgbClr val="575757"/>
                </a:solidFill>
                <a:effectLst/>
                <a:uLnTx/>
                <a:uFillTx/>
                <a:latin typeface="Fira Sans Light"/>
                <a:ea typeface="+mn-ea"/>
                <a:cs typeface="+mn-cs"/>
              </a:rPr>
              <a:t>26%</a:t>
            </a:r>
          </a:p>
        </p:txBody>
      </p:sp>
      <p:sp>
        <p:nvSpPr>
          <p:cNvPr id="121" name="TextBox 120"/>
          <p:cNvSpPr txBox="1"/>
          <p:nvPr/>
        </p:nvSpPr>
        <p:spPr>
          <a:xfrm>
            <a:off x="10051495" y="2963065"/>
            <a:ext cx="1765508" cy="376093"/>
          </a:xfrm>
          <a:prstGeom prst="rect">
            <a:avLst/>
          </a:prstGeom>
          <a:noFill/>
        </p:spPr>
        <p:txBody>
          <a:bodyPr wrap="square" lIns="0" tIns="0" rIns="0" bIns="0" anchor="t">
            <a:noAutofit/>
          </a:bodyPr>
          <a:lstStyle/>
          <a:p>
            <a:pPr marL="0" marR="0" lvl="0" indent="0" algn="l" defTabSz="457200" rtl="0" eaLnBrk="1" fontAlgn="auto" latinLnBrk="0" hangingPunct="1">
              <a:lnSpc>
                <a:spcPts val="1409"/>
              </a:lnSpc>
              <a:spcBef>
                <a:spcPts val="0"/>
              </a:spcBef>
              <a:spcAft>
                <a:spcPts val="0"/>
              </a:spcAft>
              <a:buClrTx/>
              <a:buSzTx/>
              <a:buFontTx/>
              <a:buNone/>
              <a:tabLst/>
              <a:defRPr/>
            </a:pPr>
            <a:r>
              <a:rPr kumimoji="0" sz="1050" b="0" i="0" u="none" strike="noStrike" kern="1200" cap="none" spc="0" normalizeH="0" baseline="0" noProof="0">
                <a:ln>
                  <a:noFill/>
                </a:ln>
                <a:solidFill>
                  <a:srgbClr val="232422"/>
                </a:solidFill>
                <a:effectLst/>
                <a:uLnTx/>
                <a:uFillTx/>
                <a:latin typeface="Fira Sans Medium"/>
                <a:ea typeface="+mn-ea"/>
                <a:cs typeface="+mn-cs"/>
              </a:rPr>
              <a:t>replaced a prior</a:t>
            </a:r>
          </a:p>
          <a:p>
            <a:pPr marL="0" marR="0" lvl="0" indent="0" algn="l" defTabSz="457200" rtl="0" eaLnBrk="1" fontAlgn="auto" latinLnBrk="0" hangingPunct="1">
              <a:lnSpc>
                <a:spcPts val="1409"/>
              </a:lnSpc>
              <a:spcBef>
                <a:spcPts val="0"/>
              </a:spcBef>
              <a:spcAft>
                <a:spcPts val="0"/>
              </a:spcAft>
              <a:buClrTx/>
              <a:buSzTx/>
              <a:buFontTx/>
              <a:buNone/>
              <a:tabLst/>
              <a:defRPr/>
            </a:pPr>
            <a:r>
              <a:rPr kumimoji="0" sz="1050" b="0" i="0" u="none" strike="noStrike" kern="1200" cap="none" spc="0" normalizeH="0" baseline="0" noProof="0">
                <a:ln>
                  <a:noFill/>
                </a:ln>
                <a:solidFill>
                  <a:srgbClr val="232422"/>
                </a:solidFill>
                <a:effectLst/>
                <a:uLnTx/>
                <a:uFillTx/>
                <a:latin typeface="Fira Sans Medium"/>
                <a:ea typeface="+mn-ea"/>
                <a:cs typeface="+mn-cs"/>
              </a:rPr>
              <a:t>checking account</a:t>
            </a:r>
          </a:p>
        </p:txBody>
      </p:sp>
      <p:sp>
        <p:nvSpPr>
          <p:cNvPr id="122" name="Rectangle 121"/>
          <p:cNvSpPr/>
          <p:nvPr/>
        </p:nvSpPr>
        <p:spPr>
          <a:xfrm>
            <a:off x="7066512" y="3558372"/>
            <a:ext cx="2264986" cy="146304"/>
          </a:xfrm>
          <a:prstGeom prst="rect">
            <a:avLst/>
          </a:prstGeom>
          <a:solidFill>
            <a:srgbClr val="00765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3" name="Rectangle 122"/>
          <p:cNvSpPr/>
          <p:nvPr/>
        </p:nvSpPr>
        <p:spPr>
          <a:xfrm>
            <a:off x="9331499" y="3558372"/>
            <a:ext cx="1201731" cy="146304"/>
          </a:xfrm>
          <a:prstGeom prst="rect">
            <a:avLst/>
          </a:prstGeom>
          <a:solidFill>
            <a:srgbClr val="77756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4" name="Rectangle 123"/>
          <p:cNvSpPr/>
          <p:nvPr/>
        </p:nvSpPr>
        <p:spPr>
          <a:xfrm>
            <a:off x="10533229" y="3558372"/>
            <a:ext cx="1155542" cy="146304"/>
          </a:xfrm>
          <a:prstGeom prst="rect">
            <a:avLst/>
          </a:prstGeom>
          <a:solidFill>
            <a:srgbClr val="D8D5CB"/>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5" name="TextBox 124"/>
          <p:cNvSpPr txBox="1"/>
          <p:nvPr/>
        </p:nvSpPr>
        <p:spPr>
          <a:xfrm>
            <a:off x="7002488" y="3748281"/>
            <a:ext cx="2393034" cy="182880"/>
          </a:xfrm>
          <a:prstGeom prst="rect">
            <a:avLst/>
          </a:prstGeom>
          <a:noFill/>
        </p:spPr>
        <p:txBody>
          <a:bodyPr wrap="square" lIns="0" tIns="0" rIns="0" bIns="0" anchor="t">
            <a:noAutofit/>
          </a:bodyPr>
          <a:lstStyle/>
          <a:p>
            <a:pPr marL="0" marR="0" lvl="0" indent="0" algn="ctr"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a:ea typeface="+mn-ea"/>
                <a:cs typeface="+mn-cs"/>
              </a:rPr>
              <a:t>49% secondary</a:t>
            </a:r>
          </a:p>
        </p:txBody>
      </p:sp>
      <p:sp>
        <p:nvSpPr>
          <p:cNvPr id="126" name="TextBox 125"/>
          <p:cNvSpPr txBox="1"/>
          <p:nvPr/>
        </p:nvSpPr>
        <p:spPr>
          <a:xfrm>
            <a:off x="9267475" y="3748281"/>
            <a:ext cx="1329779" cy="182880"/>
          </a:xfrm>
          <a:prstGeom prst="rect">
            <a:avLst/>
          </a:prstGeom>
          <a:noFill/>
        </p:spPr>
        <p:txBody>
          <a:bodyPr wrap="square" lIns="0" tIns="0" rIns="0" bIns="0" anchor="t">
            <a:noAutofit/>
          </a:bodyPr>
          <a:lstStyle/>
          <a:p>
            <a:pPr marL="0" marR="0" lvl="0" indent="0" algn="ctr"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a:ea typeface="+mn-ea"/>
                <a:cs typeface="+mn-cs"/>
              </a:rPr>
              <a:t>26% replacement</a:t>
            </a:r>
          </a:p>
        </p:txBody>
      </p:sp>
      <p:sp>
        <p:nvSpPr>
          <p:cNvPr id="127" name="TextBox 126"/>
          <p:cNvSpPr txBox="1"/>
          <p:nvPr/>
        </p:nvSpPr>
        <p:spPr>
          <a:xfrm>
            <a:off x="10469205" y="3748281"/>
            <a:ext cx="1283773" cy="182880"/>
          </a:xfrm>
          <a:prstGeom prst="rect">
            <a:avLst/>
          </a:prstGeom>
          <a:noFill/>
        </p:spPr>
        <p:txBody>
          <a:bodyPr wrap="square" lIns="0" tIns="0" rIns="0" bIns="0" anchor="t">
            <a:noAutofit/>
          </a:bodyPr>
          <a:lstStyle/>
          <a:p>
            <a:pPr marL="0" marR="0" lvl="0" indent="0" algn="ctr"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a:ea typeface="+mn-ea"/>
                <a:cs typeface="+mn-cs"/>
              </a:rPr>
              <a:t>25% first account</a:t>
            </a:r>
          </a:p>
        </p:txBody>
      </p:sp>
      <p:sp>
        <p:nvSpPr>
          <p:cNvPr id="128" name="TextBox 127"/>
          <p:cNvSpPr txBox="1"/>
          <p:nvPr/>
        </p:nvSpPr>
        <p:spPr>
          <a:xfrm>
            <a:off x="7066512" y="4034766"/>
            <a:ext cx="4853564" cy="190652"/>
          </a:xfrm>
          <a:prstGeom prst="rect">
            <a:avLst/>
          </a:prstGeom>
          <a:noFill/>
        </p:spPr>
        <p:txBody>
          <a:bodyPr wrap="square" lIns="0" tIns="0" rIns="0" bIns="0" anchor="t">
            <a:noAutofit/>
          </a:bodyPr>
          <a:lstStyle/>
          <a:p>
            <a:pPr marL="0" marR="0" lvl="0" indent="0" algn="l" defTabSz="457200" rtl="0" eaLnBrk="1" fontAlgn="auto" latinLnBrk="0" hangingPunct="1">
              <a:lnSpc>
                <a:spcPts val="1357"/>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75000"/>
                  </a:prstClr>
                </a:solidFill>
                <a:effectLst/>
                <a:uLnTx/>
                <a:uFillTx/>
                <a:latin typeface="Fira Sans Light" panose="020B0403050000020004" pitchFamily="34" charset="0"/>
                <a:ea typeface="+mn-ea"/>
                <a:cs typeface="+mn-cs"/>
              </a:rPr>
              <a:t>J.D. Power account-opening analysis, Q4 2025</a:t>
            </a:r>
          </a:p>
        </p:txBody>
      </p:sp>
      <p:cxnSp>
        <p:nvCxnSpPr>
          <p:cNvPr id="129" name="Connector 128"/>
          <p:cNvCxnSpPr/>
          <p:nvPr/>
        </p:nvCxnSpPr>
        <p:spPr>
          <a:xfrm>
            <a:off x="7066512" y="4283857"/>
            <a:ext cx="4622442" cy="0"/>
          </a:xfrm>
          <a:prstGeom prst="line">
            <a:avLst/>
          </a:prstGeom>
          <a:ln w="9144">
            <a:solidFill>
              <a:srgbClr val="DDDBCE"/>
            </a:solidFill>
          </a:ln>
          <a:effectLst/>
        </p:spPr>
      </p:cxnSp>
      <p:sp>
        <p:nvSpPr>
          <p:cNvPr id="130" name="TextBox 129"/>
          <p:cNvSpPr txBox="1"/>
          <p:nvPr/>
        </p:nvSpPr>
        <p:spPr>
          <a:xfrm>
            <a:off x="7066512" y="4385935"/>
            <a:ext cx="4634421" cy="674553"/>
          </a:xfrm>
          <a:prstGeom prst="rect">
            <a:avLst/>
          </a:prstGeom>
          <a:noFill/>
        </p:spPr>
        <p:txBody>
          <a:bodyPr wrap="square" lIns="0" tIns="0" rIns="0" bIns="0" anchor="t">
            <a:noAutofit/>
          </a:bodyPr>
          <a:lstStyle/>
          <a:p>
            <a:pPr marL="0" marR="0" lvl="0" indent="0" algn="l" defTabSz="457200" rtl="0" eaLnBrk="1" fontAlgn="auto" latinLnBrk="0" hangingPunct="1">
              <a:lnSpc>
                <a:spcPts val="1722"/>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Affluent customers increasingly define their main relationship</a:t>
            </a:r>
          </a:p>
          <a:p>
            <a:pPr marL="0" marR="0" lvl="0" indent="0" algn="l" defTabSz="457200" rtl="0" eaLnBrk="1" fontAlgn="auto" latinLnBrk="0" hangingPunct="1">
              <a:lnSpc>
                <a:spcPts val="1722"/>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through their </a:t>
            </a:r>
            <a:r>
              <a:rPr kumimoji="0" sz="1200" b="0" i="0" u="none" strike="noStrike" kern="1200" cap="none" spc="0" normalizeH="0" baseline="0" noProof="0">
                <a:ln>
                  <a:noFill/>
                </a:ln>
                <a:solidFill>
                  <a:srgbClr val="232422"/>
                </a:solidFill>
                <a:effectLst/>
                <a:uLnTx/>
                <a:uFillTx/>
                <a:latin typeface="Fira Sans SemiBold"/>
                <a:ea typeface="+mn-ea"/>
                <a:cs typeface="+mn-cs"/>
              </a:rPr>
              <a:t>card</a:t>
            </a:r>
            <a:r>
              <a:rPr kumimoji="0" sz="1200" b="0" i="0" u="none" strike="noStrike" kern="1200" cap="none" spc="0" normalizeH="0" baseline="0" noProof="0">
                <a:ln>
                  <a:noFill/>
                </a:ln>
                <a:solidFill>
                  <a:srgbClr val="232422"/>
                </a:solidFill>
                <a:effectLst/>
                <a:uLnTx/>
                <a:uFillTx/>
                <a:latin typeface="Fira Sans"/>
                <a:ea typeface="+mn-ea"/>
                <a:cs typeface="+mn-cs"/>
              </a:rPr>
              <a:t> and where they </a:t>
            </a:r>
            <a:r>
              <a:rPr kumimoji="0" sz="1200" b="0" i="0" u="none" strike="noStrike" kern="1200" cap="none" spc="0" normalizeH="0" baseline="0" noProof="0">
                <a:ln>
                  <a:noFill/>
                </a:ln>
                <a:solidFill>
                  <a:srgbClr val="232422"/>
                </a:solidFill>
                <a:effectLst/>
                <a:uLnTx/>
                <a:uFillTx/>
                <a:latin typeface="Fira Sans SemiBold"/>
                <a:ea typeface="+mn-ea"/>
                <a:cs typeface="+mn-cs"/>
              </a:rPr>
              <a:t>build wealth</a:t>
            </a:r>
            <a:r>
              <a:rPr kumimoji="0" sz="1200" b="0" i="0" u="none" strike="noStrike" kern="1200" cap="none" spc="0" normalizeH="0" baseline="0" noProof="0">
                <a:ln>
                  <a:noFill/>
                </a:ln>
                <a:solidFill>
                  <a:srgbClr val="232422"/>
                </a:solidFill>
                <a:effectLst/>
                <a:uLnTx/>
                <a:uFillTx/>
                <a:latin typeface="Fira Sans"/>
                <a:ea typeface="+mn-ea"/>
                <a:cs typeface="+mn-cs"/>
              </a:rPr>
              <a:t> – not only the</a:t>
            </a:r>
          </a:p>
          <a:p>
            <a:pPr marL="0" marR="0" lvl="0" indent="0" algn="l" defTabSz="457200" rtl="0" eaLnBrk="1" fontAlgn="auto" latinLnBrk="0" hangingPunct="1">
              <a:lnSpc>
                <a:spcPts val="1722"/>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checking account.</a:t>
            </a:r>
          </a:p>
        </p:txBody>
      </p:sp>
      <p:sp>
        <p:nvSpPr>
          <p:cNvPr id="131" name="TextBox 130"/>
          <p:cNvSpPr txBox="1"/>
          <p:nvPr/>
        </p:nvSpPr>
        <p:spPr>
          <a:xfrm>
            <a:off x="7066512" y="5084899"/>
            <a:ext cx="4853564" cy="190652"/>
          </a:xfrm>
          <a:prstGeom prst="rect">
            <a:avLst/>
          </a:prstGeom>
          <a:noFill/>
        </p:spPr>
        <p:txBody>
          <a:bodyPr wrap="square" lIns="0" tIns="0" rIns="0" bIns="0" anchor="t">
            <a:noAutofit/>
          </a:bodyPr>
          <a:lstStyle/>
          <a:p>
            <a:pPr marL="0" marR="0" lvl="0" indent="0" algn="l" defTabSz="457200" rtl="0" eaLnBrk="1" fontAlgn="auto" latinLnBrk="0" hangingPunct="1">
              <a:lnSpc>
                <a:spcPts val="1357"/>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75000"/>
                  </a:prstClr>
                </a:solidFill>
                <a:effectLst/>
                <a:uLnTx/>
                <a:uFillTx/>
                <a:latin typeface="Fira Sans Light" panose="020B0403050000020004" pitchFamily="34" charset="0"/>
                <a:ea typeface="+mn-ea"/>
                <a:cs typeface="+mn-cs"/>
              </a:rPr>
              <a:t>Curinos shopper survey, Q1 2025 – affluent and HENRY segments</a:t>
            </a:r>
          </a:p>
        </p:txBody>
      </p:sp>
      <p:sp>
        <p:nvSpPr>
          <p:cNvPr id="132" name="Rectangle 131"/>
          <p:cNvSpPr/>
          <p:nvPr/>
        </p:nvSpPr>
        <p:spPr>
          <a:xfrm>
            <a:off x="503046" y="5484392"/>
            <a:ext cx="11185908" cy="777240"/>
          </a:xfrm>
          <a:prstGeom prst="rect">
            <a:avLst/>
          </a:prstGeom>
          <a:solidFill>
            <a:srgbClr val="007651">
              <a:alpha val="5500"/>
            </a:srgb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33" name="Connector 132"/>
          <p:cNvCxnSpPr/>
          <p:nvPr/>
        </p:nvCxnSpPr>
        <p:spPr>
          <a:xfrm>
            <a:off x="503046" y="5488964"/>
            <a:ext cx="11185908" cy="0"/>
          </a:xfrm>
          <a:prstGeom prst="line">
            <a:avLst/>
          </a:prstGeom>
          <a:ln w="9144">
            <a:solidFill>
              <a:srgbClr val="007651"/>
            </a:solidFill>
          </a:ln>
          <a:effectLst/>
        </p:spPr>
      </p:cxnSp>
      <p:cxnSp>
        <p:nvCxnSpPr>
          <p:cNvPr id="134" name="Connector 133"/>
          <p:cNvCxnSpPr/>
          <p:nvPr/>
        </p:nvCxnSpPr>
        <p:spPr>
          <a:xfrm>
            <a:off x="11684381" y="5484392"/>
            <a:ext cx="0" cy="777240"/>
          </a:xfrm>
          <a:prstGeom prst="line">
            <a:avLst/>
          </a:prstGeom>
          <a:ln w="9144">
            <a:solidFill>
              <a:srgbClr val="007651"/>
            </a:solidFill>
          </a:ln>
          <a:effectLst/>
        </p:spPr>
      </p:cxnSp>
      <p:cxnSp>
        <p:nvCxnSpPr>
          <p:cNvPr id="135" name="Connector 134"/>
          <p:cNvCxnSpPr/>
          <p:nvPr/>
        </p:nvCxnSpPr>
        <p:spPr>
          <a:xfrm>
            <a:off x="503046" y="6257060"/>
            <a:ext cx="11185908" cy="0"/>
          </a:xfrm>
          <a:prstGeom prst="line">
            <a:avLst/>
          </a:prstGeom>
          <a:ln w="9144">
            <a:solidFill>
              <a:srgbClr val="007651"/>
            </a:solidFill>
          </a:ln>
          <a:effectLst/>
        </p:spPr>
      </p:cxnSp>
      <p:cxnSp>
        <p:nvCxnSpPr>
          <p:cNvPr id="136" name="Connector 135"/>
          <p:cNvCxnSpPr/>
          <p:nvPr/>
        </p:nvCxnSpPr>
        <p:spPr>
          <a:xfrm>
            <a:off x="516765" y="5484392"/>
            <a:ext cx="0" cy="777240"/>
          </a:xfrm>
          <a:prstGeom prst="line">
            <a:avLst/>
          </a:prstGeom>
          <a:ln w="27432">
            <a:solidFill>
              <a:srgbClr val="007651"/>
            </a:solidFill>
          </a:ln>
          <a:effectLst/>
        </p:spPr>
      </p:cxnSp>
      <p:sp>
        <p:nvSpPr>
          <p:cNvPr id="137" name="TextBox 136"/>
          <p:cNvSpPr txBox="1"/>
          <p:nvPr/>
        </p:nvSpPr>
        <p:spPr>
          <a:xfrm>
            <a:off x="731703" y="5658324"/>
            <a:ext cx="11284231" cy="484632"/>
          </a:xfrm>
          <a:prstGeom prst="rect">
            <a:avLst/>
          </a:prstGeom>
          <a:noFill/>
        </p:spPr>
        <p:txBody>
          <a:bodyPr wrap="square" lIns="0" tIns="0" rIns="0" bIns="0" anchor="t">
            <a:noAutofit/>
          </a:bodyPr>
          <a:lstStyle/>
          <a:p>
            <a:pPr marL="0" marR="0" lvl="0" indent="0" algn="l" defTabSz="457200" rtl="0" eaLnBrk="1" fontAlgn="auto" latinLnBrk="0" hangingPunct="1">
              <a:lnSpc>
                <a:spcPts val="1836"/>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Citizens’ own test points the same way – moving customers to a better checking product did not pull their money in: </a:t>
            </a:r>
            <a:r>
              <a:rPr kumimoji="0" sz="1200" b="0" i="1" u="none" strike="noStrike" kern="1200" cap="none" spc="0" normalizeH="0" baseline="0" noProof="0">
                <a:ln>
                  <a:noFill/>
                </a:ln>
                <a:solidFill>
                  <a:srgbClr val="232422"/>
                </a:solidFill>
                <a:effectLst/>
                <a:uLnTx/>
                <a:uFillTx/>
                <a:latin typeface="Fira Sans"/>
                <a:ea typeface="+mn-ea"/>
                <a:cs typeface="+mn-cs"/>
              </a:rPr>
              <a:t>“While there is an incremental lift,</a:t>
            </a:r>
          </a:p>
          <a:p>
            <a:pPr marL="0" marR="0" lvl="0" indent="0" algn="l" defTabSz="457200" rtl="0" eaLnBrk="1" fontAlgn="auto" latinLnBrk="0" hangingPunct="1">
              <a:lnSpc>
                <a:spcPts val="1836"/>
              </a:lnSpc>
              <a:spcBef>
                <a:spcPts val="0"/>
              </a:spcBef>
              <a:spcAft>
                <a:spcPts val="0"/>
              </a:spcAft>
              <a:buClrTx/>
              <a:buSzTx/>
              <a:buFontTx/>
              <a:buNone/>
              <a:tabLst/>
              <a:defRPr/>
            </a:pPr>
            <a:r>
              <a:rPr kumimoji="0" sz="1200" b="0" i="1" u="none" strike="noStrike" kern="1200" cap="none" spc="0" normalizeH="0" baseline="0" noProof="0">
                <a:ln>
                  <a:noFill/>
                </a:ln>
                <a:solidFill>
                  <a:srgbClr val="232422"/>
                </a:solidFill>
                <a:effectLst/>
                <a:uLnTx/>
                <a:uFillTx/>
                <a:latin typeface="Fira Sans"/>
                <a:ea typeface="+mn-ea"/>
                <a:cs typeface="+mn-cs"/>
              </a:rPr>
              <a:t>there is very little balance augmentation post upgrade.”</a:t>
            </a:r>
            <a:r>
              <a:rPr kumimoji="0" sz="1200" b="0" i="0" u="none" strike="noStrike" kern="1200" cap="none" spc="0" normalizeH="0" baseline="0" noProof="0">
                <a:ln>
                  <a:noFill/>
                </a:ln>
                <a:solidFill>
                  <a:srgbClr val="232422"/>
                </a:solidFill>
                <a:effectLst/>
                <a:uLnTx/>
                <a:uFillTx/>
                <a:latin typeface="Fira Sans"/>
                <a:ea typeface="+mn-ea"/>
                <a:cs typeface="+mn-cs"/>
              </a:rPr>
              <a:t> </a:t>
            </a:r>
            <a:r>
              <a:rPr kumimoji="0" sz="1100" b="0" i="0" u="none" strike="noStrike" kern="1200" cap="none" spc="0" normalizeH="0" baseline="0" noProof="0">
                <a:ln>
                  <a:noFill/>
                </a:ln>
                <a:solidFill>
                  <a:srgbClr val="575757"/>
                </a:solidFill>
                <a:effectLst/>
                <a:uLnTx/>
                <a:uFillTx/>
                <a:latin typeface="Fira Sans"/>
                <a:ea typeface="+mn-ea"/>
                <a:cs typeface="+mn-cs"/>
              </a:rPr>
              <a:t>– Cycle Upgrades readout</a:t>
            </a:r>
          </a:p>
        </p:txBody>
      </p:sp>
      <p:cxnSp>
        <p:nvCxnSpPr>
          <p:cNvPr id="138" name="Connector 137"/>
          <p:cNvCxnSpPr/>
          <p:nvPr/>
        </p:nvCxnSpPr>
        <p:spPr>
          <a:xfrm>
            <a:off x="503046" y="6336457"/>
            <a:ext cx="11185908" cy="0"/>
          </a:xfrm>
          <a:prstGeom prst="line">
            <a:avLst/>
          </a:prstGeom>
          <a:ln w="9144">
            <a:solidFill>
              <a:srgbClr val="DDDBCE"/>
            </a:solidFill>
          </a:ln>
          <a:effectLst/>
        </p:spPr>
      </p:cxnSp>
      <p:sp>
        <p:nvSpPr>
          <p:cNvPr id="139" name="TextBox 138"/>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Published program terms · J.D. Power account-opening analysis, Q4 2025 · Curinos shopper survey, Q1 2025 · Citizens Cycle Upgrades.</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19" name="TextBox 18">
            <a:extLst>
              <a:ext uri="{FF2B5EF4-FFF2-40B4-BE49-F238E27FC236}">
                <a16:creationId xmlns:a16="http://schemas.microsoft.com/office/drawing/2014/main" id="{CFBCE03B-D63E-2567-7CD1-3C2B92DF09F3}"/>
              </a:ext>
            </a:extLst>
          </p:cNvPr>
          <p:cNvSpPr txBox="1"/>
          <p:nvPr/>
        </p:nvSpPr>
        <p:spPr>
          <a:xfrm>
            <a:off x="503046" y="3782194"/>
            <a:ext cx="6152163"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0" i="0" u="none" strike="noStrike" kern="1200" cap="all" spc="104" normalizeH="0" baseline="0" noProof="0">
                <a:ln>
                  <a:noFill/>
                </a:ln>
                <a:solidFill>
                  <a:srgbClr val="007651"/>
                </a:solidFill>
                <a:effectLst/>
                <a:uLnTx/>
                <a:uFillTx/>
                <a:latin typeface="Fira Sans SemiBold"/>
                <a:ea typeface="+mn-ea"/>
                <a:cs typeface="+mn-cs"/>
              </a:rPr>
              <a:t>WHERE CHECKING IS </a:t>
            </a:r>
            <a:r>
              <a:rPr kumimoji="0" lang="en-US" sz="1050" b="0" i="0" u="none" strike="noStrike" kern="1200" cap="all" spc="104" normalizeH="0" baseline="0" noProof="0">
                <a:ln>
                  <a:noFill/>
                </a:ln>
                <a:solidFill>
                  <a:prstClr val="black"/>
                </a:solidFill>
                <a:effectLst/>
                <a:uLnTx/>
                <a:uFillTx/>
                <a:latin typeface="Fira Sans SemiBold"/>
                <a:ea typeface="+mn-ea"/>
                <a:cs typeface="+mn-cs"/>
              </a:rPr>
              <a:t>NOT</a:t>
            </a:r>
            <a:r>
              <a:rPr kumimoji="0" lang="en-US" sz="1050" b="0" i="0" u="none" strike="noStrike" kern="1200" cap="all" spc="104" normalizeH="0" baseline="0" noProof="0">
                <a:ln>
                  <a:noFill/>
                </a:ln>
                <a:solidFill>
                  <a:srgbClr val="007651"/>
                </a:solidFill>
                <a:effectLst/>
                <a:uLnTx/>
                <a:uFillTx/>
                <a:latin typeface="Fira Sans SemiBold"/>
                <a:ea typeface="+mn-ea"/>
                <a:cs typeface="+mn-cs"/>
              </a:rPr>
              <a:t> THE ONLY WAY TO ACCESS STATUS / BENEFITS</a:t>
            </a:r>
            <a:endParaRPr kumimoji="0" sz="1050" b="0" i="0" u="none" strike="noStrike" kern="1200" cap="all" spc="104" normalizeH="0" baseline="0" noProof="0">
              <a:ln>
                <a:noFill/>
              </a:ln>
              <a:solidFill>
                <a:srgbClr val="007651"/>
              </a:solidFill>
              <a:effectLst/>
              <a:uLnTx/>
              <a:uFillTx/>
              <a:latin typeface="Fira Sans SemiBold"/>
              <a:ea typeface="+mn-ea"/>
              <a:cs typeface="+mn-cs"/>
            </a:endParaRPr>
          </a:p>
        </p:txBody>
      </p:sp>
      <p:cxnSp>
        <p:nvCxnSpPr>
          <p:cNvPr id="23" name="Connector 98">
            <a:extLst>
              <a:ext uri="{FF2B5EF4-FFF2-40B4-BE49-F238E27FC236}">
                <a16:creationId xmlns:a16="http://schemas.microsoft.com/office/drawing/2014/main" id="{42F90D18-A7C1-7517-95FB-F825DCA4EBDA}"/>
              </a:ext>
            </a:extLst>
          </p:cNvPr>
          <p:cNvCxnSpPr>
            <a:cxnSpLocks/>
          </p:cNvCxnSpPr>
          <p:nvPr/>
        </p:nvCxnSpPr>
        <p:spPr>
          <a:xfrm>
            <a:off x="503046" y="4038435"/>
            <a:ext cx="5859202" cy="0"/>
          </a:xfrm>
          <a:prstGeom prst="line">
            <a:avLst/>
          </a:prstGeom>
          <a:ln w="19050">
            <a:solidFill>
              <a:srgbClr val="217651"/>
            </a:solidFill>
          </a:ln>
          <a:effectLst/>
        </p:spPr>
      </p:cxnSp>
      <p:pic>
        <p:nvPicPr>
          <p:cNvPr id="2" name="Picture 1" descr="wells-fargo.png">
            <a:extLst>
              <a:ext uri="{FF2B5EF4-FFF2-40B4-BE49-F238E27FC236}">
                <a16:creationId xmlns:a16="http://schemas.microsoft.com/office/drawing/2014/main" id="{B2FBB19C-0F75-5101-609C-7DF3A7DA223C}"/>
              </a:ext>
            </a:extLst>
          </p:cNvPr>
          <p:cNvPicPr>
            <a:picLocks noChangeAspect="1"/>
          </p:cNvPicPr>
          <p:nvPr/>
        </p:nvPicPr>
        <p:blipFill>
          <a:blip r:embed="rId2"/>
          <a:stretch>
            <a:fillRect/>
          </a:stretch>
        </p:blipFill>
        <p:spPr>
          <a:xfrm>
            <a:off x="505665" y="2893781"/>
            <a:ext cx="329913" cy="329830"/>
          </a:xfrm>
          <a:prstGeom prst="rect">
            <a:avLst/>
          </a:prstGeom>
        </p:spPr>
      </p:pic>
      <p:pic>
        <p:nvPicPr>
          <p:cNvPr id="4" name="Picture 3" descr="citizens.png">
            <a:extLst>
              <a:ext uri="{FF2B5EF4-FFF2-40B4-BE49-F238E27FC236}">
                <a16:creationId xmlns:a16="http://schemas.microsoft.com/office/drawing/2014/main" id="{255E6431-5FB6-7701-0AFA-05B280238337}"/>
              </a:ext>
            </a:extLst>
          </p:cNvPr>
          <p:cNvPicPr>
            <a:picLocks noChangeAspect="1"/>
          </p:cNvPicPr>
          <p:nvPr/>
        </p:nvPicPr>
        <p:blipFill>
          <a:blip r:embed="rId3"/>
          <a:stretch>
            <a:fillRect/>
          </a:stretch>
        </p:blipFill>
        <p:spPr>
          <a:xfrm>
            <a:off x="505666" y="2480592"/>
            <a:ext cx="931419" cy="155031"/>
          </a:xfrm>
          <a:prstGeom prst="rect">
            <a:avLst/>
          </a:prstGeom>
        </p:spPr>
      </p:pic>
      <p:pic>
        <p:nvPicPr>
          <p:cNvPr id="5" name="Picture 4" descr="citi.png">
            <a:extLst>
              <a:ext uri="{FF2B5EF4-FFF2-40B4-BE49-F238E27FC236}">
                <a16:creationId xmlns:a16="http://schemas.microsoft.com/office/drawing/2014/main" id="{6ABBC73E-6B1A-D7FC-7EE6-0D54503D746E}"/>
              </a:ext>
            </a:extLst>
          </p:cNvPr>
          <p:cNvPicPr>
            <a:picLocks noChangeAspect="1"/>
          </p:cNvPicPr>
          <p:nvPr/>
        </p:nvPicPr>
        <p:blipFill>
          <a:blip r:embed="rId4"/>
          <a:stretch>
            <a:fillRect/>
          </a:stretch>
        </p:blipFill>
        <p:spPr>
          <a:xfrm>
            <a:off x="517012" y="4222375"/>
            <a:ext cx="330745" cy="215153"/>
          </a:xfrm>
          <a:prstGeom prst="rect">
            <a:avLst/>
          </a:prstGeom>
        </p:spPr>
      </p:pic>
      <p:pic>
        <p:nvPicPr>
          <p:cNvPr id="6" name="Picture 5" descr="bofa-flag.png">
            <a:extLst>
              <a:ext uri="{FF2B5EF4-FFF2-40B4-BE49-F238E27FC236}">
                <a16:creationId xmlns:a16="http://schemas.microsoft.com/office/drawing/2014/main" id="{68E5CE88-9972-7AB1-928E-EBAB243D678F}"/>
              </a:ext>
            </a:extLst>
          </p:cNvPr>
          <p:cNvPicPr>
            <a:picLocks noChangeAspect="1"/>
          </p:cNvPicPr>
          <p:nvPr/>
        </p:nvPicPr>
        <p:blipFill>
          <a:blip r:embed="rId5"/>
          <a:stretch>
            <a:fillRect/>
          </a:stretch>
        </p:blipFill>
        <p:spPr>
          <a:xfrm>
            <a:off x="1431411" y="3254648"/>
            <a:ext cx="354531" cy="184819"/>
          </a:xfrm>
          <a:prstGeom prst="rect">
            <a:avLst/>
          </a:prstGeom>
        </p:spPr>
      </p:pic>
      <p:pic>
        <p:nvPicPr>
          <p:cNvPr id="7" name="Picture 6" descr="pnc.png">
            <a:extLst>
              <a:ext uri="{FF2B5EF4-FFF2-40B4-BE49-F238E27FC236}">
                <a16:creationId xmlns:a16="http://schemas.microsoft.com/office/drawing/2014/main" id="{E8818672-578A-9258-DBB9-FDAF975B8147}"/>
              </a:ext>
            </a:extLst>
          </p:cNvPr>
          <p:cNvPicPr>
            <a:picLocks noChangeAspect="1"/>
          </p:cNvPicPr>
          <p:nvPr/>
        </p:nvPicPr>
        <p:blipFill>
          <a:blip r:embed="rId6"/>
          <a:stretch>
            <a:fillRect/>
          </a:stretch>
        </p:blipFill>
        <p:spPr>
          <a:xfrm>
            <a:off x="953518" y="2973304"/>
            <a:ext cx="536407" cy="162226"/>
          </a:xfrm>
          <a:prstGeom prst="rect">
            <a:avLst/>
          </a:prstGeom>
        </p:spPr>
      </p:pic>
      <p:pic>
        <p:nvPicPr>
          <p:cNvPr id="8" name="Picture 7" descr="File:TD Bank.svg - Wikimedia Commons">
            <a:extLst>
              <a:ext uri="{FF2B5EF4-FFF2-40B4-BE49-F238E27FC236}">
                <a16:creationId xmlns:a16="http://schemas.microsoft.com/office/drawing/2014/main" id="{DA0F4E47-D335-5201-635F-5E7277279E6D}"/>
              </a:ext>
            </a:extLst>
          </p:cNvPr>
          <p:cNvPicPr>
            <a:picLocks noChangeAspect="1"/>
          </p:cNvPicPr>
          <p:nvPr/>
        </p:nvPicPr>
        <p:blipFill>
          <a:blip r:embed="rId7"/>
          <a:stretch>
            <a:fillRect/>
          </a:stretch>
        </p:blipFill>
        <p:spPr>
          <a:xfrm>
            <a:off x="512096" y="4805383"/>
            <a:ext cx="678050" cy="205887"/>
          </a:xfrm>
          <a:prstGeom prst="rect">
            <a:avLst/>
          </a:prstGeom>
        </p:spPr>
      </p:pic>
      <p:pic>
        <p:nvPicPr>
          <p:cNvPr id="9" name="Picture 8" descr="keybank.png">
            <a:extLst>
              <a:ext uri="{FF2B5EF4-FFF2-40B4-BE49-F238E27FC236}">
                <a16:creationId xmlns:a16="http://schemas.microsoft.com/office/drawing/2014/main" id="{AEFF628C-10C6-2412-4FE4-3B78AEB4C7AC}"/>
              </a:ext>
            </a:extLst>
          </p:cNvPr>
          <p:cNvPicPr>
            <a:picLocks noChangeAspect="1"/>
          </p:cNvPicPr>
          <p:nvPr/>
        </p:nvPicPr>
        <p:blipFill>
          <a:blip r:embed="rId8"/>
          <a:stretch>
            <a:fillRect/>
          </a:stretch>
        </p:blipFill>
        <p:spPr>
          <a:xfrm>
            <a:off x="509357" y="3274467"/>
            <a:ext cx="878556" cy="155469"/>
          </a:xfrm>
          <a:prstGeom prst="rect">
            <a:avLst/>
          </a:prstGeom>
        </p:spPr>
      </p:pic>
    </p:spTree>
    <p:extLst>
      <p:ext uri="{BB962C8B-B14F-4D97-AF65-F5344CB8AC3E}">
        <p14:creationId xmlns:p14="http://schemas.microsoft.com/office/powerpoint/2010/main" val="3964503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4551050"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 · FINDING 2 OF 5</a:t>
            </a:r>
          </a:p>
        </p:txBody>
      </p:sp>
      <p:sp>
        <p:nvSpPr>
          <p:cNvPr id="92" name="Rounded Rectangle 91"/>
          <p:cNvSpPr/>
          <p:nvPr/>
        </p:nvSpPr>
        <p:spPr>
          <a:xfrm>
            <a:off x="1024384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1</a:t>
            </a:r>
          </a:p>
        </p:txBody>
      </p:sp>
      <p:sp>
        <p:nvSpPr>
          <p:cNvPr id="93" name="Rounded Rectangle 92"/>
          <p:cNvSpPr/>
          <p:nvPr/>
        </p:nvSpPr>
        <p:spPr>
          <a:xfrm>
            <a:off x="10545668"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Medium"/>
                <a:ea typeface="+mn-ea"/>
                <a:cs typeface="+mn-cs"/>
              </a:rPr>
              <a:t>2</a:t>
            </a:r>
          </a:p>
        </p:txBody>
      </p:sp>
      <p:sp>
        <p:nvSpPr>
          <p:cNvPr id="94" name="Rounded Rectangle 93"/>
          <p:cNvSpPr/>
          <p:nvPr/>
        </p:nvSpPr>
        <p:spPr>
          <a:xfrm>
            <a:off x="10847496"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3</a:t>
            </a:r>
          </a:p>
        </p:txBody>
      </p:sp>
      <p:sp>
        <p:nvSpPr>
          <p:cNvPr id="95" name="Rounded Rectangle 94"/>
          <p:cNvSpPr/>
          <p:nvPr/>
        </p:nvSpPr>
        <p:spPr>
          <a:xfrm>
            <a:off x="11149323"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4</a:t>
            </a:r>
          </a:p>
        </p:txBody>
      </p:sp>
      <p:sp>
        <p:nvSpPr>
          <p:cNvPr id="96" name="Rounded Rectangle 95"/>
          <p:cNvSpPr/>
          <p:nvPr/>
        </p:nvSpPr>
        <p:spPr>
          <a:xfrm>
            <a:off x="1145115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5</a:t>
            </a:r>
          </a:p>
        </p:txBody>
      </p:sp>
      <p:sp>
        <p:nvSpPr>
          <p:cNvPr id="97" name="TextBox 96"/>
          <p:cNvSpPr txBox="1"/>
          <p:nvPr/>
        </p:nvSpPr>
        <p:spPr>
          <a:xfrm>
            <a:off x="503046" y="743648"/>
            <a:ext cx="7591087"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The role of checking determines what</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its product names need to communicate</a:t>
            </a:r>
          </a:p>
        </p:txBody>
      </p:sp>
      <p:cxnSp>
        <p:nvCxnSpPr>
          <p:cNvPr id="115" name="Connector 114"/>
          <p:cNvCxnSpPr/>
          <p:nvPr/>
        </p:nvCxnSpPr>
        <p:spPr>
          <a:xfrm>
            <a:off x="503046" y="5061234"/>
            <a:ext cx="11185908" cy="0"/>
          </a:xfrm>
          <a:prstGeom prst="line">
            <a:avLst/>
          </a:prstGeom>
          <a:ln w="9144">
            <a:solidFill>
              <a:srgbClr val="DDDBCE"/>
            </a:solidFill>
          </a:ln>
          <a:effectLst/>
        </p:spPr>
      </p:cxnSp>
      <p:pic>
        <p:nvPicPr>
          <p:cNvPr id="116" name="Picture 115" descr="citizens.png"/>
          <p:cNvPicPr>
            <a:picLocks noChangeAspect="1"/>
          </p:cNvPicPr>
          <p:nvPr/>
        </p:nvPicPr>
        <p:blipFill>
          <a:blip r:embed="rId2"/>
          <a:stretch>
            <a:fillRect/>
          </a:stretch>
        </p:blipFill>
        <p:spPr>
          <a:xfrm>
            <a:off x="503046" y="5247924"/>
            <a:ext cx="933927" cy="155448"/>
          </a:xfrm>
          <a:prstGeom prst="rect">
            <a:avLst/>
          </a:prstGeom>
        </p:spPr>
      </p:pic>
      <p:sp>
        <p:nvSpPr>
          <p:cNvPr id="117" name="TextBox 116"/>
          <p:cNvSpPr txBox="1"/>
          <p:nvPr/>
        </p:nvSpPr>
        <p:spPr>
          <a:xfrm>
            <a:off x="1546729" y="5216397"/>
            <a:ext cx="10173863" cy="251460"/>
          </a:xfrm>
          <a:prstGeom prst="rect">
            <a:avLst/>
          </a:prstGeom>
          <a:noFill/>
        </p:spPr>
        <p:txBody>
          <a:bodyPr wrap="square" lIns="0" tIns="0" rIns="0" bIns="0" anchor="t">
            <a:noAutofit/>
          </a:bodyPr>
          <a:lstStyle/>
          <a:p>
            <a:pPr marL="0" marR="0" lvl="0" indent="0" algn="l" defTabSz="457200" rtl="0" eaLnBrk="1" fontAlgn="auto" latinLnBrk="0" hangingPunct="1">
              <a:lnSpc>
                <a:spcPts val="1836"/>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Citizens’ </a:t>
            </a:r>
            <a:r>
              <a:rPr kumimoji="0" lang="en-US" sz="1200" b="0" i="0" u="none" strike="noStrike" kern="1200" cap="none" spc="0" normalizeH="0" baseline="0" noProof="0">
                <a:ln>
                  <a:noFill/>
                </a:ln>
                <a:solidFill>
                  <a:srgbClr val="232422"/>
                </a:solidFill>
                <a:effectLst/>
                <a:uLnTx/>
                <a:uFillTx/>
                <a:latin typeface="Fira Sans"/>
                <a:ea typeface="+mn-ea"/>
                <a:cs typeface="+mn-cs"/>
              </a:rPr>
              <a:t>checking </a:t>
            </a:r>
            <a:r>
              <a:rPr kumimoji="0" sz="1200" b="0" i="0" u="none" strike="noStrike" kern="1200" cap="none" spc="0" normalizeH="0" baseline="0" noProof="0">
                <a:ln>
                  <a:noFill/>
                </a:ln>
                <a:solidFill>
                  <a:srgbClr val="232422"/>
                </a:solidFill>
                <a:effectLst/>
                <a:uLnTx/>
                <a:uFillTx/>
                <a:latin typeface="Fira Sans"/>
                <a:ea typeface="+mn-ea"/>
                <a:cs typeface="+mn-cs"/>
              </a:rPr>
              <a:t>names </a:t>
            </a:r>
            <a:r>
              <a:rPr kumimoji="0" lang="en-US" sz="1200" b="0" i="0" u="none" strike="noStrike" kern="1200" cap="none" spc="0" normalizeH="0" baseline="0" noProof="0">
                <a:ln>
                  <a:noFill/>
                </a:ln>
                <a:solidFill>
                  <a:srgbClr val="232422"/>
                </a:solidFill>
                <a:effectLst/>
                <a:uLnTx/>
                <a:uFillTx/>
                <a:latin typeface="Fira Sans"/>
                <a:ea typeface="+mn-ea"/>
                <a:cs typeface="+mn-cs"/>
              </a:rPr>
              <a:t>are currently standalone, descriptive — but </a:t>
            </a:r>
            <a:r>
              <a:rPr kumimoji="0" lang="en-US" sz="1200" b="0" i="1" u="none" strike="noStrike" kern="1200" cap="none" spc="0" normalizeH="0" baseline="0" noProof="0">
                <a:ln>
                  <a:noFill/>
                </a:ln>
                <a:solidFill>
                  <a:srgbClr val="232422"/>
                </a:solidFill>
                <a:effectLst/>
                <a:uLnTx/>
                <a:uFillTx/>
                <a:latin typeface="Fira Sans"/>
                <a:ea typeface="+mn-ea"/>
                <a:cs typeface="+mn-cs"/>
              </a:rPr>
              <a:t>should</a:t>
            </a:r>
            <a:r>
              <a:rPr kumimoji="0" lang="en-US" sz="1200" b="0" i="0" u="none" strike="noStrike" kern="1200" cap="none" spc="0" normalizeH="0" baseline="0" noProof="0">
                <a:ln>
                  <a:noFill/>
                </a:ln>
                <a:solidFill>
                  <a:srgbClr val="232422"/>
                </a:solidFill>
                <a:effectLst/>
                <a:uLnTx/>
                <a:uFillTx/>
                <a:latin typeface="Fira Sans"/>
                <a:ea typeface="+mn-ea"/>
                <a:cs typeface="+mn-cs"/>
              </a:rPr>
              <a:t> signal progression if that’s how we want customers to progress</a:t>
            </a:r>
            <a:endParaRPr kumimoji="0" sz="1200" b="0" i="0" u="none" strike="noStrike" kern="1200" cap="none" spc="0" normalizeH="0" baseline="0" noProof="0">
              <a:ln>
                <a:noFill/>
              </a:ln>
              <a:solidFill>
                <a:srgbClr val="232422"/>
              </a:solidFill>
              <a:effectLst/>
              <a:uLnTx/>
              <a:uFillTx/>
              <a:latin typeface="Fira Sans"/>
              <a:ea typeface="+mn-ea"/>
              <a:cs typeface="+mn-cs"/>
            </a:endParaRPr>
          </a:p>
        </p:txBody>
      </p:sp>
      <p:sp>
        <p:nvSpPr>
          <p:cNvPr id="118" name="Rectangle 117"/>
          <p:cNvSpPr/>
          <p:nvPr/>
        </p:nvSpPr>
        <p:spPr>
          <a:xfrm>
            <a:off x="503046" y="5629818"/>
            <a:ext cx="11185908" cy="663405"/>
          </a:xfrm>
          <a:prstGeom prst="rect">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19" name="Picture 118" descr="td.png"/>
          <p:cNvPicPr>
            <a:picLocks noChangeAspect="1"/>
          </p:cNvPicPr>
          <p:nvPr/>
        </p:nvPicPr>
        <p:blipFill>
          <a:blip r:embed="rId3"/>
          <a:stretch>
            <a:fillRect/>
          </a:stretch>
        </p:blipFill>
        <p:spPr>
          <a:xfrm>
            <a:off x="676825" y="5845599"/>
            <a:ext cx="700971" cy="219456"/>
          </a:xfrm>
          <a:prstGeom prst="rect">
            <a:avLst/>
          </a:prstGeom>
        </p:spPr>
      </p:pic>
      <p:sp>
        <p:nvSpPr>
          <p:cNvPr id="120" name="TextBox 119"/>
          <p:cNvSpPr txBox="1"/>
          <p:nvPr/>
        </p:nvSpPr>
        <p:spPr>
          <a:xfrm>
            <a:off x="1546729" y="5718896"/>
            <a:ext cx="9659153" cy="484632"/>
          </a:xfrm>
          <a:prstGeom prst="rect">
            <a:avLst/>
          </a:prstGeom>
          <a:noFill/>
        </p:spPr>
        <p:txBody>
          <a:bodyPr wrap="square" lIns="0" tIns="0" rIns="0" bIns="0" anchor="t">
            <a:noAutofit/>
          </a:bodyPr>
          <a:lstStyle/>
          <a:p>
            <a:pPr marL="0" marR="0" lvl="0" indent="0" algn="l" defTabSz="457200" rtl="0" eaLnBrk="1" fontAlgn="auto" latinLnBrk="0" hangingPunct="1">
              <a:lnSpc>
                <a:spcPts val="1836"/>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TD attaches no status to its products, yet its names climb anyway – Essential → Complete → Beyond. The tradeoff: climbing names imply a</a:t>
            </a:r>
          </a:p>
          <a:p>
            <a:pPr marL="0" marR="0" lvl="0" indent="0" algn="l" defTabSz="457200" rtl="0" eaLnBrk="1" fontAlgn="auto" latinLnBrk="0" hangingPunct="1">
              <a:lnSpc>
                <a:spcPts val="1836"/>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a:ea typeface="+mn-ea"/>
                <a:cs typeface="+mn-cs"/>
              </a:rPr>
              <a:t>progression, and without a status object behind them, the products alone have to deliver it.</a:t>
            </a:r>
          </a:p>
        </p:txBody>
      </p:sp>
      <p:cxnSp>
        <p:nvCxnSpPr>
          <p:cNvPr id="121" name="Connector 120"/>
          <p:cNvCxnSpPr/>
          <p:nvPr/>
        </p:nvCxnSpPr>
        <p:spPr>
          <a:xfrm>
            <a:off x="503046" y="6414516"/>
            <a:ext cx="11185908" cy="0"/>
          </a:xfrm>
          <a:prstGeom prst="line">
            <a:avLst/>
          </a:prstGeom>
          <a:ln w="9144">
            <a:solidFill>
              <a:srgbClr val="DDDBCE"/>
            </a:solidFill>
          </a:ln>
          <a:effectLst/>
        </p:spPr>
      </p:cxnSp>
      <p:sp>
        <p:nvSpPr>
          <p:cNvPr id="122" name="TextBox 121"/>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Ogilvy analysis of published product names across the audited set, verified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3" name="TextBox 2">
            <a:extLst>
              <a:ext uri="{FF2B5EF4-FFF2-40B4-BE49-F238E27FC236}">
                <a16:creationId xmlns:a16="http://schemas.microsoft.com/office/drawing/2014/main" id="{BF47386D-D944-0782-13FD-472CE15BC2F0}"/>
              </a:ext>
            </a:extLst>
          </p:cNvPr>
          <p:cNvSpPr txBox="1"/>
          <p:nvPr/>
        </p:nvSpPr>
        <p:spPr>
          <a:xfrm>
            <a:off x="503046" y="1844129"/>
            <a:ext cx="11745204"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300" b="0" i="0" u="none" strike="noStrike" kern="1200" cap="none" spc="0" normalizeH="0" baseline="0" noProof="0">
                <a:ln>
                  <a:noFill/>
                </a:ln>
                <a:solidFill>
                  <a:srgbClr val="232422"/>
                </a:solidFill>
                <a:effectLst/>
                <a:uLnTx/>
                <a:uFillTx/>
                <a:latin typeface="Fira Sans Medium"/>
                <a:ea typeface="+mn-ea"/>
                <a:cs typeface="+mn-cs"/>
              </a:rPr>
              <a:t>When moving up means changing checking accounts, names tend to signal progression. When status is separate, names can describe fit.</a:t>
            </a:r>
          </a:p>
        </p:txBody>
      </p:sp>
      <p:sp>
        <p:nvSpPr>
          <p:cNvPr id="5" name="TextBox 4">
            <a:extLst>
              <a:ext uri="{FF2B5EF4-FFF2-40B4-BE49-F238E27FC236}">
                <a16:creationId xmlns:a16="http://schemas.microsoft.com/office/drawing/2014/main" id="{A532AD68-43B2-A376-C1E2-59912600A091}"/>
              </a:ext>
            </a:extLst>
          </p:cNvPr>
          <p:cNvSpPr txBox="1"/>
          <p:nvPr/>
        </p:nvSpPr>
        <p:spPr>
          <a:xfrm>
            <a:off x="503046" y="2879420"/>
            <a:ext cx="3521256"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Medium"/>
                <a:ea typeface="+mn-ea"/>
                <a:cs typeface="+mn-cs"/>
              </a:rPr>
              <a:t>Names that </a:t>
            </a:r>
            <a:r>
              <a:rPr kumimoji="0" lang="en-US" sz="1200" b="0" i="0" u="none" strike="noStrike" kern="1200" cap="none" spc="0" normalizeH="0" baseline="0" noProof="0">
                <a:ln>
                  <a:noFill/>
                </a:ln>
                <a:solidFill>
                  <a:srgbClr val="575757"/>
                </a:solidFill>
                <a:effectLst/>
                <a:uLnTx/>
                <a:uFillTx/>
                <a:latin typeface="Fira Sans Medium"/>
                <a:ea typeface="+mn-ea"/>
                <a:cs typeface="+mn-cs"/>
              </a:rPr>
              <a:t>progress</a:t>
            </a:r>
            <a:endParaRPr kumimoji="0" sz="1200" b="0" i="0" u="none" strike="noStrike" kern="1200" cap="none" spc="0" normalizeH="0" baseline="0" noProof="0">
              <a:ln>
                <a:noFill/>
              </a:ln>
              <a:solidFill>
                <a:srgbClr val="575757"/>
              </a:solidFill>
              <a:effectLst/>
              <a:uLnTx/>
              <a:uFillTx/>
              <a:latin typeface="Fira Sans Medium"/>
              <a:ea typeface="+mn-ea"/>
              <a:cs typeface="+mn-cs"/>
            </a:endParaRPr>
          </a:p>
        </p:txBody>
      </p:sp>
      <p:cxnSp>
        <p:nvCxnSpPr>
          <p:cNvPr id="6" name="Connector 101">
            <a:extLst>
              <a:ext uri="{FF2B5EF4-FFF2-40B4-BE49-F238E27FC236}">
                <a16:creationId xmlns:a16="http://schemas.microsoft.com/office/drawing/2014/main" id="{4B3B2A30-8B9A-E4EC-C59B-61A3D6EBDA29}"/>
              </a:ext>
            </a:extLst>
          </p:cNvPr>
          <p:cNvCxnSpPr/>
          <p:nvPr/>
        </p:nvCxnSpPr>
        <p:spPr>
          <a:xfrm>
            <a:off x="585362" y="3481851"/>
            <a:ext cx="0" cy="969264"/>
          </a:xfrm>
          <a:prstGeom prst="line">
            <a:avLst/>
          </a:prstGeom>
          <a:ln w="12700">
            <a:solidFill>
              <a:srgbClr val="9A9A9A"/>
            </a:solidFill>
          </a:ln>
          <a:effectLst/>
        </p:spPr>
      </p:cxnSp>
      <p:sp>
        <p:nvSpPr>
          <p:cNvPr id="7" name="Freeform 6">
            <a:extLst>
              <a:ext uri="{FF2B5EF4-FFF2-40B4-BE49-F238E27FC236}">
                <a16:creationId xmlns:a16="http://schemas.microsoft.com/office/drawing/2014/main" id="{9950AB57-69E9-7E3F-EB58-244B3FF3F4BE}"/>
              </a:ext>
            </a:extLst>
          </p:cNvPr>
          <p:cNvSpPr/>
          <p:nvPr/>
        </p:nvSpPr>
        <p:spPr>
          <a:xfrm>
            <a:off x="531216" y="4441971"/>
            <a:ext cx="108292" cy="100584"/>
          </a:xfrm>
          <a:custGeom>
            <a:avLst/>
            <a:gdLst/>
            <a:ahLst/>
            <a:cxnLst/>
            <a:rect l="l" t="t" r="r" b="b"/>
            <a:pathLst>
              <a:path w="108292" h="100584">
                <a:moveTo>
                  <a:pt x="54146" y="100584"/>
                </a:moveTo>
                <a:lnTo>
                  <a:pt x="0" y="1372"/>
                </a:lnTo>
                <a:lnTo>
                  <a:pt x="96494" y="0"/>
                </a:lnTo>
                <a:lnTo>
                  <a:pt x="108292" y="1372"/>
                </a:lnTo>
                <a:lnTo>
                  <a:pt x="54146" y="100584"/>
                </a:lnTo>
                <a:close/>
              </a:path>
            </a:pathLst>
          </a:custGeom>
          <a:solidFill>
            <a:srgbClr val="9A9A9A"/>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B9D64130-EF72-1893-5D72-99E99BD4214B}"/>
              </a:ext>
            </a:extLst>
          </p:cNvPr>
          <p:cNvSpPr txBox="1"/>
          <p:nvPr/>
        </p:nvSpPr>
        <p:spPr>
          <a:xfrm>
            <a:off x="814020" y="3371656"/>
            <a:ext cx="1129109" cy="1208562"/>
          </a:xfrm>
          <a:prstGeom prst="rect">
            <a:avLst/>
          </a:prstGeom>
          <a:noFill/>
        </p:spPr>
        <p:txBody>
          <a:bodyPr wrap="square" lIns="0" tIns="0" rIns="0" bIns="0" anchor="t">
            <a:noAutofit/>
          </a:bodyPr>
          <a:lstStyle/>
          <a:p>
            <a:pPr marL="0" marR="0" lvl="0" indent="0" algn="l" defTabSz="457200" rtl="0" eaLnBrk="1" fontAlgn="auto" latinLnBrk="0" hangingPunct="1">
              <a:lnSpc>
                <a:spcPts val="31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Everyday</a:t>
            </a:r>
          </a:p>
          <a:p>
            <a:pPr marL="0" marR="0" lvl="0" indent="0" algn="l" defTabSz="457200" rtl="0" eaLnBrk="1" fontAlgn="auto" latinLnBrk="0" hangingPunct="1">
              <a:lnSpc>
                <a:spcPts val="31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Prime</a:t>
            </a:r>
          </a:p>
          <a:p>
            <a:pPr marL="0" marR="0" lvl="0" indent="0" algn="l" defTabSz="457200" rtl="0" eaLnBrk="1" fontAlgn="auto" latinLnBrk="0" hangingPunct="1">
              <a:lnSpc>
                <a:spcPts val="31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Premier</a:t>
            </a:r>
          </a:p>
        </p:txBody>
      </p:sp>
      <p:pic>
        <p:nvPicPr>
          <p:cNvPr id="9" name="Picture 8" descr="wells-fargo.png">
            <a:extLst>
              <a:ext uri="{FF2B5EF4-FFF2-40B4-BE49-F238E27FC236}">
                <a16:creationId xmlns:a16="http://schemas.microsoft.com/office/drawing/2014/main" id="{F0E812DD-1B14-5C8C-DEA5-D8E23A086284}"/>
              </a:ext>
            </a:extLst>
          </p:cNvPr>
          <p:cNvPicPr>
            <a:picLocks noChangeAspect="1"/>
          </p:cNvPicPr>
          <p:nvPr/>
        </p:nvPicPr>
        <p:blipFill>
          <a:blip r:embed="rId4"/>
          <a:stretch>
            <a:fillRect/>
          </a:stretch>
        </p:blipFill>
        <p:spPr>
          <a:xfrm>
            <a:off x="503046" y="4698734"/>
            <a:ext cx="274389" cy="274320"/>
          </a:xfrm>
          <a:prstGeom prst="rect">
            <a:avLst/>
          </a:prstGeom>
        </p:spPr>
      </p:pic>
      <p:cxnSp>
        <p:nvCxnSpPr>
          <p:cNvPr id="10" name="Connector 105">
            <a:extLst>
              <a:ext uri="{FF2B5EF4-FFF2-40B4-BE49-F238E27FC236}">
                <a16:creationId xmlns:a16="http://schemas.microsoft.com/office/drawing/2014/main" id="{46843E6F-3899-F14F-61D9-D1D72726CDE7}"/>
              </a:ext>
            </a:extLst>
          </p:cNvPr>
          <p:cNvCxnSpPr>
            <a:cxnSpLocks/>
          </p:cNvCxnSpPr>
          <p:nvPr/>
        </p:nvCxnSpPr>
        <p:spPr>
          <a:xfrm>
            <a:off x="4024302" y="2348780"/>
            <a:ext cx="0" cy="2496258"/>
          </a:xfrm>
          <a:prstGeom prst="line">
            <a:avLst/>
          </a:prstGeom>
          <a:ln w="12700">
            <a:solidFill>
              <a:srgbClr val="007651"/>
            </a:solidFill>
            <a:prstDash val="sysDot"/>
          </a:ln>
          <a:effectLst/>
        </p:spPr>
      </p:cxnSp>
      <p:sp>
        <p:nvSpPr>
          <p:cNvPr id="11" name="TextBox 10">
            <a:extLst>
              <a:ext uri="{FF2B5EF4-FFF2-40B4-BE49-F238E27FC236}">
                <a16:creationId xmlns:a16="http://schemas.microsoft.com/office/drawing/2014/main" id="{0EEBCC04-636A-D9D1-39AF-31031278C707}"/>
              </a:ext>
            </a:extLst>
          </p:cNvPr>
          <p:cNvSpPr txBox="1"/>
          <p:nvPr/>
        </p:nvSpPr>
        <p:spPr>
          <a:xfrm>
            <a:off x="4403416" y="2879420"/>
            <a:ext cx="4049550"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Medium"/>
                <a:ea typeface="+mn-ea"/>
                <a:cs typeface="+mn-cs"/>
              </a:rPr>
              <a:t>One family name, described</a:t>
            </a:r>
          </a:p>
        </p:txBody>
      </p:sp>
      <p:sp>
        <p:nvSpPr>
          <p:cNvPr id="12" name="TextBox 11">
            <a:extLst>
              <a:ext uri="{FF2B5EF4-FFF2-40B4-BE49-F238E27FC236}">
                <a16:creationId xmlns:a16="http://schemas.microsoft.com/office/drawing/2014/main" id="{B847CA01-A8E8-E0BC-49A7-014F72ACB724}"/>
              </a:ext>
            </a:extLst>
          </p:cNvPr>
          <p:cNvSpPr txBox="1"/>
          <p:nvPr/>
        </p:nvSpPr>
        <p:spPr>
          <a:xfrm>
            <a:off x="4403416" y="3371656"/>
            <a:ext cx="4049550" cy="1208562"/>
          </a:xfrm>
          <a:prstGeom prst="rect">
            <a:avLst/>
          </a:prstGeom>
          <a:noFill/>
        </p:spPr>
        <p:txBody>
          <a:bodyPr wrap="square" lIns="0" tIns="0" rIns="0" bIns="0" anchor="t">
            <a:noAutofit/>
          </a:bodyPr>
          <a:lstStyle/>
          <a:p>
            <a:pPr marL="0" marR="0" lvl="0" indent="0" algn="l" defTabSz="457200" rtl="0" eaLnBrk="1" fontAlgn="auto" latinLnBrk="0" hangingPunct="1">
              <a:lnSpc>
                <a:spcPts val="31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Advantage SafeBalance</a:t>
            </a:r>
          </a:p>
          <a:p>
            <a:pPr marL="0" marR="0" lvl="0" indent="0" algn="l" defTabSz="457200" rtl="0" eaLnBrk="1" fontAlgn="auto" latinLnBrk="0" hangingPunct="1">
              <a:lnSpc>
                <a:spcPts val="31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Advantage Plus</a:t>
            </a:r>
          </a:p>
          <a:p>
            <a:pPr marL="0" marR="0" lvl="0" indent="0" algn="l" defTabSz="457200" rtl="0" eaLnBrk="1" fontAlgn="auto" latinLnBrk="0" hangingPunct="1">
              <a:lnSpc>
                <a:spcPts val="31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Advantage Relationship</a:t>
            </a:r>
          </a:p>
        </p:txBody>
      </p:sp>
      <p:pic>
        <p:nvPicPr>
          <p:cNvPr id="13" name="Picture 12" descr="bofa.png">
            <a:extLst>
              <a:ext uri="{FF2B5EF4-FFF2-40B4-BE49-F238E27FC236}">
                <a16:creationId xmlns:a16="http://schemas.microsoft.com/office/drawing/2014/main" id="{DCED9A3D-C271-36B0-1DDB-58BF1EFF2962}"/>
              </a:ext>
            </a:extLst>
          </p:cNvPr>
          <p:cNvPicPr>
            <a:picLocks noChangeAspect="1"/>
          </p:cNvPicPr>
          <p:nvPr/>
        </p:nvPicPr>
        <p:blipFill>
          <a:blip r:embed="rId5"/>
          <a:stretch>
            <a:fillRect/>
          </a:stretch>
        </p:blipFill>
        <p:spPr>
          <a:xfrm>
            <a:off x="4403416" y="4698734"/>
            <a:ext cx="1443284" cy="146304"/>
          </a:xfrm>
          <a:prstGeom prst="rect">
            <a:avLst/>
          </a:prstGeom>
        </p:spPr>
      </p:pic>
      <p:sp>
        <p:nvSpPr>
          <p:cNvPr id="15" name="TextBox 14">
            <a:extLst>
              <a:ext uri="{FF2B5EF4-FFF2-40B4-BE49-F238E27FC236}">
                <a16:creationId xmlns:a16="http://schemas.microsoft.com/office/drawing/2014/main" id="{A11DE35C-492A-192B-7526-196B63C9D884}"/>
              </a:ext>
            </a:extLst>
          </p:cNvPr>
          <p:cNvSpPr txBox="1"/>
          <p:nvPr/>
        </p:nvSpPr>
        <p:spPr>
          <a:xfrm>
            <a:off x="8335285" y="2879420"/>
            <a:ext cx="3521256" cy="248717"/>
          </a:xfrm>
          <a:prstGeom prst="rect">
            <a:avLst/>
          </a:prstGeom>
          <a:noFill/>
        </p:spPr>
        <p:txBody>
          <a:bodyPr wrap="squar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Medium"/>
                <a:ea typeface="+mn-ea"/>
                <a:cs typeface="+mn-cs"/>
              </a:rPr>
              <a:t>Standalone, descriptive</a:t>
            </a:r>
          </a:p>
        </p:txBody>
      </p:sp>
      <p:pic>
        <p:nvPicPr>
          <p:cNvPr id="16" name="Picture 15" descr="citi.png">
            <a:extLst>
              <a:ext uri="{FF2B5EF4-FFF2-40B4-BE49-F238E27FC236}">
                <a16:creationId xmlns:a16="http://schemas.microsoft.com/office/drawing/2014/main" id="{F3AB23DB-5BBE-5507-C87C-053A6A284B93}"/>
              </a:ext>
            </a:extLst>
          </p:cNvPr>
          <p:cNvPicPr>
            <a:picLocks noChangeAspect="1"/>
          </p:cNvPicPr>
          <p:nvPr/>
        </p:nvPicPr>
        <p:blipFill>
          <a:blip r:embed="rId6"/>
          <a:stretch>
            <a:fillRect/>
          </a:stretch>
        </p:blipFill>
        <p:spPr>
          <a:xfrm>
            <a:off x="8335285" y="3526748"/>
            <a:ext cx="281248" cy="182880"/>
          </a:xfrm>
          <a:prstGeom prst="rect">
            <a:avLst/>
          </a:prstGeom>
        </p:spPr>
      </p:pic>
      <p:sp>
        <p:nvSpPr>
          <p:cNvPr id="17" name="TextBox 16">
            <a:extLst>
              <a:ext uri="{FF2B5EF4-FFF2-40B4-BE49-F238E27FC236}">
                <a16:creationId xmlns:a16="http://schemas.microsoft.com/office/drawing/2014/main" id="{9E27055D-B34E-4287-8AA2-A96988B92CD4}"/>
              </a:ext>
            </a:extLst>
          </p:cNvPr>
          <p:cNvSpPr txBox="1"/>
          <p:nvPr/>
        </p:nvSpPr>
        <p:spPr>
          <a:xfrm>
            <a:off x="8995647" y="3378067"/>
            <a:ext cx="2827780" cy="402336"/>
          </a:xfrm>
          <a:prstGeom prst="rect">
            <a:avLst/>
          </a:prstGeom>
          <a:noFill/>
        </p:spPr>
        <p:txBody>
          <a:bodyPr wrap="square" lIns="0" tIns="0" rIns="0" bIns="0" anchor="t">
            <a:noAutofit/>
          </a:bodyPr>
          <a:lstStyle/>
          <a:p>
            <a:pPr marL="0" marR="0" lvl="0" indent="0" algn="l" defTabSz="457200" rtl="0" eaLnBrk="1" fontAlgn="auto" latinLnBrk="0" hangingPunct="1">
              <a:lnSpc>
                <a:spcPts val="30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Access · Regular</a:t>
            </a:r>
          </a:p>
        </p:txBody>
      </p:sp>
      <p:pic>
        <p:nvPicPr>
          <p:cNvPr id="18" name="Picture 17" descr="pnc.png">
            <a:extLst>
              <a:ext uri="{FF2B5EF4-FFF2-40B4-BE49-F238E27FC236}">
                <a16:creationId xmlns:a16="http://schemas.microsoft.com/office/drawing/2014/main" id="{961370E5-23D2-5774-41BC-87721B883F16}"/>
              </a:ext>
            </a:extLst>
          </p:cNvPr>
          <p:cNvPicPr>
            <a:picLocks noChangeAspect="1"/>
          </p:cNvPicPr>
          <p:nvPr/>
        </p:nvPicPr>
        <p:blipFill>
          <a:blip r:embed="rId7"/>
          <a:stretch>
            <a:fillRect/>
          </a:stretch>
        </p:blipFill>
        <p:spPr>
          <a:xfrm>
            <a:off x="8335285" y="3979376"/>
            <a:ext cx="514021" cy="155448"/>
          </a:xfrm>
          <a:prstGeom prst="rect">
            <a:avLst/>
          </a:prstGeom>
        </p:spPr>
      </p:pic>
      <p:sp>
        <p:nvSpPr>
          <p:cNvPr id="19" name="TextBox 18">
            <a:extLst>
              <a:ext uri="{FF2B5EF4-FFF2-40B4-BE49-F238E27FC236}">
                <a16:creationId xmlns:a16="http://schemas.microsoft.com/office/drawing/2014/main" id="{4A1A8D02-7BEF-B8F0-1589-F80A7AD29846}"/>
              </a:ext>
            </a:extLst>
          </p:cNvPr>
          <p:cNvSpPr txBox="1"/>
          <p:nvPr/>
        </p:nvSpPr>
        <p:spPr>
          <a:xfrm>
            <a:off x="8995647" y="3816979"/>
            <a:ext cx="2827780" cy="402336"/>
          </a:xfrm>
          <a:prstGeom prst="rect">
            <a:avLst/>
          </a:prstGeom>
          <a:noFill/>
        </p:spPr>
        <p:txBody>
          <a:bodyPr wrap="square" lIns="0" tIns="0" rIns="0" bIns="0" anchor="t">
            <a:noAutofit/>
          </a:bodyPr>
          <a:lstStyle/>
          <a:p>
            <a:pPr marL="0" marR="0" lvl="0" indent="0" algn="l" defTabSz="457200" rtl="0" eaLnBrk="1" fontAlgn="auto" latinLnBrk="0" hangingPunct="1">
              <a:lnSpc>
                <a:spcPts val="3024"/>
              </a:lnSpc>
              <a:spcBef>
                <a:spcPts val="0"/>
              </a:spcBef>
              <a:spcAft>
                <a:spcPts val="0"/>
              </a:spcAft>
              <a:buClrTx/>
              <a:buSzTx/>
              <a:buFontTx/>
              <a:buNone/>
              <a:tabLst/>
              <a:defRPr/>
            </a:pPr>
            <a:r>
              <a:rPr kumimoji="0" sz="2000" b="0" i="0" u="none" strike="noStrike" kern="1200" cap="none" spc="0" normalizeH="0" baseline="0" noProof="0">
                <a:ln>
                  <a:noFill/>
                </a:ln>
                <a:solidFill>
                  <a:srgbClr val="232422"/>
                </a:solidFill>
                <a:effectLst/>
                <a:uLnTx/>
                <a:uFillTx/>
                <a:latin typeface="Fira Sans Light"/>
                <a:ea typeface="+mn-ea"/>
                <a:cs typeface="+mn-cs"/>
              </a:rPr>
              <a:t>Virtual Wallet</a:t>
            </a:r>
          </a:p>
        </p:txBody>
      </p:sp>
      <p:sp>
        <p:nvSpPr>
          <p:cNvPr id="20" name="TextBox 19">
            <a:extLst>
              <a:ext uri="{FF2B5EF4-FFF2-40B4-BE49-F238E27FC236}">
                <a16:creationId xmlns:a16="http://schemas.microsoft.com/office/drawing/2014/main" id="{B5144B48-63B4-515B-4428-13D6AFA76A5F}"/>
              </a:ext>
            </a:extLst>
          </p:cNvPr>
          <p:cNvSpPr txBox="1"/>
          <p:nvPr/>
        </p:nvSpPr>
        <p:spPr>
          <a:xfrm>
            <a:off x="8335285" y="3102380"/>
            <a:ext cx="3521256" cy="231682"/>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Makes</a:t>
            </a:r>
            <a:r>
              <a:rPr kumimoji="0" sz="1100" b="0" i="0" u="none" strike="noStrike" kern="1200" cap="none" spc="0" normalizeH="0" baseline="0" noProof="0">
                <a:ln>
                  <a:noFill/>
                </a:ln>
                <a:solidFill>
                  <a:srgbClr val="575757"/>
                </a:solidFill>
                <a:effectLst/>
                <a:uLnTx/>
                <a:uFillTx/>
                <a:latin typeface="Fira Sans"/>
                <a:ea typeface="+mn-ea"/>
                <a:cs typeface="+mn-cs"/>
              </a:rPr>
              <a:t> account choice</a:t>
            </a:r>
            <a:r>
              <a:rPr kumimoji="0" lang="en-US" sz="1100" b="0" i="0" u="none" strike="noStrike" kern="1200" cap="none" spc="0" normalizeH="0" baseline="0" noProof="0">
                <a:ln>
                  <a:noFill/>
                </a:ln>
                <a:solidFill>
                  <a:srgbClr val="575757"/>
                </a:solidFill>
                <a:effectLst/>
                <a:uLnTx/>
                <a:uFillTx/>
                <a:latin typeface="Fira Sans"/>
                <a:ea typeface="+mn-ea"/>
                <a:cs typeface="+mn-cs"/>
              </a:rPr>
              <a:t> easy</a:t>
            </a:r>
          </a:p>
        </p:txBody>
      </p:sp>
      <p:sp>
        <p:nvSpPr>
          <p:cNvPr id="21" name="TextBox 20">
            <a:extLst>
              <a:ext uri="{FF2B5EF4-FFF2-40B4-BE49-F238E27FC236}">
                <a16:creationId xmlns:a16="http://schemas.microsoft.com/office/drawing/2014/main" id="{54C8316E-9E71-8387-10BF-798748750CBC}"/>
              </a:ext>
            </a:extLst>
          </p:cNvPr>
          <p:cNvSpPr txBox="1"/>
          <p:nvPr/>
        </p:nvSpPr>
        <p:spPr>
          <a:xfrm>
            <a:off x="503046" y="3102380"/>
            <a:ext cx="3521256" cy="231991"/>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Gives customers a progression they can read</a:t>
            </a:r>
            <a:endParaRPr kumimoji="0" sz="1100" b="0" i="0" u="none" strike="noStrike" kern="1200" cap="none" spc="0" normalizeH="0" baseline="0" noProof="0">
              <a:ln>
                <a:noFill/>
              </a:ln>
              <a:solidFill>
                <a:srgbClr val="575757"/>
              </a:solidFill>
              <a:effectLst/>
              <a:uLnTx/>
              <a:uFillTx/>
              <a:latin typeface="Fira Sans"/>
              <a:ea typeface="+mn-ea"/>
              <a:cs typeface="+mn-cs"/>
            </a:endParaRPr>
          </a:p>
        </p:txBody>
      </p:sp>
      <p:sp>
        <p:nvSpPr>
          <p:cNvPr id="22" name="TextBox 21">
            <a:extLst>
              <a:ext uri="{FF2B5EF4-FFF2-40B4-BE49-F238E27FC236}">
                <a16:creationId xmlns:a16="http://schemas.microsoft.com/office/drawing/2014/main" id="{D163EB07-4B6F-C6D4-270D-01786054498D}"/>
              </a:ext>
            </a:extLst>
          </p:cNvPr>
          <p:cNvSpPr txBox="1"/>
          <p:nvPr/>
        </p:nvSpPr>
        <p:spPr>
          <a:xfrm>
            <a:off x="4403416" y="3102380"/>
            <a:ext cx="3890254" cy="256420"/>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Creates a cohesive b</a:t>
            </a:r>
            <a:r>
              <a:rPr kumimoji="0" sz="1100" b="0" i="0" u="none" strike="noStrike" kern="1200" cap="none" spc="0" normalizeH="0" baseline="0" noProof="0">
                <a:ln>
                  <a:noFill/>
                </a:ln>
                <a:solidFill>
                  <a:srgbClr val="575757"/>
                </a:solidFill>
                <a:effectLst/>
                <a:uLnTx/>
                <a:uFillTx/>
                <a:latin typeface="Fira Sans"/>
                <a:ea typeface="+mn-ea"/>
                <a:cs typeface="+mn-cs"/>
              </a:rPr>
              <a:t>rand with </a:t>
            </a:r>
            <a:r>
              <a:rPr kumimoji="0" lang="en-US" sz="1100" b="0" i="0" u="none" strike="noStrike" kern="1200" cap="none" spc="0" normalizeH="0" baseline="0" noProof="0">
                <a:ln>
                  <a:noFill/>
                </a:ln>
                <a:solidFill>
                  <a:srgbClr val="575757"/>
                </a:solidFill>
                <a:effectLst/>
                <a:uLnTx/>
                <a:uFillTx/>
                <a:latin typeface="Fira Sans"/>
                <a:ea typeface="+mn-ea"/>
                <a:cs typeface="+mn-cs"/>
              </a:rPr>
              <a:t>need</a:t>
            </a:r>
            <a:r>
              <a:rPr kumimoji="0" sz="1100" b="0" i="0" u="none" strike="noStrike" kern="1200" cap="none" spc="0" normalizeH="0" baseline="0" noProof="0">
                <a:ln>
                  <a:noFill/>
                </a:ln>
                <a:solidFill>
                  <a:srgbClr val="575757"/>
                </a:solidFill>
                <a:effectLst/>
                <a:uLnTx/>
                <a:uFillTx/>
                <a:latin typeface="Fira Sans"/>
                <a:ea typeface="+mn-ea"/>
                <a:cs typeface="+mn-cs"/>
              </a:rPr>
              <a:t> variants</a:t>
            </a:r>
          </a:p>
        </p:txBody>
      </p:sp>
      <p:sp>
        <p:nvSpPr>
          <p:cNvPr id="25" name="TextBox 24">
            <a:extLst>
              <a:ext uri="{FF2B5EF4-FFF2-40B4-BE49-F238E27FC236}">
                <a16:creationId xmlns:a16="http://schemas.microsoft.com/office/drawing/2014/main" id="{328CBD86-28E1-43CD-C0BB-7D281F4110C5}"/>
              </a:ext>
            </a:extLst>
          </p:cNvPr>
          <p:cNvSpPr txBox="1"/>
          <p:nvPr/>
        </p:nvSpPr>
        <p:spPr>
          <a:xfrm>
            <a:off x="410982" y="2278350"/>
            <a:ext cx="2757486" cy="43858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17651"/>
                </a:solidFill>
                <a:effectLst/>
                <a:uLnTx/>
                <a:uFillTx/>
                <a:latin typeface="Fira Sans" panose="020B0503050000020004" pitchFamily="34" charset="0"/>
                <a:ea typeface="+mn-ea"/>
                <a:cs typeface="+mn-cs"/>
              </a:rPr>
              <a:t>Checking Ecosystem Role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651"/>
                </a:solidFill>
                <a:effectLst/>
                <a:uLnTx/>
                <a:uFillTx/>
                <a:latin typeface="Fira Sans" panose="020B0503050000020004" pitchFamily="34" charset="0"/>
                <a:ea typeface="+mn-ea"/>
                <a:cs typeface="+mn-cs"/>
              </a:rPr>
              <a:t>Carries the relationship progression</a:t>
            </a:r>
          </a:p>
        </p:txBody>
      </p:sp>
      <p:sp>
        <p:nvSpPr>
          <p:cNvPr id="26" name="TextBox 25">
            <a:extLst>
              <a:ext uri="{FF2B5EF4-FFF2-40B4-BE49-F238E27FC236}">
                <a16:creationId xmlns:a16="http://schemas.microsoft.com/office/drawing/2014/main" id="{96334870-92E1-9835-0AED-BE0869A0E3D6}"/>
              </a:ext>
            </a:extLst>
          </p:cNvPr>
          <p:cNvSpPr txBox="1"/>
          <p:nvPr/>
        </p:nvSpPr>
        <p:spPr>
          <a:xfrm>
            <a:off x="4302071" y="2278350"/>
            <a:ext cx="7521356" cy="4385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17651"/>
                </a:solidFill>
                <a:effectLst/>
                <a:uLnTx/>
                <a:uFillTx/>
                <a:latin typeface="Fira Sans" panose="020B0503050000020004" pitchFamily="34" charset="0"/>
                <a:ea typeface="+mn-ea"/>
                <a:cs typeface="+mn-cs"/>
              </a:rPr>
              <a:t>Checking Ecosystem Role</a:t>
            </a:r>
            <a:endParaRPr kumimoji="0" lang="en-US" sz="1200" b="0" i="0" u="none" strike="noStrike" kern="1200" cap="none" spc="0" normalizeH="0" baseline="0" noProof="0">
              <a:ln>
                <a:noFill/>
              </a:ln>
              <a:solidFill>
                <a:srgbClr val="217651"/>
              </a:solidFill>
              <a:effectLst/>
              <a:uLnTx/>
              <a:uFillTx/>
              <a:latin typeface="Fira Sans" panose="020B0503050000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651"/>
                </a:solidFill>
                <a:effectLst/>
                <a:uLnTx/>
                <a:uFillTx/>
                <a:latin typeface="Fira Sans" panose="020B0503050000020004" pitchFamily="34" charset="0"/>
                <a:ea typeface="+mn-ea"/>
                <a:cs typeface="+mn-cs"/>
              </a:rPr>
              <a:t>Serves different everyday banking needs w/ relationship progress determined by something else   </a:t>
            </a:r>
          </a:p>
        </p:txBody>
      </p:sp>
    </p:spTree>
    <p:extLst>
      <p:ext uri="{BB962C8B-B14F-4D97-AF65-F5344CB8AC3E}">
        <p14:creationId xmlns:p14="http://schemas.microsoft.com/office/powerpoint/2010/main" val="3330490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58702167-1C89-D9F4-D5CC-57233B0A4190}"/>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6A39DB51-F8EB-B131-776F-8570C9FF4FCF}"/>
              </a:ext>
            </a:extLst>
          </p:cNvPr>
          <p:cNvSpPr txBox="1"/>
          <p:nvPr/>
        </p:nvSpPr>
        <p:spPr>
          <a:xfrm>
            <a:off x="503046" y="366045"/>
            <a:ext cx="4551531"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 · FINDING 3 OF 5</a:t>
            </a:r>
          </a:p>
        </p:txBody>
      </p:sp>
      <p:sp>
        <p:nvSpPr>
          <p:cNvPr id="92" name="Rounded Rectangle 91">
            <a:extLst>
              <a:ext uri="{FF2B5EF4-FFF2-40B4-BE49-F238E27FC236}">
                <a16:creationId xmlns:a16="http://schemas.microsoft.com/office/drawing/2014/main" id="{1A1724EB-67A6-3EF7-EE7E-F4D65D448F38}"/>
              </a:ext>
            </a:extLst>
          </p:cNvPr>
          <p:cNvSpPr/>
          <p:nvPr/>
        </p:nvSpPr>
        <p:spPr>
          <a:xfrm>
            <a:off x="1024384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1</a:t>
            </a:r>
          </a:p>
        </p:txBody>
      </p:sp>
      <p:sp>
        <p:nvSpPr>
          <p:cNvPr id="93" name="Rounded Rectangle 92">
            <a:extLst>
              <a:ext uri="{FF2B5EF4-FFF2-40B4-BE49-F238E27FC236}">
                <a16:creationId xmlns:a16="http://schemas.microsoft.com/office/drawing/2014/main" id="{BF9C3985-1328-13CE-87AA-40FA524EEAE7}"/>
              </a:ext>
            </a:extLst>
          </p:cNvPr>
          <p:cNvSpPr/>
          <p:nvPr/>
        </p:nvSpPr>
        <p:spPr>
          <a:xfrm>
            <a:off x="10545668"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2</a:t>
            </a:r>
          </a:p>
        </p:txBody>
      </p:sp>
      <p:sp>
        <p:nvSpPr>
          <p:cNvPr id="94" name="Rounded Rectangle 93">
            <a:extLst>
              <a:ext uri="{FF2B5EF4-FFF2-40B4-BE49-F238E27FC236}">
                <a16:creationId xmlns:a16="http://schemas.microsoft.com/office/drawing/2014/main" id="{0C8EA1B8-F97A-72E7-3C04-7FE8AD4EF38F}"/>
              </a:ext>
            </a:extLst>
          </p:cNvPr>
          <p:cNvSpPr/>
          <p:nvPr/>
        </p:nvSpPr>
        <p:spPr>
          <a:xfrm>
            <a:off x="10847496"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Medium"/>
                <a:ea typeface="+mn-ea"/>
                <a:cs typeface="+mn-cs"/>
              </a:rPr>
              <a:t>3</a:t>
            </a:r>
          </a:p>
        </p:txBody>
      </p:sp>
      <p:sp>
        <p:nvSpPr>
          <p:cNvPr id="95" name="Rounded Rectangle 94">
            <a:extLst>
              <a:ext uri="{FF2B5EF4-FFF2-40B4-BE49-F238E27FC236}">
                <a16:creationId xmlns:a16="http://schemas.microsoft.com/office/drawing/2014/main" id="{8C71CF70-8C30-FB3A-6805-F4337DEAE775}"/>
              </a:ext>
            </a:extLst>
          </p:cNvPr>
          <p:cNvSpPr/>
          <p:nvPr/>
        </p:nvSpPr>
        <p:spPr>
          <a:xfrm>
            <a:off x="11149323"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4</a:t>
            </a:r>
          </a:p>
        </p:txBody>
      </p:sp>
      <p:sp>
        <p:nvSpPr>
          <p:cNvPr id="96" name="Rounded Rectangle 95">
            <a:extLst>
              <a:ext uri="{FF2B5EF4-FFF2-40B4-BE49-F238E27FC236}">
                <a16:creationId xmlns:a16="http://schemas.microsoft.com/office/drawing/2014/main" id="{62051203-34A2-3438-F152-988ED89C975B}"/>
              </a:ext>
            </a:extLst>
          </p:cNvPr>
          <p:cNvSpPr/>
          <p:nvPr/>
        </p:nvSpPr>
        <p:spPr>
          <a:xfrm>
            <a:off x="1145115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5</a:t>
            </a:r>
          </a:p>
        </p:txBody>
      </p:sp>
      <p:sp>
        <p:nvSpPr>
          <p:cNvPr id="97" name="TextBox 96">
            <a:extLst>
              <a:ext uri="{FF2B5EF4-FFF2-40B4-BE49-F238E27FC236}">
                <a16:creationId xmlns:a16="http://schemas.microsoft.com/office/drawing/2014/main" id="{6237F689-C10B-65D0-7F8C-D98F60B4B87B}"/>
              </a:ext>
            </a:extLst>
          </p:cNvPr>
          <p:cNvSpPr txBox="1"/>
          <p:nvPr/>
        </p:nvSpPr>
        <p:spPr>
          <a:xfrm>
            <a:off x="503046" y="743648"/>
            <a:ext cx="10582253"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Cards and lending are mostly separate from the core banking ecosystem with light connections via targeted benefits</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9" name="TextBox 98">
            <a:extLst>
              <a:ext uri="{FF2B5EF4-FFF2-40B4-BE49-F238E27FC236}">
                <a16:creationId xmlns:a16="http://schemas.microsoft.com/office/drawing/2014/main" id="{A5556EA0-6200-D0C0-80F5-920045F36411}"/>
              </a:ext>
            </a:extLst>
          </p:cNvPr>
          <p:cNvSpPr txBox="1"/>
          <p:nvPr/>
        </p:nvSpPr>
        <p:spPr>
          <a:xfrm>
            <a:off x="503046" y="1887496"/>
            <a:ext cx="5015192"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0" i="0" u="none" strike="noStrike" kern="1200" cap="all" spc="104" normalizeH="0" baseline="0" noProof="0">
                <a:ln>
                  <a:noFill/>
                </a:ln>
                <a:solidFill>
                  <a:srgbClr val="007651"/>
                </a:solidFill>
                <a:effectLst/>
                <a:uLnTx/>
                <a:uFillTx/>
                <a:latin typeface="Fira Sans SemiBold"/>
                <a:ea typeface="+mn-ea"/>
                <a:cs typeface="+mn-cs"/>
              </a:rPr>
              <a:t>The </a:t>
            </a:r>
            <a:r>
              <a:rPr kumimoji="0" lang="en-US" sz="1050" b="0" i="0" u="none" strike="noStrike" kern="1200" cap="all" spc="104" normalizeH="0" baseline="0" noProof="0">
                <a:ln>
                  <a:noFill/>
                </a:ln>
                <a:solidFill>
                  <a:srgbClr val="007651"/>
                </a:solidFill>
                <a:effectLst/>
                <a:uLnTx/>
                <a:uFillTx/>
                <a:latin typeface="Fira Sans SemiBold"/>
                <a:ea typeface="+mn-ea"/>
                <a:cs typeface="+mn-cs"/>
              </a:rPr>
              <a:t>CATEGORY PATTERN</a:t>
            </a:r>
            <a:endParaRPr kumimoji="0" sz="1050" b="0" i="0" u="none" strike="noStrike" kern="1200" cap="all" spc="104" normalizeH="0" baseline="0" noProof="0">
              <a:ln>
                <a:noFill/>
              </a:ln>
              <a:solidFill>
                <a:srgbClr val="007651"/>
              </a:solidFill>
              <a:effectLst/>
              <a:uLnTx/>
              <a:uFillTx/>
              <a:latin typeface="Fira Sans SemiBold"/>
              <a:ea typeface="+mn-ea"/>
              <a:cs typeface="+mn-cs"/>
            </a:endParaRPr>
          </a:p>
        </p:txBody>
      </p:sp>
      <p:sp>
        <p:nvSpPr>
          <p:cNvPr id="100" name="Rounded Rectangle 99">
            <a:extLst>
              <a:ext uri="{FF2B5EF4-FFF2-40B4-BE49-F238E27FC236}">
                <a16:creationId xmlns:a16="http://schemas.microsoft.com/office/drawing/2014/main" id="{4125D813-7BFB-33CA-7100-4C77540358E7}"/>
              </a:ext>
            </a:extLst>
          </p:cNvPr>
          <p:cNvSpPr>
            <a:spLocks/>
          </p:cNvSpPr>
          <p:nvPr/>
        </p:nvSpPr>
        <p:spPr>
          <a:xfrm>
            <a:off x="503046" y="2430576"/>
            <a:ext cx="4776374" cy="2584188"/>
          </a:xfrm>
          <a:prstGeom prst="roundRect">
            <a:avLst>
              <a:gd name="adj" fmla="val 2079"/>
            </a:avLst>
          </a:prstGeom>
          <a:solidFill>
            <a:srgbClr val="F5F1E8"/>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Rounded Rectangle 100">
            <a:extLst>
              <a:ext uri="{FF2B5EF4-FFF2-40B4-BE49-F238E27FC236}">
                <a16:creationId xmlns:a16="http://schemas.microsoft.com/office/drawing/2014/main" id="{6FD1D33D-8648-56CB-AEDB-B7CBAE2D9930}"/>
              </a:ext>
            </a:extLst>
          </p:cNvPr>
          <p:cNvSpPr/>
          <p:nvPr/>
        </p:nvSpPr>
        <p:spPr>
          <a:xfrm>
            <a:off x="905940" y="2688071"/>
            <a:ext cx="3970586" cy="476311"/>
          </a:xfrm>
          <a:prstGeom prst="roundRect">
            <a:avLst>
              <a:gd name="adj" fmla="val 13342"/>
            </a:avLst>
          </a:prstGeom>
          <a:solidFill>
            <a:srgbClr val="F6EAD6"/>
          </a:solidFill>
          <a:ln w="1188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TextBox 101">
            <a:extLst>
              <a:ext uri="{FF2B5EF4-FFF2-40B4-BE49-F238E27FC236}">
                <a16:creationId xmlns:a16="http://schemas.microsoft.com/office/drawing/2014/main" id="{973FD9E2-50EC-C640-05CC-DAFA56137707}"/>
              </a:ext>
            </a:extLst>
          </p:cNvPr>
          <p:cNvSpPr txBox="1"/>
          <p:nvPr/>
        </p:nvSpPr>
        <p:spPr>
          <a:xfrm>
            <a:off x="1737589" y="2826155"/>
            <a:ext cx="2307288" cy="193121"/>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F5C20"/>
                </a:solidFill>
                <a:effectLst/>
                <a:uLnTx/>
                <a:uFillTx/>
                <a:latin typeface="Fira Sans SemiBold"/>
                <a:ea typeface="+mn-ea"/>
                <a:cs typeface="+mn-cs"/>
              </a:rPr>
              <a:t>YOUR BANKING RELATIONSHIP STATUS</a:t>
            </a:r>
            <a:endParaRPr kumimoji="0" sz="950" b="0" i="0" u="none" strike="noStrike" kern="1200" cap="none" spc="0" normalizeH="0" baseline="0" noProof="0">
              <a:ln>
                <a:noFill/>
              </a:ln>
              <a:solidFill>
                <a:srgbClr val="8F5C20"/>
              </a:solidFill>
              <a:effectLst/>
              <a:uLnTx/>
              <a:uFillTx/>
              <a:latin typeface="Fira Sans SemiBold"/>
              <a:ea typeface="+mn-ea"/>
              <a:cs typeface="+mn-cs"/>
            </a:endParaRPr>
          </a:p>
        </p:txBody>
      </p:sp>
      <p:sp>
        <p:nvSpPr>
          <p:cNvPr id="104" name="Rounded Rectangle 103">
            <a:extLst>
              <a:ext uri="{FF2B5EF4-FFF2-40B4-BE49-F238E27FC236}">
                <a16:creationId xmlns:a16="http://schemas.microsoft.com/office/drawing/2014/main" id="{ED38BBAD-5A5D-2DC8-D1D3-7208B98CF1D8}"/>
              </a:ext>
            </a:extLst>
          </p:cNvPr>
          <p:cNvSpPr/>
          <p:nvPr/>
        </p:nvSpPr>
        <p:spPr>
          <a:xfrm>
            <a:off x="1302980" y="4323475"/>
            <a:ext cx="1349992" cy="444581"/>
          </a:xfrm>
          <a:prstGeom prst="roundRect">
            <a:avLst>
              <a:gd name="adj" fmla="val 14294"/>
            </a:avLst>
          </a:prstGeom>
          <a:solidFill>
            <a:srgbClr val="E7EDF3"/>
          </a:solidFill>
          <a:ln w="11887">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9B3119A5-7BAD-FCB3-549B-260CB76E2404}"/>
              </a:ext>
            </a:extLst>
          </p:cNvPr>
          <p:cNvSpPr txBox="1"/>
          <p:nvPr/>
        </p:nvSpPr>
        <p:spPr>
          <a:xfrm>
            <a:off x="1763541" y="4386020"/>
            <a:ext cx="428869" cy="173736"/>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SemiBold"/>
                <a:ea typeface="+mn-ea"/>
                <a:cs typeface="+mn-cs"/>
              </a:rPr>
              <a:t>CARDS</a:t>
            </a:r>
          </a:p>
        </p:txBody>
      </p:sp>
      <p:sp>
        <p:nvSpPr>
          <p:cNvPr id="106" name="TextBox 105">
            <a:extLst>
              <a:ext uri="{FF2B5EF4-FFF2-40B4-BE49-F238E27FC236}">
                <a16:creationId xmlns:a16="http://schemas.microsoft.com/office/drawing/2014/main" id="{D4CC567A-0D54-24EB-7093-7006A94AA43A}"/>
              </a:ext>
            </a:extLst>
          </p:cNvPr>
          <p:cNvSpPr txBox="1"/>
          <p:nvPr/>
        </p:nvSpPr>
        <p:spPr>
          <a:xfrm>
            <a:off x="1512062" y="4555540"/>
            <a:ext cx="985558" cy="155001"/>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3A5570"/>
                </a:solidFill>
                <a:effectLst/>
                <a:uLnTx/>
                <a:uFillTx/>
                <a:latin typeface="Fira Sans"/>
                <a:ea typeface="+mn-ea"/>
                <a:cs typeface="+mn-cs"/>
              </a:rPr>
              <a:t>has its </a:t>
            </a:r>
            <a:r>
              <a:rPr kumimoji="0" sz="850" b="0" i="0" u="none" strike="noStrike" kern="1200" cap="none" spc="0" normalizeH="0" baseline="0" noProof="0">
                <a:ln>
                  <a:noFill/>
                </a:ln>
                <a:solidFill>
                  <a:srgbClr val="3A5570"/>
                </a:solidFill>
                <a:effectLst/>
                <a:uLnTx/>
                <a:uFillTx/>
                <a:latin typeface="Fira Sans"/>
                <a:ea typeface="+mn-ea"/>
                <a:cs typeface="+mn-cs"/>
              </a:rPr>
              <a:t>own </a:t>
            </a:r>
            <a:r>
              <a:rPr kumimoji="0" lang="en-US" sz="850" b="0" i="0" u="none" strike="noStrike" kern="1200" cap="none" spc="0" normalizeH="0" baseline="0" noProof="0">
                <a:ln>
                  <a:noFill/>
                </a:ln>
                <a:solidFill>
                  <a:srgbClr val="3A5570"/>
                </a:solidFill>
                <a:effectLst/>
                <a:uLnTx/>
                <a:uFillTx/>
                <a:latin typeface="Fira Sans"/>
                <a:ea typeface="+mn-ea"/>
                <a:cs typeface="+mn-cs"/>
              </a:rPr>
              <a:t>system</a:t>
            </a:r>
            <a:endParaRPr kumimoji="0" sz="850" b="0" i="0" u="none" strike="noStrike" kern="1200" cap="none" spc="0" normalizeH="0" baseline="0" noProof="0">
              <a:ln>
                <a:noFill/>
              </a:ln>
              <a:solidFill>
                <a:srgbClr val="3A5570"/>
              </a:solidFill>
              <a:effectLst/>
              <a:uLnTx/>
              <a:uFillTx/>
              <a:latin typeface="Fira Sans"/>
              <a:ea typeface="+mn-ea"/>
              <a:cs typeface="+mn-cs"/>
            </a:endParaRPr>
          </a:p>
        </p:txBody>
      </p:sp>
      <p:sp>
        <p:nvSpPr>
          <p:cNvPr id="107" name="Rounded Rectangle 106">
            <a:extLst>
              <a:ext uri="{FF2B5EF4-FFF2-40B4-BE49-F238E27FC236}">
                <a16:creationId xmlns:a16="http://schemas.microsoft.com/office/drawing/2014/main" id="{13CE5B0D-4207-A4DA-390E-9A635A343C1D}"/>
              </a:ext>
            </a:extLst>
          </p:cNvPr>
          <p:cNvSpPr/>
          <p:nvPr/>
        </p:nvSpPr>
        <p:spPr>
          <a:xfrm>
            <a:off x="3208883" y="4323475"/>
            <a:ext cx="1349992" cy="444581"/>
          </a:xfrm>
          <a:prstGeom prst="roundRect">
            <a:avLst>
              <a:gd name="adj" fmla="val 14294"/>
            </a:avLst>
          </a:prstGeom>
          <a:solidFill>
            <a:srgbClr val="E7EDF3"/>
          </a:solidFill>
          <a:ln w="11887">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8" name="TextBox 107">
            <a:extLst>
              <a:ext uri="{FF2B5EF4-FFF2-40B4-BE49-F238E27FC236}">
                <a16:creationId xmlns:a16="http://schemas.microsoft.com/office/drawing/2014/main" id="{C3730289-5766-9411-4B95-BAF9E26F0AE5}"/>
              </a:ext>
            </a:extLst>
          </p:cNvPr>
          <p:cNvSpPr txBox="1"/>
          <p:nvPr/>
        </p:nvSpPr>
        <p:spPr>
          <a:xfrm>
            <a:off x="3611548" y="4386020"/>
            <a:ext cx="544661" cy="173736"/>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SemiBold"/>
                <a:ea typeface="+mn-ea"/>
                <a:cs typeface="+mn-cs"/>
              </a:rPr>
              <a:t>LENDING</a:t>
            </a:r>
          </a:p>
        </p:txBody>
      </p:sp>
      <p:sp>
        <p:nvSpPr>
          <p:cNvPr id="109" name="TextBox 108">
            <a:extLst>
              <a:ext uri="{FF2B5EF4-FFF2-40B4-BE49-F238E27FC236}">
                <a16:creationId xmlns:a16="http://schemas.microsoft.com/office/drawing/2014/main" id="{18B8DAC3-EB40-E114-A401-BB03D693F626}"/>
              </a:ext>
            </a:extLst>
          </p:cNvPr>
          <p:cNvSpPr txBox="1"/>
          <p:nvPr/>
        </p:nvSpPr>
        <p:spPr>
          <a:xfrm>
            <a:off x="3298791" y="4545949"/>
            <a:ext cx="1170176" cy="164592"/>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3A5570"/>
                </a:solidFill>
                <a:effectLst/>
                <a:uLnTx/>
                <a:uFillTx/>
                <a:latin typeface="Fira Sans"/>
                <a:ea typeface="+mn-ea"/>
                <a:cs typeface="+mn-cs"/>
              </a:rPr>
              <a:t>mortgage, HELOC, auto</a:t>
            </a:r>
          </a:p>
        </p:txBody>
      </p:sp>
      <p:cxnSp>
        <p:nvCxnSpPr>
          <p:cNvPr id="110" name="Connector 109">
            <a:extLst>
              <a:ext uri="{FF2B5EF4-FFF2-40B4-BE49-F238E27FC236}">
                <a16:creationId xmlns:a16="http://schemas.microsoft.com/office/drawing/2014/main" id="{35AA667A-E7A4-C5CA-F8F7-2C6CAEEAB113}"/>
              </a:ext>
            </a:extLst>
          </p:cNvPr>
          <p:cNvCxnSpPr>
            <a:cxnSpLocks/>
          </p:cNvCxnSpPr>
          <p:nvPr/>
        </p:nvCxnSpPr>
        <p:spPr>
          <a:xfrm>
            <a:off x="1961762" y="3164382"/>
            <a:ext cx="0" cy="1095543"/>
          </a:xfrm>
          <a:prstGeom prst="line">
            <a:avLst/>
          </a:prstGeom>
          <a:ln w="14264">
            <a:solidFill>
              <a:srgbClr val="232422"/>
            </a:solidFill>
          </a:ln>
          <a:effectLst/>
        </p:spPr>
      </p:cxnSp>
      <p:sp>
        <p:nvSpPr>
          <p:cNvPr id="2" name="Freeform 1">
            <a:extLst>
              <a:ext uri="{FF2B5EF4-FFF2-40B4-BE49-F238E27FC236}">
                <a16:creationId xmlns:a16="http://schemas.microsoft.com/office/drawing/2014/main" id="{4586C7DC-D0CE-E2EA-0AB0-D0D954313217}"/>
              </a:ext>
            </a:extLst>
          </p:cNvPr>
          <p:cNvSpPr/>
          <p:nvPr/>
        </p:nvSpPr>
        <p:spPr>
          <a:xfrm>
            <a:off x="1918591" y="4244106"/>
            <a:ext cx="86250" cy="79369"/>
          </a:xfrm>
          <a:custGeom>
            <a:avLst/>
            <a:gdLst/>
            <a:ahLst/>
            <a:cxnLst/>
            <a:rect l="l" t="t" r="r" b="b"/>
            <a:pathLst>
              <a:path w="86250" h="79369">
                <a:moveTo>
                  <a:pt x="43171" y="79369"/>
                </a:moveTo>
                <a:lnTo>
                  <a:pt x="0" y="914"/>
                </a:lnTo>
                <a:lnTo>
                  <a:pt x="76738" y="0"/>
                </a:lnTo>
                <a:lnTo>
                  <a:pt x="86250" y="914"/>
                </a:lnTo>
                <a:lnTo>
                  <a:pt x="43171" y="79369"/>
                </a:lnTo>
                <a:close/>
              </a:path>
            </a:pathLst>
          </a:custGeom>
          <a:solidFill>
            <a:srgbClr val="232422"/>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11" name="Connector 110">
            <a:extLst>
              <a:ext uri="{FF2B5EF4-FFF2-40B4-BE49-F238E27FC236}">
                <a16:creationId xmlns:a16="http://schemas.microsoft.com/office/drawing/2014/main" id="{6841A271-B4D4-5608-6174-B5126E441161}"/>
              </a:ext>
            </a:extLst>
          </p:cNvPr>
          <p:cNvCxnSpPr>
            <a:cxnSpLocks/>
          </p:cNvCxnSpPr>
          <p:nvPr/>
        </p:nvCxnSpPr>
        <p:spPr>
          <a:xfrm>
            <a:off x="3883879" y="3164382"/>
            <a:ext cx="0" cy="1095543"/>
          </a:xfrm>
          <a:prstGeom prst="line">
            <a:avLst/>
          </a:prstGeom>
          <a:ln w="14264">
            <a:solidFill>
              <a:srgbClr val="232422"/>
            </a:solidFill>
          </a:ln>
          <a:effectLst/>
        </p:spPr>
      </p:cxnSp>
      <p:sp>
        <p:nvSpPr>
          <p:cNvPr id="3" name="Freeform 2">
            <a:extLst>
              <a:ext uri="{FF2B5EF4-FFF2-40B4-BE49-F238E27FC236}">
                <a16:creationId xmlns:a16="http://schemas.microsoft.com/office/drawing/2014/main" id="{18DC46A5-8338-F850-5B6A-CECE51E7C5F5}"/>
              </a:ext>
            </a:extLst>
          </p:cNvPr>
          <p:cNvSpPr/>
          <p:nvPr/>
        </p:nvSpPr>
        <p:spPr>
          <a:xfrm>
            <a:off x="3840709" y="4244106"/>
            <a:ext cx="86341" cy="79369"/>
          </a:xfrm>
          <a:custGeom>
            <a:avLst/>
            <a:gdLst/>
            <a:ahLst/>
            <a:cxnLst/>
            <a:rect l="l" t="t" r="r" b="b"/>
            <a:pathLst>
              <a:path w="86341" h="79369">
                <a:moveTo>
                  <a:pt x="43170" y="79369"/>
                </a:moveTo>
                <a:lnTo>
                  <a:pt x="0" y="914"/>
                </a:lnTo>
                <a:lnTo>
                  <a:pt x="76737" y="0"/>
                </a:lnTo>
                <a:lnTo>
                  <a:pt x="86341" y="914"/>
                </a:lnTo>
                <a:lnTo>
                  <a:pt x="43170" y="79369"/>
                </a:lnTo>
                <a:close/>
              </a:path>
            </a:pathLst>
          </a:custGeom>
          <a:solidFill>
            <a:srgbClr val="232422"/>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3" name="TextBox 112">
            <a:extLst>
              <a:ext uri="{FF2B5EF4-FFF2-40B4-BE49-F238E27FC236}">
                <a16:creationId xmlns:a16="http://schemas.microsoft.com/office/drawing/2014/main" id="{25457E1B-537A-E96C-2BDB-9EA54CCCC86E}"/>
              </a:ext>
            </a:extLst>
          </p:cNvPr>
          <p:cNvSpPr txBox="1"/>
          <p:nvPr/>
        </p:nvSpPr>
        <p:spPr>
          <a:xfrm>
            <a:off x="933262" y="3648831"/>
            <a:ext cx="909324" cy="164592"/>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75757"/>
                </a:solidFill>
                <a:effectLst/>
                <a:uLnTx/>
                <a:uFillTx/>
                <a:latin typeface="Fira Sans"/>
                <a:ea typeface="+mn-ea"/>
                <a:cs typeface="+mn-cs"/>
              </a:rPr>
              <a:t>Gives benefits</a:t>
            </a:r>
            <a:endParaRPr kumimoji="0" sz="850" b="0" i="0" u="none" strike="noStrike" kern="1200" cap="none" spc="0" normalizeH="0" baseline="0" noProof="0">
              <a:ln>
                <a:noFill/>
              </a:ln>
              <a:solidFill>
                <a:srgbClr val="575757"/>
              </a:solidFill>
              <a:effectLst/>
              <a:uLnTx/>
              <a:uFillTx/>
              <a:latin typeface="Fira Sans"/>
              <a:ea typeface="+mn-ea"/>
              <a:cs typeface="+mn-cs"/>
            </a:endParaRPr>
          </a:p>
        </p:txBody>
      </p:sp>
      <p:sp>
        <p:nvSpPr>
          <p:cNvPr id="124" name="TextBox 123">
            <a:extLst>
              <a:ext uri="{FF2B5EF4-FFF2-40B4-BE49-F238E27FC236}">
                <a16:creationId xmlns:a16="http://schemas.microsoft.com/office/drawing/2014/main" id="{981A7FF6-C7E0-A421-508D-4E98691428DE}"/>
              </a:ext>
            </a:extLst>
          </p:cNvPr>
          <p:cNvSpPr txBox="1"/>
          <p:nvPr/>
        </p:nvSpPr>
        <p:spPr>
          <a:xfrm>
            <a:off x="5718441" y="2448621"/>
            <a:ext cx="3656859"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all" spc="75" normalizeH="0" baseline="0" noProof="0">
                <a:ln>
                  <a:noFill/>
                </a:ln>
                <a:solidFill>
                  <a:srgbClr val="9A9A9A"/>
                </a:solidFill>
                <a:effectLst/>
                <a:uLnTx/>
                <a:uFillTx/>
                <a:latin typeface="Fira Sans Medium"/>
                <a:ea typeface="+mn-ea"/>
                <a:cs typeface="+mn-cs"/>
              </a:rPr>
              <a:t>The </a:t>
            </a:r>
            <a:r>
              <a:rPr kumimoji="0" lang="en-US" sz="950" b="0" i="0" u="none" strike="noStrike" kern="1200" cap="all" spc="75" normalizeH="0" baseline="0" noProof="0">
                <a:ln>
                  <a:noFill/>
                </a:ln>
                <a:solidFill>
                  <a:srgbClr val="9A9A9A"/>
                </a:solidFill>
                <a:effectLst/>
                <a:uLnTx/>
                <a:uFillTx/>
                <a:latin typeface="Fira Sans Medium"/>
                <a:ea typeface="+mn-ea"/>
                <a:cs typeface="+mn-cs"/>
              </a:rPr>
              <a:t>CONNECTION</a:t>
            </a:r>
            <a:endParaRPr kumimoji="0" sz="950" b="0" i="0" u="none" strike="noStrike" kern="1200" cap="all" spc="75" normalizeH="0" baseline="0" noProof="0">
              <a:ln>
                <a:noFill/>
              </a:ln>
              <a:solidFill>
                <a:srgbClr val="9A9A9A"/>
              </a:solidFill>
              <a:effectLst/>
              <a:uLnTx/>
              <a:uFillTx/>
              <a:latin typeface="Fira Sans Medium"/>
              <a:ea typeface="+mn-ea"/>
              <a:cs typeface="+mn-cs"/>
            </a:endParaRPr>
          </a:p>
        </p:txBody>
      </p:sp>
      <p:sp>
        <p:nvSpPr>
          <p:cNvPr id="125" name="TextBox 124">
            <a:extLst>
              <a:ext uri="{FF2B5EF4-FFF2-40B4-BE49-F238E27FC236}">
                <a16:creationId xmlns:a16="http://schemas.microsoft.com/office/drawing/2014/main" id="{BBF07D92-5431-6547-E582-1C1D21CCCA4B}"/>
              </a:ext>
            </a:extLst>
          </p:cNvPr>
          <p:cNvSpPr txBox="1"/>
          <p:nvPr/>
        </p:nvSpPr>
        <p:spPr>
          <a:xfrm>
            <a:off x="9347505" y="2448621"/>
            <a:ext cx="1682917"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all" spc="75" normalizeH="0" baseline="0" noProof="0">
                <a:ln>
                  <a:noFill/>
                </a:ln>
                <a:solidFill>
                  <a:srgbClr val="9A9A9A"/>
                </a:solidFill>
                <a:effectLst/>
                <a:uLnTx/>
                <a:uFillTx/>
                <a:latin typeface="Fira Sans Medium"/>
                <a:ea typeface="+mn-ea"/>
                <a:cs typeface="+mn-cs"/>
              </a:rPr>
              <a:t>Who runs it</a:t>
            </a:r>
          </a:p>
        </p:txBody>
      </p:sp>
      <p:cxnSp>
        <p:nvCxnSpPr>
          <p:cNvPr id="127" name="Connector 126">
            <a:extLst>
              <a:ext uri="{FF2B5EF4-FFF2-40B4-BE49-F238E27FC236}">
                <a16:creationId xmlns:a16="http://schemas.microsoft.com/office/drawing/2014/main" id="{0F124A79-0115-3DFE-76D9-06BEDDCDA380}"/>
              </a:ext>
            </a:extLst>
          </p:cNvPr>
          <p:cNvCxnSpPr/>
          <p:nvPr/>
        </p:nvCxnSpPr>
        <p:spPr>
          <a:xfrm>
            <a:off x="5718441" y="2693052"/>
            <a:ext cx="5970513" cy="0"/>
          </a:xfrm>
          <a:prstGeom prst="line">
            <a:avLst/>
          </a:prstGeom>
          <a:ln w="9144">
            <a:solidFill>
              <a:srgbClr val="DDDBCE"/>
            </a:solidFill>
          </a:ln>
          <a:effectLst/>
        </p:spPr>
      </p:cxnSp>
      <p:sp>
        <p:nvSpPr>
          <p:cNvPr id="128" name="TextBox 127">
            <a:extLst>
              <a:ext uri="{FF2B5EF4-FFF2-40B4-BE49-F238E27FC236}">
                <a16:creationId xmlns:a16="http://schemas.microsoft.com/office/drawing/2014/main" id="{714BD684-713D-14AA-2C6E-DC83CAB59D07}"/>
              </a:ext>
            </a:extLst>
          </p:cNvPr>
          <p:cNvSpPr txBox="1"/>
          <p:nvPr/>
        </p:nvSpPr>
        <p:spPr>
          <a:xfrm>
            <a:off x="5718441" y="2828707"/>
            <a:ext cx="3656859" cy="440924"/>
          </a:xfrm>
          <a:prstGeom prst="rect">
            <a:avLst/>
          </a:prstGeom>
          <a:noFill/>
        </p:spPr>
        <p:txBody>
          <a:bodyPr wrap="square" lIns="0" tIns="0" rIns="0" bIns="0" anchor="t">
            <a:noAutofit/>
          </a:bodyPr>
          <a:lstStyle/>
          <a:p>
            <a:pPr marL="0" marR="0" lvl="0" indent="0" algn="l" defTabSz="457200" rtl="0" eaLnBrk="1" fontAlgn="auto" latinLnBrk="0" hangingPunct="1">
              <a:lnSpc>
                <a:spcPts val="1664"/>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Banking s</a:t>
            </a:r>
            <a:r>
              <a:rPr kumimoji="0" sz="1200" b="0" i="0" u="none" strike="noStrike" kern="1200" cap="none" spc="0" normalizeH="0" baseline="0" noProof="0">
                <a:ln>
                  <a:noFill/>
                </a:ln>
                <a:solidFill>
                  <a:srgbClr val="232422"/>
                </a:solidFill>
                <a:effectLst/>
                <a:uLnTx/>
                <a:uFillTx/>
                <a:latin typeface="Fira Sans"/>
                <a:ea typeface="+mn-ea"/>
                <a:cs typeface="+mn-cs"/>
              </a:rPr>
              <a:t>tatus boosts card rewards – </a:t>
            </a:r>
            <a:br>
              <a:rPr kumimoji="0" lang="en-US" sz="1200" b="0" i="0" u="none" strike="noStrike" kern="1200" cap="none" spc="0" normalizeH="0" baseline="0" noProof="0">
                <a:ln>
                  <a:noFill/>
                </a:ln>
                <a:solidFill>
                  <a:srgbClr val="232422"/>
                </a:solidFill>
                <a:effectLst/>
                <a:uLnTx/>
                <a:uFillTx/>
                <a:latin typeface="Fira Sans"/>
                <a:ea typeface="+mn-ea"/>
                <a:cs typeface="+mn-cs"/>
              </a:rPr>
            </a:br>
            <a:r>
              <a:rPr kumimoji="0" sz="1200" b="0" i="0" u="none" strike="noStrike" kern="1200" cap="none" spc="0" normalizeH="0" baseline="0" noProof="0">
                <a:ln>
                  <a:noFill/>
                </a:ln>
                <a:solidFill>
                  <a:srgbClr val="232422"/>
                </a:solidFill>
                <a:effectLst/>
                <a:uLnTx/>
                <a:uFillTx/>
                <a:latin typeface="Fira Sans"/>
                <a:ea typeface="+mn-ea"/>
                <a:cs typeface="+mn-cs"/>
              </a:rPr>
              <a:t>up to </a:t>
            </a:r>
            <a:r>
              <a:rPr kumimoji="0" sz="1200" b="0" i="0" u="none" strike="noStrike" kern="1200" cap="none" spc="0" normalizeH="0" baseline="0" noProof="0">
                <a:ln>
                  <a:noFill/>
                </a:ln>
                <a:solidFill>
                  <a:srgbClr val="007651"/>
                </a:solidFill>
                <a:effectLst/>
                <a:uLnTx/>
                <a:uFillTx/>
                <a:latin typeface="Fira Sans SemiBold"/>
                <a:ea typeface="+mn-ea"/>
                <a:cs typeface="+mn-cs"/>
              </a:rPr>
              <a:t>+75%</a:t>
            </a:r>
            <a:r>
              <a:rPr kumimoji="0" sz="1200" b="0" i="0" u="none" strike="noStrike" kern="1200" cap="none" spc="0" normalizeH="0" baseline="0" noProof="0">
                <a:ln>
                  <a:noFill/>
                </a:ln>
                <a:solidFill>
                  <a:srgbClr val="232422"/>
                </a:solidFill>
                <a:effectLst/>
                <a:uLnTx/>
                <a:uFillTx/>
                <a:latin typeface="Fira Sans"/>
                <a:ea typeface="+mn-ea"/>
                <a:cs typeface="+mn-cs"/>
              </a:rPr>
              <a:t> </a:t>
            </a:r>
            <a:r>
              <a:rPr kumimoji="0" lang="en-US" sz="1200" b="0" i="0" u="none" strike="noStrike" kern="1200" cap="none" spc="0" normalizeH="0" baseline="0" noProof="0">
                <a:ln>
                  <a:noFill/>
                </a:ln>
                <a:solidFill>
                  <a:srgbClr val="232422"/>
                </a:solidFill>
                <a:effectLst/>
                <a:uLnTx/>
                <a:uFillTx/>
                <a:latin typeface="Fira Sans"/>
                <a:ea typeface="+mn-ea"/>
                <a:cs typeface="+mn-cs"/>
              </a:rPr>
              <a:t>(points bonus) </a:t>
            </a:r>
            <a:r>
              <a:rPr kumimoji="0" sz="1200" b="0" i="0" u="none" strike="noStrike" kern="1200" cap="none" spc="0" normalizeH="0" baseline="0" noProof="0">
                <a:ln>
                  <a:noFill/>
                </a:ln>
                <a:solidFill>
                  <a:srgbClr val="232422"/>
                </a:solidFill>
                <a:effectLst/>
                <a:uLnTx/>
                <a:uFillTx/>
                <a:latin typeface="Fira Sans"/>
                <a:ea typeface="+mn-ea"/>
                <a:cs typeface="+mn-cs"/>
              </a:rPr>
              <a:t>at the</a:t>
            </a:r>
            <a:r>
              <a:rPr kumimoji="0" lang="en-US" sz="1200" b="0" i="0" u="none" strike="noStrike" kern="1200" cap="none" spc="0" normalizeH="0" baseline="0" noProof="0">
                <a:ln>
                  <a:noFill/>
                </a:ln>
                <a:solidFill>
                  <a:srgbClr val="232422"/>
                </a:solidFill>
                <a:effectLst/>
                <a:uLnTx/>
                <a:uFillTx/>
                <a:latin typeface="Fira Sans"/>
                <a:ea typeface="+mn-ea"/>
                <a:cs typeface="+mn-cs"/>
              </a:rPr>
              <a:t> </a:t>
            </a:r>
            <a:r>
              <a:rPr kumimoji="0" sz="1200" b="0" i="0" u="none" strike="noStrike" kern="1200" cap="none" spc="0" normalizeH="0" baseline="0" noProof="0">
                <a:ln>
                  <a:noFill/>
                </a:ln>
                <a:solidFill>
                  <a:srgbClr val="232422"/>
                </a:solidFill>
                <a:effectLst/>
                <a:uLnTx/>
                <a:uFillTx/>
                <a:latin typeface="Fira Sans"/>
                <a:ea typeface="+mn-ea"/>
                <a:cs typeface="+mn-cs"/>
              </a:rPr>
              <a:t>top tier</a:t>
            </a:r>
          </a:p>
        </p:txBody>
      </p:sp>
      <p:sp>
        <p:nvSpPr>
          <p:cNvPr id="129" name="TextBox 128">
            <a:extLst>
              <a:ext uri="{FF2B5EF4-FFF2-40B4-BE49-F238E27FC236}">
                <a16:creationId xmlns:a16="http://schemas.microsoft.com/office/drawing/2014/main" id="{1617F44B-A069-2600-C652-734FDD72CF10}"/>
              </a:ext>
            </a:extLst>
          </p:cNvPr>
          <p:cNvSpPr txBox="1"/>
          <p:nvPr/>
        </p:nvSpPr>
        <p:spPr>
          <a:xfrm>
            <a:off x="9347505" y="2950797"/>
            <a:ext cx="1682917" cy="203454"/>
          </a:xfrm>
          <a:prstGeom prst="rect">
            <a:avLst/>
          </a:prstGeom>
          <a:noFill/>
        </p:spPr>
        <p:txBody>
          <a:bodyPr wrap="square" lIns="0" tIns="0" rIns="0" bIns="0" anchor="t">
            <a:noAutofit/>
          </a:bodyPr>
          <a:lstStyle/>
          <a:p>
            <a:pPr marL="0" marR="0" lvl="0" indent="0" algn="l" defTabSz="457200" rtl="0" eaLnBrk="1" fontAlgn="auto" latinLnBrk="0" hangingPunct="1">
              <a:lnSpc>
                <a:spcPts val="1458"/>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PNC · Bank of America</a:t>
            </a:r>
          </a:p>
        </p:txBody>
      </p:sp>
      <p:cxnSp>
        <p:nvCxnSpPr>
          <p:cNvPr id="131" name="Connector 130">
            <a:extLst>
              <a:ext uri="{FF2B5EF4-FFF2-40B4-BE49-F238E27FC236}">
                <a16:creationId xmlns:a16="http://schemas.microsoft.com/office/drawing/2014/main" id="{083B1F32-FDC3-F9F4-A09F-DB122ABA32A9}"/>
              </a:ext>
            </a:extLst>
          </p:cNvPr>
          <p:cNvCxnSpPr/>
          <p:nvPr/>
        </p:nvCxnSpPr>
        <p:spPr>
          <a:xfrm>
            <a:off x="5718441" y="3417440"/>
            <a:ext cx="5970513" cy="0"/>
          </a:xfrm>
          <a:prstGeom prst="line">
            <a:avLst/>
          </a:prstGeom>
          <a:ln w="9144">
            <a:solidFill>
              <a:srgbClr val="DDDBCE"/>
            </a:solidFill>
          </a:ln>
          <a:effectLst/>
        </p:spPr>
      </p:cxnSp>
      <p:sp>
        <p:nvSpPr>
          <p:cNvPr id="132" name="TextBox 131">
            <a:extLst>
              <a:ext uri="{FF2B5EF4-FFF2-40B4-BE49-F238E27FC236}">
                <a16:creationId xmlns:a16="http://schemas.microsoft.com/office/drawing/2014/main" id="{0A68376D-C1FE-4ABE-D587-11DA06959D57}"/>
              </a:ext>
            </a:extLst>
          </p:cNvPr>
          <p:cNvSpPr txBox="1"/>
          <p:nvPr/>
        </p:nvSpPr>
        <p:spPr>
          <a:xfrm>
            <a:off x="5718441" y="3553095"/>
            <a:ext cx="3656859" cy="440924"/>
          </a:xfrm>
          <a:prstGeom prst="rect">
            <a:avLst/>
          </a:prstGeom>
          <a:noFill/>
        </p:spPr>
        <p:txBody>
          <a:bodyPr wrap="square" lIns="0" tIns="0" rIns="0" bIns="0" anchor="t">
            <a:noAutofit/>
          </a:bodyPr>
          <a:lstStyle/>
          <a:p>
            <a:pPr marL="0" marR="0" lvl="0" indent="0" algn="l" defTabSz="457200" rtl="0" eaLnBrk="1" fontAlgn="auto" latinLnBrk="0" hangingPunct="1">
              <a:lnSpc>
                <a:spcPts val="1664"/>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Banking s</a:t>
            </a:r>
            <a:r>
              <a:rPr kumimoji="0" sz="1200" b="0" i="0" u="none" strike="noStrike" kern="1200" cap="none" spc="0" normalizeH="0" baseline="0" noProof="0">
                <a:ln>
                  <a:noFill/>
                </a:ln>
                <a:solidFill>
                  <a:srgbClr val="232422"/>
                </a:solidFill>
                <a:effectLst/>
                <a:uLnTx/>
                <a:uFillTx/>
                <a:latin typeface="Fira Sans"/>
                <a:ea typeface="+mn-ea"/>
                <a:cs typeface="+mn-cs"/>
              </a:rPr>
              <a:t>tatus reduces the premium-card fee</a:t>
            </a:r>
          </a:p>
          <a:p>
            <a:pPr marL="0" marR="0" lvl="0" indent="0" algn="l" defTabSz="457200" rtl="0" eaLnBrk="1" fontAlgn="auto" latinLnBrk="0" hangingPunct="1">
              <a:lnSpc>
                <a:spcPts val="1664"/>
              </a:lnSpc>
              <a:spcBef>
                <a:spcPts val="0"/>
              </a:spcBef>
              <a:spcAft>
                <a:spcPts val="0"/>
              </a:spcAft>
              <a:buClrTx/>
              <a:buSzTx/>
              <a:buFontTx/>
              <a:buNone/>
              <a:tabLst/>
              <a:defRPr/>
            </a:pPr>
            <a:r>
              <a:rPr kumimoji="0" sz="1200" b="0" i="0" u="none" strike="noStrike" kern="1200" cap="none" spc="0" normalizeH="0" baseline="0" noProof="0">
                <a:ln>
                  <a:noFill/>
                </a:ln>
                <a:solidFill>
                  <a:srgbClr val="232422"/>
                </a:solidFill>
                <a:effectLst/>
                <a:uLnTx/>
                <a:uFillTx/>
                <a:latin typeface="Fira Sans SemiBold"/>
                <a:ea typeface="+mn-ea"/>
                <a:cs typeface="+mn-cs"/>
              </a:rPr>
              <a:t>(Summit Reserve)</a:t>
            </a:r>
          </a:p>
        </p:txBody>
      </p:sp>
      <p:sp>
        <p:nvSpPr>
          <p:cNvPr id="133" name="TextBox 132">
            <a:extLst>
              <a:ext uri="{FF2B5EF4-FFF2-40B4-BE49-F238E27FC236}">
                <a16:creationId xmlns:a16="http://schemas.microsoft.com/office/drawing/2014/main" id="{1C21B16D-3D56-56B4-AEFD-A54D9C7374BE}"/>
              </a:ext>
            </a:extLst>
          </p:cNvPr>
          <p:cNvSpPr txBox="1"/>
          <p:nvPr/>
        </p:nvSpPr>
        <p:spPr>
          <a:xfrm>
            <a:off x="9347505" y="3675184"/>
            <a:ext cx="1682917" cy="203454"/>
          </a:xfrm>
          <a:prstGeom prst="rect">
            <a:avLst/>
          </a:prstGeom>
          <a:noFill/>
        </p:spPr>
        <p:txBody>
          <a:bodyPr wrap="square" lIns="0" tIns="0" rIns="0" bIns="0" anchor="t">
            <a:noAutofit/>
          </a:bodyPr>
          <a:lstStyle/>
          <a:p>
            <a:pPr marL="0" marR="0" lvl="0" indent="0" algn="l" defTabSz="457200" rtl="0" eaLnBrk="1" fontAlgn="auto" latinLnBrk="0" hangingPunct="1">
              <a:lnSpc>
                <a:spcPts val="1458"/>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Citizens</a:t>
            </a:r>
          </a:p>
        </p:txBody>
      </p:sp>
      <p:cxnSp>
        <p:nvCxnSpPr>
          <p:cNvPr id="135" name="Connector 134">
            <a:extLst>
              <a:ext uri="{FF2B5EF4-FFF2-40B4-BE49-F238E27FC236}">
                <a16:creationId xmlns:a16="http://schemas.microsoft.com/office/drawing/2014/main" id="{C3A86799-C7C6-9FB2-52A8-BD40B8400D4C}"/>
              </a:ext>
            </a:extLst>
          </p:cNvPr>
          <p:cNvCxnSpPr/>
          <p:nvPr/>
        </p:nvCxnSpPr>
        <p:spPr>
          <a:xfrm>
            <a:off x="5718441" y="4141827"/>
            <a:ext cx="5970513" cy="0"/>
          </a:xfrm>
          <a:prstGeom prst="line">
            <a:avLst/>
          </a:prstGeom>
          <a:ln w="9144">
            <a:solidFill>
              <a:srgbClr val="DDDBCE"/>
            </a:solidFill>
          </a:ln>
          <a:effectLst/>
        </p:spPr>
      </p:cxnSp>
      <p:sp>
        <p:nvSpPr>
          <p:cNvPr id="136" name="TextBox 135">
            <a:extLst>
              <a:ext uri="{FF2B5EF4-FFF2-40B4-BE49-F238E27FC236}">
                <a16:creationId xmlns:a16="http://schemas.microsoft.com/office/drawing/2014/main" id="{B6BB694B-D1B4-4B8C-11C5-CEA52B4B6CF3}"/>
              </a:ext>
            </a:extLst>
          </p:cNvPr>
          <p:cNvSpPr txBox="1"/>
          <p:nvPr/>
        </p:nvSpPr>
        <p:spPr>
          <a:xfrm>
            <a:off x="5718441" y="4259423"/>
            <a:ext cx="3656859" cy="229697"/>
          </a:xfrm>
          <a:prstGeom prst="rect">
            <a:avLst/>
          </a:prstGeom>
          <a:noFill/>
        </p:spPr>
        <p:txBody>
          <a:bodyPr wrap="square" lIns="0" tIns="0" rIns="0" bIns="0" anchor="t">
            <a:noAutofit/>
          </a:bodyPr>
          <a:lstStyle/>
          <a:p>
            <a:pPr marL="0" marR="0" lvl="0" indent="0" algn="l" defTabSz="457200" rtl="0" eaLnBrk="1" fontAlgn="auto" latinLnBrk="0" hangingPunct="1">
              <a:lnSpc>
                <a:spcPts val="1664"/>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Banking s</a:t>
            </a:r>
            <a:r>
              <a:rPr kumimoji="0" sz="1200" b="0" i="0" u="none" strike="noStrike" kern="1200" cap="none" spc="0" normalizeH="0" baseline="0" noProof="0">
                <a:ln>
                  <a:noFill/>
                </a:ln>
                <a:solidFill>
                  <a:srgbClr val="232422"/>
                </a:solidFill>
                <a:effectLst/>
                <a:uLnTx/>
                <a:uFillTx/>
                <a:latin typeface="Fira Sans"/>
                <a:ea typeface="+mn-ea"/>
                <a:cs typeface="+mn-cs"/>
              </a:rPr>
              <a:t>tatus discounts lending </a:t>
            </a:r>
            <a:br>
              <a:rPr kumimoji="0" lang="en-US" sz="1200" b="0" i="0" u="none" strike="noStrike" kern="1200" cap="none" spc="0" normalizeH="0" baseline="0" noProof="0">
                <a:ln>
                  <a:noFill/>
                </a:ln>
                <a:solidFill>
                  <a:srgbClr val="232422"/>
                </a:solidFill>
                <a:effectLst/>
                <a:uLnTx/>
                <a:uFillTx/>
                <a:latin typeface="Fira Sans"/>
                <a:ea typeface="+mn-ea"/>
                <a:cs typeface="+mn-cs"/>
              </a:rPr>
            </a:br>
            <a:r>
              <a:rPr kumimoji="0" sz="1200" b="0" i="0" u="none" strike="noStrike" kern="1200" cap="none" spc="0" normalizeH="0" baseline="0" noProof="0">
                <a:ln>
                  <a:noFill/>
                </a:ln>
                <a:solidFill>
                  <a:srgbClr val="232422"/>
                </a:solidFill>
                <a:effectLst/>
                <a:uLnTx/>
                <a:uFillTx/>
                <a:latin typeface="Fira Sans"/>
                <a:ea typeface="+mn-ea"/>
                <a:cs typeface="+mn-cs"/>
              </a:rPr>
              <a:t>rates and fees</a:t>
            </a:r>
          </a:p>
        </p:txBody>
      </p:sp>
      <p:sp>
        <p:nvSpPr>
          <p:cNvPr id="137" name="TextBox 136">
            <a:extLst>
              <a:ext uri="{FF2B5EF4-FFF2-40B4-BE49-F238E27FC236}">
                <a16:creationId xmlns:a16="http://schemas.microsoft.com/office/drawing/2014/main" id="{D76F7E65-ED87-5E1E-E6F6-D1EE0ACE583E}"/>
              </a:ext>
            </a:extLst>
          </p:cNvPr>
          <p:cNvSpPr txBox="1"/>
          <p:nvPr/>
        </p:nvSpPr>
        <p:spPr>
          <a:xfrm>
            <a:off x="9347505" y="4369656"/>
            <a:ext cx="1682917" cy="203454"/>
          </a:xfrm>
          <a:prstGeom prst="rect">
            <a:avLst/>
          </a:prstGeom>
          <a:noFill/>
        </p:spPr>
        <p:txBody>
          <a:bodyPr wrap="square" lIns="0" tIns="0" rIns="0" bIns="0" anchor="t">
            <a:noAutofit/>
          </a:bodyPr>
          <a:lstStyle/>
          <a:p>
            <a:pPr marL="0" marR="0" lvl="0" indent="0" algn="l" defTabSz="457200" rtl="0" eaLnBrk="1" fontAlgn="auto" latinLnBrk="0" hangingPunct="1">
              <a:lnSpc>
                <a:spcPts val="1458"/>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across the set</a:t>
            </a:r>
          </a:p>
        </p:txBody>
      </p:sp>
      <p:cxnSp>
        <p:nvCxnSpPr>
          <p:cNvPr id="139" name="Connector 138">
            <a:extLst>
              <a:ext uri="{FF2B5EF4-FFF2-40B4-BE49-F238E27FC236}">
                <a16:creationId xmlns:a16="http://schemas.microsoft.com/office/drawing/2014/main" id="{5EFFA66B-8B20-5048-C39F-AEF326A0C4BA}"/>
              </a:ext>
            </a:extLst>
          </p:cNvPr>
          <p:cNvCxnSpPr/>
          <p:nvPr/>
        </p:nvCxnSpPr>
        <p:spPr>
          <a:xfrm>
            <a:off x="5718441" y="4801962"/>
            <a:ext cx="5970513" cy="0"/>
          </a:xfrm>
          <a:prstGeom prst="line">
            <a:avLst/>
          </a:prstGeom>
          <a:ln w="9144">
            <a:solidFill>
              <a:srgbClr val="DDDBCE"/>
            </a:solidFill>
          </a:ln>
          <a:effectLst/>
        </p:spPr>
      </p:cxnSp>
      <p:cxnSp>
        <p:nvCxnSpPr>
          <p:cNvPr id="144" name="Connector 143">
            <a:extLst>
              <a:ext uri="{FF2B5EF4-FFF2-40B4-BE49-F238E27FC236}">
                <a16:creationId xmlns:a16="http://schemas.microsoft.com/office/drawing/2014/main" id="{BC48D2A5-30D8-1539-C8AD-EE83C2302FC7}"/>
              </a:ext>
            </a:extLst>
          </p:cNvPr>
          <p:cNvCxnSpPr/>
          <p:nvPr/>
        </p:nvCxnSpPr>
        <p:spPr>
          <a:xfrm>
            <a:off x="503046" y="6414516"/>
            <a:ext cx="11185908" cy="0"/>
          </a:xfrm>
          <a:prstGeom prst="line">
            <a:avLst/>
          </a:prstGeom>
          <a:ln w="9144">
            <a:solidFill>
              <a:srgbClr val="DDDBCE"/>
            </a:solidFill>
          </a:ln>
          <a:effectLst/>
        </p:spPr>
      </p:cxnSp>
      <p:sp>
        <p:nvSpPr>
          <p:cNvPr id="145" name="TextBox 144">
            <a:extLst>
              <a:ext uri="{FF2B5EF4-FFF2-40B4-BE49-F238E27FC236}">
                <a16:creationId xmlns:a16="http://schemas.microsoft.com/office/drawing/2014/main" id="{3F36A2AA-5D5C-5584-FC21-BDCEC3026444}"/>
              </a:ext>
            </a:extLst>
          </p:cNvPr>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Published program terms · Federal Reserve Diary of Consumer Payment Choice, 2016 to 2024.</a:t>
            </a:r>
          </a:p>
        </p:txBody>
      </p:sp>
      <p:sp>
        <p:nvSpPr>
          <p:cNvPr id="90" name="Slide Number">
            <a:extLst>
              <a:ext uri="{FF2B5EF4-FFF2-40B4-BE49-F238E27FC236}">
                <a16:creationId xmlns:a16="http://schemas.microsoft.com/office/drawing/2014/main" id="{57C4D401-CD2D-EBA2-E312-56DF3EC61664}"/>
              </a:ext>
            </a:extLst>
          </p:cNvP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8" name="TextBox 7">
            <a:extLst>
              <a:ext uri="{FF2B5EF4-FFF2-40B4-BE49-F238E27FC236}">
                <a16:creationId xmlns:a16="http://schemas.microsoft.com/office/drawing/2014/main" id="{35B15060-ABD3-9931-B8B4-0891374EC138}"/>
              </a:ext>
            </a:extLst>
          </p:cNvPr>
          <p:cNvSpPr txBox="1"/>
          <p:nvPr/>
        </p:nvSpPr>
        <p:spPr>
          <a:xfrm>
            <a:off x="2898408" y="3648831"/>
            <a:ext cx="909324" cy="164592"/>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75757"/>
                </a:solidFill>
                <a:effectLst/>
                <a:uLnTx/>
                <a:uFillTx/>
                <a:latin typeface="Fira Sans"/>
                <a:ea typeface="+mn-ea"/>
                <a:cs typeface="+mn-cs"/>
              </a:rPr>
              <a:t>Gives benefits</a:t>
            </a:r>
            <a:endParaRPr kumimoji="0" sz="850" b="0" i="0" u="none" strike="noStrike" kern="1200" cap="none" spc="0" normalizeH="0" baseline="0" noProof="0">
              <a:ln>
                <a:noFill/>
              </a:ln>
              <a:solidFill>
                <a:srgbClr val="575757"/>
              </a:solidFill>
              <a:effectLst/>
              <a:uLnTx/>
              <a:uFillTx/>
              <a:latin typeface="Fira Sans"/>
              <a:ea typeface="+mn-ea"/>
              <a:cs typeface="+mn-cs"/>
            </a:endParaRPr>
          </a:p>
        </p:txBody>
      </p:sp>
      <p:sp>
        <p:nvSpPr>
          <p:cNvPr id="12" name="TextBox 11">
            <a:extLst>
              <a:ext uri="{FF2B5EF4-FFF2-40B4-BE49-F238E27FC236}">
                <a16:creationId xmlns:a16="http://schemas.microsoft.com/office/drawing/2014/main" id="{6769F477-901F-5F85-6855-E99E6C0A28A6}"/>
              </a:ext>
            </a:extLst>
          </p:cNvPr>
          <p:cNvSpPr txBox="1"/>
          <p:nvPr/>
        </p:nvSpPr>
        <p:spPr>
          <a:xfrm>
            <a:off x="499350" y="2076160"/>
            <a:ext cx="10319446" cy="440924"/>
          </a:xfrm>
          <a:prstGeom prst="rect">
            <a:avLst/>
          </a:prstGeom>
          <a:noFill/>
        </p:spPr>
        <p:txBody>
          <a:bodyPr wrap="square" lIns="0" tIns="0" rIns="0" bIns="0" anchor="t">
            <a:noAutofit/>
          </a:bodyPr>
          <a:lstStyle/>
          <a:p>
            <a:pPr marL="0" marR="0" lvl="0" indent="0" algn="l" defTabSz="457200" rtl="0" eaLnBrk="1" fontAlgn="auto" latinLnBrk="0" hangingPunct="1">
              <a:lnSpc>
                <a:spcPts val="1664"/>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Banking status gives you select card and lending benefits</a:t>
            </a:r>
            <a:endParaRPr kumimoji="0" sz="1200" b="0" i="0" u="none" strike="noStrike" kern="1200" cap="none" spc="0" normalizeH="0" baseline="0" noProof="0">
              <a:ln>
                <a:noFill/>
              </a:ln>
              <a:solidFill>
                <a:srgbClr val="232422"/>
              </a:solidFill>
              <a:effectLst/>
              <a:uLnTx/>
              <a:uFillTx/>
              <a:latin typeface="Fira Sans"/>
              <a:ea typeface="+mn-ea"/>
              <a:cs typeface="+mn-cs"/>
            </a:endParaRPr>
          </a:p>
        </p:txBody>
      </p:sp>
      <p:sp>
        <p:nvSpPr>
          <p:cNvPr id="5" name="Rectangle 4">
            <a:extLst>
              <a:ext uri="{FF2B5EF4-FFF2-40B4-BE49-F238E27FC236}">
                <a16:creationId xmlns:a16="http://schemas.microsoft.com/office/drawing/2014/main" id="{9EFAA137-80BA-600C-A345-B1B5048BA458}"/>
              </a:ext>
            </a:extLst>
          </p:cNvPr>
          <p:cNvSpPr/>
          <p:nvPr/>
        </p:nvSpPr>
        <p:spPr>
          <a:xfrm>
            <a:off x="999421" y="5282666"/>
            <a:ext cx="4997118" cy="839259"/>
          </a:xfrm>
          <a:prstGeom prst="rect">
            <a:avLst/>
          </a:prstGeom>
          <a:noFill/>
          <a:ln w="9144">
            <a:noFill/>
          </a:ln>
          <a:effectLst/>
        </p:spPr>
        <p:txBody>
          <a:bodyPr rtlCol="0" anchor="t"/>
          <a:lstStyle/>
          <a:p>
            <a:pPr marL="0" marR="0" lvl="0" indent="0" algn="l" defTabSz="457200" rtl="0" eaLnBrk="1" fontAlgn="auto" latinLnBrk="0" hangingPunct="1">
              <a:lnSpc>
                <a:spcPts val="154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7651"/>
                </a:solidFill>
                <a:effectLst/>
                <a:uLnTx/>
                <a:uFillTx/>
                <a:latin typeface="Fira Sans Medium" panose="020B0603050000020004" pitchFamily="34" charset="0"/>
                <a:ea typeface="+mn-ea"/>
                <a:cs typeface="+mn-cs"/>
              </a:rPr>
              <a:t>Why this is likely common</a:t>
            </a:r>
          </a:p>
          <a:p>
            <a:pPr marL="0" marR="0" lvl="0" indent="0" algn="l" defTabSz="457200" rtl="0" eaLnBrk="1" fontAlgn="auto" latinLnBrk="0" hangingPunct="1">
              <a:lnSpc>
                <a:spcPts val="154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Cards and lending have their own economics, underwriting, risk and servicing. Full integration creates real cost + complexity. KeyBank is the outlier: cards can be the “+1” that unlocks status.</a:t>
            </a:r>
          </a:p>
        </p:txBody>
      </p:sp>
      <p:sp>
        <p:nvSpPr>
          <p:cNvPr id="6" name="Rectangle 5">
            <a:extLst>
              <a:ext uri="{FF2B5EF4-FFF2-40B4-BE49-F238E27FC236}">
                <a16:creationId xmlns:a16="http://schemas.microsoft.com/office/drawing/2014/main" id="{E64AD028-B45D-1A31-6430-6767FCF7D5E1}"/>
              </a:ext>
            </a:extLst>
          </p:cNvPr>
          <p:cNvSpPr/>
          <p:nvPr/>
        </p:nvSpPr>
        <p:spPr>
          <a:xfrm>
            <a:off x="6194504" y="5281062"/>
            <a:ext cx="4855299" cy="839259"/>
          </a:xfrm>
          <a:prstGeom prst="rect">
            <a:avLst/>
          </a:prstGeom>
          <a:noFill/>
          <a:ln w="9144">
            <a:noFill/>
          </a:ln>
          <a:effectLst/>
        </p:spPr>
        <p:txBody>
          <a:bodyPr rtlCol="0" anchor="t"/>
          <a:lstStyle/>
          <a:p>
            <a:pPr marL="0" marR="0" lvl="0" indent="0" algn="l" defTabSz="457200" rtl="0" eaLnBrk="1" fontAlgn="auto" latinLnBrk="0" hangingPunct="1">
              <a:lnSpc>
                <a:spcPts val="154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7651"/>
                </a:solidFill>
                <a:effectLst/>
                <a:uLnTx/>
                <a:uFillTx/>
                <a:latin typeface="Fira Sans Medium" panose="020B0603050000020004" pitchFamily="34" charset="0"/>
                <a:ea typeface="+mn-ea"/>
                <a:cs typeface="+mn-cs"/>
              </a:rPr>
              <a:t>Where the opportunity is</a:t>
            </a:r>
          </a:p>
          <a:p>
            <a:pPr marL="0" marR="0" lvl="0" indent="0" algn="l" defTabSz="457200" rtl="0" eaLnBrk="1" fontAlgn="auto" latinLnBrk="0" hangingPunct="1">
              <a:lnSpc>
                <a:spcPts val="154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Cards now account for </a:t>
            </a:r>
            <a:r>
              <a:rPr kumimoji="0" lang="en-US" sz="1200" b="0" i="0" u="none" strike="noStrike" kern="1200" cap="none" spc="0" normalizeH="0" baseline="0" noProof="0">
                <a:ln>
                  <a:noFill/>
                </a:ln>
                <a:solidFill>
                  <a:srgbClr val="217651"/>
                </a:solidFill>
                <a:effectLst/>
                <a:uLnTx/>
                <a:uFillTx/>
                <a:latin typeface="Fira Sans" panose="020B0503050000020004" pitchFamily="34" charset="0"/>
                <a:ea typeface="+mn-ea"/>
                <a:cs typeface="+mn-cs"/>
              </a:rPr>
              <a:t>35% of consumer payments (up from 18% in 2016)</a:t>
            </a:r>
            <a:r>
              <a:rPr kumimoji="0" lang="en-US" sz="12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t>. Citizens can keep cards separate, but targeted bridges could make the broader relationship more valuable and visible.</a:t>
            </a:r>
          </a:p>
        </p:txBody>
      </p:sp>
      <p:cxnSp>
        <p:nvCxnSpPr>
          <p:cNvPr id="10" name="Straight Connector 9">
            <a:extLst>
              <a:ext uri="{FF2B5EF4-FFF2-40B4-BE49-F238E27FC236}">
                <a16:creationId xmlns:a16="http://schemas.microsoft.com/office/drawing/2014/main" id="{15BBD39D-2CA7-E2A3-059E-7BBDD175A245}"/>
              </a:ext>
            </a:extLst>
          </p:cNvPr>
          <p:cNvCxnSpPr>
            <a:cxnSpLocks/>
          </p:cNvCxnSpPr>
          <p:nvPr/>
        </p:nvCxnSpPr>
        <p:spPr>
          <a:xfrm>
            <a:off x="1058778" y="5534526"/>
            <a:ext cx="4774131" cy="0"/>
          </a:xfrm>
          <a:prstGeom prst="line">
            <a:avLst/>
          </a:prstGeom>
          <a:ln w="12700">
            <a:solidFill>
              <a:srgbClr val="007651"/>
            </a:solidFill>
            <a:prstDash val="sysDot"/>
          </a:ln>
        </p:spPr>
        <p:style>
          <a:lnRef idx="1">
            <a:schemeClr val="accent3"/>
          </a:lnRef>
          <a:fillRef idx="0">
            <a:schemeClr val="accent3"/>
          </a:fillRef>
          <a:effectRef idx="0">
            <a:schemeClr val="accent3"/>
          </a:effectRef>
          <a:fontRef idx="minor">
            <a:schemeClr val="tx1"/>
          </a:fontRef>
        </p:style>
      </p:cxnSp>
      <p:cxnSp>
        <p:nvCxnSpPr>
          <p:cNvPr id="11" name="Straight Connector 10">
            <a:extLst>
              <a:ext uri="{FF2B5EF4-FFF2-40B4-BE49-F238E27FC236}">
                <a16:creationId xmlns:a16="http://schemas.microsoft.com/office/drawing/2014/main" id="{37F2901E-3E77-4950-B199-A952011BE5B4}"/>
              </a:ext>
            </a:extLst>
          </p:cNvPr>
          <p:cNvCxnSpPr>
            <a:cxnSpLocks/>
          </p:cNvCxnSpPr>
          <p:nvPr/>
        </p:nvCxnSpPr>
        <p:spPr>
          <a:xfrm>
            <a:off x="6264441" y="5534526"/>
            <a:ext cx="4774131" cy="0"/>
          </a:xfrm>
          <a:prstGeom prst="line">
            <a:avLst/>
          </a:prstGeom>
          <a:ln w="12700">
            <a:solidFill>
              <a:srgbClr val="007651"/>
            </a:solidFill>
            <a:prstDash val="sysDot"/>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90538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4557197"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100" b="0" i="0" u="none" strike="noStrike" kern="1200" cap="all" spc="130" normalizeH="0" baseline="0" noProof="0">
                <a:ln>
                  <a:noFill/>
                </a:ln>
                <a:solidFill>
                  <a:srgbClr val="9A9A9A"/>
                </a:solidFill>
                <a:effectLst/>
                <a:uLnTx/>
                <a:uFillTx/>
                <a:latin typeface="Fira Sans Medium"/>
                <a:ea typeface="+mn-ea"/>
                <a:cs typeface="+mn-cs"/>
              </a:rPr>
              <a:t>WHAT WE LEARNED FROM THE CATEGORY · FINDING 4 OF 5</a:t>
            </a:r>
          </a:p>
        </p:txBody>
      </p:sp>
      <p:sp>
        <p:nvSpPr>
          <p:cNvPr id="92" name="Rounded Rectangle 91"/>
          <p:cNvSpPr/>
          <p:nvPr/>
        </p:nvSpPr>
        <p:spPr>
          <a:xfrm>
            <a:off x="1024384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9A9A9A"/>
                </a:solidFill>
                <a:effectLst/>
                <a:uLnTx/>
                <a:uFillTx/>
                <a:latin typeface="Fira Sans"/>
                <a:ea typeface="+mn-ea"/>
                <a:cs typeface="+mn-cs"/>
              </a:rPr>
              <a:t>1</a:t>
            </a:r>
          </a:p>
        </p:txBody>
      </p:sp>
      <p:sp>
        <p:nvSpPr>
          <p:cNvPr id="93" name="Rounded Rectangle 92"/>
          <p:cNvSpPr/>
          <p:nvPr/>
        </p:nvSpPr>
        <p:spPr>
          <a:xfrm>
            <a:off x="10545668"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9A9A9A"/>
                </a:solidFill>
                <a:effectLst/>
                <a:uLnTx/>
                <a:uFillTx/>
                <a:latin typeface="Fira Sans"/>
                <a:ea typeface="+mn-ea"/>
                <a:cs typeface="+mn-cs"/>
              </a:rPr>
              <a:t>2</a:t>
            </a:r>
          </a:p>
        </p:txBody>
      </p:sp>
      <p:sp>
        <p:nvSpPr>
          <p:cNvPr id="94" name="Rounded Rectangle 93"/>
          <p:cNvSpPr/>
          <p:nvPr/>
        </p:nvSpPr>
        <p:spPr>
          <a:xfrm>
            <a:off x="10847496"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9A9A9A"/>
                </a:solidFill>
                <a:effectLst/>
                <a:uLnTx/>
                <a:uFillTx/>
                <a:latin typeface="Fira Sans"/>
                <a:ea typeface="+mn-ea"/>
                <a:cs typeface="+mn-cs"/>
              </a:rPr>
              <a:t>3</a:t>
            </a:r>
          </a:p>
        </p:txBody>
      </p:sp>
      <p:sp>
        <p:nvSpPr>
          <p:cNvPr id="95" name="Rounded Rectangle 94"/>
          <p:cNvSpPr/>
          <p:nvPr/>
        </p:nvSpPr>
        <p:spPr>
          <a:xfrm>
            <a:off x="11149323"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FFFFFF"/>
                </a:solidFill>
                <a:effectLst/>
                <a:uLnTx/>
                <a:uFillTx/>
                <a:latin typeface="Fira Sans Medium"/>
                <a:ea typeface="+mn-ea"/>
                <a:cs typeface="+mn-cs"/>
              </a:rPr>
              <a:t>4</a:t>
            </a:r>
          </a:p>
        </p:txBody>
      </p:sp>
      <p:sp>
        <p:nvSpPr>
          <p:cNvPr id="96" name="Rounded Rectangle 95"/>
          <p:cNvSpPr/>
          <p:nvPr/>
        </p:nvSpPr>
        <p:spPr>
          <a:xfrm>
            <a:off x="1145115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9A9A9A"/>
                </a:solidFill>
                <a:effectLst/>
                <a:uLnTx/>
                <a:uFillTx/>
                <a:latin typeface="Fira Sans"/>
                <a:ea typeface="+mn-ea"/>
                <a:cs typeface="+mn-cs"/>
              </a:rPr>
              <a:t>5</a:t>
            </a:r>
          </a:p>
        </p:txBody>
      </p:sp>
      <p:sp>
        <p:nvSpPr>
          <p:cNvPr id="97" name="TextBox 96"/>
          <p:cNvSpPr txBox="1"/>
          <p:nvPr/>
        </p:nvSpPr>
        <p:spPr>
          <a:xfrm>
            <a:off x="503046" y="743648"/>
            <a:ext cx="10643009" cy="471830"/>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Some banks are recognizing the relationship from Day 1, granting status without a balance requirement</a:t>
            </a:r>
          </a:p>
        </p:txBody>
      </p:sp>
      <p:sp>
        <p:nvSpPr>
          <p:cNvPr id="98" name="Rounded Rectangle 97"/>
          <p:cNvSpPr/>
          <p:nvPr/>
        </p:nvSpPr>
        <p:spPr>
          <a:xfrm>
            <a:off x="503046" y="1800887"/>
            <a:ext cx="11185908" cy="3179277"/>
          </a:xfrm>
          <a:prstGeom prst="roundRect">
            <a:avLst>
              <a:gd name="adj" fmla="val 575"/>
            </a:avLst>
          </a:prstGeom>
          <a:solidFill>
            <a:srgbClr val="F6EAD6">
              <a:alpha val="25000"/>
            </a:srgbClr>
          </a:solidFill>
          <a:ln w="9144">
            <a:solidFill>
              <a:srgbClr val="B0762C"/>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99" name="Picture 98" descr="bofa.png"/>
          <p:cNvPicPr>
            <a:picLocks noChangeAspect="1"/>
          </p:cNvPicPr>
          <p:nvPr/>
        </p:nvPicPr>
        <p:blipFill>
          <a:blip r:embed="rId2"/>
          <a:stretch>
            <a:fillRect/>
          </a:stretch>
        </p:blipFill>
        <p:spPr>
          <a:xfrm>
            <a:off x="749995" y="2014281"/>
            <a:ext cx="1533466" cy="155448"/>
          </a:xfrm>
          <a:prstGeom prst="rect">
            <a:avLst/>
          </a:prstGeom>
        </p:spPr>
      </p:pic>
      <p:sp>
        <p:nvSpPr>
          <p:cNvPr id="100" name="TextBox 99"/>
          <p:cNvSpPr txBox="1"/>
          <p:nvPr/>
        </p:nvSpPr>
        <p:spPr>
          <a:xfrm>
            <a:off x="2420175" y="1999975"/>
            <a:ext cx="9186467" cy="256079"/>
          </a:xfrm>
          <a:prstGeom prst="rect">
            <a:avLst/>
          </a:prstGeom>
          <a:noFill/>
        </p:spPr>
        <p:txBody>
          <a:bodyPr wrap="square" lIns="0" tIns="0" rIns="0" bIns="0" anchor="t">
            <a:noAutofit/>
          </a:bodyPr>
          <a:lstStyle/>
          <a:p>
            <a:pPr marL="0" marR="0" lvl="0" indent="0" algn="l" defTabSz="457200" rtl="0" eaLnBrk="1" fontAlgn="auto" latinLnBrk="0" hangingPunct="1">
              <a:lnSpc>
                <a:spcPts val="1713"/>
              </a:lnSpc>
              <a:spcBef>
                <a:spcPts val="0"/>
              </a:spcBef>
              <a:spcAft>
                <a:spcPts val="0"/>
              </a:spcAft>
              <a:buClrTx/>
              <a:buSzTx/>
              <a:buFontTx/>
              <a:buNone/>
              <a:tabLst/>
              <a:defRPr/>
            </a:pPr>
            <a:r>
              <a:rPr kumimoji="0" lang="en-US" sz="1400" b="1" i="0" u="none" strike="noStrike" kern="1200" cap="none" spc="0" normalizeH="0" baseline="0" noProof="0">
                <a:ln>
                  <a:noFill/>
                </a:ln>
                <a:solidFill>
                  <a:srgbClr val="232422"/>
                </a:solidFill>
                <a:effectLst/>
                <a:uLnTx/>
                <a:uFillTx/>
                <a:latin typeface="Fira Sans"/>
                <a:ea typeface="+mn-ea"/>
                <a:cs typeface="+mn-cs"/>
              </a:rPr>
              <a:t>In May 2026, BofA moved its rewards entry from $20K to $0 – every customer now starts as a Member.</a:t>
            </a:r>
          </a:p>
        </p:txBody>
      </p:sp>
      <p:sp>
        <p:nvSpPr>
          <p:cNvPr id="102" name="TextBox 101"/>
          <p:cNvSpPr txBox="1"/>
          <p:nvPr/>
        </p:nvSpPr>
        <p:spPr>
          <a:xfrm>
            <a:off x="804599" y="2455205"/>
            <a:ext cx="2117640" cy="173736"/>
          </a:xfrm>
          <a:prstGeom prst="rect">
            <a:avLst/>
          </a:prstGeom>
          <a:noFill/>
        </p:spPr>
        <p:txBody>
          <a:bodyPr wrap="squar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71" normalizeH="0" baseline="0" noProof="0">
                <a:ln>
                  <a:noFill/>
                </a:ln>
                <a:solidFill>
                  <a:srgbClr val="575757"/>
                </a:solidFill>
                <a:effectLst/>
                <a:uLnTx/>
                <a:uFillTx/>
                <a:latin typeface="Fira Sans SemiBold"/>
                <a:ea typeface="+mn-ea"/>
                <a:cs typeface="+mn-cs"/>
              </a:rPr>
              <a:t>THE FULL BOFA REWARDS LADDER</a:t>
            </a:r>
          </a:p>
        </p:txBody>
      </p:sp>
      <p:sp>
        <p:nvSpPr>
          <p:cNvPr id="103" name="TextBox 102"/>
          <p:cNvSpPr txBox="1"/>
          <p:nvPr/>
        </p:nvSpPr>
        <p:spPr>
          <a:xfrm>
            <a:off x="9529242" y="2446061"/>
            <a:ext cx="1858160" cy="192024"/>
          </a:xfrm>
          <a:prstGeom prst="rect">
            <a:avLst/>
          </a:prstGeom>
          <a:noFill/>
        </p:spPr>
        <p:txBody>
          <a:bodyPr wrap="square" lIns="0" tIns="0" rIns="0" bIns="0" anchor="ctr">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9A9A9A"/>
                </a:solidFill>
                <a:effectLst/>
                <a:uLnTx/>
                <a:uFillTx/>
                <a:latin typeface="Fira Sans"/>
                <a:ea typeface="+mn-ea"/>
                <a:cs typeface="+mn-cs"/>
              </a:rPr>
              <a:t>thresholds ordered, not to scale</a:t>
            </a:r>
          </a:p>
        </p:txBody>
      </p:sp>
      <p:cxnSp>
        <p:nvCxnSpPr>
          <p:cNvPr id="104" name="Connector 103"/>
          <p:cNvCxnSpPr/>
          <p:nvPr/>
        </p:nvCxnSpPr>
        <p:spPr>
          <a:xfrm>
            <a:off x="841001" y="3147314"/>
            <a:ext cx="10509998" cy="0"/>
          </a:xfrm>
          <a:prstGeom prst="line">
            <a:avLst/>
          </a:prstGeom>
          <a:ln w="9052">
            <a:solidFill>
              <a:srgbClr val="DDDBCE"/>
            </a:solidFill>
          </a:ln>
          <a:effectLst/>
        </p:spPr>
      </p:cxnSp>
      <p:sp>
        <p:nvSpPr>
          <p:cNvPr id="105" name="Rounded Rectangle 104"/>
          <p:cNvSpPr/>
          <p:nvPr/>
        </p:nvSpPr>
        <p:spPr>
          <a:xfrm>
            <a:off x="3024860" y="2947152"/>
            <a:ext cx="1364992" cy="400233"/>
          </a:xfrm>
          <a:prstGeom prst="roundRect">
            <a:avLst>
              <a:gd name="adj" fmla="val 15901"/>
            </a:avLst>
          </a:prstGeom>
          <a:solidFill>
            <a:srgbClr val="FAF3E3"/>
          </a:solidFill>
          <a:ln w="12710">
            <a:solidFill>
              <a:srgbClr val="B0762C"/>
            </a:solidFill>
            <a:custDash>
              <a:ds d="286331" sp="286331"/>
            </a:cust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 name="TextBox 105"/>
          <p:cNvSpPr txBox="1"/>
          <p:nvPr/>
        </p:nvSpPr>
        <p:spPr>
          <a:xfrm>
            <a:off x="3124280" y="2991958"/>
            <a:ext cx="1166152"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A5A1E"/>
                </a:solidFill>
                <a:effectLst/>
                <a:uLnTx/>
                <a:uFillTx/>
                <a:latin typeface="Fira Sans"/>
                <a:ea typeface="+mn-ea"/>
                <a:cs typeface="+mn-cs"/>
              </a:rPr>
              <a:t>Preferred Rewards</a:t>
            </a:r>
          </a:p>
        </p:txBody>
      </p:sp>
      <p:sp>
        <p:nvSpPr>
          <p:cNvPr id="107" name="TextBox 106"/>
          <p:cNvSpPr txBox="1"/>
          <p:nvPr/>
        </p:nvSpPr>
        <p:spPr>
          <a:xfrm>
            <a:off x="3254980" y="3146583"/>
            <a:ext cx="904751"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A5A1E"/>
                </a:solidFill>
                <a:effectLst/>
                <a:uLnTx/>
                <a:uFillTx/>
                <a:latin typeface="Fira Sans"/>
                <a:ea typeface="+mn-ea"/>
                <a:cs typeface="+mn-cs"/>
              </a:rPr>
              <a:t>entry was $20K</a:t>
            </a:r>
          </a:p>
        </p:txBody>
      </p:sp>
      <p:cxnSp>
        <p:nvCxnSpPr>
          <p:cNvPr id="108" name="Connector 107"/>
          <p:cNvCxnSpPr/>
          <p:nvPr/>
        </p:nvCxnSpPr>
        <p:spPr>
          <a:xfrm flipH="1">
            <a:off x="2351510" y="3147314"/>
            <a:ext cx="618747" cy="0"/>
          </a:xfrm>
          <a:prstGeom prst="line">
            <a:avLst/>
          </a:prstGeom>
          <a:ln w="14538">
            <a:solidFill>
              <a:srgbClr val="8F5C20"/>
            </a:solidFill>
          </a:ln>
          <a:effectLst/>
        </p:spPr>
      </p:cxnSp>
      <p:sp>
        <p:nvSpPr>
          <p:cNvPr id="2" name="Freeform 1"/>
          <p:cNvSpPr/>
          <p:nvPr/>
        </p:nvSpPr>
        <p:spPr>
          <a:xfrm>
            <a:off x="2278706" y="3093456"/>
            <a:ext cx="100152" cy="107625"/>
          </a:xfrm>
          <a:custGeom>
            <a:avLst/>
            <a:gdLst/>
            <a:ahLst/>
            <a:cxnLst/>
            <a:rect l="l" t="t" r="r" b="b"/>
            <a:pathLst>
              <a:path w="100152" h="107625">
                <a:moveTo>
                  <a:pt x="0" y="53858"/>
                </a:moveTo>
                <a:lnTo>
                  <a:pt x="98688" y="0"/>
                </a:lnTo>
                <a:lnTo>
                  <a:pt x="100152" y="95921"/>
                </a:lnTo>
                <a:lnTo>
                  <a:pt x="98688" y="107625"/>
                </a:lnTo>
                <a:lnTo>
                  <a:pt x="0" y="53858"/>
                </a:lnTo>
                <a:close/>
              </a:path>
            </a:pathLst>
          </a:custGeom>
          <a:solidFill>
            <a:srgbClr val="8F5C20"/>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 name="TextBox 108"/>
          <p:cNvSpPr txBox="1"/>
          <p:nvPr/>
        </p:nvSpPr>
        <p:spPr>
          <a:xfrm>
            <a:off x="2180749" y="2719009"/>
            <a:ext cx="996762"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F5C20"/>
                </a:solidFill>
                <a:effectLst/>
                <a:uLnTx/>
                <a:uFillTx/>
                <a:latin typeface="Fira Sans Medium"/>
                <a:ea typeface="+mn-ea"/>
                <a:cs typeface="+mn-cs"/>
              </a:rPr>
              <a:t>moved May 2026</a:t>
            </a:r>
          </a:p>
        </p:txBody>
      </p:sp>
      <p:sp>
        <p:nvSpPr>
          <p:cNvPr id="110" name="Rounded Rectangle 109"/>
          <p:cNvSpPr/>
          <p:nvPr/>
        </p:nvSpPr>
        <p:spPr>
          <a:xfrm>
            <a:off x="968409" y="2947152"/>
            <a:ext cx="1273895" cy="400233"/>
          </a:xfrm>
          <a:prstGeom prst="roundRect">
            <a:avLst>
              <a:gd name="adj" fmla="val 15901"/>
            </a:avLst>
          </a:prstGeom>
          <a:solidFill>
            <a:srgbClr val="FAF3E3"/>
          </a:solidFill>
          <a:ln w="14538">
            <a:solidFill>
              <a:srgbClr val="B0762C"/>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1" name="TextBox 110"/>
          <p:cNvSpPr txBox="1"/>
          <p:nvPr/>
        </p:nvSpPr>
        <p:spPr>
          <a:xfrm>
            <a:off x="1305907" y="2982814"/>
            <a:ext cx="598899"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A5A1E"/>
                </a:solidFill>
                <a:effectLst/>
                <a:uLnTx/>
                <a:uFillTx/>
                <a:latin typeface="Fira Sans SemiBold"/>
                <a:ea typeface="+mn-ea"/>
                <a:cs typeface="+mn-cs"/>
              </a:rPr>
              <a:t>Member</a:t>
            </a:r>
          </a:p>
        </p:txBody>
      </p:sp>
      <p:sp>
        <p:nvSpPr>
          <p:cNvPr id="112" name="TextBox 111"/>
          <p:cNvSpPr txBox="1"/>
          <p:nvPr/>
        </p:nvSpPr>
        <p:spPr>
          <a:xfrm>
            <a:off x="1501820" y="3146583"/>
            <a:ext cx="207072"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A5A1E"/>
                </a:solidFill>
                <a:effectLst/>
                <a:uLnTx/>
                <a:uFillTx/>
                <a:latin typeface="Fira Sans"/>
                <a:ea typeface="+mn-ea"/>
                <a:cs typeface="+mn-cs"/>
              </a:rPr>
              <a:t>$0</a:t>
            </a:r>
          </a:p>
        </p:txBody>
      </p:sp>
      <p:sp>
        <p:nvSpPr>
          <p:cNvPr id="113" name="Rounded Rectangle 112"/>
          <p:cNvSpPr/>
          <p:nvPr/>
        </p:nvSpPr>
        <p:spPr>
          <a:xfrm>
            <a:off x="5026799" y="2947152"/>
            <a:ext cx="1364900" cy="400233"/>
          </a:xfrm>
          <a:prstGeom prst="roundRect">
            <a:avLst>
              <a:gd name="adj" fmla="val 15901"/>
            </a:avLst>
          </a:prstGeom>
          <a:solidFill>
            <a:srgbClr val="FAF3E3"/>
          </a:solidFill>
          <a:ln w="14538">
            <a:solidFill>
              <a:srgbClr val="B0762C"/>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 name="TextBox 113"/>
          <p:cNvSpPr txBox="1"/>
          <p:nvPr/>
        </p:nvSpPr>
        <p:spPr>
          <a:xfrm>
            <a:off x="5215899" y="2982814"/>
            <a:ext cx="986793"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A5A1E"/>
                </a:solidFill>
                <a:effectLst/>
                <a:uLnTx/>
                <a:uFillTx/>
                <a:latin typeface="Fira Sans SemiBold"/>
                <a:ea typeface="+mn-ea"/>
                <a:cs typeface="+mn-cs"/>
              </a:rPr>
              <a:t>Preferred Plus</a:t>
            </a:r>
          </a:p>
        </p:txBody>
      </p:sp>
      <p:sp>
        <p:nvSpPr>
          <p:cNvPr id="115" name="TextBox 114"/>
          <p:cNvSpPr txBox="1"/>
          <p:nvPr/>
        </p:nvSpPr>
        <p:spPr>
          <a:xfrm>
            <a:off x="5538945" y="3146583"/>
            <a:ext cx="340699"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A5A1E"/>
                </a:solidFill>
                <a:effectLst/>
                <a:uLnTx/>
                <a:uFillTx/>
                <a:latin typeface="Fira Sans"/>
                <a:ea typeface="+mn-ea"/>
                <a:cs typeface="+mn-cs"/>
              </a:rPr>
              <a:t>$30K</a:t>
            </a:r>
          </a:p>
        </p:txBody>
      </p:sp>
      <p:sp>
        <p:nvSpPr>
          <p:cNvPr id="116" name="Rounded Rectangle 115"/>
          <p:cNvSpPr/>
          <p:nvPr/>
        </p:nvSpPr>
        <p:spPr>
          <a:xfrm>
            <a:off x="7119744" y="2947152"/>
            <a:ext cx="1455906" cy="400233"/>
          </a:xfrm>
          <a:prstGeom prst="roundRect">
            <a:avLst>
              <a:gd name="adj" fmla="val 15901"/>
            </a:avLst>
          </a:prstGeom>
          <a:solidFill>
            <a:srgbClr val="FAF3E3"/>
          </a:solidFill>
          <a:ln w="14538">
            <a:solidFill>
              <a:srgbClr val="B0762C"/>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7" name="TextBox 116"/>
          <p:cNvSpPr txBox="1"/>
          <p:nvPr/>
        </p:nvSpPr>
        <p:spPr>
          <a:xfrm>
            <a:off x="7259453" y="2982814"/>
            <a:ext cx="1176487"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A5A1E"/>
                </a:solidFill>
                <a:effectLst/>
                <a:uLnTx/>
                <a:uFillTx/>
                <a:latin typeface="Fira Sans SemiBold"/>
                <a:ea typeface="+mn-ea"/>
                <a:cs typeface="+mn-cs"/>
              </a:rPr>
              <a:t>Preferred Honors</a:t>
            </a:r>
          </a:p>
        </p:txBody>
      </p:sp>
      <p:sp>
        <p:nvSpPr>
          <p:cNvPr id="118" name="TextBox 117"/>
          <p:cNvSpPr txBox="1"/>
          <p:nvPr/>
        </p:nvSpPr>
        <p:spPr>
          <a:xfrm>
            <a:off x="7648902" y="3146583"/>
            <a:ext cx="397589"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A5A1E"/>
                </a:solidFill>
                <a:effectLst/>
                <a:uLnTx/>
                <a:uFillTx/>
                <a:latin typeface="Fira Sans"/>
                <a:ea typeface="+mn-ea"/>
                <a:cs typeface="+mn-cs"/>
              </a:rPr>
              <a:t>$100K</a:t>
            </a:r>
          </a:p>
        </p:txBody>
      </p:sp>
      <p:sp>
        <p:nvSpPr>
          <p:cNvPr id="119" name="Rounded Rectangle 118"/>
          <p:cNvSpPr/>
          <p:nvPr/>
        </p:nvSpPr>
        <p:spPr>
          <a:xfrm>
            <a:off x="9394608" y="2947152"/>
            <a:ext cx="1273895" cy="400233"/>
          </a:xfrm>
          <a:prstGeom prst="roundRect">
            <a:avLst>
              <a:gd name="adj" fmla="val 15901"/>
            </a:avLst>
          </a:prstGeom>
          <a:solidFill>
            <a:srgbClr val="FAF3E3"/>
          </a:solidFill>
          <a:ln w="14538">
            <a:solidFill>
              <a:srgbClr val="B0762C"/>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 name="TextBox 119"/>
          <p:cNvSpPr txBox="1"/>
          <p:nvPr/>
        </p:nvSpPr>
        <p:spPr>
          <a:xfrm>
            <a:off x="9743082" y="2982814"/>
            <a:ext cx="576948" cy="201168"/>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8A5A1E"/>
                </a:solidFill>
                <a:effectLst/>
                <a:uLnTx/>
                <a:uFillTx/>
                <a:latin typeface="Fira Sans SemiBold"/>
                <a:ea typeface="+mn-ea"/>
                <a:cs typeface="+mn-cs"/>
              </a:rPr>
              <a:t>Premier</a:t>
            </a:r>
          </a:p>
        </p:txBody>
      </p:sp>
      <p:sp>
        <p:nvSpPr>
          <p:cNvPr id="121" name="TextBox 120"/>
          <p:cNvSpPr txBox="1"/>
          <p:nvPr/>
        </p:nvSpPr>
        <p:spPr>
          <a:xfrm>
            <a:off x="9889697" y="3146583"/>
            <a:ext cx="283718"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A5A1E"/>
                </a:solidFill>
                <a:effectLst/>
                <a:uLnTx/>
                <a:uFillTx/>
                <a:latin typeface="Fira Sans"/>
                <a:ea typeface="+mn-ea"/>
                <a:cs typeface="+mn-cs"/>
              </a:rPr>
              <a:t>$1M</a:t>
            </a:r>
          </a:p>
        </p:txBody>
      </p:sp>
      <p:sp>
        <p:nvSpPr>
          <p:cNvPr id="122" name="Rectangle 121"/>
          <p:cNvSpPr/>
          <p:nvPr/>
        </p:nvSpPr>
        <p:spPr>
          <a:xfrm>
            <a:off x="749995" y="3624478"/>
            <a:ext cx="10692009" cy="1176193"/>
          </a:xfrm>
          <a:prstGeom prst="rect">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3" name="TextBox 122"/>
          <p:cNvSpPr txBox="1"/>
          <p:nvPr/>
        </p:nvSpPr>
        <p:spPr>
          <a:xfrm>
            <a:off x="942068" y="3761923"/>
            <a:ext cx="10823258"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100" b="0" i="0" u="none" strike="noStrike" kern="1200" cap="none" spc="0" normalizeH="0" baseline="0" noProof="0">
                <a:ln>
                  <a:noFill/>
                </a:ln>
                <a:solidFill>
                  <a:srgbClr val="232422"/>
                </a:solidFill>
                <a:effectLst/>
                <a:uLnTx/>
                <a:uFillTx/>
                <a:latin typeface="Fira Sans Medium"/>
                <a:ea typeface="+mn-ea"/>
                <a:cs typeface="+mn-cs"/>
              </a:rPr>
              <a:t>What Member changes</a:t>
            </a:r>
          </a:p>
        </p:txBody>
      </p:sp>
      <p:sp>
        <p:nvSpPr>
          <p:cNvPr id="124" name="TextBox 123"/>
          <p:cNvSpPr txBox="1"/>
          <p:nvPr/>
        </p:nvSpPr>
        <p:spPr>
          <a:xfrm>
            <a:off x="942068" y="3993529"/>
            <a:ext cx="10823258" cy="200071"/>
          </a:xfrm>
          <a:prstGeom prst="rect">
            <a:avLst/>
          </a:prstGeom>
          <a:noFill/>
        </p:spPr>
        <p:txBody>
          <a:bodyPr wrap="square" lIns="0" tIns="0" rIns="0" bIns="0" anchor="t">
            <a:noAutofit/>
          </a:bodyPr>
          <a:lstStyle/>
          <a:p>
            <a:pPr marL="0" marR="0" lvl="0" indent="0" algn="l" defTabSz="457200" rtl="0" eaLnBrk="1" fontAlgn="auto" latinLnBrk="0" hangingPunct="1">
              <a:lnSpc>
                <a:spcPts val="1431"/>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Medium"/>
                <a:ea typeface="+mn-ea"/>
                <a:cs typeface="+mn-cs"/>
              </a:rPr>
              <a:t>Small new value below the old $20K entry</a:t>
            </a:r>
            <a:r>
              <a:rPr kumimoji="0" lang="en-US" sz="1000" b="0" i="0" u="none" strike="noStrike" kern="1200" cap="none" spc="0" normalizeH="0" baseline="0" noProof="0">
                <a:ln>
                  <a:noFill/>
                </a:ln>
                <a:solidFill>
                  <a:srgbClr val="575757"/>
                </a:solidFill>
                <a:effectLst/>
                <a:uLnTx/>
                <a:uFillTx/>
                <a:latin typeface="Fira Sans"/>
                <a:ea typeface="+mn-ea"/>
                <a:cs typeface="+mn-cs"/>
              </a:rPr>
              <a:t> – a 10% card-reward boost and a $100 mortgage-fee reduction now start at $0.</a:t>
            </a:r>
          </a:p>
        </p:txBody>
      </p:sp>
      <p:sp>
        <p:nvSpPr>
          <p:cNvPr id="125" name="TextBox 124"/>
          <p:cNvSpPr txBox="1"/>
          <p:nvPr/>
        </p:nvSpPr>
        <p:spPr>
          <a:xfrm>
            <a:off x="942068" y="4221031"/>
            <a:ext cx="10823258" cy="200071"/>
          </a:xfrm>
          <a:prstGeom prst="rect">
            <a:avLst/>
          </a:prstGeom>
          <a:noFill/>
        </p:spPr>
        <p:txBody>
          <a:bodyPr wrap="square" lIns="0" tIns="0" rIns="0" bIns="0" anchor="t">
            <a:noAutofit/>
          </a:bodyPr>
          <a:lstStyle/>
          <a:p>
            <a:pPr marL="0" marR="0" lvl="0" indent="0" algn="l" defTabSz="457200" rtl="0" eaLnBrk="1" fontAlgn="auto" latinLnBrk="0" hangingPunct="1">
              <a:lnSpc>
                <a:spcPts val="1431"/>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Medium"/>
                <a:ea typeface="+mn-ea"/>
                <a:cs typeface="+mn-cs"/>
              </a:rPr>
              <a:t>Existing features renamed as membership</a:t>
            </a:r>
            <a:r>
              <a:rPr kumimoji="0" lang="en-US" sz="1000" b="0" i="0" u="none" strike="noStrike" kern="1200" cap="none" spc="0" normalizeH="0" baseline="0" noProof="0">
                <a:ln>
                  <a:noFill/>
                </a:ln>
                <a:solidFill>
                  <a:srgbClr val="575757"/>
                </a:solidFill>
                <a:effectLst/>
                <a:uLnTx/>
                <a:uFillTx/>
                <a:latin typeface="Fira Sans"/>
                <a:ea typeface="+mn-ea"/>
                <a:cs typeface="+mn-cs"/>
              </a:rPr>
              <a:t> – merchant deals and fraud monitoring customers already had.</a:t>
            </a:r>
          </a:p>
        </p:txBody>
      </p:sp>
      <p:sp>
        <p:nvSpPr>
          <p:cNvPr id="126" name="TextBox 125"/>
          <p:cNvSpPr txBox="1"/>
          <p:nvPr/>
        </p:nvSpPr>
        <p:spPr>
          <a:xfrm>
            <a:off x="942068" y="4448443"/>
            <a:ext cx="10823258" cy="200071"/>
          </a:xfrm>
          <a:prstGeom prst="rect">
            <a:avLst/>
          </a:prstGeom>
          <a:noFill/>
        </p:spPr>
        <p:txBody>
          <a:bodyPr wrap="square" lIns="0" tIns="0" rIns="0" bIns="0" anchor="t">
            <a:noAutofit/>
          </a:bodyPr>
          <a:lstStyle/>
          <a:p>
            <a:pPr marL="0" marR="0" lvl="0" indent="0" algn="l" defTabSz="457200" rtl="0" eaLnBrk="1" fontAlgn="auto" latinLnBrk="0" hangingPunct="1">
              <a:lnSpc>
                <a:spcPts val="1431"/>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Medium"/>
                <a:ea typeface="+mn-ea"/>
                <a:cs typeface="+mn-cs"/>
              </a:rPr>
              <a:t>Mainly a naming change</a:t>
            </a:r>
            <a:r>
              <a:rPr kumimoji="0" lang="en-US" sz="1000" b="0" i="0" u="none" strike="noStrike" kern="1200" cap="none" spc="0" normalizeH="0" baseline="0" noProof="0">
                <a:ln>
                  <a:noFill/>
                </a:ln>
                <a:solidFill>
                  <a:srgbClr val="575757"/>
                </a:solidFill>
                <a:effectLst/>
                <a:uLnTx/>
                <a:uFillTx/>
                <a:latin typeface="Fira Sans"/>
                <a:ea typeface="+mn-ea"/>
                <a:cs typeface="+mn-cs"/>
              </a:rPr>
              <a:t> – a recognized state from the first dollar, with the next level visible and worth moving up to.</a:t>
            </a:r>
          </a:p>
        </p:txBody>
      </p:sp>
      <p:sp>
        <p:nvSpPr>
          <p:cNvPr id="127" name="Rectangle 126"/>
          <p:cNvSpPr/>
          <p:nvPr/>
        </p:nvSpPr>
        <p:spPr>
          <a:xfrm>
            <a:off x="503046" y="5071604"/>
            <a:ext cx="11185908" cy="1271565"/>
          </a:xfrm>
          <a:prstGeom prst="rect">
            <a:avLst/>
          </a:prstGeom>
          <a:solidFill>
            <a:srgbClr val="007651">
              <a:alpha val="4300"/>
            </a:srgbClr>
          </a:solidFill>
          <a:ln w="9144">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8" name="TextBox 127"/>
          <p:cNvSpPr txBox="1"/>
          <p:nvPr/>
        </p:nvSpPr>
        <p:spPr>
          <a:xfrm>
            <a:off x="713410" y="5188361"/>
            <a:ext cx="7285868"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950" b="0" i="0" u="none" strike="noStrike" kern="1200" cap="all" spc="75" normalizeH="0" baseline="0" noProof="0">
                <a:ln>
                  <a:noFill/>
                </a:ln>
                <a:solidFill>
                  <a:srgbClr val="007651"/>
                </a:solidFill>
                <a:effectLst/>
                <a:uLnTx/>
                <a:uFillTx/>
                <a:latin typeface="Fira Sans SemiBold"/>
                <a:ea typeface="+mn-ea"/>
                <a:cs typeface="+mn-cs"/>
              </a:rPr>
              <a:t>Where digital banks start</a:t>
            </a:r>
          </a:p>
        </p:txBody>
      </p:sp>
      <p:pic>
        <p:nvPicPr>
          <p:cNvPr id="129" name="Picture 128" descr="ally.png"/>
          <p:cNvPicPr>
            <a:picLocks noChangeAspect="1"/>
          </p:cNvPicPr>
          <p:nvPr/>
        </p:nvPicPr>
        <p:blipFill>
          <a:blip r:embed="rId3"/>
          <a:stretch>
            <a:fillRect/>
          </a:stretch>
        </p:blipFill>
        <p:spPr>
          <a:xfrm>
            <a:off x="694159" y="5707387"/>
            <a:ext cx="423308" cy="241026"/>
          </a:xfrm>
          <a:prstGeom prst="rect">
            <a:avLst/>
          </a:prstGeom>
        </p:spPr>
      </p:pic>
      <p:pic>
        <p:nvPicPr>
          <p:cNvPr id="130" name="Picture 129" descr="sofi.png"/>
          <p:cNvPicPr>
            <a:picLocks noChangeAspect="1"/>
          </p:cNvPicPr>
          <p:nvPr/>
        </p:nvPicPr>
        <p:blipFill>
          <a:blip r:embed="rId4"/>
          <a:stretch>
            <a:fillRect/>
          </a:stretch>
        </p:blipFill>
        <p:spPr>
          <a:xfrm>
            <a:off x="1229602" y="5716531"/>
            <a:ext cx="760880" cy="201168"/>
          </a:xfrm>
          <a:prstGeom prst="rect">
            <a:avLst/>
          </a:prstGeom>
        </p:spPr>
      </p:pic>
      <p:pic>
        <p:nvPicPr>
          <p:cNvPr id="131" name="Picture 130" descr="chime.png"/>
          <p:cNvPicPr>
            <a:picLocks noChangeAspect="1"/>
          </p:cNvPicPr>
          <p:nvPr/>
        </p:nvPicPr>
        <p:blipFill>
          <a:blip r:embed="rId5"/>
          <a:stretch>
            <a:fillRect/>
          </a:stretch>
        </p:blipFill>
        <p:spPr>
          <a:xfrm>
            <a:off x="2104314" y="5716531"/>
            <a:ext cx="706734" cy="201168"/>
          </a:xfrm>
          <a:prstGeom prst="rect">
            <a:avLst/>
          </a:prstGeom>
        </p:spPr>
      </p:pic>
      <p:sp>
        <p:nvSpPr>
          <p:cNvPr id="132" name="TextBox 131"/>
          <p:cNvSpPr txBox="1"/>
          <p:nvPr/>
        </p:nvSpPr>
        <p:spPr>
          <a:xfrm>
            <a:off x="3078550" y="5562220"/>
            <a:ext cx="4626118" cy="416052"/>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100" b="0" i="0" u="none" strike="noStrike" kern="1200" cap="none" spc="0" normalizeH="0" baseline="0" noProof="0">
                <a:ln>
                  <a:noFill/>
                </a:ln>
                <a:solidFill>
                  <a:srgbClr val="232422"/>
                </a:solidFill>
                <a:effectLst/>
                <a:uLnTx/>
                <a:uFillTx/>
                <a:latin typeface="Fira Sans"/>
                <a:ea typeface="+mn-ea"/>
                <a:cs typeface="+mn-cs"/>
              </a:rPr>
              <a:t>At digital banks, membership comes with the account itself – tiers, where they exist, are earned by direct deposit and activity, not assets. SoFi also has “SoFi Plus” — an upgraded subscription membership.</a:t>
            </a:r>
          </a:p>
        </p:txBody>
      </p:sp>
      <p:cxnSp>
        <p:nvCxnSpPr>
          <p:cNvPr id="133" name="Connector 132"/>
          <p:cNvCxnSpPr/>
          <p:nvPr/>
        </p:nvCxnSpPr>
        <p:spPr>
          <a:xfrm>
            <a:off x="7894709" y="5199620"/>
            <a:ext cx="0" cy="1015533"/>
          </a:xfrm>
          <a:prstGeom prst="line">
            <a:avLst/>
          </a:prstGeom>
          <a:ln w="9144">
            <a:solidFill>
              <a:srgbClr val="007651"/>
            </a:solidFill>
          </a:ln>
          <a:effectLst/>
        </p:spPr>
      </p:cxnSp>
      <p:sp>
        <p:nvSpPr>
          <p:cNvPr id="134" name="TextBox 133"/>
          <p:cNvSpPr txBox="1"/>
          <p:nvPr/>
        </p:nvSpPr>
        <p:spPr>
          <a:xfrm>
            <a:off x="8137085" y="5188361"/>
            <a:ext cx="3508580"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950" b="0" i="0" u="none" strike="noStrike" kern="1200" cap="all" spc="75" normalizeH="0" baseline="0" noProof="0">
                <a:ln>
                  <a:noFill/>
                </a:ln>
                <a:solidFill>
                  <a:srgbClr val="007651"/>
                </a:solidFill>
                <a:effectLst/>
                <a:uLnTx/>
                <a:uFillTx/>
                <a:latin typeface="Fira Sans SemiBold"/>
                <a:ea typeface="+mn-ea"/>
                <a:cs typeface="+mn-cs"/>
              </a:rPr>
              <a:t>What customers want</a:t>
            </a:r>
          </a:p>
        </p:txBody>
      </p:sp>
      <p:sp>
        <p:nvSpPr>
          <p:cNvPr id="135" name="TextBox 134"/>
          <p:cNvSpPr txBox="1"/>
          <p:nvPr/>
        </p:nvSpPr>
        <p:spPr>
          <a:xfrm>
            <a:off x="8137085" y="5438590"/>
            <a:ext cx="3508580" cy="384048"/>
          </a:xfrm>
          <a:prstGeom prst="rect">
            <a:avLst/>
          </a:prstGeom>
          <a:noFill/>
        </p:spPr>
        <p:txBody>
          <a:bodyPr wrap="square" lIns="0" tIns="0" rIns="0" bIns="0" anchor="t">
            <a:noAutofit/>
          </a:bodyPr>
          <a:lstStyle/>
          <a:p>
            <a:pPr marL="0" marR="0" lvl="0" indent="0" algn="l" defTabSz="457200" rtl="0" eaLnBrk="1" fontAlgn="auto" latinLnBrk="0" hangingPunct="1">
              <a:lnSpc>
                <a:spcPts val="2879"/>
              </a:lnSpc>
              <a:spcBef>
                <a:spcPts val="0"/>
              </a:spcBef>
              <a:spcAft>
                <a:spcPts val="0"/>
              </a:spcAft>
              <a:buClrTx/>
              <a:buSzTx/>
              <a:buFontTx/>
              <a:buNone/>
              <a:tabLst/>
              <a:defRPr/>
            </a:pPr>
            <a:r>
              <a:rPr kumimoji="0" lang="en-US" sz="2900" b="0" i="0" u="none" strike="noStrike" kern="1200" cap="none" spc="-29" normalizeH="0" baseline="0" noProof="0">
                <a:ln>
                  <a:noFill/>
                </a:ln>
                <a:solidFill>
                  <a:srgbClr val="007651"/>
                </a:solidFill>
                <a:effectLst/>
                <a:uLnTx/>
                <a:uFillTx/>
                <a:latin typeface="Fira Sans Light"/>
                <a:ea typeface="+mn-ea"/>
                <a:cs typeface="+mn-cs"/>
              </a:rPr>
              <a:t>60%</a:t>
            </a:r>
          </a:p>
        </p:txBody>
      </p:sp>
      <p:sp>
        <p:nvSpPr>
          <p:cNvPr id="136" name="TextBox 135"/>
          <p:cNvSpPr txBox="1"/>
          <p:nvPr/>
        </p:nvSpPr>
        <p:spPr>
          <a:xfrm>
            <a:off x="8137085" y="5820680"/>
            <a:ext cx="3508580" cy="184983"/>
          </a:xfrm>
          <a:prstGeom prst="rect">
            <a:avLst/>
          </a:prstGeom>
          <a:noFill/>
        </p:spPr>
        <p:txBody>
          <a:bodyPr wrap="square" lIns="0" tIns="0" rIns="0" bIns="0" anchor="t">
            <a:noAutofit/>
          </a:bodyPr>
          <a:lstStyle/>
          <a:p>
            <a:pPr marL="0" marR="0" lvl="0" indent="0" algn="l" defTabSz="457200" rtl="0" eaLnBrk="1" fontAlgn="auto" latinLnBrk="0" hangingPunct="1">
              <a:lnSpc>
                <a:spcPts val="1312"/>
              </a:lnSpc>
              <a:spcBef>
                <a:spcPts val="0"/>
              </a:spcBef>
              <a:spcAft>
                <a:spcPts val="0"/>
              </a:spcAft>
              <a:buClrTx/>
              <a:buSzTx/>
              <a:buFontTx/>
              <a:buNone/>
              <a:tabLst/>
              <a:defRPr/>
            </a:pPr>
            <a:r>
              <a:rPr kumimoji="0" lang="en-US" sz="950" b="0" i="0" u="none" strike="noStrike" kern="1200" cap="none" spc="0" normalizeH="0" baseline="0" noProof="0">
                <a:ln>
                  <a:noFill/>
                </a:ln>
                <a:solidFill>
                  <a:srgbClr val="232422"/>
                </a:solidFill>
                <a:effectLst/>
                <a:uLnTx/>
                <a:uFillTx/>
                <a:latin typeface="Fira Sans"/>
                <a:ea typeface="+mn-ea"/>
                <a:cs typeface="+mn-cs"/>
              </a:rPr>
              <a:t>want rewards based on the whole relationship</a:t>
            </a:r>
          </a:p>
        </p:txBody>
      </p:sp>
      <p:sp>
        <p:nvSpPr>
          <p:cNvPr id="137" name="TextBox 136"/>
          <p:cNvSpPr txBox="1"/>
          <p:nvPr/>
        </p:nvSpPr>
        <p:spPr>
          <a:xfrm>
            <a:off x="8137085" y="6027729"/>
            <a:ext cx="3508580" cy="190652"/>
          </a:xfrm>
          <a:prstGeom prst="rect">
            <a:avLst/>
          </a:prstGeom>
          <a:noFill/>
        </p:spPr>
        <p:txBody>
          <a:bodyPr wrap="square" lIns="0" tIns="0" rIns="0" bIns="0" anchor="t">
            <a:noAutofit/>
          </a:bodyPr>
          <a:lstStyle/>
          <a:p>
            <a:pPr marL="0" marR="0" lvl="0" indent="0" algn="l" defTabSz="457200" rtl="0" eaLnBrk="1" fontAlgn="auto" latinLnBrk="0" hangingPunct="1">
              <a:lnSpc>
                <a:spcPts val="1357"/>
              </a:lnSpc>
              <a:spcBef>
                <a:spcPts val="0"/>
              </a:spcBef>
              <a:spcAft>
                <a:spcPts val="0"/>
              </a:spcAft>
              <a:buClrTx/>
              <a:buSzTx/>
              <a:buFontTx/>
              <a:buNone/>
              <a:tabLst/>
              <a:defRPr/>
            </a:pPr>
            <a:r>
              <a:rPr kumimoji="0" lang="en-US" sz="950" b="0" i="0" u="none" strike="noStrike" kern="1200" cap="none" spc="0" normalizeH="0" baseline="0" noProof="0">
                <a:ln>
                  <a:noFill/>
                </a:ln>
                <a:solidFill>
                  <a:srgbClr val="575757"/>
                </a:solidFill>
                <a:effectLst/>
                <a:uLnTx/>
                <a:uFillTx/>
                <a:latin typeface="Fira Sans"/>
                <a:ea typeface="+mn-ea"/>
                <a:cs typeface="+mn-cs"/>
              </a:rPr>
              <a:t>Accenture 2025, 39 markets</a:t>
            </a:r>
          </a:p>
        </p:txBody>
      </p:sp>
      <p:cxnSp>
        <p:nvCxnSpPr>
          <p:cNvPr id="138" name="Connector 137"/>
          <p:cNvCxnSpPr/>
          <p:nvPr/>
        </p:nvCxnSpPr>
        <p:spPr>
          <a:xfrm>
            <a:off x="503046" y="6414516"/>
            <a:ext cx="11185908" cy="0"/>
          </a:xfrm>
          <a:prstGeom prst="line">
            <a:avLst/>
          </a:prstGeom>
          <a:ln w="9144">
            <a:solidFill>
              <a:srgbClr val="DDDBCE"/>
            </a:solidFill>
          </a:ln>
          <a:effectLst/>
        </p:spPr>
      </p:cxnSp>
      <p:sp>
        <p:nvSpPr>
          <p:cNvPr id="139" name="TextBox 138"/>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Sources: Published program terms · Accenture Global Banking Consumer Study, 2025.</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extLst>
      <p:ext uri="{BB962C8B-B14F-4D97-AF65-F5344CB8AC3E}">
        <p14:creationId xmlns:p14="http://schemas.microsoft.com/office/powerpoint/2010/main" val="1087718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4552875"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WHAT WE LEARNED FROM THE CATEGORY · FINDING 5 OF 5</a:t>
            </a:r>
          </a:p>
        </p:txBody>
      </p:sp>
      <p:sp>
        <p:nvSpPr>
          <p:cNvPr id="92" name="Rounded Rectangle 91"/>
          <p:cNvSpPr/>
          <p:nvPr/>
        </p:nvSpPr>
        <p:spPr>
          <a:xfrm>
            <a:off x="10243841"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1</a:t>
            </a:r>
          </a:p>
        </p:txBody>
      </p:sp>
      <p:sp>
        <p:nvSpPr>
          <p:cNvPr id="93" name="Rounded Rectangle 92"/>
          <p:cNvSpPr/>
          <p:nvPr/>
        </p:nvSpPr>
        <p:spPr>
          <a:xfrm>
            <a:off x="10545668"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2</a:t>
            </a:r>
          </a:p>
        </p:txBody>
      </p:sp>
      <p:sp>
        <p:nvSpPr>
          <p:cNvPr id="94" name="Rounded Rectangle 93"/>
          <p:cNvSpPr/>
          <p:nvPr/>
        </p:nvSpPr>
        <p:spPr>
          <a:xfrm>
            <a:off x="10847496"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3</a:t>
            </a:r>
          </a:p>
        </p:txBody>
      </p:sp>
      <p:sp>
        <p:nvSpPr>
          <p:cNvPr id="95" name="Rounded Rectangle 94"/>
          <p:cNvSpPr/>
          <p:nvPr/>
        </p:nvSpPr>
        <p:spPr>
          <a:xfrm>
            <a:off x="11149323" y="329184"/>
            <a:ext cx="237803" cy="237744"/>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4</a:t>
            </a:r>
          </a:p>
        </p:txBody>
      </p:sp>
      <p:sp>
        <p:nvSpPr>
          <p:cNvPr id="96" name="Rounded Rectangle 95"/>
          <p:cNvSpPr/>
          <p:nvPr/>
        </p:nvSpPr>
        <p:spPr>
          <a:xfrm>
            <a:off x="11451151"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Medium"/>
                <a:ea typeface="+mn-ea"/>
                <a:cs typeface="+mn-cs"/>
              </a:rPr>
              <a:t>5</a:t>
            </a:r>
          </a:p>
        </p:txBody>
      </p:sp>
      <p:sp>
        <p:nvSpPr>
          <p:cNvPr id="97" name="TextBox 96"/>
          <p:cNvSpPr txBox="1"/>
          <p:nvPr/>
        </p:nvSpPr>
        <p:spPr>
          <a:xfrm>
            <a:off x="503046" y="743648"/>
            <a:ext cx="11745204"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The category runs the affluent relationship three ways</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and “Private Client” or “Premier” can name any of them</a:t>
            </a:r>
          </a:p>
        </p:txBody>
      </p:sp>
      <p:cxnSp>
        <p:nvCxnSpPr>
          <p:cNvPr id="98" name="Connector 97"/>
          <p:cNvCxnSpPr/>
          <p:nvPr/>
        </p:nvCxnSpPr>
        <p:spPr>
          <a:xfrm>
            <a:off x="503046" y="2512112"/>
            <a:ext cx="3545649" cy="0"/>
          </a:xfrm>
          <a:prstGeom prst="line">
            <a:avLst/>
          </a:prstGeom>
          <a:ln w="18288">
            <a:solidFill>
              <a:srgbClr val="DDDBCE"/>
            </a:solidFill>
          </a:ln>
          <a:effectLst/>
        </p:spPr>
      </p:cxnSp>
      <p:sp>
        <p:nvSpPr>
          <p:cNvPr id="99" name="TextBox 98"/>
          <p:cNvSpPr txBox="1"/>
          <p:nvPr/>
        </p:nvSpPr>
        <p:spPr>
          <a:xfrm>
            <a:off x="527788" y="2012985"/>
            <a:ext cx="3722932"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SemiBold"/>
                <a:ea typeface="+mn-ea"/>
                <a:cs typeface="+mn-cs"/>
              </a:rPr>
              <a:t>A product the customer upgrades to</a:t>
            </a:r>
          </a:p>
        </p:txBody>
      </p:sp>
      <p:sp>
        <p:nvSpPr>
          <p:cNvPr id="100" name="TextBox 99"/>
          <p:cNvSpPr txBox="1"/>
          <p:nvPr/>
        </p:nvSpPr>
        <p:spPr>
          <a:xfrm>
            <a:off x="503046" y="2243705"/>
            <a:ext cx="3722932"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Moving up means a new checking account</a:t>
            </a:r>
          </a:p>
        </p:txBody>
      </p:sp>
      <p:cxnSp>
        <p:nvCxnSpPr>
          <p:cNvPr id="101" name="Connector 100"/>
          <p:cNvCxnSpPr/>
          <p:nvPr/>
        </p:nvCxnSpPr>
        <p:spPr>
          <a:xfrm>
            <a:off x="503046" y="3110368"/>
            <a:ext cx="3545649" cy="0"/>
          </a:xfrm>
          <a:prstGeom prst="line">
            <a:avLst/>
          </a:prstGeom>
          <a:ln w="9144">
            <a:solidFill>
              <a:srgbClr val="DDDBCE"/>
            </a:solidFill>
          </a:ln>
          <a:effectLst/>
        </p:spPr>
      </p:cxnSp>
      <p:pic>
        <p:nvPicPr>
          <p:cNvPr id="102" name="Picture 101" descr="wells-fargo.png"/>
          <p:cNvPicPr>
            <a:picLocks noChangeAspect="1"/>
          </p:cNvPicPr>
          <p:nvPr/>
        </p:nvPicPr>
        <p:blipFill>
          <a:blip r:embed="rId2"/>
          <a:stretch>
            <a:fillRect/>
          </a:stretch>
        </p:blipFill>
        <p:spPr>
          <a:xfrm>
            <a:off x="523594" y="2642769"/>
            <a:ext cx="329913" cy="329830"/>
          </a:xfrm>
          <a:prstGeom prst="rect">
            <a:avLst/>
          </a:prstGeom>
        </p:spPr>
      </p:pic>
      <p:sp>
        <p:nvSpPr>
          <p:cNvPr id="103" name="TextBox 102"/>
          <p:cNvSpPr txBox="1"/>
          <p:nvPr/>
        </p:nvSpPr>
        <p:spPr>
          <a:xfrm>
            <a:off x="1408528" y="2626413"/>
            <a:ext cx="2249712" cy="469477"/>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Wells Fargo Premier</a:t>
            </a:r>
            <a:r>
              <a:rPr kumimoji="0" sz="1000" b="0" i="0" u="none" strike="noStrike" kern="1200" cap="none" spc="0" normalizeH="0" baseline="0" noProof="0">
                <a:ln>
                  <a:noFill/>
                </a:ln>
                <a:solidFill>
                  <a:srgbClr val="232422"/>
                </a:solidFill>
                <a:effectLst/>
                <a:uLnTx/>
                <a:uFillTx/>
                <a:latin typeface="Fira Sans"/>
                <a:ea typeface="+mn-ea"/>
                <a:cs typeface="+mn-cs"/>
              </a:rPr>
              <a:t> – the checking</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product is the affluent relationship</a:t>
            </a:r>
          </a:p>
        </p:txBody>
      </p:sp>
      <p:sp>
        <p:nvSpPr>
          <p:cNvPr id="104" name="TextBox 103"/>
          <p:cNvSpPr txBox="1"/>
          <p:nvPr/>
        </p:nvSpPr>
        <p:spPr>
          <a:xfrm>
            <a:off x="3722264" y="2716016"/>
            <a:ext cx="454479"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Medium"/>
                <a:ea typeface="+mn-ea"/>
                <a:cs typeface="+mn-cs"/>
              </a:rPr>
              <a:t>$250K</a:t>
            </a:r>
          </a:p>
        </p:txBody>
      </p:sp>
      <p:cxnSp>
        <p:nvCxnSpPr>
          <p:cNvPr id="105" name="Connector 104"/>
          <p:cNvCxnSpPr/>
          <p:nvPr/>
        </p:nvCxnSpPr>
        <p:spPr>
          <a:xfrm>
            <a:off x="503046" y="3642458"/>
            <a:ext cx="3545649" cy="0"/>
          </a:xfrm>
          <a:prstGeom prst="line">
            <a:avLst/>
          </a:prstGeom>
          <a:ln w="9144">
            <a:solidFill>
              <a:srgbClr val="DDDBCE"/>
            </a:solidFill>
          </a:ln>
          <a:effectLst/>
        </p:spPr>
      </p:cxnSp>
      <p:pic>
        <p:nvPicPr>
          <p:cNvPr id="106" name="Picture 105" descr="chase.png"/>
          <p:cNvPicPr>
            <a:picLocks noChangeAspect="1"/>
          </p:cNvPicPr>
          <p:nvPr/>
        </p:nvPicPr>
        <p:blipFill>
          <a:blip r:embed="rId3"/>
          <a:stretch>
            <a:fillRect/>
          </a:stretch>
        </p:blipFill>
        <p:spPr>
          <a:xfrm>
            <a:off x="544143" y="3312451"/>
            <a:ext cx="603932" cy="112212"/>
          </a:xfrm>
          <a:prstGeom prst="rect">
            <a:avLst/>
          </a:prstGeom>
        </p:spPr>
      </p:pic>
      <p:sp>
        <p:nvSpPr>
          <p:cNvPr id="107" name="TextBox 106"/>
          <p:cNvSpPr txBox="1"/>
          <p:nvPr/>
        </p:nvSpPr>
        <p:spPr>
          <a:xfrm>
            <a:off x="1408528" y="3183521"/>
            <a:ext cx="2259316" cy="376641"/>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Chase Private Client</a:t>
            </a:r>
            <a:r>
              <a:rPr kumimoji="0" sz="1000" b="0" i="0" u="none" strike="noStrike" kern="1200" cap="none" spc="0" normalizeH="0" baseline="0" noProof="0">
                <a:ln>
                  <a:noFill/>
                </a:ln>
                <a:solidFill>
                  <a:srgbClr val="232422"/>
                </a:solidFill>
                <a:effectLst/>
                <a:uLnTx/>
                <a:uFillTx/>
                <a:latin typeface="Fira Sans"/>
                <a:ea typeface="+mn-ea"/>
                <a:cs typeface="+mn-cs"/>
              </a:rPr>
              <a:t> – checking,</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benefits, and banker in one account</a:t>
            </a:r>
          </a:p>
        </p:txBody>
      </p:sp>
      <p:sp>
        <p:nvSpPr>
          <p:cNvPr id="108" name="TextBox 107"/>
          <p:cNvSpPr txBox="1"/>
          <p:nvPr/>
        </p:nvSpPr>
        <p:spPr>
          <a:xfrm>
            <a:off x="3731868" y="3296620"/>
            <a:ext cx="444875"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Medium"/>
                <a:ea typeface="+mn-ea"/>
                <a:cs typeface="+mn-cs"/>
              </a:rPr>
              <a:t>$150K</a:t>
            </a:r>
          </a:p>
        </p:txBody>
      </p:sp>
      <p:pic>
        <p:nvPicPr>
          <p:cNvPr id="109" name="Picture 108" descr="citizens.png"/>
          <p:cNvPicPr>
            <a:picLocks noChangeAspect="1"/>
          </p:cNvPicPr>
          <p:nvPr/>
        </p:nvPicPr>
        <p:blipFill>
          <a:blip r:embed="rId4"/>
          <a:stretch>
            <a:fillRect/>
          </a:stretch>
        </p:blipFill>
        <p:spPr>
          <a:xfrm>
            <a:off x="523595" y="3968735"/>
            <a:ext cx="606563" cy="100960"/>
          </a:xfrm>
          <a:prstGeom prst="rect">
            <a:avLst/>
          </a:prstGeom>
        </p:spPr>
      </p:pic>
      <p:sp>
        <p:nvSpPr>
          <p:cNvPr id="110" name="Rectangle 109"/>
          <p:cNvSpPr/>
          <p:nvPr/>
        </p:nvSpPr>
        <p:spPr>
          <a:xfrm>
            <a:off x="436139" y="3760698"/>
            <a:ext cx="513930" cy="173736"/>
          </a:xfrm>
          <a:prstGeom prst="rect">
            <a:avLst/>
          </a:prstGeom>
          <a:noFill/>
          <a:ln w="9144">
            <a:no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007651"/>
                </a:solidFill>
                <a:effectLst/>
                <a:uLnTx/>
                <a:uFillTx/>
                <a:latin typeface="Fira Sans SemiBold"/>
                <a:ea typeface="+mn-ea"/>
                <a:cs typeface="+mn-cs"/>
              </a:rPr>
              <a:t>TODAY</a:t>
            </a:r>
          </a:p>
        </p:txBody>
      </p:sp>
      <p:sp>
        <p:nvSpPr>
          <p:cNvPr id="111" name="TextBox 110"/>
          <p:cNvSpPr txBox="1"/>
          <p:nvPr/>
        </p:nvSpPr>
        <p:spPr>
          <a:xfrm>
            <a:off x="1408528" y="3771367"/>
            <a:ext cx="2243401" cy="376641"/>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Private Client Checking</a:t>
            </a:r>
            <a:r>
              <a:rPr kumimoji="0" sz="1000" b="0" i="0" u="none" strike="noStrike" kern="1200" cap="none" spc="0" normalizeH="0" baseline="0" noProof="0">
                <a:ln>
                  <a:noFill/>
                </a:ln>
                <a:solidFill>
                  <a:srgbClr val="232422"/>
                </a:solidFill>
                <a:effectLst/>
                <a:uLnTx/>
                <a:uFillTx/>
                <a:latin typeface="Fira Sans"/>
                <a:ea typeface="+mn-ea"/>
                <a:cs typeface="+mn-cs"/>
              </a:rPr>
              <a:t> – account,</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benefits, and service in one</a:t>
            </a:r>
          </a:p>
        </p:txBody>
      </p:sp>
      <p:sp>
        <p:nvSpPr>
          <p:cNvPr id="112" name="TextBox 111"/>
          <p:cNvSpPr txBox="1"/>
          <p:nvPr/>
        </p:nvSpPr>
        <p:spPr>
          <a:xfrm>
            <a:off x="3715953" y="3850921"/>
            <a:ext cx="460790"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Medium"/>
                <a:ea typeface="+mn-ea"/>
                <a:cs typeface="+mn-cs"/>
              </a:rPr>
              <a:t>$200K</a:t>
            </a:r>
          </a:p>
        </p:txBody>
      </p:sp>
      <p:sp>
        <p:nvSpPr>
          <p:cNvPr id="114" name="TextBox 113"/>
          <p:cNvSpPr txBox="1"/>
          <p:nvPr/>
        </p:nvSpPr>
        <p:spPr>
          <a:xfrm>
            <a:off x="544143" y="4667066"/>
            <a:ext cx="3722932" cy="554949"/>
          </a:xfrm>
          <a:prstGeom prst="rect">
            <a:avLst/>
          </a:prstGeom>
          <a:noFill/>
        </p:spPr>
        <p:txBody>
          <a:bodyPr wrap="square" lIns="0" tIns="0" rIns="0" bIns="0" anchor="t">
            <a:noAutofit/>
          </a:bodyPr>
          <a:lstStyle/>
          <a:p>
            <a:pPr marL="0" marR="0" lvl="0" indent="0" algn="l" defTabSz="457200" rtl="0" eaLnBrk="1" fontAlgn="auto" latinLnBrk="0" hangingPunct="1">
              <a:lnSpc>
                <a:spcPts val="1409"/>
              </a:lnSpc>
              <a:spcBef>
                <a:spcPts val="0"/>
              </a:spcBef>
              <a:spcAft>
                <a:spcPts val="0"/>
              </a:spcAft>
              <a:buClrTx/>
              <a:buSzTx/>
              <a:buFontTx/>
              <a:buNone/>
              <a:tabLst/>
              <a:defRPr/>
            </a:pPr>
            <a:r>
              <a:rPr kumimoji="0" lang="en-US" sz="1200" b="0" i="0" u="none" strike="noStrike" kern="1200" cap="none" spc="0" normalizeH="0" baseline="0" noProof="0">
                <a:ln>
                  <a:noFill/>
                </a:ln>
                <a:solidFill>
                  <a:srgbClr val="217651"/>
                </a:solidFill>
                <a:effectLst/>
                <a:uLnTx/>
                <a:uFillTx/>
                <a:latin typeface="Fira Sans SemiBold"/>
                <a:ea typeface="+mn-ea"/>
                <a:cs typeface="+mn-cs"/>
              </a:rPr>
              <a:t>The only other banks running this form</a:t>
            </a:r>
            <a:r>
              <a:rPr kumimoji="0" lang="en-US" sz="1200" b="0" i="0" u="none" strike="noStrike" kern="1200" cap="none" spc="0" normalizeH="0" baseline="0" noProof="0">
                <a:ln>
                  <a:noFill/>
                </a:ln>
                <a:solidFill>
                  <a:srgbClr val="217651"/>
                </a:solidFill>
                <a:effectLst/>
                <a:uLnTx/>
                <a:uFillTx/>
                <a:latin typeface="Fira Sans"/>
                <a:ea typeface="+mn-ea"/>
                <a:cs typeface="+mn-cs"/>
              </a:rPr>
              <a:t> are the two audited banks with no named relationship program</a:t>
            </a:r>
          </a:p>
        </p:txBody>
      </p:sp>
      <p:cxnSp>
        <p:nvCxnSpPr>
          <p:cNvPr id="115" name="Connector 114"/>
          <p:cNvCxnSpPr/>
          <p:nvPr/>
        </p:nvCxnSpPr>
        <p:spPr>
          <a:xfrm>
            <a:off x="4323084" y="2512112"/>
            <a:ext cx="3545741" cy="0"/>
          </a:xfrm>
          <a:prstGeom prst="line">
            <a:avLst/>
          </a:prstGeom>
          <a:ln w="18288">
            <a:solidFill>
              <a:srgbClr val="DDDBCE"/>
            </a:solidFill>
          </a:ln>
          <a:effectLst/>
        </p:spPr>
      </p:cxnSp>
      <p:sp>
        <p:nvSpPr>
          <p:cNvPr id="116" name="TextBox 115"/>
          <p:cNvSpPr txBox="1"/>
          <p:nvPr/>
        </p:nvSpPr>
        <p:spPr>
          <a:xfrm>
            <a:off x="4347826" y="2012985"/>
            <a:ext cx="3723028"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SemiBold"/>
                <a:ea typeface="+mn-ea"/>
                <a:cs typeface="+mn-cs"/>
              </a:rPr>
              <a:t>A status the customer earns</a:t>
            </a:r>
          </a:p>
        </p:txBody>
      </p:sp>
      <p:sp>
        <p:nvSpPr>
          <p:cNvPr id="117" name="TextBox 116"/>
          <p:cNvSpPr txBox="1"/>
          <p:nvPr/>
        </p:nvSpPr>
        <p:spPr>
          <a:xfrm>
            <a:off x="4323084" y="2243705"/>
            <a:ext cx="3723028"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Status changes – the checking account doesn’t</a:t>
            </a:r>
          </a:p>
        </p:txBody>
      </p:sp>
      <p:cxnSp>
        <p:nvCxnSpPr>
          <p:cNvPr id="118" name="Connector 117"/>
          <p:cNvCxnSpPr/>
          <p:nvPr/>
        </p:nvCxnSpPr>
        <p:spPr>
          <a:xfrm>
            <a:off x="4323084" y="3264480"/>
            <a:ext cx="3545741" cy="0"/>
          </a:xfrm>
          <a:prstGeom prst="line">
            <a:avLst/>
          </a:prstGeom>
          <a:ln w="9144">
            <a:solidFill>
              <a:srgbClr val="DDDBCE"/>
            </a:solidFill>
          </a:ln>
          <a:effectLst/>
        </p:spPr>
      </p:cxnSp>
      <p:pic>
        <p:nvPicPr>
          <p:cNvPr id="119" name="Picture 118" descr="citi.png"/>
          <p:cNvPicPr>
            <a:picLocks noChangeAspect="1"/>
          </p:cNvPicPr>
          <p:nvPr/>
        </p:nvPicPr>
        <p:blipFill>
          <a:blip r:embed="rId5"/>
          <a:stretch>
            <a:fillRect/>
          </a:stretch>
        </p:blipFill>
        <p:spPr>
          <a:xfrm>
            <a:off x="4353906" y="2784346"/>
            <a:ext cx="305187" cy="198527"/>
          </a:xfrm>
          <a:prstGeom prst="rect">
            <a:avLst/>
          </a:prstGeom>
        </p:spPr>
      </p:pic>
      <p:sp>
        <p:nvSpPr>
          <p:cNvPr id="120" name="TextBox 119"/>
          <p:cNvSpPr txBox="1"/>
          <p:nvPr/>
        </p:nvSpPr>
        <p:spPr>
          <a:xfrm>
            <a:off x="4920340" y="2626413"/>
            <a:ext cx="2281844" cy="555772"/>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err="1">
                <a:ln>
                  <a:noFill/>
                </a:ln>
                <a:solidFill>
                  <a:srgbClr val="232422"/>
                </a:solidFill>
                <a:effectLst/>
                <a:uLnTx/>
                <a:uFillTx/>
                <a:latin typeface="Fira Sans SemiBold"/>
                <a:ea typeface="+mn-ea"/>
                <a:cs typeface="+mn-cs"/>
              </a:rPr>
              <a:t>Citigold</a:t>
            </a:r>
            <a:r>
              <a:rPr kumimoji="0" sz="1000" b="0" i="0" u="none" strike="noStrike" kern="1200" cap="none" spc="0" normalizeH="0" baseline="0" noProof="0">
                <a:ln>
                  <a:noFill/>
                </a:ln>
                <a:solidFill>
                  <a:srgbClr val="232422"/>
                </a:solidFill>
                <a:effectLst/>
                <a:uLnTx/>
                <a:uFillTx/>
                <a:latin typeface="Fira Sans SemiBold"/>
                <a:ea typeface="+mn-ea"/>
                <a:cs typeface="+mn-cs"/>
              </a:rPr>
              <a:t> Private Client</a:t>
            </a:r>
            <a:r>
              <a:rPr kumimoji="0" sz="1000" b="0" i="0" u="none" strike="noStrike" kern="1200" cap="none" spc="0" normalizeH="0" baseline="0" noProof="0">
                <a:ln>
                  <a:noFill/>
                </a:ln>
                <a:solidFill>
                  <a:srgbClr val="232422"/>
                </a:solidFill>
                <a:effectLst/>
                <a:uLnTx/>
                <a:uFillTx/>
                <a:latin typeface="Fira Sans"/>
                <a:ea typeface="+mn-ea"/>
                <a:cs typeface="+mn-cs"/>
              </a:rPr>
              <a:t> – combined</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balances move the customer up the</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tiers automatically</a:t>
            </a:r>
          </a:p>
        </p:txBody>
      </p:sp>
      <p:sp>
        <p:nvSpPr>
          <p:cNvPr id="121" name="TextBox 120"/>
          <p:cNvSpPr txBox="1"/>
          <p:nvPr/>
        </p:nvSpPr>
        <p:spPr>
          <a:xfrm>
            <a:off x="7631021" y="2829031"/>
            <a:ext cx="335028"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Medium"/>
                <a:ea typeface="+mn-ea"/>
                <a:cs typeface="+mn-cs"/>
              </a:rPr>
              <a:t>$1M</a:t>
            </a:r>
          </a:p>
        </p:txBody>
      </p:sp>
      <p:pic>
        <p:nvPicPr>
          <p:cNvPr id="122" name="Picture 121" descr="bofa-flag.png"/>
          <p:cNvPicPr>
            <a:picLocks noChangeAspect="1"/>
          </p:cNvPicPr>
          <p:nvPr/>
        </p:nvPicPr>
        <p:blipFill>
          <a:blip r:embed="rId6"/>
          <a:stretch>
            <a:fillRect/>
          </a:stretch>
        </p:blipFill>
        <p:spPr>
          <a:xfrm>
            <a:off x="4353905" y="3496696"/>
            <a:ext cx="354531" cy="184819"/>
          </a:xfrm>
          <a:prstGeom prst="rect">
            <a:avLst/>
          </a:prstGeom>
        </p:spPr>
      </p:pic>
      <p:sp>
        <p:nvSpPr>
          <p:cNvPr id="123" name="TextBox 122"/>
          <p:cNvSpPr txBox="1"/>
          <p:nvPr/>
        </p:nvSpPr>
        <p:spPr>
          <a:xfrm>
            <a:off x="4920340" y="3337633"/>
            <a:ext cx="2281844" cy="555772"/>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BofA Rewards Premier</a:t>
            </a:r>
            <a:r>
              <a:rPr kumimoji="0" sz="1000" b="0" i="0" u="none" strike="noStrike" kern="1200" cap="none" spc="0" normalizeH="0" baseline="0" noProof="0">
                <a:ln>
                  <a:noFill/>
                </a:ln>
                <a:solidFill>
                  <a:srgbClr val="232422"/>
                </a:solidFill>
                <a:effectLst/>
                <a:uLnTx/>
                <a:uFillTx/>
                <a:latin typeface="Fira Sans"/>
                <a:ea typeface="+mn-ea"/>
                <a:cs typeface="+mn-cs"/>
              </a:rPr>
              <a:t> – the renamed</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program’s $1M top tier, on any eligible</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checking account</a:t>
            </a:r>
          </a:p>
        </p:txBody>
      </p:sp>
      <p:sp>
        <p:nvSpPr>
          <p:cNvPr id="124" name="TextBox 123"/>
          <p:cNvSpPr txBox="1"/>
          <p:nvPr/>
        </p:nvSpPr>
        <p:spPr>
          <a:xfrm>
            <a:off x="7631021" y="3540251"/>
            <a:ext cx="335028"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Medium"/>
                <a:ea typeface="+mn-ea"/>
                <a:cs typeface="+mn-cs"/>
              </a:rPr>
              <a:t>$1M</a:t>
            </a:r>
          </a:p>
        </p:txBody>
      </p:sp>
      <p:cxnSp>
        <p:nvCxnSpPr>
          <p:cNvPr id="125" name="Connector 124"/>
          <p:cNvCxnSpPr/>
          <p:nvPr/>
        </p:nvCxnSpPr>
        <p:spPr>
          <a:xfrm>
            <a:off x="8143213" y="2512112"/>
            <a:ext cx="3545650" cy="0"/>
          </a:xfrm>
          <a:prstGeom prst="line">
            <a:avLst/>
          </a:prstGeom>
          <a:ln w="18288">
            <a:solidFill>
              <a:srgbClr val="DDDBCE"/>
            </a:solidFill>
          </a:ln>
          <a:effectLst/>
        </p:spPr>
      </p:cxnSp>
      <p:sp>
        <p:nvSpPr>
          <p:cNvPr id="126" name="TextBox 125"/>
          <p:cNvSpPr txBox="1"/>
          <p:nvPr/>
        </p:nvSpPr>
        <p:spPr>
          <a:xfrm>
            <a:off x="8167955" y="2012985"/>
            <a:ext cx="3722932"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SemiBold"/>
                <a:ea typeface="+mn-ea"/>
                <a:cs typeface="+mn-cs"/>
              </a:rPr>
              <a:t>A managed relationship the customer enters</a:t>
            </a:r>
          </a:p>
        </p:txBody>
      </p:sp>
      <p:sp>
        <p:nvSpPr>
          <p:cNvPr id="127" name="TextBox 126"/>
          <p:cNvSpPr txBox="1"/>
          <p:nvPr/>
        </p:nvSpPr>
        <p:spPr>
          <a:xfrm>
            <a:off x="8143213" y="2243705"/>
            <a:ext cx="3722932"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Fira Sans"/>
                <a:ea typeface="+mn-ea"/>
                <a:cs typeface="+mn-cs"/>
              </a:rPr>
              <a:t>The team changes – the checking account doesn’t</a:t>
            </a:r>
          </a:p>
        </p:txBody>
      </p:sp>
      <p:cxnSp>
        <p:nvCxnSpPr>
          <p:cNvPr id="128" name="Connector 127"/>
          <p:cNvCxnSpPr/>
          <p:nvPr/>
        </p:nvCxnSpPr>
        <p:spPr>
          <a:xfrm>
            <a:off x="8143213" y="3448173"/>
            <a:ext cx="3545650" cy="0"/>
          </a:xfrm>
          <a:prstGeom prst="line">
            <a:avLst/>
          </a:prstGeom>
          <a:ln w="9144">
            <a:solidFill>
              <a:srgbClr val="DDDBCE"/>
            </a:solidFill>
          </a:ln>
          <a:effectLst/>
        </p:spPr>
      </p:cxnSp>
      <p:sp>
        <p:nvSpPr>
          <p:cNvPr id="130" name="TextBox 129"/>
          <p:cNvSpPr txBox="1"/>
          <p:nvPr/>
        </p:nvSpPr>
        <p:spPr>
          <a:xfrm>
            <a:off x="9048696" y="2626413"/>
            <a:ext cx="1896757" cy="914126"/>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TD Premier, then Private</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Client Group</a:t>
            </a:r>
            <a:r>
              <a:rPr kumimoji="0" sz="1000" b="0" i="0" u="none" strike="noStrike" kern="1200" cap="none" spc="0" normalizeH="0" baseline="0" noProof="0">
                <a:ln>
                  <a:noFill/>
                </a:ln>
                <a:solidFill>
                  <a:srgbClr val="232422"/>
                </a:solidFill>
                <a:effectLst/>
                <a:uLnTx/>
                <a:uFillTx/>
                <a:latin typeface="Fira Sans"/>
                <a:ea typeface="+mn-ea"/>
                <a:cs typeface="+mn-cs"/>
              </a:rPr>
              <a:t> – two steps; checking</a:t>
            </a:r>
            <a:r>
              <a:rPr kumimoji="0" lang="en-US" sz="1000" b="0" i="0" u="none" strike="noStrike" kern="1200" cap="none" spc="0" normalizeH="0" baseline="0" noProof="0">
                <a:ln>
                  <a:noFill/>
                </a:ln>
                <a:solidFill>
                  <a:srgbClr val="232422"/>
                </a:solidFill>
                <a:effectLst/>
                <a:uLnTx/>
                <a:uFillTx/>
                <a:latin typeface="Fira Sans"/>
                <a:ea typeface="+mn-ea"/>
                <a:cs typeface="+mn-cs"/>
              </a:rPr>
              <a:t> </a:t>
            </a:r>
            <a:r>
              <a:rPr kumimoji="0" sz="1000" b="0" i="0" u="none" strike="noStrike" kern="1200" cap="none" spc="0" normalizeH="0" baseline="0" noProof="0">
                <a:ln>
                  <a:noFill/>
                </a:ln>
                <a:solidFill>
                  <a:srgbClr val="232422"/>
                </a:solidFill>
                <a:effectLst/>
                <a:uLnTx/>
                <a:uFillTx/>
                <a:latin typeface="Fira Sans"/>
                <a:ea typeface="+mn-ea"/>
                <a:cs typeface="+mn-cs"/>
              </a:rPr>
              <a:t>account stays </a:t>
            </a:r>
            <a:r>
              <a:rPr kumimoji="0" lang="en-US" sz="1000" b="0" i="0" u="none" strike="noStrike" kern="1200" cap="none" spc="0" normalizeH="0" baseline="0" noProof="0">
                <a:ln>
                  <a:noFill/>
                </a:ln>
                <a:solidFill>
                  <a:srgbClr val="232422"/>
                </a:solidFill>
                <a:effectLst/>
                <a:uLnTx/>
                <a:uFillTx/>
                <a:latin typeface="Fira Sans"/>
                <a:ea typeface="+mn-ea"/>
                <a:cs typeface="+mn-cs"/>
              </a:rPr>
              <a:t>while </a:t>
            </a:r>
            <a:r>
              <a:rPr kumimoji="0" sz="1000" b="0" i="0" u="none" strike="noStrike" kern="1200" cap="none" spc="0" normalizeH="0" baseline="0" noProof="0">
                <a:ln>
                  <a:noFill/>
                </a:ln>
                <a:solidFill>
                  <a:srgbClr val="232422"/>
                </a:solidFill>
                <a:effectLst/>
                <a:uLnTx/>
                <a:uFillTx/>
                <a:latin typeface="Fira Sans"/>
                <a:ea typeface="+mn-ea"/>
                <a:cs typeface="+mn-cs"/>
              </a:rPr>
              <a:t>team</a:t>
            </a:r>
            <a:r>
              <a:rPr kumimoji="0" lang="en-US" sz="1000" b="0" i="0" u="none" strike="noStrike" kern="1200" cap="none" spc="0" normalizeH="0" baseline="0" noProof="0">
                <a:ln>
                  <a:noFill/>
                </a:ln>
                <a:solidFill>
                  <a:srgbClr val="232422"/>
                </a:solidFill>
                <a:effectLst/>
                <a:uLnTx/>
                <a:uFillTx/>
                <a:latin typeface="Fira Sans"/>
                <a:ea typeface="+mn-ea"/>
                <a:cs typeface="+mn-cs"/>
              </a:rPr>
              <a:t> </a:t>
            </a:r>
            <a:r>
              <a:rPr kumimoji="0" sz="1000" b="0" i="0" u="none" strike="noStrike" kern="1200" cap="none" spc="0" normalizeH="0" baseline="0" noProof="0">
                <a:ln>
                  <a:noFill/>
                </a:ln>
                <a:solidFill>
                  <a:srgbClr val="232422"/>
                </a:solidFill>
                <a:effectLst/>
                <a:uLnTx/>
                <a:uFillTx/>
                <a:latin typeface="Fira Sans"/>
                <a:ea typeface="+mn-ea"/>
                <a:cs typeface="+mn-cs"/>
              </a:rPr>
              <a:t>and coordination change</a:t>
            </a:r>
          </a:p>
        </p:txBody>
      </p:sp>
      <p:sp>
        <p:nvSpPr>
          <p:cNvPr id="131" name="TextBox 130"/>
          <p:cNvSpPr txBox="1"/>
          <p:nvPr/>
        </p:nvSpPr>
        <p:spPr>
          <a:xfrm>
            <a:off x="11009385" y="2925969"/>
            <a:ext cx="807434"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Medium"/>
                <a:ea typeface="+mn-ea"/>
                <a:cs typeface="+mn-cs"/>
              </a:rPr>
              <a:t>$100K · $1M+</a:t>
            </a:r>
          </a:p>
        </p:txBody>
      </p:sp>
      <p:cxnSp>
        <p:nvCxnSpPr>
          <p:cNvPr id="132" name="Connector 131"/>
          <p:cNvCxnSpPr/>
          <p:nvPr/>
        </p:nvCxnSpPr>
        <p:spPr>
          <a:xfrm>
            <a:off x="8143213" y="4338615"/>
            <a:ext cx="3545650" cy="0"/>
          </a:xfrm>
          <a:prstGeom prst="line">
            <a:avLst/>
          </a:prstGeom>
          <a:ln w="9144">
            <a:solidFill>
              <a:srgbClr val="DDDBCE"/>
            </a:solidFill>
          </a:ln>
          <a:effectLst/>
        </p:spPr>
      </p:cxnSp>
      <p:pic>
        <p:nvPicPr>
          <p:cNvPr id="133" name="Picture 132" descr="jpmorgan.png"/>
          <p:cNvPicPr>
            <a:picLocks noChangeAspect="1"/>
          </p:cNvPicPr>
          <p:nvPr/>
        </p:nvPicPr>
        <p:blipFill>
          <a:blip r:embed="rId7"/>
          <a:stretch>
            <a:fillRect/>
          </a:stretch>
        </p:blipFill>
        <p:spPr>
          <a:xfrm>
            <a:off x="8143213" y="3804806"/>
            <a:ext cx="690876" cy="148024"/>
          </a:xfrm>
          <a:prstGeom prst="rect">
            <a:avLst/>
          </a:prstGeom>
        </p:spPr>
      </p:pic>
      <p:sp>
        <p:nvSpPr>
          <p:cNvPr id="134" name="TextBox 133"/>
          <p:cNvSpPr txBox="1"/>
          <p:nvPr/>
        </p:nvSpPr>
        <p:spPr>
          <a:xfrm>
            <a:off x="9048696" y="3521326"/>
            <a:ext cx="1822123" cy="734995"/>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J.P. Morgan Private Client</a:t>
            </a:r>
            <a:r>
              <a:rPr kumimoji="0" sz="1000" b="0" i="0" u="none" strike="noStrike" kern="1200" cap="none" spc="0" normalizeH="0" baseline="0" noProof="0">
                <a:ln>
                  <a:noFill/>
                </a:ln>
                <a:solidFill>
                  <a:srgbClr val="232422"/>
                </a:solidFill>
                <a:effectLst/>
                <a:uLnTx/>
                <a:uFillTx/>
                <a:latin typeface="Fira Sans"/>
                <a:ea typeface="+mn-ea"/>
                <a:cs typeface="+mn-cs"/>
              </a:rPr>
              <a:t> –</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Chase’s integrated banking-</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and-wealth relationship</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above Private Client</a:t>
            </a:r>
          </a:p>
        </p:txBody>
      </p:sp>
      <p:sp>
        <p:nvSpPr>
          <p:cNvPr id="135" name="TextBox 134"/>
          <p:cNvSpPr txBox="1"/>
          <p:nvPr/>
        </p:nvSpPr>
        <p:spPr>
          <a:xfrm>
            <a:off x="10934843" y="3813555"/>
            <a:ext cx="882068"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950" b="0" i="1" u="none" strike="noStrike" kern="1200" cap="none" spc="0" normalizeH="0" baseline="0" noProof="0">
                <a:ln>
                  <a:noFill/>
                </a:ln>
                <a:solidFill>
                  <a:srgbClr val="575757"/>
                </a:solidFill>
                <a:effectLst/>
                <a:uLnTx/>
                <a:uFillTx/>
                <a:latin typeface="Fira Sans Medium"/>
                <a:ea typeface="+mn-ea"/>
                <a:cs typeface="+mn-cs"/>
              </a:rPr>
              <a:t>not published</a:t>
            </a:r>
          </a:p>
        </p:txBody>
      </p:sp>
      <p:pic>
        <p:nvPicPr>
          <p:cNvPr id="136" name="Picture 135" descr="pnc.png"/>
          <p:cNvPicPr>
            <a:picLocks noChangeAspect="1"/>
          </p:cNvPicPr>
          <p:nvPr/>
        </p:nvPicPr>
        <p:blipFill>
          <a:blip r:embed="rId8"/>
          <a:stretch>
            <a:fillRect/>
          </a:stretch>
        </p:blipFill>
        <p:spPr>
          <a:xfrm>
            <a:off x="8143212" y="4595916"/>
            <a:ext cx="536407" cy="162226"/>
          </a:xfrm>
          <a:prstGeom prst="rect">
            <a:avLst/>
          </a:prstGeom>
        </p:spPr>
      </p:pic>
      <p:sp>
        <p:nvSpPr>
          <p:cNvPr id="137" name="TextBox 136"/>
          <p:cNvSpPr txBox="1"/>
          <p:nvPr/>
        </p:nvSpPr>
        <p:spPr>
          <a:xfrm>
            <a:off x="9048696" y="4411677"/>
            <a:ext cx="2195932" cy="555772"/>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SemiBold"/>
                <a:ea typeface="+mn-ea"/>
                <a:cs typeface="+mn-cs"/>
              </a:rPr>
              <a:t>PNC Premier Client</a:t>
            </a:r>
            <a:r>
              <a:rPr kumimoji="0" sz="1000" b="0" i="0" u="none" strike="noStrike" kern="1200" cap="none" spc="0" normalizeH="0" baseline="0" noProof="0">
                <a:ln>
                  <a:noFill/>
                </a:ln>
                <a:solidFill>
                  <a:srgbClr val="232422"/>
                </a:solidFill>
                <a:effectLst/>
                <a:uLnTx/>
                <a:uFillTx/>
                <a:latin typeface="Fira Sans"/>
                <a:ea typeface="+mn-ea"/>
                <a:cs typeface="+mn-cs"/>
              </a:rPr>
              <a:t> – a banker-</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and-advisor team, with status</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232422"/>
                </a:solidFill>
                <a:effectLst/>
                <a:uLnTx/>
                <a:uFillTx/>
                <a:latin typeface="Fira Sans"/>
                <a:ea typeface="+mn-ea"/>
                <a:cs typeface="+mn-cs"/>
              </a:rPr>
              <a:t>named separately</a:t>
            </a:r>
          </a:p>
        </p:txBody>
      </p:sp>
      <p:sp>
        <p:nvSpPr>
          <p:cNvPr id="138" name="TextBox 137"/>
          <p:cNvSpPr txBox="1"/>
          <p:nvPr/>
        </p:nvSpPr>
        <p:spPr>
          <a:xfrm>
            <a:off x="11308652" y="4614295"/>
            <a:ext cx="508168" cy="182880"/>
          </a:xfrm>
          <a:prstGeom prst="rect">
            <a:avLst/>
          </a:prstGeom>
          <a:noFill/>
        </p:spPr>
        <p:txBody>
          <a:bodyPr wrap="squar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0" i="0" u="none" strike="noStrike" kern="1200" cap="none" spc="0" normalizeH="0" baseline="0" noProof="0">
                <a:ln>
                  <a:noFill/>
                </a:ln>
                <a:solidFill>
                  <a:srgbClr val="575757"/>
                </a:solidFill>
                <a:effectLst/>
                <a:uLnTx/>
                <a:uFillTx/>
                <a:latin typeface="Fira Sans Medium"/>
                <a:ea typeface="+mn-ea"/>
                <a:cs typeface="+mn-cs"/>
              </a:rPr>
              <a:t>$100K+</a:t>
            </a:r>
          </a:p>
        </p:txBody>
      </p:sp>
      <p:sp>
        <p:nvSpPr>
          <p:cNvPr id="139" name="Rectangle 138"/>
          <p:cNvSpPr/>
          <p:nvPr/>
        </p:nvSpPr>
        <p:spPr>
          <a:xfrm>
            <a:off x="503046" y="5438664"/>
            <a:ext cx="11185908" cy="758952"/>
          </a:xfrm>
          <a:prstGeom prst="rect">
            <a:avLst/>
          </a:prstGeom>
          <a:solidFill>
            <a:srgbClr val="007651">
              <a:alpha val="6000"/>
            </a:srgb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40" name="Connector 139"/>
          <p:cNvCxnSpPr/>
          <p:nvPr/>
        </p:nvCxnSpPr>
        <p:spPr>
          <a:xfrm>
            <a:off x="503046" y="5443236"/>
            <a:ext cx="11185908" cy="0"/>
          </a:xfrm>
          <a:prstGeom prst="line">
            <a:avLst/>
          </a:prstGeom>
          <a:ln w="9144">
            <a:solidFill>
              <a:srgbClr val="007651"/>
            </a:solidFill>
          </a:ln>
          <a:effectLst/>
        </p:spPr>
      </p:cxnSp>
      <p:cxnSp>
        <p:nvCxnSpPr>
          <p:cNvPr id="141" name="Connector 140"/>
          <p:cNvCxnSpPr/>
          <p:nvPr/>
        </p:nvCxnSpPr>
        <p:spPr>
          <a:xfrm>
            <a:off x="11684381" y="5438664"/>
            <a:ext cx="0" cy="758952"/>
          </a:xfrm>
          <a:prstGeom prst="line">
            <a:avLst/>
          </a:prstGeom>
          <a:ln w="9144">
            <a:solidFill>
              <a:srgbClr val="007651"/>
            </a:solidFill>
          </a:ln>
          <a:effectLst/>
        </p:spPr>
      </p:cxnSp>
      <p:cxnSp>
        <p:nvCxnSpPr>
          <p:cNvPr id="142" name="Connector 141"/>
          <p:cNvCxnSpPr/>
          <p:nvPr/>
        </p:nvCxnSpPr>
        <p:spPr>
          <a:xfrm>
            <a:off x="503046" y="6193044"/>
            <a:ext cx="11185908" cy="0"/>
          </a:xfrm>
          <a:prstGeom prst="line">
            <a:avLst/>
          </a:prstGeom>
          <a:ln w="9144">
            <a:solidFill>
              <a:srgbClr val="007651"/>
            </a:solidFill>
          </a:ln>
          <a:effectLst/>
        </p:spPr>
      </p:cxnSp>
      <p:cxnSp>
        <p:nvCxnSpPr>
          <p:cNvPr id="143" name="Connector 142"/>
          <p:cNvCxnSpPr/>
          <p:nvPr/>
        </p:nvCxnSpPr>
        <p:spPr>
          <a:xfrm>
            <a:off x="516765" y="5438664"/>
            <a:ext cx="0" cy="758952"/>
          </a:xfrm>
          <a:prstGeom prst="line">
            <a:avLst/>
          </a:prstGeom>
          <a:ln w="27432">
            <a:solidFill>
              <a:srgbClr val="007651"/>
            </a:solidFill>
          </a:ln>
          <a:effectLst/>
        </p:spPr>
      </p:cxnSp>
      <p:sp>
        <p:nvSpPr>
          <p:cNvPr id="144" name="TextBox 143"/>
          <p:cNvSpPr txBox="1"/>
          <p:nvPr/>
        </p:nvSpPr>
        <p:spPr>
          <a:xfrm>
            <a:off x="701538" y="5579060"/>
            <a:ext cx="10719448" cy="484632"/>
          </a:xfrm>
          <a:prstGeom prst="rect">
            <a:avLst/>
          </a:prstGeom>
          <a:noFill/>
        </p:spPr>
        <p:txBody>
          <a:bodyPr wrap="square" lIns="0" tIns="0" rIns="0" bIns="0" anchor="t">
            <a:noAutofit/>
          </a:bodyPr>
          <a:lstStyle/>
          <a:p>
            <a:pPr marL="0" marR="0" lvl="0" indent="0" algn="l" defTabSz="457200" rtl="0" eaLnBrk="1" fontAlgn="auto" latinLnBrk="0" hangingPunct="1">
              <a:lnSpc>
                <a:spcPts val="1836"/>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Across the audited set, every highest named affluent step uses either </a:t>
            </a:r>
            <a:r>
              <a:rPr kumimoji="0" lang="en-US" sz="1200" b="0" i="1" u="none" strike="noStrike" kern="1200" cap="none" spc="0" normalizeH="0" baseline="0" noProof="0">
                <a:ln>
                  <a:noFill/>
                </a:ln>
                <a:solidFill>
                  <a:srgbClr val="232422"/>
                </a:solidFill>
                <a:effectLst/>
                <a:uLnTx/>
                <a:uFillTx/>
                <a:latin typeface="Fira Sans"/>
                <a:ea typeface="+mn-ea"/>
                <a:cs typeface="+mn-cs"/>
              </a:rPr>
              <a:t>Premier</a:t>
            </a:r>
            <a:r>
              <a:rPr kumimoji="0" lang="en-US" sz="1200" b="0" i="0" u="none" strike="noStrike" kern="1200" cap="none" spc="0" normalizeH="0" baseline="0" noProof="0">
                <a:ln>
                  <a:noFill/>
                </a:ln>
                <a:solidFill>
                  <a:srgbClr val="232422"/>
                </a:solidFill>
                <a:effectLst/>
                <a:uLnTx/>
                <a:uFillTx/>
                <a:latin typeface="Fira Sans"/>
                <a:ea typeface="+mn-ea"/>
                <a:cs typeface="+mn-cs"/>
              </a:rPr>
              <a:t>, </a:t>
            </a:r>
            <a:r>
              <a:rPr kumimoji="0" lang="en-US" sz="1200" b="0" i="1" u="none" strike="noStrike" kern="1200" cap="none" spc="0" normalizeH="0" baseline="0" noProof="0">
                <a:ln>
                  <a:noFill/>
                </a:ln>
                <a:solidFill>
                  <a:srgbClr val="232422"/>
                </a:solidFill>
                <a:effectLst/>
                <a:uLnTx/>
                <a:uFillTx/>
                <a:latin typeface="Fira Sans"/>
                <a:ea typeface="+mn-ea"/>
                <a:cs typeface="+mn-cs"/>
              </a:rPr>
              <a:t>Private Client</a:t>
            </a:r>
            <a:r>
              <a:rPr kumimoji="0" lang="en-US" sz="1200" b="0" i="0" u="none" strike="noStrike" kern="1200" cap="none" spc="0" normalizeH="0" baseline="0" noProof="0">
                <a:ln>
                  <a:noFill/>
                </a:ln>
                <a:solidFill>
                  <a:srgbClr val="232422"/>
                </a:solidFill>
                <a:effectLst/>
                <a:uLnTx/>
                <a:uFillTx/>
                <a:latin typeface="Fira Sans"/>
                <a:ea typeface="+mn-ea"/>
                <a:cs typeface="+mn-cs"/>
              </a:rPr>
              <a:t>, or both. (Citi uses </a:t>
            </a:r>
            <a:r>
              <a:rPr kumimoji="0" lang="en-US" sz="1200" b="0" i="1" u="none" strike="noStrike" kern="1200" cap="none" spc="0" normalizeH="0" baseline="0" noProof="0" err="1">
                <a:ln>
                  <a:noFill/>
                </a:ln>
                <a:solidFill>
                  <a:srgbClr val="232422"/>
                </a:solidFill>
                <a:effectLst/>
                <a:uLnTx/>
                <a:uFillTx/>
                <a:latin typeface="Fira Sans"/>
                <a:ea typeface="+mn-ea"/>
                <a:cs typeface="+mn-cs"/>
              </a:rPr>
              <a:t>Citigold</a:t>
            </a:r>
            <a:r>
              <a:rPr kumimoji="0" lang="en-US" sz="1200" b="0" i="0" u="none" strike="noStrike" kern="1200" cap="none" spc="0" normalizeH="0" baseline="0" noProof="0">
                <a:ln>
                  <a:noFill/>
                </a:ln>
                <a:solidFill>
                  <a:srgbClr val="232422"/>
                </a:solidFill>
                <a:effectLst/>
                <a:uLnTx/>
                <a:uFillTx/>
                <a:latin typeface="Fira Sans"/>
                <a:ea typeface="+mn-ea"/>
                <a:cs typeface="+mn-cs"/>
              </a:rPr>
              <a:t> as $200K status, then uses </a:t>
            </a:r>
            <a:r>
              <a:rPr kumimoji="0" lang="en-US" sz="1200" b="0" i="1" u="none" strike="noStrike" kern="1200" cap="none" spc="0" normalizeH="0" baseline="0" noProof="0">
                <a:ln>
                  <a:noFill/>
                </a:ln>
                <a:solidFill>
                  <a:srgbClr val="232422"/>
                </a:solidFill>
                <a:effectLst/>
                <a:uLnTx/>
                <a:uFillTx/>
                <a:latin typeface="Fira Sans"/>
                <a:ea typeface="+mn-ea"/>
                <a:cs typeface="+mn-cs"/>
              </a:rPr>
              <a:t>Private Client </a:t>
            </a:r>
            <a:r>
              <a:rPr kumimoji="0" lang="en-US" sz="1200" b="0" i="0" u="none" strike="noStrike" kern="1200" cap="none" spc="0" normalizeH="0" baseline="0" noProof="0">
                <a:ln>
                  <a:noFill/>
                </a:ln>
                <a:solidFill>
                  <a:srgbClr val="232422"/>
                </a:solidFill>
                <a:effectLst/>
                <a:uLnTx/>
                <a:uFillTx/>
                <a:latin typeface="Fira Sans"/>
                <a:ea typeface="+mn-ea"/>
                <a:cs typeface="+mn-cs"/>
              </a:rPr>
              <a:t>above it). Citizens’ choice is whether to make Private Client clearly distinct from Private Bank or take on the education burden of a new name.  </a:t>
            </a:r>
            <a:endParaRPr kumimoji="0" sz="1200" b="0" i="0" u="none" strike="noStrike" kern="1200" cap="none" spc="0" normalizeH="0" baseline="0" noProof="0">
              <a:ln>
                <a:noFill/>
              </a:ln>
              <a:solidFill>
                <a:srgbClr val="232422"/>
              </a:solidFill>
              <a:effectLst/>
              <a:uLnTx/>
              <a:uFillTx/>
              <a:latin typeface="Fira Sans"/>
              <a:ea typeface="+mn-ea"/>
              <a:cs typeface="+mn-cs"/>
            </a:endParaRPr>
          </a:p>
        </p:txBody>
      </p:sp>
      <p:cxnSp>
        <p:nvCxnSpPr>
          <p:cNvPr id="145" name="Connector 144"/>
          <p:cNvCxnSpPr/>
          <p:nvPr/>
        </p:nvCxnSpPr>
        <p:spPr>
          <a:xfrm>
            <a:off x="503046" y="6414516"/>
            <a:ext cx="11185908" cy="0"/>
          </a:xfrm>
          <a:prstGeom prst="line">
            <a:avLst/>
          </a:prstGeom>
          <a:ln w="9144">
            <a:solidFill>
              <a:srgbClr val="DDDBCE"/>
            </a:solidFill>
          </a:ln>
          <a:effectLst/>
        </p:spPr>
      </p:cxnSp>
      <p:sp>
        <p:nvSpPr>
          <p:cNvPr id="146" name="TextBox 145"/>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Eight-institution audit of published program terms, verified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pic>
        <p:nvPicPr>
          <p:cNvPr id="2" name="Picture 1" descr="File:TD Bank.svg - Wikimedia Commons">
            <a:extLst>
              <a:ext uri="{FF2B5EF4-FFF2-40B4-BE49-F238E27FC236}">
                <a16:creationId xmlns:a16="http://schemas.microsoft.com/office/drawing/2014/main" id="{5E249B99-DF69-746A-F912-31D9B9F8FBF4}"/>
              </a:ext>
            </a:extLst>
          </p:cNvPr>
          <p:cNvPicPr>
            <a:picLocks noChangeAspect="1"/>
          </p:cNvPicPr>
          <p:nvPr/>
        </p:nvPicPr>
        <p:blipFill>
          <a:blip r:embed="rId9"/>
          <a:stretch>
            <a:fillRect/>
          </a:stretch>
        </p:blipFill>
        <p:spPr>
          <a:xfrm>
            <a:off x="8167955" y="2895902"/>
            <a:ext cx="624784" cy="189713"/>
          </a:xfrm>
          <a:prstGeom prst="rect">
            <a:avLst/>
          </a:prstGeom>
        </p:spPr>
      </p:pic>
      <p:sp>
        <p:nvSpPr>
          <p:cNvPr id="3" name="Left Brace 2">
            <a:extLst>
              <a:ext uri="{FF2B5EF4-FFF2-40B4-BE49-F238E27FC236}">
                <a16:creationId xmlns:a16="http://schemas.microsoft.com/office/drawing/2014/main" id="{EE2E5AB4-25FA-6ADC-8EBA-03F871160AB0}"/>
              </a:ext>
            </a:extLst>
          </p:cNvPr>
          <p:cNvSpPr/>
          <p:nvPr/>
        </p:nvSpPr>
        <p:spPr>
          <a:xfrm rot="16200000">
            <a:off x="2185495" y="2589601"/>
            <a:ext cx="272936" cy="3678150"/>
          </a:xfrm>
          <a:prstGeom prst="leftBrace">
            <a:avLst>
              <a:gd name="adj1" fmla="val 0"/>
              <a:gd name="adj2" fmla="val 50000"/>
            </a:avLst>
          </a:prstGeom>
          <a:ln w="12700">
            <a:solidFill>
              <a:srgbClr val="007651"/>
            </a:solidFill>
            <a:prstDash val="dash"/>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43963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3190604"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WHAT WE LEARNED FROM THE CATEGORY</a:t>
            </a:r>
          </a:p>
        </p:txBody>
      </p:sp>
      <p:sp>
        <p:nvSpPr>
          <p:cNvPr id="92" name="Rounded Rectangle 91"/>
          <p:cNvSpPr/>
          <p:nvPr/>
        </p:nvSpPr>
        <p:spPr>
          <a:xfrm>
            <a:off x="10243841"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Fira Sans"/>
                <a:ea typeface="+mn-ea"/>
                <a:cs typeface="+mn-cs"/>
              </a:rPr>
              <a:t>1</a:t>
            </a:r>
          </a:p>
        </p:txBody>
      </p:sp>
      <p:sp>
        <p:nvSpPr>
          <p:cNvPr id="93" name="Rounded Rectangle 92"/>
          <p:cNvSpPr/>
          <p:nvPr/>
        </p:nvSpPr>
        <p:spPr>
          <a:xfrm>
            <a:off x="10545668"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Fira Sans"/>
                <a:ea typeface="+mn-ea"/>
                <a:cs typeface="+mn-cs"/>
              </a:rPr>
              <a:t>2</a:t>
            </a:r>
          </a:p>
        </p:txBody>
      </p:sp>
      <p:sp>
        <p:nvSpPr>
          <p:cNvPr id="94" name="Rounded Rectangle 93"/>
          <p:cNvSpPr/>
          <p:nvPr/>
        </p:nvSpPr>
        <p:spPr>
          <a:xfrm>
            <a:off x="10847496"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Fira Sans"/>
                <a:ea typeface="+mn-ea"/>
                <a:cs typeface="+mn-cs"/>
              </a:rPr>
              <a:t>3</a:t>
            </a:r>
          </a:p>
        </p:txBody>
      </p:sp>
      <p:sp>
        <p:nvSpPr>
          <p:cNvPr id="95" name="Rounded Rectangle 94"/>
          <p:cNvSpPr/>
          <p:nvPr/>
        </p:nvSpPr>
        <p:spPr>
          <a:xfrm>
            <a:off x="11149323"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Fira Sans"/>
                <a:ea typeface="+mn-ea"/>
                <a:cs typeface="+mn-cs"/>
              </a:rPr>
              <a:t>4</a:t>
            </a:r>
          </a:p>
        </p:txBody>
      </p:sp>
      <p:sp>
        <p:nvSpPr>
          <p:cNvPr id="96" name="Rounded Rectangle 95"/>
          <p:cNvSpPr/>
          <p:nvPr/>
        </p:nvSpPr>
        <p:spPr>
          <a:xfrm>
            <a:off x="11451151" y="329184"/>
            <a:ext cx="237803" cy="237744"/>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FFFFFF"/>
                </a:solidFill>
                <a:effectLst/>
                <a:uLnTx/>
                <a:uFillTx/>
                <a:latin typeface="Fira Sans"/>
                <a:ea typeface="+mn-ea"/>
                <a:cs typeface="+mn-cs"/>
              </a:rPr>
              <a:t>5</a:t>
            </a:r>
          </a:p>
        </p:txBody>
      </p:sp>
      <p:sp>
        <p:nvSpPr>
          <p:cNvPr id="97" name="TextBox 96"/>
          <p:cNvSpPr txBox="1"/>
          <p:nvPr/>
        </p:nvSpPr>
        <p:spPr>
          <a:xfrm>
            <a:off x="503046" y="743648"/>
            <a:ext cx="11745204"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The category doesn’t prescribe a model – it gives</a:t>
            </a:r>
          </a:p>
          <a:p>
            <a:pPr marL="0" marR="0" lvl="0" indent="0" algn="l" defTabSz="457200" rtl="0" eaLnBrk="1" fontAlgn="auto" latinLnBrk="0" hangingPunct="1">
              <a:lnSpc>
                <a:spcPts val="3571"/>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Citizens five considerations for the new ecosystem</a:t>
            </a:r>
          </a:p>
        </p:txBody>
      </p:sp>
      <p:sp>
        <p:nvSpPr>
          <p:cNvPr id="98" name="TextBox 97"/>
          <p:cNvSpPr txBox="1"/>
          <p:nvPr/>
        </p:nvSpPr>
        <p:spPr>
          <a:xfrm>
            <a:off x="503046" y="2165013"/>
            <a:ext cx="5690134"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000" b="1" i="0" u="none" strike="noStrike" kern="1200" cap="all" spc="84" normalizeH="0" baseline="0" noProof="0">
                <a:ln>
                  <a:noFill/>
                </a:ln>
                <a:solidFill>
                  <a:srgbClr val="9A9A9A"/>
                </a:solidFill>
                <a:effectLst/>
                <a:uLnTx/>
                <a:uFillTx/>
                <a:latin typeface="Fira Sans"/>
                <a:ea typeface="+mn-ea"/>
                <a:cs typeface="+mn-cs"/>
              </a:rPr>
              <a:t>What the category shows</a:t>
            </a:r>
          </a:p>
        </p:txBody>
      </p:sp>
      <p:sp>
        <p:nvSpPr>
          <p:cNvPr id="99" name="TextBox 98"/>
          <p:cNvSpPr txBox="1"/>
          <p:nvPr/>
        </p:nvSpPr>
        <p:spPr>
          <a:xfrm>
            <a:off x="6638079" y="2165013"/>
            <a:ext cx="5690134"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all" spc="84" normalizeH="0" baseline="0" noProof="0">
                <a:ln>
                  <a:noFill/>
                </a:ln>
                <a:solidFill>
                  <a:srgbClr val="007651"/>
                </a:solidFill>
                <a:effectLst/>
                <a:uLnTx/>
                <a:uFillTx/>
                <a:latin typeface="Fira Sans"/>
                <a:ea typeface="+mn-ea"/>
                <a:cs typeface="+mn-cs"/>
              </a:rPr>
              <a:t>For the ecosystem</a:t>
            </a:r>
          </a:p>
        </p:txBody>
      </p:sp>
      <p:cxnSp>
        <p:nvCxnSpPr>
          <p:cNvPr id="100" name="Connector 99"/>
          <p:cNvCxnSpPr/>
          <p:nvPr/>
        </p:nvCxnSpPr>
        <p:spPr>
          <a:xfrm>
            <a:off x="503046" y="2409444"/>
            <a:ext cx="11185908" cy="0"/>
          </a:xfrm>
          <a:prstGeom prst="line">
            <a:avLst/>
          </a:prstGeom>
          <a:ln w="9144">
            <a:solidFill>
              <a:srgbClr val="DDDBCE"/>
            </a:solidFill>
          </a:ln>
          <a:effectLst/>
        </p:spPr>
      </p:cxnSp>
      <p:sp>
        <p:nvSpPr>
          <p:cNvPr id="101" name="TextBox 100"/>
          <p:cNvSpPr txBox="1"/>
          <p:nvPr/>
        </p:nvSpPr>
        <p:spPr>
          <a:xfrm>
            <a:off x="503046" y="2614783"/>
            <a:ext cx="5690134" cy="217170"/>
          </a:xfrm>
          <a:prstGeom prst="rect">
            <a:avLst/>
          </a:prstGeom>
          <a:noFill/>
        </p:spPr>
        <p:txBody>
          <a:bodyPr wrap="none" lIns="0" tIns="0" rIns="0" bIns="0" anchor="t">
            <a:noAutofit/>
          </a:bodyPr>
          <a:lstStyle/>
          <a:p>
            <a:pPr marL="342900" marR="0" lvl="0" indent="-342900" algn="l" defTabSz="457200" rtl="0" eaLnBrk="1" fontAlgn="auto" latinLnBrk="0" hangingPunct="1">
              <a:lnSpc>
                <a:spcPts val="1566"/>
              </a:lnSpc>
              <a:spcBef>
                <a:spcPts val="0"/>
              </a:spcBef>
              <a:spcAft>
                <a:spcPts val="0"/>
              </a:spcAft>
              <a:buClr>
                <a:srgbClr val="217651"/>
              </a:buClr>
              <a:buSzPct val="120000"/>
              <a:buFont typeface="+mj-lt"/>
              <a:buAutoNum type="arabicPeriod"/>
              <a:tabLst/>
              <a:defRPr/>
            </a:pP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Checking is the usual gateway, but primacy often comes later. </a:t>
            </a:r>
          </a:p>
        </p:txBody>
      </p:sp>
      <p:sp>
        <p:nvSpPr>
          <p:cNvPr id="102" name="TextBox 101"/>
          <p:cNvSpPr txBox="1"/>
          <p:nvPr/>
        </p:nvSpPr>
        <p:spPr>
          <a:xfrm>
            <a:off x="6647604" y="2492939"/>
            <a:ext cx="5690134" cy="243688"/>
          </a:xfrm>
          <a:prstGeom prst="rect">
            <a:avLst/>
          </a:prstGeom>
          <a:noFill/>
        </p:spPr>
        <p:txBody>
          <a:bodyPr wrap="none" lIns="0" tIns="0" rIns="0" bIns="0" anchor="t">
            <a:noAutofit/>
          </a:bodyPr>
          <a:lstStyle/>
          <a:p>
            <a:pPr marL="0" marR="0" lvl="0" indent="0" algn="l" defTabSz="457200" rtl="0" eaLnBrk="1" fontAlgn="auto" latinLnBrk="0" hangingPunct="1">
              <a:lnSpc>
                <a:spcPts val="1773"/>
              </a:lnSpc>
              <a:spcBef>
                <a:spcPts val="0"/>
              </a:spcBef>
              <a:spcAft>
                <a:spcPts val="0"/>
              </a:spcAft>
              <a:buClrTx/>
              <a:buSzTx/>
              <a:buFontTx/>
              <a:buNone/>
              <a:tabLst/>
              <a:defRPr/>
            </a:pPr>
            <a:r>
              <a:rPr kumimoji="0" lang="en-US" sz="1400" b="1" i="0" u="none" strike="noStrike" kern="1200" cap="none" spc="0" normalizeH="0" baseline="0" noProof="0">
                <a:ln>
                  <a:noFill/>
                </a:ln>
                <a:solidFill>
                  <a:srgbClr val="232422"/>
                </a:solidFill>
                <a:effectLst/>
                <a:uLnTx/>
                <a:uFillTx/>
                <a:latin typeface="Fira Sans"/>
                <a:ea typeface="+mn-lt"/>
                <a:cs typeface="Calibri"/>
              </a:rPr>
              <a:t>Keep </a:t>
            </a:r>
            <a:r>
              <a:rPr kumimoji="0" lang="en-US" sz="1400" b="0" i="0" u="none" strike="noStrike" kern="1200" cap="none" spc="0" normalizeH="0" baseline="0" noProof="0">
                <a:ln>
                  <a:noFill/>
                </a:ln>
                <a:solidFill>
                  <a:srgbClr val="232422"/>
                </a:solidFill>
                <a:effectLst/>
                <a:uLnTx/>
                <a:uFillTx/>
                <a:latin typeface="Fira Sans"/>
                <a:ea typeface="+mn-lt"/>
                <a:cs typeface="Calibri"/>
              </a:rPr>
              <a:t>checking as a core entry point without making </a:t>
            </a:r>
          </a:p>
          <a:p>
            <a:pPr marL="0" marR="0" lvl="0" indent="0" algn="l" defTabSz="457200" rtl="0" eaLnBrk="1" fontAlgn="auto" latinLnBrk="0" hangingPunct="1">
              <a:lnSpc>
                <a:spcPts val="1773"/>
              </a:lnSpc>
              <a:spcBef>
                <a:spcPts val="0"/>
              </a:spcBef>
              <a:spcAft>
                <a:spcPts val="0"/>
              </a:spcAft>
              <a:buClrTx/>
              <a:buSzTx/>
              <a:buFontTx/>
              <a:buNone/>
              <a:tabLst/>
              <a:defRPr/>
            </a:pPr>
            <a:r>
              <a:rPr kumimoji="0" lang="en-US" sz="1400" b="0" i="0" u="none" strike="noStrike" kern="1200" cap="none" spc="0" normalizeH="0" baseline="0" noProof="0">
                <a:ln>
                  <a:noFill/>
                </a:ln>
                <a:solidFill>
                  <a:srgbClr val="232422"/>
                </a:solidFill>
                <a:effectLst/>
                <a:uLnTx/>
                <a:uFillTx/>
                <a:latin typeface="Fira Sans"/>
                <a:ea typeface="+mn-lt"/>
                <a:cs typeface="Calibri"/>
              </a:rPr>
              <a:t>it the only route to recognition</a:t>
            </a:r>
            <a:endParaRPr kumimoji="0" lang="en-US" sz="2000" b="0" i="0" u="none" strike="noStrike" kern="1200" cap="none" spc="0" normalizeH="0" baseline="0" noProof="0">
              <a:ln>
                <a:noFill/>
              </a:ln>
              <a:solidFill>
                <a:prstClr val="black"/>
              </a:solidFill>
              <a:effectLst/>
              <a:uLnTx/>
              <a:uFillTx/>
              <a:latin typeface="Fira Sans"/>
              <a:ea typeface="+mn-ea"/>
              <a:cs typeface="+mn-cs"/>
            </a:endParaRPr>
          </a:p>
        </p:txBody>
      </p:sp>
      <p:cxnSp>
        <p:nvCxnSpPr>
          <p:cNvPr id="103" name="Connector 102"/>
          <p:cNvCxnSpPr/>
          <p:nvPr/>
        </p:nvCxnSpPr>
        <p:spPr>
          <a:xfrm>
            <a:off x="503046" y="3093918"/>
            <a:ext cx="11185908" cy="0"/>
          </a:xfrm>
          <a:prstGeom prst="line">
            <a:avLst/>
          </a:prstGeom>
          <a:ln w="9144">
            <a:solidFill>
              <a:srgbClr val="DDDBCE"/>
            </a:solidFill>
          </a:ln>
          <a:effectLst/>
        </p:spPr>
      </p:cxnSp>
      <p:sp>
        <p:nvSpPr>
          <p:cNvPr id="104" name="TextBox 103"/>
          <p:cNvSpPr txBox="1"/>
          <p:nvPr/>
        </p:nvSpPr>
        <p:spPr>
          <a:xfrm>
            <a:off x="503046" y="3251571"/>
            <a:ext cx="5690134" cy="416052"/>
          </a:xfrm>
          <a:prstGeom prst="rect">
            <a:avLst/>
          </a:prstGeom>
          <a:noFill/>
        </p:spPr>
        <p:txBody>
          <a:bodyPr wrap="square" lIns="0" tIns="0" rIns="0" bIns="0" anchor="t">
            <a:noAutofit/>
          </a:bodyPr>
          <a:lstStyle/>
          <a:p>
            <a:pPr marL="350838" marR="0" lvl="0" indent="-342900" algn="l" defTabSz="457200" rtl="0" eaLnBrk="1" fontAlgn="auto" latinLnBrk="0" hangingPunct="1">
              <a:lnSpc>
                <a:spcPts val="1566"/>
              </a:lnSpc>
              <a:spcBef>
                <a:spcPts val="0"/>
              </a:spcBef>
              <a:spcAft>
                <a:spcPts val="0"/>
              </a:spcAft>
              <a:buClr>
                <a:srgbClr val="217651"/>
              </a:buClr>
              <a:buSzPct val="120000"/>
              <a:buFont typeface="+mj-lt"/>
              <a:buAutoNum type="arabicPeriod" startAt="2"/>
              <a:tabLst/>
              <a:defRPr/>
            </a:pP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Checking names signal either progression or fit, depending </a:t>
            </a:r>
            <a:b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b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on its role in the ecosystem.</a:t>
            </a:r>
          </a:p>
        </p:txBody>
      </p:sp>
      <p:sp>
        <p:nvSpPr>
          <p:cNvPr id="105" name="TextBox 104"/>
          <p:cNvSpPr txBox="1"/>
          <p:nvPr/>
        </p:nvSpPr>
        <p:spPr>
          <a:xfrm>
            <a:off x="6638079" y="3229745"/>
            <a:ext cx="5690134" cy="243688"/>
          </a:xfrm>
          <a:prstGeom prst="rect">
            <a:avLst/>
          </a:prstGeom>
          <a:noFill/>
        </p:spPr>
        <p:txBody>
          <a:bodyPr wrap="non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400" b="1" i="0" u="none" strike="noStrike" kern="1200" cap="none" spc="0" normalizeH="0" baseline="0" noProof="0">
                <a:ln>
                  <a:noFill/>
                </a:ln>
                <a:solidFill>
                  <a:srgbClr val="232422"/>
                </a:solidFill>
                <a:effectLst/>
                <a:uLnTx/>
                <a:uFillTx/>
                <a:latin typeface="Fira Sans"/>
                <a:ea typeface="+mn-ea"/>
                <a:cs typeface="+mn-cs"/>
              </a:rPr>
              <a:t>Align </a:t>
            </a:r>
            <a:r>
              <a:rPr kumimoji="0" lang="en-US" sz="1400" b="0" i="0" u="none" strike="noStrike" kern="1200" cap="none" spc="0" normalizeH="0" baseline="0" noProof="0">
                <a:ln>
                  <a:noFill/>
                </a:ln>
                <a:solidFill>
                  <a:srgbClr val="232422"/>
                </a:solidFill>
                <a:effectLst/>
                <a:uLnTx/>
                <a:uFillTx/>
                <a:latin typeface="Fira Sans"/>
                <a:ea typeface="+mn-ea"/>
                <a:cs typeface="+mn-cs"/>
              </a:rPr>
              <a:t>checking names to whether the products signal </a:t>
            </a:r>
            <a:br>
              <a:rPr kumimoji="0" lang="en-US" sz="1400" b="0" i="0" u="none" strike="noStrike" kern="1200" cap="none" spc="0" normalizeH="0" baseline="0" noProof="0">
                <a:ln>
                  <a:noFill/>
                </a:ln>
                <a:solidFill>
                  <a:srgbClr val="232422"/>
                </a:solidFill>
                <a:effectLst/>
                <a:uLnTx/>
                <a:uFillTx/>
                <a:latin typeface="Fira Sans"/>
                <a:ea typeface="+mn-ea"/>
                <a:cs typeface="+mn-cs"/>
              </a:rPr>
            </a:br>
            <a:r>
              <a:rPr kumimoji="0" lang="en-US" sz="1400" b="0" i="0" u="none" strike="noStrike" kern="1200" cap="none" spc="0" normalizeH="0" baseline="0" noProof="0">
                <a:ln>
                  <a:noFill/>
                </a:ln>
                <a:solidFill>
                  <a:srgbClr val="232422"/>
                </a:solidFill>
                <a:effectLst/>
                <a:uLnTx/>
                <a:uFillTx/>
                <a:latin typeface="Fira Sans"/>
                <a:ea typeface="+mn-ea"/>
                <a:cs typeface="+mn-cs"/>
              </a:rPr>
              <a:t>progression or serve distinct needs.</a:t>
            </a:r>
          </a:p>
        </p:txBody>
      </p:sp>
      <p:cxnSp>
        <p:nvCxnSpPr>
          <p:cNvPr id="106" name="Connector 105"/>
          <p:cNvCxnSpPr/>
          <p:nvPr/>
        </p:nvCxnSpPr>
        <p:spPr>
          <a:xfrm>
            <a:off x="503046" y="3778392"/>
            <a:ext cx="11185908" cy="0"/>
          </a:xfrm>
          <a:prstGeom prst="line">
            <a:avLst/>
          </a:prstGeom>
          <a:ln w="9144">
            <a:solidFill>
              <a:srgbClr val="DDDBCE"/>
            </a:solidFill>
          </a:ln>
          <a:effectLst/>
        </p:spPr>
      </p:cxnSp>
      <p:sp>
        <p:nvSpPr>
          <p:cNvPr id="107" name="TextBox 106"/>
          <p:cNvSpPr txBox="1"/>
          <p:nvPr/>
        </p:nvSpPr>
        <p:spPr>
          <a:xfrm>
            <a:off x="503046" y="3964803"/>
            <a:ext cx="5690134" cy="217170"/>
          </a:xfrm>
          <a:prstGeom prst="rect">
            <a:avLst/>
          </a:prstGeom>
          <a:noFill/>
        </p:spPr>
        <p:txBody>
          <a:bodyPr wrap="none" lIns="0" tIns="0" rIns="0" bIns="0" anchor="t">
            <a:noAutofit/>
          </a:bodyPr>
          <a:lstStyle/>
          <a:p>
            <a:pPr marL="342900" marR="0" lvl="0" indent="-342900" algn="l" defTabSz="457200" rtl="0" eaLnBrk="1" fontAlgn="auto" latinLnBrk="0" hangingPunct="1">
              <a:lnSpc>
                <a:spcPts val="1566"/>
              </a:lnSpc>
              <a:spcBef>
                <a:spcPts val="0"/>
              </a:spcBef>
              <a:spcAft>
                <a:spcPts val="0"/>
              </a:spcAft>
              <a:buClr>
                <a:srgbClr val="217651"/>
              </a:buClr>
              <a:buSzPct val="120000"/>
              <a:buFont typeface="+mj-lt"/>
              <a:buAutoNum type="arabicPeriod" startAt="3"/>
              <a:tabLst/>
              <a:defRPr/>
            </a:pP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Cards and lending usually stay separate, with targeted </a:t>
            </a:r>
            <a:b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b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benefits connecting them. </a:t>
            </a:r>
          </a:p>
        </p:txBody>
      </p:sp>
      <p:sp>
        <p:nvSpPr>
          <p:cNvPr id="108" name="TextBox 107"/>
          <p:cNvSpPr txBox="1"/>
          <p:nvPr/>
        </p:nvSpPr>
        <p:spPr>
          <a:xfrm>
            <a:off x="6628554" y="3885827"/>
            <a:ext cx="5690134" cy="243688"/>
          </a:xfrm>
          <a:prstGeom prst="rect">
            <a:avLst/>
          </a:prstGeom>
          <a:noFill/>
        </p:spPr>
        <p:txBody>
          <a:bodyPr wrap="non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400" b="1" i="0" u="none" strike="noStrike" kern="1200" cap="none" spc="0" normalizeH="0" baseline="0" noProof="0">
                <a:ln>
                  <a:noFill/>
                </a:ln>
                <a:solidFill>
                  <a:srgbClr val="232422"/>
                </a:solidFill>
                <a:effectLst/>
                <a:uLnTx/>
                <a:uFillTx/>
                <a:latin typeface="Fira Sans"/>
                <a:ea typeface="+mn-ea"/>
                <a:cs typeface="+mn-cs"/>
              </a:rPr>
              <a:t>Connect </a:t>
            </a:r>
            <a:r>
              <a:rPr kumimoji="0" lang="en-US" sz="1400" b="0" i="0" u="none" strike="noStrike" kern="1200" cap="none" spc="0" normalizeH="0" baseline="0" noProof="0">
                <a:ln>
                  <a:noFill/>
                </a:ln>
                <a:solidFill>
                  <a:srgbClr val="232422"/>
                </a:solidFill>
                <a:effectLst/>
                <a:uLnTx/>
                <a:uFillTx/>
                <a:latin typeface="Fira Sans"/>
                <a:ea typeface="+mn-ea"/>
                <a:cs typeface="+mn-cs"/>
              </a:rPr>
              <a:t>cards and lending selectively through benefits </a:t>
            </a:r>
            <a:br>
              <a:rPr kumimoji="0" lang="en-US" sz="1400" b="0" i="0" u="none" strike="noStrike" kern="1200" cap="none" spc="0" normalizeH="0" baseline="0" noProof="0">
                <a:ln>
                  <a:noFill/>
                </a:ln>
                <a:solidFill>
                  <a:srgbClr val="232422"/>
                </a:solidFill>
                <a:effectLst/>
                <a:uLnTx/>
                <a:uFillTx/>
                <a:latin typeface="Fira Sans"/>
                <a:ea typeface="+mn-ea"/>
                <a:cs typeface="+mn-cs"/>
              </a:rPr>
            </a:br>
            <a:r>
              <a:rPr kumimoji="0" lang="en-US" sz="1400" b="0" i="0" u="none" strike="noStrike" kern="1200" cap="none" spc="0" normalizeH="0" baseline="0" noProof="0">
                <a:ln>
                  <a:noFill/>
                </a:ln>
                <a:solidFill>
                  <a:srgbClr val="232422"/>
                </a:solidFill>
                <a:effectLst/>
                <a:uLnTx/>
                <a:uFillTx/>
                <a:latin typeface="Fira Sans"/>
                <a:ea typeface="+mn-ea"/>
                <a:cs typeface="+mn-cs"/>
              </a:rPr>
              <a:t>that make broader relationship value visible.</a:t>
            </a:r>
          </a:p>
        </p:txBody>
      </p:sp>
      <p:cxnSp>
        <p:nvCxnSpPr>
          <p:cNvPr id="109" name="Connector 108"/>
          <p:cNvCxnSpPr/>
          <p:nvPr/>
        </p:nvCxnSpPr>
        <p:spPr>
          <a:xfrm>
            <a:off x="503046" y="4462866"/>
            <a:ext cx="11185908" cy="0"/>
          </a:xfrm>
          <a:prstGeom prst="line">
            <a:avLst/>
          </a:prstGeom>
          <a:ln w="9144">
            <a:solidFill>
              <a:srgbClr val="DDDBCE"/>
            </a:solidFill>
          </a:ln>
          <a:effectLst/>
        </p:spPr>
      </p:cxnSp>
      <p:sp>
        <p:nvSpPr>
          <p:cNvPr id="110" name="TextBox 109"/>
          <p:cNvSpPr txBox="1"/>
          <p:nvPr/>
        </p:nvSpPr>
        <p:spPr>
          <a:xfrm>
            <a:off x="503046" y="4614291"/>
            <a:ext cx="5690134" cy="217170"/>
          </a:xfrm>
          <a:prstGeom prst="rect">
            <a:avLst/>
          </a:prstGeom>
          <a:noFill/>
        </p:spPr>
        <p:txBody>
          <a:bodyPr wrap="none" lIns="0" tIns="0" rIns="0" bIns="0" anchor="t">
            <a:noAutofit/>
          </a:bodyPr>
          <a:lstStyle/>
          <a:p>
            <a:pPr marL="342900" marR="0" lvl="0" indent="-342900" algn="l" defTabSz="457200" rtl="0" eaLnBrk="1" fontAlgn="auto" latinLnBrk="0" hangingPunct="1">
              <a:lnSpc>
                <a:spcPts val="1566"/>
              </a:lnSpc>
              <a:spcBef>
                <a:spcPts val="0"/>
              </a:spcBef>
              <a:spcAft>
                <a:spcPts val="0"/>
              </a:spcAft>
              <a:buClr>
                <a:srgbClr val="217651"/>
              </a:buClr>
              <a:buSzPct val="120000"/>
              <a:buFont typeface="+mj-lt"/>
              <a:buAutoNum type="arabicPeriod" startAt="4"/>
              <a:tabLst/>
              <a:defRPr/>
            </a:pP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Recognition can begin before customers consolidate </a:t>
            </a:r>
            <a:b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b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large balances.</a:t>
            </a:r>
          </a:p>
        </p:txBody>
      </p:sp>
      <p:sp>
        <p:nvSpPr>
          <p:cNvPr id="111" name="TextBox 110"/>
          <p:cNvSpPr txBox="1"/>
          <p:nvPr/>
        </p:nvSpPr>
        <p:spPr>
          <a:xfrm>
            <a:off x="6638079" y="4579765"/>
            <a:ext cx="5690134" cy="243688"/>
          </a:xfrm>
          <a:prstGeom prst="rect">
            <a:avLst/>
          </a:prstGeom>
          <a:noFill/>
        </p:spPr>
        <p:txBody>
          <a:bodyPr wrap="non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400" b="1" i="0" u="none" strike="noStrike" kern="1200" cap="none" spc="0" normalizeH="0" baseline="0" noProof="0">
                <a:ln>
                  <a:noFill/>
                </a:ln>
                <a:solidFill>
                  <a:srgbClr val="232422"/>
                </a:solidFill>
                <a:effectLst/>
                <a:uLnTx/>
                <a:uFillTx/>
                <a:latin typeface="Fira Sans"/>
                <a:ea typeface="+mn-ea"/>
                <a:cs typeface="+mn-cs"/>
              </a:rPr>
              <a:t>Allow </a:t>
            </a:r>
            <a:r>
              <a:rPr kumimoji="0" lang="en-US" sz="1400" b="0" i="0" u="none" strike="noStrike" kern="1200" cap="none" spc="0" normalizeH="0" baseline="0" noProof="0">
                <a:ln>
                  <a:noFill/>
                </a:ln>
                <a:solidFill>
                  <a:srgbClr val="232422"/>
                </a:solidFill>
                <a:effectLst/>
                <a:uLnTx/>
                <a:uFillTx/>
                <a:latin typeface="Fira Sans"/>
                <a:ea typeface="+mn-ea"/>
                <a:cs typeface="+mn-cs"/>
              </a:rPr>
              <a:t>recognition to begin with membership or activity </a:t>
            </a:r>
            <a:br>
              <a:rPr kumimoji="0" lang="en-US" sz="1400" b="0" i="0" u="none" strike="noStrike" kern="1200" cap="none" spc="0" normalizeH="0" baseline="0" noProof="0">
                <a:ln>
                  <a:noFill/>
                </a:ln>
                <a:solidFill>
                  <a:srgbClr val="232422"/>
                </a:solidFill>
                <a:effectLst/>
                <a:uLnTx/>
                <a:uFillTx/>
                <a:latin typeface="Fira Sans"/>
                <a:ea typeface="+mn-ea"/>
                <a:cs typeface="+mn-cs"/>
              </a:rPr>
            </a:br>
            <a:r>
              <a:rPr kumimoji="0" lang="en-US" sz="1400" b="0" i="0" u="none" strike="noStrike" kern="1200" cap="none" spc="0" normalizeH="0" baseline="0" noProof="0">
                <a:ln>
                  <a:noFill/>
                </a:ln>
                <a:solidFill>
                  <a:srgbClr val="232422"/>
                </a:solidFill>
                <a:effectLst/>
                <a:uLnTx/>
                <a:uFillTx/>
                <a:latin typeface="Fira Sans"/>
                <a:ea typeface="+mn-ea"/>
                <a:cs typeface="+mn-cs"/>
              </a:rPr>
              <a:t>before balances are large.</a:t>
            </a:r>
          </a:p>
        </p:txBody>
      </p:sp>
      <p:cxnSp>
        <p:nvCxnSpPr>
          <p:cNvPr id="112" name="Connector 111"/>
          <p:cNvCxnSpPr/>
          <p:nvPr/>
        </p:nvCxnSpPr>
        <p:spPr>
          <a:xfrm>
            <a:off x="503046" y="5147340"/>
            <a:ext cx="11185908" cy="0"/>
          </a:xfrm>
          <a:prstGeom prst="line">
            <a:avLst/>
          </a:prstGeom>
          <a:ln w="9144">
            <a:solidFill>
              <a:srgbClr val="DDDBCE"/>
            </a:solidFill>
          </a:ln>
          <a:effectLst/>
        </p:spPr>
      </p:cxnSp>
      <p:sp>
        <p:nvSpPr>
          <p:cNvPr id="113" name="TextBox 112"/>
          <p:cNvSpPr txBox="1"/>
          <p:nvPr/>
        </p:nvSpPr>
        <p:spPr>
          <a:xfrm>
            <a:off x="503046" y="5352679"/>
            <a:ext cx="5050029" cy="416052"/>
          </a:xfrm>
          <a:prstGeom prst="rect">
            <a:avLst/>
          </a:prstGeom>
          <a:noFill/>
        </p:spPr>
        <p:txBody>
          <a:bodyPr wrap="square" lIns="0" tIns="0" rIns="0" bIns="0" anchor="t">
            <a:noAutofit/>
          </a:bodyPr>
          <a:lstStyle/>
          <a:p>
            <a:pPr marL="350838" marR="0" lvl="0" indent="-342900" algn="l" defTabSz="457200" rtl="0" eaLnBrk="1" fontAlgn="auto" latinLnBrk="0" hangingPunct="1">
              <a:lnSpc>
                <a:spcPts val="1566"/>
              </a:lnSpc>
              <a:spcBef>
                <a:spcPts val="0"/>
              </a:spcBef>
              <a:spcAft>
                <a:spcPts val="0"/>
              </a:spcAft>
              <a:buClr>
                <a:srgbClr val="217651"/>
              </a:buClr>
              <a:buSzPct val="120000"/>
              <a:buFont typeface="+mj-lt"/>
              <a:buAutoNum type="arabicPeriod" startAt="5"/>
              <a:tabLst/>
              <a:defRPr/>
            </a:pPr>
            <a:r>
              <a:rPr kumimoji="0" lang="en-US" sz="1400" b="0" i="0" u="none" strike="noStrike" kern="1200" cap="none" spc="0" normalizeH="0" baseline="0" noProof="0">
                <a:ln>
                  <a:noFill/>
                </a:ln>
                <a:solidFill>
                  <a:prstClr val="black">
                    <a:lumMod val="65000"/>
                    <a:lumOff val="35000"/>
                  </a:prstClr>
                </a:solidFill>
                <a:effectLst/>
                <a:uLnTx/>
                <a:uFillTx/>
                <a:latin typeface="Fira Sans"/>
                <a:ea typeface="+mn-ea"/>
                <a:cs typeface="+mn-cs"/>
              </a:rPr>
              <a:t>Premier and Private Client are familiar labels used for different upper-affluent structures.</a:t>
            </a:r>
          </a:p>
        </p:txBody>
      </p:sp>
      <p:sp>
        <p:nvSpPr>
          <p:cNvPr id="114" name="TextBox 113"/>
          <p:cNvSpPr txBox="1"/>
          <p:nvPr/>
        </p:nvSpPr>
        <p:spPr>
          <a:xfrm>
            <a:off x="6638079" y="5330853"/>
            <a:ext cx="4788746" cy="468904"/>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400" b="1" i="0" u="none" strike="noStrike" kern="1200" cap="none" spc="0" normalizeH="0" baseline="0" noProof="0">
                <a:ln>
                  <a:noFill/>
                </a:ln>
                <a:solidFill>
                  <a:srgbClr val="232422"/>
                </a:solidFill>
                <a:effectLst/>
                <a:uLnTx/>
                <a:uFillTx/>
                <a:latin typeface="Fira Sans"/>
                <a:ea typeface="+mn-ea"/>
                <a:cs typeface="+mn-cs"/>
              </a:rPr>
              <a:t>Clarify </a:t>
            </a:r>
            <a:r>
              <a:rPr kumimoji="0" lang="en-US" sz="1400" b="0" i="0" u="none" strike="noStrike" kern="1200" cap="none" spc="0" normalizeH="0" baseline="0" noProof="0">
                <a:ln>
                  <a:noFill/>
                </a:ln>
                <a:solidFill>
                  <a:srgbClr val="232422"/>
                </a:solidFill>
                <a:effectLst/>
                <a:uLnTx/>
                <a:uFillTx/>
                <a:latin typeface="Fira Sans"/>
                <a:ea typeface="+mn-ea"/>
                <a:cs typeface="+mn-cs"/>
              </a:rPr>
              <a:t>the roles of premium checking, Private Client, and Private Bank while weighing any new name against its education cost.</a:t>
            </a:r>
          </a:p>
        </p:txBody>
      </p:sp>
      <p:cxnSp>
        <p:nvCxnSpPr>
          <p:cNvPr id="115" name="Connector 114"/>
          <p:cNvCxnSpPr/>
          <p:nvPr/>
        </p:nvCxnSpPr>
        <p:spPr>
          <a:xfrm>
            <a:off x="503046" y="6414516"/>
            <a:ext cx="11185908" cy="0"/>
          </a:xfrm>
          <a:prstGeom prst="line">
            <a:avLst/>
          </a:prstGeom>
          <a:ln w="9144">
            <a:solidFill>
              <a:srgbClr val="DDDBCE"/>
            </a:solidFill>
          </a:ln>
          <a:effectLst/>
        </p:spPr>
      </p:cxnSp>
      <p:sp>
        <p:nvSpPr>
          <p:cNvPr id="116" name="TextBox 115"/>
          <p:cNvSpPr txBox="1"/>
          <p:nvPr/>
        </p:nvSpPr>
        <p:spPr>
          <a:xfrm>
            <a:off x="503046" y="6491373"/>
            <a:ext cx="11745204" cy="160934"/>
          </a:xfrm>
          <a:prstGeom prst="rect">
            <a:avLst/>
          </a:prstGeom>
          <a:noFill/>
        </p:spPr>
        <p:txBody>
          <a:bodyPr wrap="non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Source: Ogilvy analysis of published program terms across the audited set, verified Aug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extLst>
      <p:ext uri="{BB962C8B-B14F-4D97-AF65-F5344CB8AC3E}">
        <p14:creationId xmlns:p14="http://schemas.microsoft.com/office/powerpoint/2010/main" val="1672379474"/>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17651"/>
        </a:solidFill>
        <a:effectLst/>
      </p:bgPr>
    </p:bg>
    <p:spTree>
      <p:nvGrpSpPr>
        <p:cNvPr id="1" name=""/>
        <p:cNvGrpSpPr/>
        <p:nvPr/>
      </p:nvGrpSpPr>
      <p:grpSpPr>
        <a:xfrm>
          <a:off x="0" y="0"/>
          <a:ext cx="0" cy="0"/>
          <a:chOff x="0" y="0"/>
          <a:chExt cx="0" cy="0"/>
        </a:xfrm>
      </p:grpSpPr>
      <p:sp>
        <p:nvSpPr>
          <p:cNvPr id="92" name="TextBox 91"/>
          <p:cNvSpPr txBox="1"/>
          <p:nvPr/>
        </p:nvSpPr>
        <p:spPr>
          <a:xfrm>
            <a:off x="503046" y="358054"/>
            <a:ext cx="707557"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14" normalizeH="0" baseline="0" noProof="0">
                <a:ln>
                  <a:noFill/>
                </a:ln>
                <a:solidFill>
                  <a:srgbClr val="FFFFFF"/>
                </a:solidFill>
                <a:effectLst/>
                <a:uLnTx/>
                <a:uFillTx/>
                <a:latin typeface="Fira Sans SemiBold"/>
                <a:ea typeface="+mn-ea"/>
                <a:cs typeface="+mn-cs"/>
              </a:rPr>
              <a:t>Citizens</a:t>
            </a:r>
          </a:p>
        </p:txBody>
      </p:sp>
      <p:sp>
        <p:nvSpPr>
          <p:cNvPr id="93" name="TextBox 92"/>
          <p:cNvSpPr txBox="1"/>
          <p:nvPr/>
        </p:nvSpPr>
        <p:spPr>
          <a:xfrm>
            <a:off x="503046" y="182961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1</a:t>
            </a:r>
          </a:p>
        </p:txBody>
      </p:sp>
      <p:sp>
        <p:nvSpPr>
          <p:cNvPr id="95" name="TextBox 94"/>
          <p:cNvSpPr txBox="1"/>
          <p:nvPr/>
        </p:nvSpPr>
        <p:spPr>
          <a:xfrm>
            <a:off x="503046" y="2542845"/>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2</a:t>
            </a:r>
          </a:p>
        </p:txBody>
      </p:sp>
      <p:sp>
        <p:nvSpPr>
          <p:cNvPr id="96" name="TextBox 95"/>
          <p:cNvSpPr txBox="1"/>
          <p:nvPr/>
        </p:nvSpPr>
        <p:spPr>
          <a:xfrm>
            <a:off x="1124993" y="2343789"/>
            <a:ext cx="2375739"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Citizens today</a:t>
            </a:r>
          </a:p>
        </p:txBody>
      </p:sp>
      <p:sp>
        <p:nvSpPr>
          <p:cNvPr id="97" name="TextBox 96"/>
          <p:cNvSpPr txBox="1"/>
          <p:nvPr/>
        </p:nvSpPr>
        <p:spPr>
          <a:xfrm>
            <a:off x="503046" y="3256077"/>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3</a:t>
            </a:r>
          </a:p>
        </p:txBody>
      </p:sp>
      <p:sp>
        <p:nvSpPr>
          <p:cNvPr id="98" name="TextBox 97"/>
          <p:cNvSpPr txBox="1"/>
          <p:nvPr/>
        </p:nvSpPr>
        <p:spPr>
          <a:xfrm>
            <a:off x="1124993" y="3057021"/>
            <a:ext cx="3483514"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The customer to win</a:t>
            </a:r>
          </a:p>
        </p:txBody>
      </p:sp>
      <p:sp>
        <p:nvSpPr>
          <p:cNvPr id="99" name="TextBox 98"/>
          <p:cNvSpPr txBox="1"/>
          <p:nvPr/>
        </p:nvSpPr>
        <p:spPr>
          <a:xfrm>
            <a:off x="503046" y="3969309"/>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4</a:t>
            </a:r>
          </a:p>
        </p:txBody>
      </p:sp>
      <p:sp>
        <p:nvSpPr>
          <p:cNvPr id="100" name="TextBox 99"/>
          <p:cNvSpPr txBox="1"/>
          <p:nvPr/>
        </p:nvSpPr>
        <p:spPr>
          <a:xfrm>
            <a:off x="1124993" y="3770253"/>
            <a:ext cx="600417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What we learned from the category</a:t>
            </a:r>
          </a:p>
        </p:txBody>
      </p:sp>
      <p:sp>
        <p:nvSpPr>
          <p:cNvPr id="101" name="TextBox 100"/>
          <p:cNvSpPr txBox="1"/>
          <p:nvPr/>
        </p:nvSpPr>
        <p:spPr>
          <a:xfrm>
            <a:off x="503046" y="4682541"/>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Medium"/>
                <a:ea typeface="+mn-ea"/>
                <a:cs typeface="+mn-cs"/>
              </a:rPr>
              <a:t>5</a:t>
            </a:r>
          </a:p>
        </p:txBody>
      </p:sp>
      <p:sp>
        <p:nvSpPr>
          <p:cNvPr id="102" name="TextBox 101"/>
          <p:cNvSpPr txBox="1"/>
          <p:nvPr/>
        </p:nvSpPr>
        <p:spPr>
          <a:xfrm>
            <a:off x="1124993" y="4483485"/>
            <a:ext cx="3823097"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sz="2900" b="0" i="0" u="none" strike="noStrike" kern="1200" cap="none" spc="0" normalizeH="0" baseline="0" noProof="0">
                <a:ln>
                  <a:noFill/>
                </a:ln>
                <a:solidFill>
                  <a:srgbClr val="FFFFFF"/>
                </a:solidFill>
                <a:effectLst/>
                <a:uLnTx/>
                <a:uFillTx/>
                <a:latin typeface="Fira Sans Medium"/>
                <a:ea typeface="+mn-ea"/>
                <a:cs typeface="+mn-cs"/>
              </a:rPr>
              <a:t>Where loyalty is going</a:t>
            </a:r>
          </a:p>
        </p:txBody>
      </p:sp>
      <p:sp>
        <p:nvSpPr>
          <p:cNvPr id="103" name="TextBox 102"/>
          <p:cNvSpPr txBox="1"/>
          <p:nvPr/>
        </p:nvSpPr>
        <p:spPr>
          <a:xfrm>
            <a:off x="503046" y="539577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6</a:t>
            </a:r>
          </a:p>
        </p:txBody>
      </p:sp>
      <p:sp>
        <p:nvSpPr>
          <p:cNvPr id="104" name="TextBox 103"/>
          <p:cNvSpPr txBox="1"/>
          <p:nvPr/>
        </p:nvSpPr>
        <p:spPr>
          <a:xfrm>
            <a:off x="1124992" y="5196717"/>
            <a:ext cx="610312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Initial ecosystem recommendation</a:t>
            </a:r>
          </a:p>
          <a:p>
            <a:pPr marL="0" marR="0" lvl="0" indent="0" algn="l" defTabSz="457200" rtl="0" eaLnBrk="1" fontAlgn="auto" latinLnBrk="0" hangingPunct="1">
              <a:lnSpc>
                <a:spcPts val="4147"/>
              </a:lnSpc>
              <a:spcBef>
                <a:spcPts val="0"/>
              </a:spcBef>
              <a:spcAft>
                <a:spcPts val="0"/>
              </a:spcAft>
              <a:buClrTx/>
              <a:buSzTx/>
              <a:buFontTx/>
              <a:buNone/>
              <a:tabLst/>
              <a:defRPr/>
            </a:pPr>
            <a:endPar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endParaRP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prstClr val="black">
                    <a:tint val="75000"/>
                  </a:prstClr>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950" b="0" i="0" u="none" strike="noStrike" kern="1200" cap="none" spc="0" normalizeH="0" baseline="0" noProof="0">
              <a:ln>
                <a:noFill/>
              </a:ln>
              <a:solidFill>
                <a:prstClr val="black">
                  <a:tint val="75000"/>
                </a:prstClr>
              </a:solidFill>
              <a:effectLst/>
              <a:uLnTx/>
              <a:uFillTx/>
              <a:latin typeface="Fira Mono"/>
              <a:ea typeface="+mn-ea"/>
              <a:cs typeface="+mn-cs"/>
            </a:endParaRPr>
          </a:p>
        </p:txBody>
      </p:sp>
      <p:sp>
        <p:nvSpPr>
          <p:cNvPr id="2" name="TextBox 1">
            <a:extLst>
              <a:ext uri="{FF2B5EF4-FFF2-40B4-BE49-F238E27FC236}">
                <a16:creationId xmlns:a16="http://schemas.microsoft.com/office/drawing/2014/main" id="{CA947025-1BC6-9173-A5FA-B125941951F7}"/>
              </a:ext>
            </a:extLst>
          </p:cNvPr>
          <p:cNvSpPr txBox="1"/>
          <p:nvPr/>
        </p:nvSpPr>
        <p:spPr>
          <a:xfrm>
            <a:off x="1124993" y="1630557"/>
            <a:ext cx="520784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How we analyze ecosystems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986A730E-9653-F933-FCCC-DA2B0D727B3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7EAEB4-1D7F-1F95-9EC0-D90DA56F51CA}"/>
              </a:ext>
            </a:extLst>
          </p:cNvPr>
          <p:cNvSpPr/>
          <p:nvPr/>
        </p:nvSpPr>
        <p:spPr>
          <a:xfrm>
            <a:off x="470451" y="5295662"/>
            <a:ext cx="4492487" cy="914399"/>
          </a:xfrm>
          <a:prstGeom prst="rect">
            <a:avLst/>
          </a:prstGeom>
          <a:solidFill>
            <a:srgbClr val="007651"/>
          </a:solidFill>
          <a:ln w="28575">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Fira Sans Medium"/>
              <a:ea typeface="+mn-ea"/>
              <a:cs typeface="+mn-cs"/>
            </a:endParaRPr>
          </a:p>
        </p:txBody>
      </p:sp>
      <p:pic>
        <p:nvPicPr>
          <p:cNvPr id="11" name="Picture 10">
            <a:extLst>
              <a:ext uri="{FF2B5EF4-FFF2-40B4-BE49-F238E27FC236}">
                <a16:creationId xmlns:a16="http://schemas.microsoft.com/office/drawing/2014/main" id="{B821C8DB-7455-109B-DA43-B4B3E81B5D92}"/>
              </a:ext>
            </a:extLst>
          </p:cNvPr>
          <p:cNvPicPr>
            <a:picLocks noChangeAspect="1"/>
          </p:cNvPicPr>
          <p:nvPr/>
        </p:nvPicPr>
        <p:blipFill>
          <a:blip r:embed="rId4"/>
          <a:srcRect/>
          <a:stretch>
            <a:fillRect/>
          </a:stretch>
        </p:blipFill>
        <p:spPr>
          <a:xfrm>
            <a:off x="5192726" y="2162224"/>
            <a:ext cx="4065138" cy="3916249"/>
          </a:xfrm>
          <a:prstGeom prst="rect">
            <a:avLst/>
          </a:prstGeom>
        </p:spPr>
      </p:pic>
      <p:sp>
        <p:nvSpPr>
          <p:cNvPr id="4" name="TextBox 3">
            <a:extLst>
              <a:ext uri="{FF2B5EF4-FFF2-40B4-BE49-F238E27FC236}">
                <a16:creationId xmlns:a16="http://schemas.microsoft.com/office/drawing/2014/main" id="{E3E4069B-8830-BC61-22AE-3141E05123C0}"/>
              </a:ext>
            </a:extLst>
          </p:cNvPr>
          <p:cNvSpPr txBox="1"/>
          <p:nvPr/>
        </p:nvSpPr>
        <p:spPr>
          <a:xfrm>
            <a:off x="442786" y="672529"/>
            <a:ext cx="9550959" cy="705155"/>
          </a:xfrm>
          <a:prstGeom prst="rect">
            <a:avLst/>
          </a:prstGeom>
          <a:noFill/>
        </p:spPr>
        <p:txBody>
          <a:bodyPr wrap="square" lIns="36576" tIns="36576" rIns="36576" bIns="36576"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800" b="0" i="0" u="none" strike="noStrike" kern="1200" cap="none" spc="-14" normalizeH="0" baseline="0" noProof="0">
                <a:ln>
                  <a:noFill/>
                </a:ln>
                <a:solidFill>
                  <a:srgbClr val="232422"/>
                </a:solidFill>
                <a:effectLst/>
                <a:uLnTx/>
                <a:uFillTx/>
                <a:latin typeface="Fira Sans"/>
                <a:ea typeface="+mn-ea"/>
                <a:cs typeface="+mn-cs"/>
              </a:rPr>
              <a:t>Modern loyalty is expanding from isolated transactional perks to holistic, relationship-wide recognition</a:t>
            </a:r>
          </a:p>
        </p:txBody>
      </p:sp>
      <p:sp>
        <p:nvSpPr>
          <p:cNvPr id="8" name="TextBox 7">
            <a:extLst>
              <a:ext uri="{FF2B5EF4-FFF2-40B4-BE49-F238E27FC236}">
                <a16:creationId xmlns:a16="http://schemas.microsoft.com/office/drawing/2014/main" id="{21098259-C7B7-1132-6026-27104E3732D4}"/>
              </a:ext>
            </a:extLst>
          </p:cNvPr>
          <p:cNvSpPr txBox="1"/>
          <p:nvPr/>
        </p:nvSpPr>
        <p:spPr>
          <a:xfrm>
            <a:off x="413574" y="2119457"/>
            <a:ext cx="4645187" cy="4691669"/>
          </a:xfrm>
          <a:prstGeom prst="rect">
            <a:avLst/>
          </a:prstGeom>
          <a:noFill/>
        </p:spPr>
        <p:txBody>
          <a:bodyPr wrap="square" lIns="91440" tIns="45720" rIns="91440" bIns="45720" anchor="t">
            <a:spAutoFit/>
          </a:bodyPr>
          <a:lstStyle/>
          <a:p>
            <a:pPr marL="0" marR="0" lvl="0" indent="0" algn="l" defTabSz="457200" rtl="0" eaLnBrk="1" fontAlgn="base" latinLnBrk="0" hangingPunct="1">
              <a:lnSpc>
                <a:spcPts val="1555"/>
              </a:lnSpc>
              <a:spcBef>
                <a:spcPts val="0"/>
              </a:spcBef>
              <a:spcAft>
                <a:spcPts val="600"/>
              </a:spcAft>
              <a:buClrTx/>
              <a:buSzTx/>
              <a:buFontTx/>
              <a:buNone/>
              <a:tabLst/>
              <a:defRPr/>
            </a:pPr>
            <a:r>
              <a:rPr kumimoji="0" lang="en-US" sz="1100" b="0" i="0" u="none" strike="noStrike" kern="1200" cap="none" spc="65" normalizeH="0" baseline="0" noProof="0">
                <a:ln>
                  <a:noFill/>
                </a:ln>
                <a:solidFill>
                  <a:srgbClr val="007651"/>
                </a:solidFill>
                <a:effectLst/>
                <a:uLnTx/>
                <a:uFillTx/>
                <a:latin typeface="Fira Sans SemiBold"/>
                <a:ea typeface="+mn-ea"/>
                <a:cs typeface="+mn-cs"/>
              </a:rPr>
              <a:t>The Unbound Consumer</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232422"/>
                </a:solidFill>
                <a:effectLst/>
                <a:uLnTx/>
                <a:uFillTx/>
                <a:latin typeface="Fira Sans"/>
                <a:ea typeface="+mn-ea"/>
                <a:cs typeface="+mn-cs"/>
              </a:rPr>
              <a:t>Daily marketing noise and historic lows in trust have broken traditional loyalty norms. Consumers no longer default to brand rules - they reward banks that actively enable their financial lives.</a:t>
            </a:r>
            <a:endParaRPr kumimoji="0" lang="en-US" sz="1100" b="0" i="0" u="none" strike="noStrike" kern="1200" cap="none" spc="0" normalizeH="0" baseline="0" noProof="0">
              <a:ln>
                <a:noFill/>
              </a:ln>
              <a:solidFill>
                <a:prstClr val="black"/>
              </a:solidFill>
              <a:effectLst/>
              <a:uLnTx/>
              <a:uFillTx/>
              <a:latin typeface="Calibri"/>
              <a:ea typeface="Calibri"/>
              <a:cs typeface="Calibri"/>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600" b="0" i="0" u="none" strike="noStrike" kern="1200" cap="none" spc="0" normalizeH="0" baseline="0" noProof="0">
              <a:ln>
                <a:noFill/>
              </a:ln>
              <a:solidFill>
                <a:srgbClr val="232422"/>
              </a:solidFill>
              <a:effectLst/>
              <a:uLnTx/>
              <a:uFillTx/>
              <a:latin typeface="Fira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65" normalizeH="0" baseline="0" noProof="0">
                <a:ln>
                  <a:noFill/>
                </a:ln>
                <a:solidFill>
                  <a:srgbClr val="007651"/>
                </a:solidFill>
                <a:effectLst/>
                <a:uLnTx/>
                <a:uFillTx/>
                <a:latin typeface="Fira Sans SemiBold"/>
                <a:ea typeface="+mn-ea"/>
                <a:cs typeface="+mn-cs"/>
              </a:rPr>
              <a:t>Principles of Brand Devotion in Banking</a:t>
            </a:r>
            <a:endParaRPr kumimoji="0" lang="en-US" sz="1100" b="0" i="0" u="none" strike="noStrike" kern="1200" cap="none" spc="0" normalizeH="0" baseline="0" noProof="0">
              <a:ln>
                <a:noFill/>
              </a:ln>
              <a:solidFill>
                <a:prstClr val="black"/>
              </a:solidFill>
              <a:effectLst/>
              <a:uLnTx/>
              <a:uFillTx/>
              <a:latin typeface="Calibri"/>
              <a:ea typeface="Calibri"/>
              <a:cs typeface="Calibri"/>
            </a:endParaRPr>
          </a:p>
          <a:p>
            <a:pPr marL="0" marR="0" lvl="0" indent="0" algn="l" defTabSz="457200" rtl="0" eaLnBrk="1" fontAlgn="base" latinLnBrk="0" hangingPunct="1">
              <a:lnSpc>
                <a:spcPts val="1555"/>
              </a:lnSpc>
              <a:spcBef>
                <a:spcPts val="0"/>
              </a:spcBef>
              <a:spcAft>
                <a:spcPts val="0"/>
              </a:spcAft>
              <a:buClrTx/>
              <a:buSzTx/>
              <a:buFontTx/>
              <a:buNone/>
              <a:tabLst/>
              <a:defRPr/>
            </a:pPr>
            <a:endParaRPr kumimoji="0" lang="en-US" sz="1100" b="0" i="0" u="none" strike="noStrike" kern="1200" cap="none" spc="65" normalizeH="0" baseline="0" noProof="0">
              <a:ln>
                <a:noFill/>
              </a:ln>
              <a:solidFill>
                <a:srgbClr val="007651"/>
              </a:solidFill>
              <a:effectLst/>
              <a:uLnTx/>
              <a:uFillTx/>
              <a:latin typeface="Fira Sans SemiBold"/>
              <a:ea typeface="+mn-ea"/>
              <a:cs typeface="+mn-cs"/>
            </a:endParaRPr>
          </a:p>
          <a:p>
            <a:pPr marL="228600" marR="0" lvl="0" indent="-228600" algn="l" defTabSz="457200" rtl="0" eaLnBrk="1" fontAlgn="auto" latinLnBrk="0" hangingPunct="1">
              <a:lnSpc>
                <a:spcPct val="100000"/>
              </a:lnSpc>
              <a:spcBef>
                <a:spcPts val="0"/>
              </a:spcBef>
              <a:spcAft>
                <a:spcPts val="600"/>
              </a:spcAft>
              <a:buClrTx/>
              <a:buSzTx/>
              <a:buFontTx/>
              <a:buAutoNum type="arabicPeriod"/>
              <a:tabLst/>
              <a:defRPr/>
            </a:pPr>
            <a:r>
              <a:rPr kumimoji="0" lang="en-US" sz="1100" b="1" i="0" u="none" strike="noStrike" kern="1200" cap="none" spc="0" normalizeH="0" baseline="0" noProof="0">
                <a:ln>
                  <a:noFill/>
                </a:ln>
                <a:solidFill>
                  <a:srgbClr val="232422"/>
                </a:solidFill>
                <a:effectLst/>
                <a:uLnTx/>
                <a:uFillTx/>
                <a:latin typeface="Fira Sans"/>
                <a:ea typeface="+mn-ea"/>
                <a:cs typeface="+mn-cs"/>
              </a:rPr>
              <a:t>Drive Financial Progress</a:t>
            </a:r>
            <a:r>
              <a:rPr kumimoji="0" lang="en-US" sz="1100" b="0" i="0" u="none" strike="noStrike" kern="1200" cap="none" spc="0" normalizeH="0" baseline="0" noProof="0">
                <a:ln>
                  <a:noFill/>
                </a:ln>
                <a:solidFill>
                  <a:srgbClr val="232422"/>
                </a:solidFill>
                <a:effectLst/>
                <a:uLnTx/>
                <a:uFillTx/>
                <a:latin typeface="Fira Sans"/>
                <a:ea typeface="+mn-ea"/>
                <a:cs typeface="+mn-cs"/>
              </a:rPr>
              <a:t> </a:t>
            </a:r>
            <a:r>
              <a:rPr kumimoji="0" lang="en-US" sz="800" b="0" i="0" u="none" strike="noStrike" kern="1200" cap="none" spc="0" normalizeH="0" baseline="0" noProof="0">
                <a:ln>
                  <a:noFill/>
                </a:ln>
                <a:solidFill>
                  <a:prstClr val="white">
                    <a:lumMod val="49000"/>
                  </a:prstClr>
                </a:solidFill>
                <a:effectLst/>
                <a:uLnTx/>
                <a:uFillTx/>
                <a:latin typeface="Fira Sans"/>
                <a:ea typeface="+mn-ea"/>
                <a:cs typeface="+mn-cs"/>
              </a:rPr>
              <a:t>(Financial &amp; Structural Bonds)</a:t>
            </a:r>
            <a:r>
              <a:rPr kumimoji="0" lang="en-US" sz="1100" b="0" i="0" u="none" strike="noStrike" kern="1200" cap="none" spc="0" normalizeH="0" baseline="0" noProof="0">
                <a:ln>
                  <a:noFill/>
                </a:ln>
                <a:solidFill>
                  <a:prstClr val="white">
                    <a:lumMod val="49000"/>
                  </a:prstClr>
                </a:solidFill>
                <a:effectLst/>
                <a:uLnTx/>
                <a:uFillTx/>
                <a:latin typeface="Fira Sans"/>
                <a:ea typeface="+mn-ea"/>
                <a:cs typeface="+mn-cs"/>
              </a:rPr>
              <a:t> </a:t>
            </a:r>
            <a:r>
              <a:rPr kumimoji="0" lang="en-US" sz="1100" b="0" i="0" u="none" strike="noStrike" kern="1200" cap="none" spc="0" normalizeH="0" baseline="0" noProof="0">
                <a:ln>
                  <a:noFill/>
                </a:ln>
                <a:solidFill>
                  <a:srgbClr val="232422"/>
                </a:solidFill>
                <a:effectLst/>
                <a:uLnTx/>
                <a:uFillTx/>
                <a:latin typeface="Fira Sans"/>
                <a:ea typeface="+mn-ea"/>
                <a:cs typeface="+mn-cs"/>
              </a:rPr>
              <a:t>Provide active tools and guidance that build momentum to unlock true customer Potential.</a:t>
            </a:r>
            <a:endParaRPr kumimoji="0" lang="en-US" sz="1100" b="0" i="0" u="none" strike="noStrike" kern="1200" cap="none" spc="0" normalizeH="0" baseline="0" noProof="0">
              <a:ln>
                <a:noFill/>
              </a:ln>
              <a:solidFill>
                <a:prstClr val="black"/>
              </a:solidFill>
              <a:effectLst/>
              <a:uLnTx/>
              <a:uFillTx/>
              <a:latin typeface="Calibri"/>
              <a:ea typeface="Calibri"/>
              <a:cs typeface="Calibri"/>
            </a:endParaRPr>
          </a:p>
          <a:p>
            <a:pPr marL="228600" marR="0" lvl="0" indent="-228600" algn="l" defTabSz="457200" rtl="0" eaLnBrk="1" fontAlgn="auto" latinLnBrk="0" hangingPunct="1">
              <a:lnSpc>
                <a:spcPct val="100000"/>
              </a:lnSpc>
              <a:spcBef>
                <a:spcPts val="0"/>
              </a:spcBef>
              <a:spcAft>
                <a:spcPts val="600"/>
              </a:spcAft>
              <a:buClrTx/>
              <a:buSzTx/>
              <a:buFontTx/>
              <a:buAutoNum type="arabicPeriod"/>
              <a:tabLst/>
              <a:defRPr/>
            </a:pPr>
            <a:r>
              <a:rPr kumimoji="0" lang="en-US" sz="1100" b="1" i="0" u="none" strike="noStrike" kern="1200" cap="none" spc="0" normalizeH="0" baseline="0" noProof="0">
                <a:ln>
                  <a:noFill/>
                </a:ln>
                <a:solidFill>
                  <a:srgbClr val="232422"/>
                </a:solidFill>
                <a:effectLst/>
                <a:uLnTx/>
                <a:uFillTx/>
                <a:latin typeface="Fira Sans"/>
                <a:ea typeface="+mn-ea"/>
                <a:cs typeface="+mn-cs"/>
              </a:rPr>
              <a:t>Recognize Total Engagement</a:t>
            </a:r>
            <a:r>
              <a:rPr kumimoji="0" lang="en-US" sz="800" b="0" i="0" u="none" strike="noStrike" kern="1200" cap="none" spc="0" normalizeH="0" baseline="0" noProof="0">
                <a:ln>
                  <a:noFill/>
                </a:ln>
                <a:solidFill>
                  <a:prstClr val="white">
                    <a:lumMod val="49000"/>
                  </a:prstClr>
                </a:solidFill>
                <a:effectLst/>
                <a:uLnTx/>
                <a:uFillTx/>
                <a:latin typeface="Fira Sans"/>
                <a:ea typeface="+mn-ea"/>
                <a:cs typeface="+mn-cs"/>
              </a:rPr>
              <a:t> (Emotional &amp; Social Bond) </a:t>
            </a:r>
            <a:r>
              <a:rPr kumimoji="0" lang="en-US" sz="1100" b="0" i="0" u="none" strike="noStrike" kern="1200" cap="none" spc="0" normalizeH="0" baseline="0" noProof="0">
                <a:ln>
                  <a:noFill/>
                </a:ln>
                <a:solidFill>
                  <a:srgbClr val="232422"/>
                </a:solidFill>
                <a:effectLst/>
                <a:uLnTx/>
                <a:uFillTx/>
                <a:latin typeface="Fira Sans"/>
                <a:ea typeface="+mn-ea"/>
                <a:cs typeface="+mn-cs"/>
              </a:rPr>
              <a:t>Measure loyalty through cross-product depth and shared milestones to build Community.</a:t>
            </a:r>
            <a:endParaRPr kumimoji="0" lang="en-US" sz="1100" b="0" i="0" u="none" strike="noStrike" kern="1200" cap="none" spc="0" normalizeH="0" baseline="0" noProof="0">
              <a:ln>
                <a:noFill/>
              </a:ln>
              <a:solidFill>
                <a:prstClr val="black"/>
              </a:solidFill>
              <a:effectLst/>
              <a:uLnTx/>
              <a:uFillTx/>
              <a:latin typeface="Calibri"/>
              <a:ea typeface="Calibri"/>
              <a:cs typeface="Calibri"/>
            </a:endParaRPr>
          </a:p>
          <a:p>
            <a:pPr marL="228600" marR="0" lvl="0" indent="-228600" algn="l" defTabSz="457200" rtl="0" eaLnBrk="1" fontAlgn="auto" latinLnBrk="0" hangingPunct="1">
              <a:lnSpc>
                <a:spcPct val="100000"/>
              </a:lnSpc>
              <a:spcBef>
                <a:spcPts val="0"/>
              </a:spcBef>
              <a:spcAft>
                <a:spcPts val="600"/>
              </a:spcAft>
              <a:buClrTx/>
              <a:buSzTx/>
              <a:buFontTx/>
              <a:buAutoNum type="arabicPeriod"/>
              <a:tabLst/>
              <a:defRPr/>
            </a:pPr>
            <a:r>
              <a:rPr kumimoji="0" lang="en-US" sz="1100" b="1" i="0" u="none" strike="noStrike" kern="1200" cap="none" spc="0" normalizeH="0" baseline="0" noProof="0">
                <a:ln>
                  <a:noFill/>
                </a:ln>
                <a:solidFill>
                  <a:srgbClr val="232422"/>
                </a:solidFill>
                <a:effectLst/>
                <a:uLnTx/>
                <a:uFillTx/>
                <a:latin typeface="Fira Sans"/>
                <a:ea typeface="+mn-ea"/>
                <a:cs typeface="+mn-cs"/>
              </a:rPr>
              <a:t>Make Value Persistently Visible</a:t>
            </a:r>
            <a:r>
              <a:rPr kumimoji="0" lang="en-US" sz="1100" b="0" i="0" u="none" strike="noStrike" kern="1200" cap="none" spc="0" normalizeH="0" baseline="0" noProof="0">
                <a:ln>
                  <a:noFill/>
                </a:ln>
                <a:solidFill>
                  <a:srgbClr val="232422"/>
                </a:solidFill>
                <a:effectLst/>
                <a:uLnTx/>
                <a:uFillTx/>
                <a:latin typeface="Fira Sans"/>
                <a:ea typeface="+mn-ea"/>
                <a:cs typeface="+mn-cs"/>
              </a:rPr>
              <a:t> </a:t>
            </a:r>
            <a:r>
              <a:rPr kumimoji="0" lang="en-US" sz="800" b="0" i="0" u="none" strike="noStrike" kern="1200" cap="none" spc="0" normalizeH="0" baseline="0" noProof="0">
                <a:ln>
                  <a:noFill/>
                </a:ln>
                <a:solidFill>
                  <a:prstClr val="white">
                    <a:lumMod val="49000"/>
                  </a:prstClr>
                </a:solidFill>
                <a:effectLst/>
                <a:uLnTx/>
                <a:uFillTx/>
                <a:latin typeface="Fira Sans"/>
                <a:ea typeface="+mn-ea"/>
                <a:cs typeface="+mn-cs"/>
              </a:rPr>
              <a:t>(Culture &amp; Awareness)</a:t>
            </a:r>
            <a:r>
              <a:rPr kumimoji="0" lang="en-US" sz="800" b="0" i="0" u="none" strike="noStrike" kern="1200" cap="none" spc="0" normalizeH="0" baseline="0" noProof="0">
                <a:ln>
                  <a:noFill/>
                </a:ln>
                <a:solidFill>
                  <a:srgbClr val="DE170D"/>
                </a:solidFill>
                <a:effectLst/>
                <a:uLnTx/>
                <a:uFillTx/>
                <a:latin typeface="Fira Sans"/>
                <a:ea typeface="+mn-ea"/>
                <a:cs typeface="+mn-cs"/>
              </a:rPr>
              <a:t> </a:t>
            </a:r>
            <a:r>
              <a:rPr kumimoji="0" lang="en-US" sz="1100" b="0" i="0" u="none" strike="noStrike" kern="1200" cap="none" spc="0" normalizeH="0" baseline="0" noProof="0">
                <a:ln>
                  <a:noFill/>
                </a:ln>
                <a:solidFill>
                  <a:srgbClr val="232422"/>
                </a:solidFill>
                <a:effectLst/>
                <a:uLnTx/>
                <a:uFillTx/>
                <a:latin typeface="Fira Sans"/>
                <a:ea typeface="+mn-ea"/>
                <a:cs typeface="+mn-cs"/>
              </a:rPr>
              <a:t>Proactively show unlocked benefits in real time. </a:t>
            </a:r>
            <a:endParaRPr kumimoji="0" lang="en-US" sz="1100" b="0" i="0" u="none" strike="noStrike" kern="1200" cap="none" spc="0" normalizeH="0" baseline="0" noProof="0">
              <a:ln>
                <a:noFill/>
              </a:ln>
              <a:solidFill>
                <a:srgbClr val="000000"/>
              </a:solidFill>
              <a:effectLst/>
              <a:uLnTx/>
              <a:uFillTx/>
              <a:latin typeface="Calibri"/>
              <a:ea typeface="Calibri"/>
              <a:cs typeface="Calibri"/>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232422"/>
              </a:solidFill>
              <a:effectLst/>
              <a:uLnTx/>
              <a:uFillTx/>
              <a:latin typeface="Fira Sans"/>
              <a:ea typeface="+mn-ea"/>
              <a:cs typeface="+mn-cs"/>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white"/>
                </a:solidFill>
                <a:effectLst/>
                <a:uLnTx/>
                <a:uFillTx/>
                <a:latin typeface="Fira Sans"/>
                <a:ea typeface="+mn-ea"/>
                <a:cs typeface="+mn-cs"/>
              </a:rPr>
              <a:t>Fewer than </a:t>
            </a:r>
            <a:r>
              <a:rPr kumimoji="0" lang="en-US" sz="2000" b="1" i="0" u="none" strike="noStrike" kern="1200" cap="none" spc="0" normalizeH="0" baseline="0" noProof="0">
                <a:ln>
                  <a:noFill/>
                </a:ln>
                <a:solidFill>
                  <a:prstClr val="white"/>
                </a:solidFill>
                <a:effectLst/>
                <a:uLnTx/>
                <a:uFillTx/>
                <a:latin typeface="Fira Sans"/>
                <a:ea typeface="+mn-ea"/>
                <a:cs typeface="+mn-cs"/>
              </a:rPr>
              <a:t>1 in 6</a:t>
            </a:r>
            <a:r>
              <a:rPr kumimoji="0" lang="en-US" sz="1200" b="0" i="0" u="none" strike="noStrike" kern="1200" cap="none" spc="0" normalizeH="0" baseline="0" noProof="0">
                <a:ln>
                  <a:noFill/>
                </a:ln>
                <a:solidFill>
                  <a:prstClr val="white"/>
                </a:solidFill>
                <a:effectLst/>
                <a:uLnTx/>
                <a:uFillTx/>
                <a:latin typeface="Fira Sans"/>
                <a:ea typeface="+mn-ea"/>
                <a:cs typeface="+mn-cs"/>
              </a:rPr>
              <a:t> bank customers realize when they unlock new resources. </a:t>
            </a:r>
            <a:endParaRPr kumimoji="0" lang="en-US" sz="2800" b="0" i="0" u="none" strike="noStrike" kern="1200" cap="none" spc="0" normalizeH="0" baseline="0" noProof="0">
              <a:ln>
                <a:noFill/>
              </a:ln>
              <a:solidFill>
                <a:prstClr val="white"/>
              </a:solidFill>
              <a:effectLst/>
              <a:uLnTx/>
              <a:uFillTx/>
              <a:latin typeface="Calibri"/>
              <a:ea typeface="Calibri"/>
              <a:cs typeface="Calibri"/>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white"/>
                </a:solidFill>
                <a:effectLst/>
                <a:uLnTx/>
                <a:uFillTx/>
                <a:latin typeface="Fira Sans"/>
                <a:ea typeface="+mn-ea"/>
                <a:cs typeface="+mn-cs"/>
              </a:rPr>
              <a:t>Loyalty benefits are invisible if not continuously communicated.</a:t>
            </a:r>
            <a:br>
              <a:rPr kumimoji="0" lang="en-US" sz="2400" b="1" i="0" u="none" strike="noStrike" kern="1200" cap="none" spc="0" normalizeH="0" baseline="0" noProof="0">
                <a:ln>
                  <a:noFill/>
                </a:ln>
                <a:solidFill>
                  <a:prstClr val="black"/>
                </a:solidFill>
                <a:effectLst/>
                <a:uLnTx/>
                <a:uFillTx/>
                <a:latin typeface="Calibri"/>
                <a:ea typeface="+mn-ea"/>
                <a:cs typeface="+mn-cs"/>
              </a:rPr>
            </a:br>
            <a:endParaRPr kumimoji="0" lang="en-US" sz="2400" b="1" i="0" u="none" strike="noStrike" kern="1200" cap="none" spc="0" normalizeH="0" baseline="0" noProof="0">
              <a:ln>
                <a:noFill/>
              </a:ln>
              <a:solidFill>
                <a:prstClr val="white"/>
              </a:solidFill>
              <a:effectLst/>
              <a:uLnTx/>
              <a:uFillTx/>
              <a:latin typeface="Calibri"/>
              <a:ea typeface="Calibri"/>
              <a:cs typeface="Calibri"/>
            </a:endParaRPr>
          </a:p>
          <a:p>
            <a:pPr marL="228600" marR="0" lvl="0" indent="-228600" algn="l" defTabSz="457200" rtl="0" eaLnBrk="1" fontAlgn="base" latinLnBrk="0" hangingPunct="1">
              <a:lnSpc>
                <a:spcPts val="1555"/>
              </a:lnSpc>
              <a:spcBef>
                <a:spcPts val="0"/>
              </a:spcBef>
              <a:spcAft>
                <a:spcPts val="600"/>
              </a:spcAft>
              <a:buClrTx/>
              <a:buSzTx/>
              <a:buFont typeface="+mj-lt"/>
              <a:buAutoNum type="arabicPeriod"/>
              <a:tabLst/>
              <a:defRPr/>
            </a:pPr>
            <a:endParaRPr kumimoji="0" lang="en-US" sz="1000" b="0" i="0" u="none" strike="noStrike" kern="1200" cap="none" spc="0" normalizeH="0" baseline="0" noProof="0">
              <a:ln>
                <a:noFill/>
              </a:ln>
              <a:solidFill>
                <a:srgbClr val="232422"/>
              </a:solidFill>
              <a:effectLst/>
              <a:uLnTx/>
              <a:uFillTx/>
              <a:latin typeface="Fira Sans"/>
              <a:ea typeface="+mn-ea"/>
              <a:cs typeface="+mn-cs"/>
            </a:endParaRPr>
          </a:p>
        </p:txBody>
      </p:sp>
      <p:sp>
        <p:nvSpPr>
          <p:cNvPr id="7" name="Slide Number Placeholder 1">
            <a:extLst>
              <a:ext uri="{FF2B5EF4-FFF2-40B4-BE49-F238E27FC236}">
                <a16:creationId xmlns:a16="http://schemas.microsoft.com/office/drawing/2014/main" id="{EF1A2CC2-57E2-439A-AE0F-04DECD9A0C0E}"/>
              </a:ext>
            </a:extLst>
          </p:cNvPr>
          <p:cNvSpPr txBox="1">
            <a:spLocks/>
          </p:cNvSpPr>
          <p:nvPr/>
        </p:nvSpPr>
        <p:spPr>
          <a:xfrm>
            <a:off x="9920514" y="6385379"/>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000" b="0" i="0" u="none" strike="noStrike" kern="1200" cap="none" spc="0" normalizeH="0" baseline="0" noProof="0" smtClean="0">
                <a:ln>
                  <a:noFill/>
                </a:ln>
                <a:solidFill>
                  <a:prstClr val="black">
                    <a:tint val="75000"/>
                  </a:prstClr>
                </a:solidFill>
                <a:effectLst/>
                <a:uLnTx/>
                <a:uFillTx/>
                <a:latin typeface="Fira Sans" panose="020B05030500000200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000" b="0" i="0" u="none" strike="noStrike" kern="1200" cap="none" spc="0" normalizeH="0" baseline="0" noProof="0">
              <a:ln>
                <a:noFill/>
              </a:ln>
              <a:solidFill>
                <a:prstClr val="black">
                  <a:tint val="75000"/>
                </a:prstClr>
              </a:solidFill>
              <a:effectLst/>
              <a:uLnTx/>
              <a:uFillTx/>
              <a:latin typeface="Fira Sans" panose="020B0503050000020004" pitchFamily="34" charset="0"/>
              <a:ea typeface="+mn-ea"/>
              <a:cs typeface="+mn-cs"/>
            </a:endParaRPr>
          </a:p>
        </p:txBody>
      </p:sp>
      <p:sp>
        <p:nvSpPr>
          <p:cNvPr id="5" name="TextBox 4">
            <a:extLst>
              <a:ext uri="{FF2B5EF4-FFF2-40B4-BE49-F238E27FC236}">
                <a16:creationId xmlns:a16="http://schemas.microsoft.com/office/drawing/2014/main" id="{BB41C5A8-C67C-4949-5EEB-8FC0D1FA2C14}"/>
              </a:ext>
            </a:extLst>
          </p:cNvPr>
          <p:cNvSpPr txBox="1"/>
          <p:nvPr/>
        </p:nvSpPr>
        <p:spPr>
          <a:xfrm>
            <a:off x="503046" y="366045"/>
            <a:ext cx="319060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100" b="0" i="0" u="none" strike="noStrike" kern="1200" cap="all" spc="130" normalizeH="0" baseline="0" noProof="0">
                <a:ln>
                  <a:noFill/>
                </a:ln>
                <a:solidFill>
                  <a:srgbClr val="9A9A9A"/>
                </a:solidFill>
                <a:effectLst/>
                <a:uLnTx/>
                <a:uFillTx/>
                <a:latin typeface="Fira Sans Medium"/>
                <a:ea typeface="+mn-ea"/>
                <a:cs typeface="+mn-cs"/>
              </a:rPr>
              <a:t>THE STATE OF CUSTOMER LOYALTY</a:t>
            </a:r>
          </a:p>
        </p:txBody>
      </p:sp>
      <p:sp>
        <p:nvSpPr>
          <p:cNvPr id="3" name="TextBox 2">
            <a:extLst>
              <a:ext uri="{FF2B5EF4-FFF2-40B4-BE49-F238E27FC236}">
                <a16:creationId xmlns:a16="http://schemas.microsoft.com/office/drawing/2014/main" id="{B12C6E8B-47F5-F327-4095-48D94531A3F6}"/>
              </a:ext>
            </a:extLst>
          </p:cNvPr>
          <p:cNvSpPr txBox="1"/>
          <p:nvPr/>
        </p:nvSpPr>
        <p:spPr>
          <a:xfrm>
            <a:off x="395457" y="1768155"/>
            <a:ext cx="10332873" cy="309637"/>
          </a:xfrm>
          <a:prstGeom prst="rect">
            <a:avLst/>
          </a:prstGeom>
          <a:noFill/>
        </p:spPr>
        <p:txBody>
          <a:bodyPr wrap="square">
            <a:sp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lang="en-US" sz="1300" b="0" i="0" u="none" strike="noStrike" kern="1200" cap="none" spc="0" normalizeH="0" baseline="0" noProof="0">
                <a:ln>
                  <a:noFill/>
                </a:ln>
                <a:solidFill>
                  <a:srgbClr val="232422"/>
                </a:solidFill>
                <a:effectLst/>
                <a:uLnTx/>
                <a:uFillTx/>
                <a:latin typeface="Fira Sans Medium"/>
                <a:ea typeface="+mn-ea"/>
                <a:cs typeface="+mn-cs"/>
              </a:rPr>
              <a:t>Loyalty isn't a program—it's personal. </a:t>
            </a:r>
          </a:p>
        </p:txBody>
      </p:sp>
      <p:sp>
        <p:nvSpPr>
          <p:cNvPr id="15" name="TextBox 14">
            <a:extLst>
              <a:ext uri="{FF2B5EF4-FFF2-40B4-BE49-F238E27FC236}">
                <a16:creationId xmlns:a16="http://schemas.microsoft.com/office/drawing/2014/main" id="{A4BF4AD7-651A-BCE9-8E22-EF17DAEB037B}"/>
              </a:ext>
            </a:extLst>
          </p:cNvPr>
          <p:cNvSpPr txBox="1"/>
          <p:nvPr/>
        </p:nvSpPr>
        <p:spPr>
          <a:xfrm>
            <a:off x="9355406" y="2948721"/>
            <a:ext cx="2337840" cy="1338828"/>
          </a:xfrm>
          <a:prstGeom prst="rect">
            <a:avLst/>
          </a:prstGeom>
          <a:noFill/>
        </p:spPr>
        <p:txBody>
          <a:bodyPr wrap="square" lIns="91440" tIns="45720" rIns="91440" bIns="4572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32422"/>
                </a:solidFill>
                <a:effectLst/>
                <a:uLnTx/>
                <a:uFillTx/>
                <a:latin typeface="Fira Sans"/>
                <a:ea typeface="+mn-ea"/>
                <a:cs typeface="+mn-cs"/>
              </a:rPr>
              <a:t>Brand Devotion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232422"/>
              </a:solidFill>
              <a:effectLst/>
              <a:uLnTx/>
              <a:uFillTx/>
              <a:latin typeface="Fira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The </a:t>
            </a:r>
            <a:r>
              <a:rPr kumimoji="0" lang="en-US" sz="1000" b="1" i="0" u="none" strike="noStrike" kern="1200" cap="none" spc="0" normalizeH="0" baseline="0" noProof="0">
                <a:ln>
                  <a:noFill/>
                </a:ln>
                <a:solidFill>
                  <a:srgbClr val="1B697D"/>
                </a:solidFill>
                <a:effectLst/>
                <a:uLnTx/>
                <a:uFillTx/>
                <a:latin typeface="Fira Sans"/>
                <a:ea typeface="+mn-ea"/>
                <a:cs typeface="+mn-cs"/>
              </a:rPr>
              <a:t>Four Bonds </a:t>
            </a:r>
            <a:r>
              <a:rPr kumimoji="0" lang="en-US" sz="1000" b="0" i="0" u="none" strike="noStrike" kern="1200" cap="none" spc="0" normalizeH="0" baseline="0" noProof="0">
                <a:ln>
                  <a:noFill/>
                </a:ln>
                <a:solidFill>
                  <a:srgbClr val="232422"/>
                </a:solidFill>
                <a:effectLst/>
                <a:uLnTx/>
                <a:uFillTx/>
                <a:latin typeface="Fira Sans"/>
                <a:ea typeface="+mn-ea"/>
                <a:cs typeface="+mn-cs"/>
              </a:rPr>
              <a:t>establish a strong </a:t>
            </a:r>
            <a:br>
              <a:rPr kumimoji="0" lang="en-US" sz="1000" b="0" i="0" u="none" strike="noStrike" kern="1200" cap="none" spc="0" normalizeH="0" baseline="0" noProof="0">
                <a:ln>
                  <a:noFill/>
                </a:ln>
                <a:solidFill>
                  <a:prstClr val="black"/>
                </a:solidFill>
                <a:effectLst/>
                <a:uLnTx/>
                <a:uFillTx/>
                <a:latin typeface="Fira Sans"/>
                <a:ea typeface="+mn-ea"/>
                <a:cs typeface="+mn-cs"/>
              </a:rPr>
            </a:br>
            <a:r>
              <a:rPr kumimoji="0" lang="en-US" sz="1000" b="0" i="0" u="none" strike="noStrike" kern="1200" cap="none" spc="0" normalizeH="0" baseline="0" noProof="0">
                <a:ln>
                  <a:noFill/>
                </a:ln>
                <a:solidFill>
                  <a:srgbClr val="232422"/>
                </a:solidFill>
                <a:effectLst/>
                <a:uLnTx/>
                <a:uFillTx/>
                <a:latin typeface="Fira Sans"/>
                <a:ea typeface="+mn-ea"/>
                <a:cs typeface="+mn-cs"/>
              </a:rPr>
              <a:t>foundation for consumer–brand relationships.</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Fira Sans" panose="020B0503050000020004" pitchFamily="34" charset="0"/>
                <a:ea typeface="+mn-ea"/>
                <a:cs typeface="+mn-cs"/>
              </a:rPr>
            </a:br>
            <a:r>
              <a:rPr kumimoji="0" lang="en-US" sz="1000" b="0" i="0" u="none" strike="noStrike" kern="1200" cap="none" spc="0" normalizeH="0" baseline="0" noProof="0">
                <a:ln>
                  <a:noFill/>
                </a:ln>
                <a:solidFill>
                  <a:srgbClr val="232422"/>
                </a:solidFill>
                <a:effectLst/>
                <a:uLnTx/>
                <a:uFillTx/>
                <a:latin typeface="Fira Sans"/>
                <a:ea typeface="+mn-ea"/>
                <a:cs typeface="+mn-cs"/>
              </a:rPr>
              <a:t>The </a:t>
            </a:r>
            <a:r>
              <a:rPr kumimoji="0" lang="en-US" sz="1000" b="1" i="0" u="none" strike="noStrike" kern="1200" cap="none" spc="0" normalizeH="0" baseline="0" noProof="0">
                <a:ln>
                  <a:noFill/>
                </a:ln>
                <a:solidFill>
                  <a:srgbClr val="DE170D"/>
                </a:solidFill>
                <a:effectLst/>
                <a:uLnTx/>
                <a:uFillTx/>
                <a:latin typeface="Fira Sans"/>
                <a:ea typeface="+mn-ea"/>
                <a:cs typeface="+mn-cs"/>
              </a:rPr>
              <a:t>Four Dimensions </a:t>
            </a:r>
            <a:r>
              <a:rPr kumimoji="0" lang="en-US" sz="1000" b="0" i="0" u="none" strike="noStrike" kern="1200" cap="none" spc="0" normalizeH="0" baseline="0" noProof="0">
                <a:ln>
                  <a:noFill/>
                </a:ln>
                <a:solidFill>
                  <a:srgbClr val="232422"/>
                </a:solidFill>
                <a:effectLst/>
                <a:uLnTx/>
                <a:uFillTx/>
                <a:latin typeface="Fira Sans"/>
                <a:ea typeface="+mn-ea"/>
                <a:cs typeface="+mn-cs"/>
              </a:rPr>
              <a:t>sustain those consumer–brand relationships.</a:t>
            </a:r>
          </a:p>
        </p:txBody>
      </p:sp>
    </p:spTree>
    <p:extLst>
      <p:ext uri="{BB962C8B-B14F-4D97-AF65-F5344CB8AC3E}">
        <p14:creationId xmlns:p14="http://schemas.microsoft.com/office/powerpoint/2010/main" val="463030418"/>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ADAED576-FCA3-900E-B4BA-DB638597AA8C}"/>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FAF37B3B-8D78-1CAE-FA92-283F8F88A825}"/>
              </a:ext>
            </a:extLst>
          </p:cNvPr>
          <p:cNvSpPr txBox="1"/>
          <p:nvPr/>
        </p:nvSpPr>
        <p:spPr>
          <a:xfrm>
            <a:off x="503046" y="366045"/>
            <a:ext cx="3190604"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100" b="0" i="0" u="none" strike="noStrike" kern="1200" cap="all" spc="130" normalizeH="0" baseline="0" noProof="0">
                <a:ln>
                  <a:noFill/>
                </a:ln>
                <a:solidFill>
                  <a:srgbClr val="9A9A9A"/>
                </a:solidFill>
                <a:effectLst/>
                <a:uLnTx/>
                <a:uFillTx/>
                <a:latin typeface="Fira Sans Medium"/>
                <a:ea typeface="+mn-ea"/>
                <a:cs typeface="+mn-cs"/>
              </a:rPr>
              <a:t>WHERE LOYALTY IS GOING</a:t>
            </a:r>
          </a:p>
        </p:txBody>
      </p:sp>
      <p:sp>
        <p:nvSpPr>
          <p:cNvPr id="97" name="TextBox 96">
            <a:extLst>
              <a:ext uri="{FF2B5EF4-FFF2-40B4-BE49-F238E27FC236}">
                <a16:creationId xmlns:a16="http://schemas.microsoft.com/office/drawing/2014/main" id="{029BD0EC-B6C7-FA02-DE25-005F0D06E3D0}"/>
              </a:ext>
            </a:extLst>
          </p:cNvPr>
          <p:cNvSpPr txBox="1"/>
          <p:nvPr/>
        </p:nvSpPr>
        <p:spPr>
          <a:xfrm>
            <a:off x="503046" y="706702"/>
            <a:ext cx="11688954"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800" b="0" i="0" u="none" strike="noStrike" kern="1200" cap="none" spc="-14" normalizeH="0" baseline="0" noProof="0">
                <a:ln>
                  <a:noFill/>
                </a:ln>
                <a:solidFill>
                  <a:srgbClr val="232422"/>
                </a:solidFill>
                <a:effectLst/>
                <a:uLnTx/>
                <a:uFillTx/>
                <a:latin typeface="Fira Sans"/>
                <a:ea typeface="+mn-ea"/>
                <a:cs typeface="+mn-cs"/>
              </a:rPr>
              <a:t>Best-in-class programs make relationship value visible through continuous communication, visual progress, and lifestyle framing</a:t>
            </a:r>
          </a:p>
        </p:txBody>
      </p:sp>
      <p:sp>
        <p:nvSpPr>
          <p:cNvPr id="3" name="TextBox 2">
            <a:extLst>
              <a:ext uri="{FF2B5EF4-FFF2-40B4-BE49-F238E27FC236}">
                <a16:creationId xmlns:a16="http://schemas.microsoft.com/office/drawing/2014/main" id="{B33EF74E-C0D9-C89A-2D62-2C03C99C781D}"/>
              </a:ext>
            </a:extLst>
          </p:cNvPr>
          <p:cNvSpPr txBox="1"/>
          <p:nvPr/>
        </p:nvSpPr>
        <p:spPr>
          <a:xfrm>
            <a:off x="562498" y="2031686"/>
            <a:ext cx="1454973" cy="185354"/>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0" i="0" u="none" strike="noStrike" kern="1200" cap="none" spc="65" normalizeH="0" baseline="0" noProof="0">
                <a:ln>
                  <a:noFill/>
                </a:ln>
                <a:solidFill>
                  <a:prstClr val="black"/>
                </a:solidFill>
                <a:effectLst/>
                <a:uLnTx/>
                <a:uFillTx/>
                <a:latin typeface="Fira Sans SemiBold"/>
                <a:ea typeface="+mn-ea"/>
                <a:cs typeface="+mn-cs"/>
              </a:rPr>
              <a:t>Cross Category Loyalty Analysis</a:t>
            </a:r>
          </a:p>
        </p:txBody>
      </p:sp>
      <p:sp>
        <p:nvSpPr>
          <p:cNvPr id="5" name="TextBox 4">
            <a:extLst>
              <a:ext uri="{FF2B5EF4-FFF2-40B4-BE49-F238E27FC236}">
                <a16:creationId xmlns:a16="http://schemas.microsoft.com/office/drawing/2014/main" id="{42796A54-6FA9-3187-4C19-90776DD06F42}"/>
              </a:ext>
            </a:extLst>
          </p:cNvPr>
          <p:cNvSpPr txBox="1"/>
          <p:nvPr/>
        </p:nvSpPr>
        <p:spPr>
          <a:xfrm>
            <a:off x="4157764" y="2137545"/>
            <a:ext cx="3097840" cy="185354"/>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0" i="0" u="none" strike="noStrike" kern="1200" cap="none" spc="65" normalizeH="0" baseline="0" noProof="0">
                <a:ln>
                  <a:noFill/>
                </a:ln>
                <a:solidFill>
                  <a:srgbClr val="007651"/>
                </a:solidFill>
                <a:effectLst/>
                <a:uLnTx/>
                <a:uFillTx/>
                <a:latin typeface="Fira Sans SemiBold"/>
                <a:ea typeface="+mn-ea"/>
                <a:cs typeface="+mn-cs"/>
              </a:rPr>
              <a:t>WHAT MEMBERS GET</a:t>
            </a:r>
            <a:endParaRPr kumimoji="0" sz="1050" b="0" i="0" u="none" strike="noStrike" kern="1200" cap="none" spc="65" normalizeH="0" baseline="0" noProof="0">
              <a:ln>
                <a:noFill/>
              </a:ln>
              <a:solidFill>
                <a:srgbClr val="007651"/>
              </a:solidFill>
              <a:effectLst/>
              <a:uLnTx/>
              <a:uFillTx/>
              <a:latin typeface="Fira Sans SemiBold"/>
              <a:ea typeface="+mn-ea"/>
              <a:cs typeface="+mn-cs"/>
            </a:endParaRPr>
          </a:p>
        </p:txBody>
      </p:sp>
      <p:sp>
        <p:nvSpPr>
          <p:cNvPr id="7" name="TextBox 6">
            <a:extLst>
              <a:ext uri="{FF2B5EF4-FFF2-40B4-BE49-F238E27FC236}">
                <a16:creationId xmlns:a16="http://schemas.microsoft.com/office/drawing/2014/main" id="{76FE1BC8-9DCD-AA52-E5CF-9DF6B876E92E}"/>
              </a:ext>
            </a:extLst>
          </p:cNvPr>
          <p:cNvSpPr txBox="1"/>
          <p:nvPr/>
        </p:nvSpPr>
        <p:spPr>
          <a:xfrm>
            <a:off x="8028807" y="2129045"/>
            <a:ext cx="3097935" cy="185354"/>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0" i="0" u="none" strike="noStrike" kern="1200" cap="none" spc="65" normalizeH="0" baseline="0" noProof="0">
                <a:ln>
                  <a:noFill/>
                </a:ln>
                <a:solidFill>
                  <a:srgbClr val="007651"/>
                </a:solidFill>
                <a:effectLst/>
                <a:uLnTx/>
                <a:uFillTx/>
                <a:latin typeface="Fira Sans SemiBold"/>
                <a:ea typeface="+mn-ea"/>
                <a:cs typeface="+mn-cs"/>
              </a:rPr>
              <a:t>STRATEGIC IMPLICATION FOR CITIZENS</a:t>
            </a:r>
          </a:p>
        </p:txBody>
      </p:sp>
      <p:cxnSp>
        <p:nvCxnSpPr>
          <p:cNvPr id="9" name="Connector 98">
            <a:extLst>
              <a:ext uri="{FF2B5EF4-FFF2-40B4-BE49-F238E27FC236}">
                <a16:creationId xmlns:a16="http://schemas.microsoft.com/office/drawing/2014/main" id="{1512F1EA-DDDA-528A-964E-3CD7EAAB89C3}"/>
              </a:ext>
            </a:extLst>
          </p:cNvPr>
          <p:cNvCxnSpPr>
            <a:cxnSpLocks/>
          </p:cNvCxnSpPr>
          <p:nvPr/>
        </p:nvCxnSpPr>
        <p:spPr>
          <a:xfrm>
            <a:off x="562498" y="2521915"/>
            <a:ext cx="10989695" cy="0"/>
          </a:xfrm>
          <a:prstGeom prst="line">
            <a:avLst/>
          </a:prstGeom>
          <a:ln w="9144">
            <a:solidFill>
              <a:srgbClr val="DDDBCE"/>
            </a:solidFill>
          </a:ln>
          <a:effectLst/>
        </p:spPr>
      </p:cxnSp>
      <p:sp>
        <p:nvSpPr>
          <p:cNvPr id="11" name="TextBox 10">
            <a:extLst>
              <a:ext uri="{FF2B5EF4-FFF2-40B4-BE49-F238E27FC236}">
                <a16:creationId xmlns:a16="http://schemas.microsoft.com/office/drawing/2014/main" id="{0DE17D58-8A04-A626-EF94-B8F72C6048B0}"/>
              </a:ext>
            </a:extLst>
          </p:cNvPr>
          <p:cNvSpPr txBox="1"/>
          <p:nvPr/>
        </p:nvSpPr>
        <p:spPr>
          <a:xfrm>
            <a:off x="2089620" y="2773433"/>
            <a:ext cx="1849288" cy="252086"/>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fr-FR" sz="1000" b="0" i="0" u="none" strike="noStrike" kern="1200" cap="none" spc="0" normalizeH="0" baseline="0" noProof="0">
                <a:ln>
                  <a:noFill/>
                </a:ln>
                <a:solidFill>
                  <a:srgbClr val="232422"/>
                </a:solidFill>
                <a:effectLst/>
                <a:uLnTx/>
                <a:uFillTx/>
                <a:latin typeface="Fira Sans"/>
                <a:ea typeface="+mn-ea"/>
                <a:cs typeface="+mn-cs"/>
              </a:rPr>
              <a:t>Mobile Habit Engine</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sp>
        <p:nvSpPr>
          <p:cNvPr id="12" name="TextBox 11">
            <a:extLst>
              <a:ext uri="{FF2B5EF4-FFF2-40B4-BE49-F238E27FC236}">
                <a16:creationId xmlns:a16="http://schemas.microsoft.com/office/drawing/2014/main" id="{3E66FFD9-A651-EB46-2EC2-445D1C8A7F1D}"/>
              </a:ext>
            </a:extLst>
          </p:cNvPr>
          <p:cNvSpPr txBox="1"/>
          <p:nvPr/>
        </p:nvSpPr>
        <p:spPr>
          <a:xfrm>
            <a:off x="4178808" y="2719426"/>
            <a:ext cx="3577904" cy="372589"/>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Real-time in-app Star progress bars, push notifications for streak challenges, and instant post-swipe reward alerts.</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cxnSp>
        <p:nvCxnSpPr>
          <p:cNvPr id="14" name="Connector 103">
            <a:extLst>
              <a:ext uri="{FF2B5EF4-FFF2-40B4-BE49-F238E27FC236}">
                <a16:creationId xmlns:a16="http://schemas.microsoft.com/office/drawing/2014/main" id="{76300634-6881-1EEF-77C3-2441A1113FCE}"/>
              </a:ext>
            </a:extLst>
          </p:cNvPr>
          <p:cNvCxnSpPr>
            <a:cxnSpLocks/>
          </p:cNvCxnSpPr>
          <p:nvPr/>
        </p:nvCxnSpPr>
        <p:spPr>
          <a:xfrm>
            <a:off x="562498" y="3290011"/>
            <a:ext cx="10989695" cy="0"/>
          </a:xfrm>
          <a:prstGeom prst="line">
            <a:avLst/>
          </a:prstGeom>
          <a:ln w="9144">
            <a:solidFill>
              <a:srgbClr val="DDDBCE"/>
            </a:solidFill>
          </a:ln>
          <a:effectLst/>
        </p:spPr>
      </p:cxnSp>
      <p:sp>
        <p:nvSpPr>
          <p:cNvPr id="16" name="TextBox 15">
            <a:extLst>
              <a:ext uri="{FF2B5EF4-FFF2-40B4-BE49-F238E27FC236}">
                <a16:creationId xmlns:a16="http://schemas.microsoft.com/office/drawing/2014/main" id="{C3E5BB03-AB2C-5F45-B4D8-E547AD30DFFD}"/>
              </a:ext>
            </a:extLst>
          </p:cNvPr>
          <p:cNvSpPr txBox="1"/>
          <p:nvPr/>
        </p:nvSpPr>
        <p:spPr>
          <a:xfrm>
            <a:off x="2098348" y="3477674"/>
            <a:ext cx="1669253"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Aspirational Status Hierarchy</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sp>
        <p:nvSpPr>
          <p:cNvPr id="17" name="TextBox 16">
            <a:extLst>
              <a:ext uri="{FF2B5EF4-FFF2-40B4-BE49-F238E27FC236}">
                <a16:creationId xmlns:a16="http://schemas.microsoft.com/office/drawing/2014/main" id="{83F927A0-09CD-2FD6-EC10-C1C1F9D27444}"/>
              </a:ext>
            </a:extLst>
          </p:cNvPr>
          <p:cNvSpPr txBox="1"/>
          <p:nvPr/>
        </p:nvSpPr>
        <p:spPr>
          <a:xfrm>
            <a:off x="4178160" y="3397792"/>
            <a:ext cx="3372375"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Pre-stay benefit reminders (upgrades, late checkout), dedicated Ambassador messaging, and milestone annual reviews.</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sp>
        <p:nvSpPr>
          <p:cNvPr id="18" name="TextBox 17">
            <a:extLst>
              <a:ext uri="{FF2B5EF4-FFF2-40B4-BE49-F238E27FC236}">
                <a16:creationId xmlns:a16="http://schemas.microsoft.com/office/drawing/2014/main" id="{5475A795-A934-D2B0-6D07-B8E7BEEBF1F1}"/>
              </a:ext>
            </a:extLst>
          </p:cNvPr>
          <p:cNvSpPr txBox="1"/>
          <p:nvPr/>
        </p:nvSpPr>
        <p:spPr>
          <a:xfrm>
            <a:off x="8050066" y="3354378"/>
            <a:ext cx="3523386"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1" i="0" u="none" strike="noStrike" kern="1200" cap="none" spc="0" normalizeH="0" baseline="0" noProof="0">
                <a:ln>
                  <a:noFill/>
                </a:ln>
                <a:solidFill>
                  <a:srgbClr val="232422"/>
                </a:solidFill>
                <a:effectLst/>
                <a:uLnTx/>
                <a:uFillTx/>
                <a:latin typeface="Fira Sans"/>
                <a:ea typeface="+mn-ea"/>
                <a:cs typeface="+mn-cs"/>
              </a:rPr>
              <a:t>Service Recognition: </a:t>
            </a:r>
            <a:r>
              <a:rPr kumimoji="0" lang="en-US" sz="1000" b="0" i="0" u="none" strike="noStrike" kern="1200" cap="none" spc="0" normalizeH="0" baseline="0" noProof="0">
                <a:ln>
                  <a:noFill/>
                </a:ln>
                <a:solidFill>
                  <a:srgbClr val="232422"/>
                </a:solidFill>
                <a:effectLst/>
                <a:uLnTx/>
                <a:uFillTx/>
                <a:latin typeface="Fira Sans"/>
                <a:ea typeface="+mn-ea"/>
                <a:cs typeface="+mn-cs"/>
              </a:rPr>
              <a:t>Demonstrates how upper-tier status can be expressed through priority service routing and human handoffs rather than rate discounts alone.</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cxnSp>
        <p:nvCxnSpPr>
          <p:cNvPr id="19" name="Connector 108">
            <a:extLst>
              <a:ext uri="{FF2B5EF4-FFF2-40B4-BE49-F238E27FC236}">
                <a16:creationId xmlns:a16="http://schemas.microsoft.com/office/drawing/2014/main" id="{7FD1A8AF-1DCF-7D27-C888-225E155C661A}"/>
              </a:ext>
            </a:extLst>
          </p:cNvPr>
          <p:cNvCxnSpPr>
            <a:cxnSpLocks/>
          </p:cNvCxnSpPr>
          <p:nvPr/>
        </p:nvCxnSpPr>
        <p:spPr>
          <a:xfrm>
            <a:off x="506532" y="4126988"/>
            <a:ext cx="10989695" cy="0"/>
          </a:xfrm>
          <a:prstGeom prst="line">
            <a:avLst/>
          </a:prstGeom>
          <a:ln w="9144">
            <a:solidFill>
              <a:srgbClr val="DDDBCE"/>
            </a:solidFill>
          </a:ln>
          <a:effectLst/>
        </p:spPr>
      </p:cxnSp>
      <p:cxnSp>
        <p:nvCxnSpPr>
          <p:cNvPr id="29" name="Connector 118">
            <a:extLst>
              <a:ext uri="{FF2B5EF4-FFF2-40B4-BE49-F238E27FC236}">
                <a16:creationId xmlns:a16="http://schemas.microsoft.com/office/drawing/2014/main" id="{4D85A667-85B6-DF5D-502B-AAE60C364147}"/>
              </a:ext>
            </a:extLst>
          </p:cNvPr>
          <p:cNvCxnSpPr>
            <a:cxnSpLocks/>
          </p:cNvCxnSpPr>
          <p:nvPr/>
        </p:nvCxnSpPr>
        <p:spPr>
          <a:xfrm>
            <a:off x="562498" y="1916354"/>
            <a:ext cx="10989695" cy="0"/>
          </a:xfrm>
          <a:prstGeom prst="line">
            <a:avLst/>
          </a:prstGeom>
          <a:ln w="18288">
            <a:solidFill>
              <a:srgbClr val="007651"/>
            </a:solidFill>
          </a:ln>
          <a:effectLst/>
        </p:spPr>
      </p:cxnSp>
      <p:sp>
        <p:nvSpPr>
          <p:cNvPr id="37" name="TextBox 36">
            <a:extLst>
              <a:ext uri="{FF2B5EF4-FFF2-40B4-BE49-F238E27FC236}">
                <a16:creationId xmlns:a16="http://schemas.microsoft.com/office/drawing/2014/main" id="{F2D35B81-47BE-1045-00E3-E86C5EE82849}"/>
              </a:ext>
            </a:extLst>
          </p:cNvPr>
          <p:cNvSpPr txBox="1"/>
          <p:nvPr/>
        </p:nvSpPr>
        <p:spPr>
          <a:xfrm>
            <a:off x="2140326" y="2145238"/>
            <a:ext cx="1894583" cy="185354"/>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0" i="0" u="none" strike="noStrike" kern="1200" cap="none" spc="65" normalizeH="0" baseline="0" noProof="0">
                <a:ln>
                  <a:noFill/>
                </a:ln>
                <a:solidFill>
                  <a:srgbClr val="007651"/>
                </a:solidFill>
                <a:effectLst/>
                <a:uLnTx/>
                <a:uFillTx/>
                <a:latin typeface="Fira Sans SemiBold"/>
                <a:ea typeface="+mn-ea"/>
                <a:cs typeface="+mn-cs"/>
              </a:rPr>
              <a:t>LOYALTY MECHANICS</a:t>
            </a:r>
          </a:p>
        </p:txBody>
      </p:sp>
      <p:sp>
        <p:nvSpPr>
          <p:cNvPr id="4" name="TextBox 3">
            <a:extLst>
              <a:ext uri="{FF2B5EF4-FFF2-40B4-BE49-F238E27FC236}">
                <a16:creationId xmlns:a16="http://schemas.microsoft.com/office/drawing/2014/main" id="{3588D0AA-AA3D-EE67-C2E0-B0F578D2FED4}"/>
              </a:ext>
            </a:extLst>
          </p:cNvPr>
          <p:cNvSpPr txBox="1"/>
          <p:nvPr/>
        </p:nvSpPr>
        <p:spPr>
          <a:xfrm>
            <a:off x="8028807" y="2734606"/>
            <a:ext cx="3565904"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1" i="0" u="none" strike="noStrike" kern="1200" cap="none" spc="0" normalizeH="0" baseline="0" noProof="0">
                <a:ln>
                  <a:noFill/>
                </a:ln>
                <a:solidFill>
                  <a:srgbClr val="232422"/>
                </a:solidFill>
                <a:effectLst/>
                <a:uLnTx/>
                <a:uFillTx/>
                <a:latin typeface="Fira Sans"/>
                <a:ea typeface="+mn-ea"/>
                <a:cs typeface="+mn-cs"/>
              </a:rPr>
              <a:t>Visual Progress: </a:t>
            </a:r>
            <a:r>
              <a:rPr kumimoji="0" lang="en-US" sz="1000" b="0" i="0" u="none" strike="noStrike" kern="1200" cap="none" spc="0" normalizeH="0" baseline="0" noProof="0">
                <a:ln>
                  <a:noFill/>
                </a:ln>
                <a:solidFill>
                  <a:srgbClr val="232422"/>
                </a:solidFill>
                <a:effectLst/>
                <a:uLnTx/>
                <a:uFillTx/>
                <a:latin typeface="Fira Sans"/>
                <a:ea typeface="+mn-ea"/>
                <a:cs typeface="+mn-cs"/>
              </a:rPr>
              <a:t>Highlights how digital habit-tracking can turn everyday banking into active daily engagement.</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sp>
        <p:nvSpPr>
          <p:cNvPr id="23" name="TextBox 22">
            <a:extLst>
              <a:ext uri="{FF2B5EF4-FFF2-40B4-BE49-F238E27FC236}">
                <a16:creationId xmlns:a16="http://schemas.microsoft.com/office/drawing/2014/main" id="{FADC5A11-FDE7-C207-951E-278A1DEBED15}"/>
              </a:ext>
            </a:extLst>
          </p:cNvPr>
          <p:cNvSpPr txBox="1"/>
          <p:nvPr/>
        </p:nvSpPr>
        <p:spPr>
          <a:xfrm>
            <a:off x="2033654" y="5080974"/>
            <a:ext cx="1604030"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 Hybrid Digital Membership (Subscription / Direct Deposit)</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41A757ED-7A61-B568-8D06-67462E9F24E9}"/>
              </a:ext>
            </a:extLst>
          </p:cNvPr>
          <p:cNvSpPr txBox="1"/>
          <p:nvPr/>
        </p:nvSpPr>
        <p:spPr>
          <a:xfrm>
            <a:off x="4103036" y="5064000"/>
            <a:ext cx="3617516"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 High-yield APY boosts, credit card matches, loan discounts, and weekly financial digests.</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27CD40CB-0C19-0275-646D-1EAF2FB7CB33}"/>
              </a:ext>
            </a:extLst>
          </p:cNvPr>
          <p:cNvSpPr txBox="1"/>
          <p:nvPr/>
        </p:nvSpPr>
        <p:spPr>
          <a:xfrm>
            <a:off x="7972841" y="5021078"/>
            <a:ext cx="3523386"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1" i="0" u="none" strike="noStrike" kern="1200" cap="none" spc="0" normalizeH="0" baseline="0" noProof="0">
                <a:ln>
                  <a:noFill/>
                </a:ln>
                <a:solidFill>
                  <a:srgbClr val="232422"/>
                </a:solidFill>
                <a:effectLst/>
                <a:uLnTx/>
                <a:uFillTx/>
                <a:latin typeface="Fira Sans"/>
                <a:ea typeface="+mn-ea"/>
                <a:cs typeface="+mn-cs"/>
              </a:rPr>
              <a:t>Cross-Product Coherence: </a:t>
            </a:r>
            <a:r>
              <a:rPr kumimoji="0" lang="en-US" sz="1000" b="0" i="0" u="none" strike="noStrike" kern="1200" cap="none" spc="0" normalizeH="0" baseline="0" noProof="0">
                <a:ln>
                  <a:noFill/>
                </a:ln>
                <a:solidFill>
                  <a:srgbClr val="232422"/>
                </a:solidFill>
                <a:effectLst/>
                <a:uLnTx/>
                <a:uFillTx/>
                <a:latin typeface="Fira Sans"/>
                <a:ea typeface="+mn-ea"/>
                <a:cs typeface="+mn-cs"/>
              </a:rPr>
              <a:t>Shows how digital banks use "membership framing" to unify checking, savings, lending, and investing under one roof.</a:t>
            </a:r>
          </a:p>
        </p:txBody>
      </p:sp>
      <p:pic>
        <p:nvPicPr>
          <p:cNvPr id="22" name="Picture 21" descr="File:SoFi logo.svg - Wikimedia Commons">
            <a:extLst>
              <a:ext uri="{FF2B5EF4-FFF2-40B4-BE49-F238E27FC236}">
                <a16:creationId xmlns:a16="http://schemas.microsoft.com/office/drawing/2014/main" id="{010A0F27-C637-A04E-9BA7-2985A055D839}"/>
              </a:ext>
            </a:extLst>
          </p:cNvPr>
          <p:cNvPicPr>
            <a:picLocks noChangeAspect="1"/>
          </p:cNvPicPr>
          <p:nvPr/>
        </p:nvPicPr>
        <p:blipFill>
          <a:blip r:embed="rId3"/>
          <a:stretch>
            <a:fillRect/>
          </a:stretch>
        </p:blipFill>
        <p:spPr>
          <a:xfrm>
            <a:off x="620691" y="5178239"/>
            <a:ext cx="909321" cy="240828"/>
          </a:xfrm>
          <a:prstGeom prst="rect">
            <a:avLst/>
          </a:prstGeom>
        </p:spPr>
      </p:pic>
      <p:sp>
        <p:nvSpPr>
          <p:cNvPr id="33" name="TextBox 32">
            <a:extLst>
              <a:ext uri="{FF2B5EF4-FFF2-40B4-BE49-F238E27FC236}">
                <a16:creationId xmlns:a16="http://schemas.microsoft.com/office/drawing/2014/main" id="{BD4DC29F-4AD6-60F3-B7A4-86C03895CA7C}"/>
              </a:ext>
            </a:extLst>
          </p:cNvPr>
          <p:cNvSpPr txBox="1"/>
          <p:nvPr/>
        </p:nvSpPr>
        <p:spPr>
          <a:xfrm>
            <a:off x="2033654" y="5919317"/>
            <a:ext cx="1604030"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Subscription-Based Value</a:t>
            </a:r>
            <a:endParaRPr kumimoji="0" lang="en-US" sz="1100" b="0" i="0" u="none" strike="noStrike" kern="1200" cap="none" spc="0" normalizeH="0" baseline="0" noProof="0">
              <a:ln>
                <a:noFill/>
              </a:ln>
              <a:solidFill>
                <a:srgbClr val="232422"/>
              </a:solidFill>
              <a:effectLst/>
              <a:uLnTx/>
              <a:uFillTx/>
              <a:latin typeface="Fira Sans"/>
              <a:ea typeface="+mn-ea"/>
              <a:cs typeface="+mn-cs"/>
            </a:endParaRPr>
          </a:p>
        </p:txBody>
      </p:sp>
      <p:sp>
        <p:nvSpPr>
          <p:cNvPr id="36" name="TextBox 35">
            <a:extLst>
              <a:ext uri="{FF2B5EF4-FFF2-40B4-BE49-F238E27FC236}">
                <a16:creationId xmlns:a16="http://schemas.microsoft.com/office/drawing/2014/main" id="{3A56A549-9A18-6DC6-A9D7-B35619B63710}"/>
              </a:ext>
            </a:extLst>
          </p:cNvPr>
          <p:cNvSpPr txBox="1"/>
          <p:nvPr/>
        </p:nvSpPr>
        <p:spPr>
          <a:xfrm>
            <a:off x="4103036" y="5868987"/>
            <a:ext cx="3617516"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Real-time IRA match calculators in-app, monthly subscription savings summaries, and high-yield interest earned trackers.</a:t>
            </a:r>
          </a:p>
        </p:txBody>
      </p:sp>
      <p:sp>
        <p:nvSpPr>
          <p:cNvPr id="39" name="TextBox 38">
            <a:extLst>
              <a:ext uri="{FF2B5EF4-FFF2-40B4-BE49-F238E27FC236}">
                <a16:creationId xmlns:a16="http://schemas.microsoft.com/office/drawing/2014/main" id="{79AD2DC7-2494-E96E-D4B6-2215AA16463E}"/>
              </a:ext>
            </a:extLst>
          </p:cNvPr>
          <p:cNvSpPr txBox="1"/>
          <p:nvPr/>
        </p:nvSpPr>
        <p:spPr>
          <a:xfrm>
            <a:off x="7994100" y="5831119"/>
            <a:ext cx="3523386"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1" i="0" u="none" strike="noStrike" kern="1200" cap="none" spc="0" normalizeH="0" baseline="0" noProof="0">
                <a:ln>
                  <a:noFill/>
                </a:ln>
                <a:solidFill>
                  <a:srgbClr val="232422"/>
                </a:solidFill>
                <a:effectLst/>
                <a:uLnTx/>
                <a:uFillTx/>
                <a:latin typeface="Fira Sans"/>
                <a:ea typeface="+mn-ea"/>
                <a:cs typeface="+mn-cs"/>
              </a:rPr>
              <a:t>Behavioral Fast-Tracks: </a:t>
            </a:r>
            <a:r>
              <a:rPr kumimoji="0" lang="en-US" sz="1000" b="0" i="0" u="none" strike="noStrike" kern="1200" cap="none" spc="0" normalizeH="0" baseline="0" noProof="0">
                <a:ln>
                  <a:noFill/>
                </a:ln>
                <a:solidFill>
                  <a:srgbClr val="232422"/>
                </a:solidFill>
                <a:effectLst/>
                <a:uLnTx/>
                <a:uFillTx/>
                <a:latin typeface="Fira Sans"/>
                <a:ea typeface="+mn-ea"/>
                <a:cs typeface="+mn-cs"/>
              </a:rPr>
              <a:t>Proves emerging wealth builders respond to transparent ROI and behavior-driven access over rigid balance walls.</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cxnSp>
        <p:nvCxnSpPr>
          <p:cNvPr id="43" name="Connector 113">
            <a:extLst>
              <a:ext uri="{FF2B5EF4-FFF2-40B4-BE49-F238E27FC236}">
                <a16:creationId xmlns:a16="http://schemas.microsoft.com/office/drawing/2014/main" id="{3BAC9652-38C5-B677-CC6E-23B145AD23ED}"/>
              </a:ext>
            </a:extLst>
          </p:cNvPr>
          <p:cNvCxnSpPr>
            <a:cxnSpLocks/>
          </p:cNvCxnSpPr>
          <p:nvPr/>
        </p:nvCxnSpPr>
        <p:spPr>
          <a:xfrm>
            <a:off x="506532" y="4946745"/>
            <a:ext cx="10989695" cy="0"/>
          </a:xfrm>
          <a:prstGeom prst="line">
            <a:avLst/>
          </a:prstGeom>
          <a:ln w="9144">
            <a:solidFill>
              <a:srgbClr val="DDDBCE"/>
            </a:solidFill>
          </a:ln>
          <a:effectLst/>
        </p:spPr>
      </p:cxnSp>
      <p:cxnSp>
        <p:nvCxnSpPr>
          <p:cNvPr id="45" name="Connector 113">
            <a:extLst>
              <a:ext uri="{FF2B5EF4-FFF2-40B4-BE49-F238E27FC236}">
                <a16:creationId xmlns:a16="http://schemas.microsoft.com/office/drawing/2014/main" id="{1DCDD0AD-FE0D-2C2F-E619-501B503AEA24}"/>
              </a:ext>
            </a:extLst>
          </p:cNvPr>
          <p:cNvCxnSpPr>
            <a:cxnSpLocks/>
          </p:cNvCxnSpPr>
          <p:nvPr/>
        </p:nvCxnSpPr>
        <p:spPr>
          <a:xfrm>
            <a:off x="506532" y="5714841"/>
            <a:ext cx="10989695" cy="0"/>
          </a:xfrm>
          <a:prstGeom prst="line">
            <a:avLst/>
          </a:prstGeom>
          <a:ln w="9144">
            <a:solidFill>
              <a:srgbClr val="DDDBCE"/>
            </a:solidFill>
          </a:ln>
          <a:effectLst/>
        </p:spPr>
      </p:cxnSp>
      <p:sp>
        <p:nvSpPr>
          <p:cNvPr id="51" name="Slide Number Placeholder 1">
            <a:extLst>
              <a:ext uri="{FF2B5EF4-FFF2-40B4-BE49-F238E27FC236}">
                <a16:creationId xmlns:a16="http://schemas.microsoft.com/office/drawing/2014/main" id="{776715B2-5F8B-8B69-D07C-CD6D63AA84AF}"/>
              </a:ext>
            </a:extLst>
          </p:cNvPr>
          <p:cNvSpPr txBox="1">
            <a:spLocks/>
          </p:cNvSpPr>
          <p:nvPr/>
        </p:nvSpPr>
        <p:spPr>
          <a:xfrm>
            <a:off x="9920514" y="6385379"/>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1FF6DA9-008F-8B48-92A6-B652298478BF}" type="slidenum">
              <a:rPr kumimoji="0" lang="en-US" sz="1000" b="0" i="0" u="none" strike="noStrike" kern="1200" cap="none" spc="0" normalizeH="0" baseline="0" noProof="0" smtClean="0">
                <a:ln>
                  <a:noFill/>
                </a:ln>
                <a:solidFill>
                  <a:prstClr val="black">
                    <a:tint val="75000"/>
                  </a:prstClr>
                </a:solidFill>
                <a:effectLst/>
                <a:uLnTx/>
                <a:uFillTx/>
                <a:latin typeface="Fira Sans" panose="020B05030500000200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000" b="0" i="0" u="none" strike="noStrike" kern="1200" cap="none" spc="0" normalizeH="0" baseline="0" noProof="0">
              <a:ln>
                <a:noFill/>
              </a:ln>
              <a:solidFill>
                <a:prstClr val="black">
                  <a:tint val="75000"/>
                </a:prstClr>
              </a:solidFill>
              <a:effectLst/>
              <a:uLnTx/>
              <a:uFillTx/>
              <a:latin typeface="Fira Sans" panose="020B0503050000020004" pitchFamily="34" charset="0"/>
              <a:ea typeface="+mn-ea"/>
              <a:cs typeface="+mn-cs"/>
            </a:endParaRPr>
          </a:p>
        </p:txBody>
      </p:sp>
      <p:pic>
        <p:nvPicPr>
          <p:cNvPr id="13" name="Picture 12">
            <a:extLst>
              <a:ext uri="{FF2B5EF4-FFF2-40B4-BE49-F238E27FC236}">
                <a16:creationId xmlns:a16="http://schemas.microsoft.com/office/drawing/2014/main" id="{0FA3F476-238A-5579-9336-DA1781003B99}"/>
              </a:ext>
            </a:extLst>
          </p:cNvPr>
          <p:cNvPicPr>
            <a:picLocks noChangeAspect="1"/>
          </p:cNvPicPr>
          <p:nvPr/>
        </p:nvPicPr>
        <p:blipFill>
          <a:blip r:embed="rId4"/>
          <a:stretch>
            <a:fillRect/>
          </a:stretch>
        </p:blipFill>
        <p:spPr>
          <a:xfrm>
            <a:off x="562498" y="3339563"/>
            <a:ext cx="1227293" cy="535546"/>
          </a:xfrm>
          <a:prstGeom prst="rect">
            <a:avLst/>
          </a:prstGeom>
        </p:spPr>
      </p:pic>
      <p:pic>
        <p:nvPicPr>
          <p:cNvPr id="25" name="Picture 24">
            <a:extLst>
              <a:ext uri="{FF2B5EF4-FFF2-40B4-BE49-F238E27FC236}">
                <a16:creationId xmlns:a16="http://schemas.microsoft.com/office/drawing/2014/main" id="{90E8BC94-28D1-5FCE-EE02-4534EC4DA399}"/>
              </a:ext>
            </a:extLst>
          </p:cNvPr>
          <p:cNvPicPr>
            <a:picLocks noChangeAspect="1"/>
          </p:cNvPicPr>
          <p:nvPr/>
        </p:nvPicPr>
        <p:blipFill>
          <a:blip r:embed="rId5"/>
          <a:stretch>
            <a:fillRect/>
          </a:stretch>
        </p:blipFill>
        <p:spPr>
          <a:xfrm>
            <a:off x="889632" y="2615434"/>
            <a:ext cx="470594" cy="476477"/>
          </a:xfrm>
          <a:prstGeom prst="rect">
            <a:avLst/>
          </a:prstGeom>
        </p:spPr>
      </p:pic>
      <p:pic>
        <p:nvPicPr>
          <p:cNvPr id="34" name="Picture 33">
            <a:extLst>
              <a:ext uri="{FF2B5EF4-FFF2-40B4-BE49-F238E27FC236}">
                <a16:creationId xmlns:a16="http://schemas.microsoft.com/office/drawing/2014/main" id="{D252EDC0-8CA0-325A-131C-074727F68D12}"/>
              </a:ext>
            </a:extLst>
          </p:cNvPr>
          <p:cNvPicPr>
            <a:picLocks noChangeAspect="1"/>
          </p:cNvPicPr>
          <p:nvPr/>
        </p:nvPicPr>
        <p:blipFill>
          <a:blip r:embed="rId6"/>
          <a:stretch>
            <a:fillRect/>
          </a:stretch>
        </p:blipFill>
        <p:spPr>
          <a:xfrm>
            <a:off x="573685" y="5897289"/>
            <a:ext cx="1227293" cy="241623"/>
          </a:xfrm>
          <a:prstGeom prst="rect">
            <a:avLst/>
          </a:prstGeom>
        </p:spPr>
      </p:pic>
      <p:sp>
        <p:nvSpPr>
          <p:cNvPr id="38" name="TextBox 37">
            <a:extLst>
              <a:ext uri="{FF2B5EF4-FFF2-40B4-BE49-F238E27FC236}">
                <a16:creationId xmlns:a16="http://schemas.microsoft.com/office/drawing/2014/main" id="{C5C9F7A5-3130-9044-0D19-D38E8B98B266}"/>
              </a:ext>
            </a:extLst>
          </p:cNvPr>
          <p:cNvSpPr txBox="1"/>
          <p:nvPr/>
        </p:nvSpPr>
        <p:spPr>
          <a:xfrm>
            <a:off x="589204" y="6151298"/>
            <a:ext cx="1604030" cy="357357"/>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800" b="0" i="0" u="none" strike="noStrike" kern="1200" cap="none" spc="0" normalizeH="0" baseline="0" noProof="0">
                <a:ln>
                  <a:noFill/>
                </a:ln>
                <a:solidFill>
                  <a:srgbClr val="232422"/>
                </a:solidFill>
                <a:effectLst/>
                <a:uLnTx/>
                <a:uFillTx/>
                <a:latin typeface="Fira Sans"/>
                <a:ea typeface="+mn-ea"/>
                <a:cs typeface="+mn-cs"/>
              </a:rPr>
              <a:t> (Robinhood Gold)</a:t>
            </a:r>
            <a:endParaRPr kumimoji="0" lang="en-US" sz="1000" b="0" i="0" u="none" strike="noStrike" kern="1200" cap="none" spc="0" normalizeH="0" baseline="0" noProof="0">
              <a:ln>
                <a:noFill/>
              </a:ln>
              <a:solidFill>
                <a:srgbClr val="232422"/>
              </a:solidFill>
              <a:effectLst/>
              <a:uLnTx/>
              <a:uFillTx/>
              <a:latin typeface="Fira Sans"/>
              <a:ea typeface="+mn-ea"/>
              <a:cs typeface="+mn-cs"/>
            </a:endParaRPr>
          </a:p>
        </p:txBody>
      </p:sp>
      <p:sp>
        <p:nvSpPr>
          <p:cNvPr id="41" name="TextBox 40">
            <a:extLst>
              <a:ext uri="{FF2B5EF4-FFF2-40B4-BE49-F238E27FC236}">
                <a16:creationId xmlns:a16="http://schemas.microsoft.com/office/drawing/2014/main" id="{41FE4106-AE78-4468-7F04-40B3C4297BC2}"/>
              </a:ext>
            </a:extLst>
          </p:cNvPr>
          <p:cNvSpPr txBox="1"/>
          <p:nvPr/>
        </p:nvSpPr>
        <p:spPr>
          <a:xfrm>
            <a:off x="654378" y="3066863"/>
            <a:ext cx="6096000" cy="280205"/>
          </a:xfrm>
          <a:prstGeom prst="rect">
            <a:avLst/>
          </a:prstGeom>
          <a:noFill/>
        </p:spPr>
        <p:txBody>
          <a:bodyPr wrap="square" lIns="0" tIns="0" rIns="0" bIns="0" anchor="t">
            <a:noAutofit/>
          </a:bodyPr>
          <a:lstStyle>
            <a:defPPr>
              <a:defRPr lang="en-US"/>
            </a:defPPr>
            <a:lvl1pPr>
              <a:lnSpc>
                <a:spcPts val="1566"/>
              </a:lnSpc>
              <a:spcBef>
                <a:spcPts val="0"/>
              </a:spcBef>
              <a:spcAft>
                <a:spcPts val="0"/>
              </a:spcAft>
              <a:defRPr sz="1000">
                <a:solidFill>
                  <a:srgbClr val="232422"/>
                </a:solidFill>
                <a:latin typeface="Fira Sans"/>
              </a:defRPr>
            </a:lvl1p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800" b="0" i="0" u="none" strike="noStrike" kern="1200" cap="none" spc="0" normalizeH="0" baseline="0" noProof="0">
                <a:ln>
                  <a:noFill/>
                </a:ln>
                <a:solidFill>
                  <a:srgbClr val="232422"/>
                </a:solidFill>
                <a:effectLst/>
                <a:uLnTx/>
                <a:uFillTx/>
                <a:latin typeface="Fira Sans"/>
                <a:ea typeface="+mn-ea"/>
                <a:cs typeface="+mn-cs"/>
              </a:rPr>
              <a:t>(Starbucks Rewards)</a:t>
            </a:r>
          </a:p>
        </p:txBody>
      </p:sp>
      <p:sp>
        <p:nvSpPr>
          <p:cNvPr id="32" name="TextBox 46">
            <a:extLst>
              <a:ext uri="{FF2B5EF4-FFF2-40B4-BE49-F238E27FC236}">
                <a16:creationId xmlns:a16="http://schemas.microsoft.com/office/drawing/2014/main" id="{135673DA-0E21-E6B6-CB09-A4EAA7167F96}"/>
              </a:ext>
            </a:extLst>
          </p:cNvPr>
          <p:cNvSpPr txBox="1"/>
          <p:nvPr/>
        </p:nvSpPr>
        <p:spPr>
          <a:xfrm>
            <a:off x="2016551" y="4375662"/>
            <a:ext cx="1604030" cy="357357"/>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Digital Customer Advocacy</a:t>
            </a:r>
            <a:endParaRPr kumimoji="0" lang="en-US" sz="1100" b="0" i="0" u="none" strike="noStrike" kern="1200" cap="none" spc="0" normalizeH="0" baseline="0" noProof="0">
              <a:ln>
                <a:noFill/>
              </a:ln>
              <a:solidFill>
                <a:srgbClr val="232422"/>
              </a:solidFill>
              <a:effectLst/>
              <a:uLnTx/>
              <a:uFillTx/>
              <a:latin typeface="Fira Sans"/>
              <a:ea typeface="+mn-ea"/>
              <a:cs typeface="+mn-cs"/>
            </a:endParaRPr>
          </a:p>
        </p:txBody>
      </p:sp>
      <p:sp>
        <p:nvSpPr>
          <p:cNvPr id="35" name="TextBox 47">
            <a:extLst>
              <a:ext uri="{FF2B5EF4-FFF2-40B4-BE49-F238E27FC236}">
                <a16:creationId xmlns:a16="http://schemas.microsoft.com/office/drawing/2014/main" id="{41A71811-859B-6FB9-F87B-3556203DC868}"/>
              </a:ext>
            </a:extLst>
          </p:cNvPr>
          <p:cNvSpPr txBox="1"/>
          <p:nvPr/>
        </p:nvSpPr>
        <p:spPr>
          <a:xfrm>
            <a:off x="4124561" y="4274064"/>
            <a:ext cx="3617516" cy="357357"/>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Smart "Savings Bucket" milestone notifications, automated booster alerts, and surprise-and-delight perk emails.</a:t>
            </a:r>
          </a:p>
        </p:txBody>
      </p:sp>
      <p:sp>
        <p:nvSpPr>
          <p:cNvPr id="40" name="TextBox 48">
            <a:extLst>
              <a:ext uri="{FF2B5EF4-FFF2-40B4-BE49-F238E27FC236}">
                <a16:creationId xmlns:a16="http://schemas.microsoft.com/office/drawing/2014/main" id="{DEC65034-40A4-8C60-ABFF-A15D2BECD83C}"/>
              </a:ext>
            </a:extLst>
          </p:cNvPr>
          <p:cNvSpPr txBox="1"/>
          <p:nvPr/>
        </p:nvSpPr>
        <p:spPr>
          <a:xfrm>
            <a:off x="8015625" y="4263730"/>
            <a:ext cx="3523386" cy="357357"/>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00" b="1" i="0" u="none" strike="noStrike" kern="1200" cap="none" spc="0" normalizeH="0" baseline="0" noProof="0">
                <a:ln>
                  <a:noFill/>
                </a:ln>
                <a:solidFill>
                  <a:srgbClr val="232422"/>
                </a:solidFill>
                <a:effectLst/>
                <a:uLnTx/>
                <a:uFillTx/>
                <a:latin typeface="Fira Sans"/>
                <a:ea typeface="+mn-ea"/>
                <a:cs typeface="+mn-cs"/>
              </a:rPr>
              <a:t>Automated Advocacy: </a:t>
            </a:r>
            <a:r>
              <a:rPr kumimoji="0" lang="en-US" sz="1000" b="0" i="0" u="none" strike="noStrike" kern="1200" cap="none" spc="0" normalizeH="0" baseline="0" noProof="0">
                <a:ln>
                  <a:noFill/>
                </a:ln>
                <a:solidFill>
                  <a:srgbClr val="232422"/>
                </a:solidFill>
                <a:effectLst/>
                <a:uLnTx/>
                <a:uFillTx/>
                <a:latin typeface="Fira Sans"/>
                <a:ea typeface="+mn-ea"/>
                <a:cs typeface="+mn-cs"/>
              </a:rPr>
              <a:t>Illustrates how automated savings tools and goal-tracking build long-term deposit retention without relying purely on promo rates.</a:t>
            </a: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pic>
        <p:nvPicPr>
          <p:cNvPr id="42" name="Picture 41">
            <a:extLst>
              <a:ext uri="{FF2B5EF4-FFF2-40B4-BE49-F238E27FC236}">
                <a16:creationId xmlns:a16="http://schemas.microsoft.com/office/drawing/2014/main" id="{916E12DC-A124-C5AA-71A1-F87E757FD053}"/>
              </a:ext>
            </a:extLst>
          </p:cNvPr>
          <p:cNvPicPr>
            <a:picLocks noChangeAspect="1"/>
          </p:cNvPicPr>
          <p:nvPr/>
        </p:nvPicPr>
        <p:blipFill>
          <a:blip r:embed="rId7"/>
          <a:stretch>
            <a:fillRect/>
          </a:stretch>
        </p:blipFill>
        <p:spPr>
          <a:xfrm>
            <a:off x="684924" y="4236130"/>
            <a:ext cx="675302" cy="384957"/>
          </a:xfrm>
          <a:prstGeom prst="rect">
            <a:avLst/>
          </a:prstGeom>
        </p:spPr>
      </p:pic>
      <p:sp>
        <p:nvSpPr>
          <p:cNvPr id="46" name="TextBox 5">
            <a:extLst>
              <a:ext uri="{FF2B5EF4-FFF2-40B4-BE49-F238E27FC236}">
                <a16:creationId xmlns:a16="http://schemas.microsoft.com/office/drawing/2014/main" id="{1A62A09C-4C99-50B0-B1FB-A415B61AA488}"/>
              </a:ext>
            </a:extLst>
          </p:cNvPr>
          <p:cNvSpPr txBox="1"/>
          <p:nvPr/>
        </p:nvSpPr>
        <p:spPr>
          <a:xfrm>
            <a:off x="710556" y="4624335"/>
            <a:ext cx="1604030" cy="357357"/>
          </a:xfrm>
          <a:prstGeom prst="rect">
            <a:avLst/>
          </a:prstGeom>
          <a:noFill/>
        </p:spPr>
        <p:txBody>
          <a:bodyPr wrap="square" lIns="0" tIns="0" rIns="0" bIns="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800" b="0" i="0" u="none" strike="noStrike" kern="1200" cap="none" spc="0" normalizeH="0" baseline="0" noProof="0">
                <a:ln>
                  <a:noFill/>
                </a:ln>
                <a:solidFill>
                  <a:srgbClr val="232422"/>
                </a:solidFill>
                <a:effectLst/>
                <a:uLnTx/>
                <a:uFillTx/>
                <a:latin typeface="Fira Sans"/>
                <a:ea typeface="+mn-ea"/>
                <a:cs typeface="+mn-cs"/>
              </a:rPr>
              <a:t> (Loyally)</a:t>
            </a:r>
            <a:endParaRPr kumimoji="0" lang="en-US" sz="1000" b="0" i="0" u="none" strike="noStrike" kern="1200" cap="none" spc="0" normalizeH="0" baseline="0" noProof="0">
              <a:ln>
                <a:noFill/>
              </a:ln>
              <a:solidFill>
                <a:srgbClr val="232422"/>
              </a:solidFill>
              <a:effectLst/>
              <a:uLnTx/>
              <a:uFillTx/>
              <a:latin typeface="Fira Sans"/>
              <a:ea typeface="+mn-ea"/>
              <a:cs typeface="+mn-cs"/>
            </a:endParaRPr>
          </a:p>
        </p:txBody>
      </p:sp>
    </p:spTree>
    <p:extLst>
      <p:ext uri="{BB962C8B-B14F-4D97-AF65-F5344CB8AC3E}">
        <p14:creationId xmlns:p14="http://schemas.microsoft.com/office/powerpoint/2010/main" val="839335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17651"/>
        </a:solidFill>
        <a:effectLst/>
      </p:bgPr>
    </p:bg>
    <p:spTree>
      <p:nvGrpSpPr>
        <p:cNvPr id="1" name=""/>
        <p:cNvGrpSpPr/>
        <p:nvPr/>
      </p:nvGrpSpPr>
      <p:grpSpPr>
        <a:xfrm>
          <a:off x="0" y="0"/>
          <a:ext cx="0" cy="0"/>
          <a:chOff x="0" y="0"/>
          <a:chExt cx="0" cy="0"/>
        </a:xfrm>
      </p:grpSpPr>
      <p:sp>
        <p:nvSpPr>
          <p:cNvPr id="92" name="TextBox 91"/>
          <p:cNvSpPr txBox="1"/>
          <p:nvPr/>
        </p:nvSpPr>
        <p:spPr>
          <a:xfrm>
            <a:off x="503046" y="358054"/>
            <a:ext cx="707557"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sz="1350" b="0" i="0" u="none" strike="noStrike" kern="1200" cap="none" spc="14" normalizeH="0" baseline="0" noProof="0">
                <a:ln>
                  <a:noFill/>
                </a:ln>
                <a:solidFill>
                  <a:srgbClr val="FFFFFF"/>
                </a:solidFill>
                <a:effectLst/>
                <a:uLnTx/>
                <a:uFillTx/>
                <a:latin typeface="Fira Sans SemiBold"/>
                <a:ea typeface="+mn-ea"/>
                <a:cs typeface="+mn-cs"/>
              </a:rPr>
              <a:t>Citizens</a:t>
            </a:r>
          </a:p>
        </p:txBody>
      </p:sp>
      <p:sp>
        <p:nvSpPr>
          <p:cNvPr id="93" name="TextBox 92"/>
          <p:cNvSpPr txBox="1"/>
          <p:nvPr/>
        </p:nvSpPr>
        <p:spPr>
          <a:xfrm>
            <a:off x="503046" y="182961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1</a:t>
            </a:r>
          </a:p>
        </p:txBody>
      </p:sp>
      <p:sp>
        <p:nvSpPr>
          <p:cNvPr id="95" name="TextBox 94"/>
          <p:cNvSpPr txBox="1"/>
          <p:nvPr/>
        </p:nvSpPr>
        <p:spPr>
          <a:xfrm>
            <a:off x="503046" y="2542845"/>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2</a:t>
            </a:r>
          </a:p>
        </p:txBody>
      </p:sp>
      <p:sp>
        <p:nvSpPr>
          <p:cNvPr id="96" name="TextBox 95"/>
          <p:cNvSpPr txBox="1"/>
          <p:nvPr/>
        </p:nvSpPr>
        <p:spPr>
          <a:xfrm>
            <a:off x="1124993" y="2343789"/>
            <a:ext cx="2375739"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Citizens today</a:t>
            </a:r>
          </a:p>
        </p:txBody>
      </p:sp>
      <p:sp>
        <p:nvSpPr>
          <p:cNvPr id="97" name="TextBox 96"/>
          <p:cNvSpPr txBox="1"/>
          <p:nvPr/>
        </p:nvSpPr>
        <p:spPr>
          <a:xfrm>
            <a:off x="503046" y="3256077"/>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3</a:t>
            </a:r>
          </a:p>
        </p:txBody>
      </p:sp>
      <p:sp>
        <p:nvSpPr>
          <p:cNvPr id="98" name="TextBox 97"/>
          <p:cNvSpPr txBox="1"/>
          <p:nvPr/>
        </p:nvSpPr>
        <p:spPr>
          <a:xfrm>
            <a:off x="1124993" y="3057021"/>
            <a:ext cx="3483514"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The customer to win</a:t>
            </a:r>
          </a:p>
        </p:txBody>
      </p:sp>
      <p:sp>
        <p:nvSpPr>
          <p:cNvPr id="99" name="TextBox 98"/>
          <p:cNvSpPr txBox="1"/>
          <p:nvPr/>
        </p:nvSpPr>
        <p:spPr>
          <a:xfrm>
            <a:off x="503046" y="3969309"/>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4</a:t>
            </a:r>
          </a:p>
        </p:txBody>
      </p:sp>
      <p:sp>
        <p:nvSpPr>
          <p:cNvPr id="100" name="TextBox 99"/>
          <p:cNvSpPr txBox="1"/>
          <p:nvPr/>
        </p:nvSpPr>
        <p:spPr>
          <a:xfrm>
            <a:off x="1124993" y="3770253"/>
            <a:ext cx="600417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What we learned from the category</a:t>
            </a:r>
          </a:p>
        </p:txBody>
      </p:sp>
      <p:sp>
        <p:nvSpPr>
          <p:cNvPr id="101" name="TextBox 100"/>
          <p:cNvSpPr txBox="1"/>
          <p:nvPr/>
        </p:nvSpPr>
        <p:spPr>
          <a:xfrm>
            <a:off x="503046" y="4682541"/>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lang="en-US" sz="1450" b="0" i="0" u="none" strike="noStrike" kern="1200" cap="none" spc="0" normalizeH="0" baseline="0" noProof="0">
                <a:ln>
                  <a:noFill/>
                </a:ln>
                <a:solidFill>
                  <a:prstClr val="white">
                    <a:lumMod val="75000"/>
                  </a:prstClr>
                </a:solidFill>
                <a:effectLst/>
                <a:uLnTx/>
                <a:uFillTx/>
                <a:latin typeface="Fira Sans"/>
                <a:ea typeface="+mn-ea"/>
                <a:cs typeface="+mn-cs"/>
              </a:rPr>
              <a:t>5</a:t>
            </a:r>
          </a:p>
        </p:txBody>
      </p:sp>
      <p:sp>
        <p:nvSpPr>
          <p:cNvPr id="102" name="TextBox 101"/>
          <p:cNvSpPr txBox="1"/>
          <p:nvPr/>
        </p:nvSpPr>
        <p:spPr>
          <a:xfrm>
            <a:off x="1124993" y="4483485"/>
            <a:ext cx="3732055"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Where loyalty is going</a:t>
            </a:r>
          </a:p>
        </p:txBody>
      </p:sp>
      <p:sp>
        <p:nvSpPr>
          <p:cNvPr id="103" name="TextBox 102"/>
          <p:cNvSpPr txBox="1"/>
          <p:nvPr/>
        </p:nvSpPr>
        <p:spPr>
          <a:xfrm>
            <a:off x="503046" y="5395773"/>
            <a:ext cx="347559" cy="281635"/>
          </a:xfrm>
          <a:prstGeom prst="rect">
            <a:avLst/>
          </a:prstGeom>
          <a:noFill/>
        </p:spPr>
        <p:txBody>
          <a:bodyPr wrap="square" lIns="0" tIns="0" rIns="0" bIns="0" anchor="t">
            <a:noAutofit/>
          </a:bodyPr>
          <a:lstStyle/>
          <a:p>
            <a:pPr marL="0" marR="0" lvl="0" indent="0" algn="l" defTabSz="457200" rtl="0" eaLnBrk="1" fontAlgn="auto" latinLnBrk="0" hangingPunct="1">
              <a:lnSpc>
                <a:spcPts val="2073"/>
              </a:lnSpc>
              <a:spcBef>
                <a:spcPts val="0"/>
              </a:spcBef>
              <a:spcAft>
                <a:spcPts val="0"/>
              </a:spcAft>
              <a:buClrTx/>
              <a:buSzTx/>
              <a:buFontTx/>
              <a:buNone/>
              <a:tabLst/>
              <a:defRPr/>
            </a:pPr>
            <a:r>
              <a:rPr kumimoji="0" sz="1450" b="0" i="0" u="none" strike="noStrike" kern="1200" cap="none" spc="0" normalizeH="0" baseline="0" noProof="0">
                <a:ln>
                  <a:noFill/>
                </a:ln>
                <a:solidFill>
                  <a:srgbClr val="FFFFFF"/>
                </a:solidFill>
                <a:effectLst/>
                <a:uLnTx/>
                <a:uFillTx/>
                <a:latin typeface="Fira Sans Medium"/>
                <a:ea typeface="+mn-ea"/>
                <a:cs typeface="+mn-cs"/>
              </a:rPr>
              <a:t>6</a:t>
            </a:r>
          </a:p>
        </p:txBody>
      </p:sp>
      <p:sp>
        <p:nvSpPr>
          <p:cNvPr id="104" name="TextBox 103"/>
          <p:cNvSpPr txBox="1"/>
          <p:nvPr/>
        </p:nvSpPr>
        <p:spPr>
          <a:xfrm>
            <a:off x="1124993" y="5196717"/>
            <a:ext cx="7267893"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srgbClr val="FFFFFF"/>
                </a:solidFill>
                <a:effectLst/>
                <a:uLnTx/>
                <a:uFillTx/>
                <a:latin typeface="Fira Sans Medium"/>
                <a:ea typeface="+mn-ea"/>
                <a:cs typeface="+mn-cs"/>
              </a:rPr>
              <a:t>Initial</a:t>
            </a:r>
            <a:r>
              <a:rPr kumimoji="0" sz="2900" b="0" i="0" u="none" strike="noStrike" kern="1200" cap="none" spc="0" normalizeH="0" baseline="0" noProof="0">
                <a:ln>
                  <a:noFill/>
                </a:ln>
                <a:solidFill>
                  <a:srgbClr val="FFFFFF"/>
                </a:solidFill>
                <a:effectLst/>
                <a:uLnTx/>
                <a:uFillTx/>
                <a:latin typeface="Fira Sans Medium"/>
                <a:ea typeface="+mn-ea"/>
                <a:cs typeface="+mn-cs"/>
              </a:rPr>
              <a:t> ecosystem </a:t>
            </a:r>
            <a:r>
              <a:rPr kumimoji="0" lang="en-US" sz="2900" b="0" i="0" u="none" strike="noStrike" kern="1200" cap="none" spc="0" normalizeH="0" baseline="0" noProof="0">
                <a:ln>
                  <a:noFill/>
                </a:ln>
                <a:solidFill>
                  <a:srgbClr val="FFFFFF"/>
                </a:solidFill>
                <a:effectLst/>
                <a:uLnTx/>
                <a:uFillTx/>
                <a:latin typeface="Fira Sans Medium"/>
                <a:ea typeface="+mn-ea"/>
                <a:cs typeface="+mn-cs"/>
              </a:rPr>
              <a:t>recommendation</a:t>
            </a:r>
            <a:endParaRPr kumimoji="0" sz="2900" b="0" i="0" u="none" strike="noStrike" kern="1200" cap="none" spc="0" normalizeH="0" baseline="0" noProof="0">
              <a:ln>
                <a:noFill/>
              </a:ln>
              <a:solidFill>
                <a:srgbClr val="FFFFFF"/>
              </a:solidFill>
              <a:effectLst/>
              <a:uLnTx/>
              <a:uFillTx/>
              <a:latin typeface="Fira Sans Medium"/>
              <a:ea typeface="+mn-ea"/>
              <a:cs typeface="+mn-cs"/>
            </a:endParaRP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prstClr val="black">
                    <a:tint val="75000"/>
                  </a:prstClr>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950" b="0" i="0" u="none" strike="noStrike" kern="1200" cap="none" spc="0" normalizeH="0" baseline="0" noProof="0">
              <a:ln>
                <a:noFill/>
              </a:ln>
              <a:solidFill>
                <a:prstClr val="black">
                  <a:tint val="75000"/>
                </a:prstClr>
              </a:solidFill>
              <a:effectLst/>
              <a:uLnTx/>
              <a:uFillTx/>
              <a:latin typeface="Fira Mono"/>
              <a:ea typeface="+mn-ea"/>
              <a:cs typeface="+mn-cs"/>
            </a:endParaRPr>
          </a:p>
        </p:txBody>
      </p:sp>
      <p:sp>
        <p:nvSpPr>
          <p:cNvPr id="2" name="TextBox 1">
            <a:extLst>
              <a:ext uri="{FF2B5EF4-FFF2-40B4-BE49-F238E27FC236}">
                <a16:creationId xmlns:a16="http://schemas.microsoft.com/office/drawing/2014/main" id="{FF8667B6-A09E-23C1-26FC-8FEBA63692DF}"/>
              </a:ext>
            </a:extLst>
          </p:cNvPr>
          <p:cNvSpPr txBox="1"/>
          <p:nvPr/>
        </p:nvSpPr>
        <p:spPr>
          <a:xfrm>
            <a:off x="1124993" y="1630557"/>
            <a:ext cx="5207841" cy="544982"/>
          </a:xfrm>
          <a:prstGeom prst="rect">
            <a:avLst/>
          </a:prstGeom>
          <a:noFill/>
        </p:spPr>
        <p:txBody>
          <a:bodyPr wrap="square" lIns="0" tIns="0" rIns="0" bIns="0" anchor="t">
            <a:noAutofit/>
          </a:bodyPr>
          <a:lstStyle/>
          <a:p>
            <a:pPr marL="0" marR="0" lvl="0" indent="0" algn="l" defTabSz="457200" rtl="0" eaLnBrk="1" fontAlgn="auto" latinLnBrk="0" hangingPunct="1">
              <a:lnSpc>
                <a:spcPts val="4147"/>
              </a:lnSpc>
              <a:spcBef>
                <a:spcPts val="0"/>
              </a:spcBef>
              <a:spcAft>
                <a:spcPts val="0"/>
              </a:spcAft>
              <a:buClrTx/>
              <a:buSzTx/>
              <a:buFontTx/>
              <a:buNone/>
              <a:tabLst/>
              <a:defRPr/>
            </a:pPr>
            <a:r>
              <a:rPr kumimoji="0" lang="en-US" sz="2900" b="0" i="0" u="none" strike="noStrike" kern="1200" cap="none" spc="0" normalizeH="0" baseline="0" noProof="0">
                <a:ln>
                  <a:noFill/>
                </a:ln>
                <a:solidFill>
                  <a:prstClr val="white">
                    <a:lumMod val="75000"/>
                  </a:prstClr>
                </a:solidFill>
                <a:effectLst/>
                <a:uLnTx/>
                <a:uFillTx/>
                <a:latin typeface="Fira Sans Light"/>
                <a:ea typeface="+mn-ea"/>
                <a:cs typeface="+mn-cs"/>
              </a:rPr>
              <a:t>How we analyze ecosystems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a:extLst>
            <a:ext uri="{FF2B5EF4-FFF2-40B4-BE49-F238E27FC236}">
              <a16:creationId xmlns:a16="http://schemas.microsoft.com/office/drawing/2014/main" id="{7FCD63FD-9DFB-0FBE-14B3-9776A9837077}"/>
            </a:ext>
          </a:extLst>
        </p:cNvPr>
        <p:cNvGrpSpPr/>
        <p:nvPr/>
      </p:nvGrpSpPr>
      <p:grpSpPr>
        <a:xfrm>
          <a:off x="0" y="0"/>
          <a:ext cx="0" cy="0"/>
          <a:chOff x="0" y="0"/>
          <a:chExt cx="0" cy="0"/>
        </a:xfrm>
      </p:grpSpPr>
      <p:sp>
        <p:nvSpPr>
          <p:cNvPr id="91" name="TextBox 90">
            <a:extLst>
              <a:ext uri="{FF2B5EF4-FFF2-40B4-BE49-F238E27FC236}">
                <a16:creationId xmlns:a16="http://schemas.microsoft.com/office/drawing/2014/main" id="{9F0CFE50-DAA8-2F56-0A66-34C0B329DC93}"/>
              </a:ext>
            </a:extLst>
          </p:cNvPr>
          <p:cNvSpPr txBox="1"/>
          <p:nvPr/>
        </p:nvSpPr>
        <p:spPr>
          <a:xfrm>
            <a:off x="503046" y="366045"/>
            <a:ext cx="3821369"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ECOSYSTEM DIRECTION · OUR RECOMMENDATION</a:t>
            </a:r>
          </a:p>
        </p:txBody>
      </p:sp>
      <p:sp>
        <p:nvSpPr>
          <p:cNvPr id="92" name="TextBox 91">
            <a:extLst>
              <a:ext uri="{FF2B5EF4-FFF2-40B4-BE49-F238E27FC236}">
                <a16:creationId xmlns:a16="http://schemas.microsoft.com/office/drawing/2014/main" id="{075F0BE1-91CD-C97D-7920-A5EE736E6BEC}"/>
              </a:ext>
            </a:extLst>
          </p:cNvPr>
          <p:cNvSpPr txBox="1"/>
          <p:nvPr/>
        </p:nvSpPr>
        <p:spPr>
          <a:xfrm>
            <a:off x="503047" y="743648"/>
            <a:ext cx="9442232"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We explored three ecosystem directions and recommend the one that best fits where Citizens is going</a:t>
            </a:r>
          </a:p>
        </p:txBody>
      </p:sp>
      <p:sp>
        <p:nvSpPr>
          <p:cNvPr id="90" name="Slide Number">
            <a:extLst>
              <a:ext uri="{FF2B5EF4-FFF2-40B4-BE49-F238E27FC236}">
                <a16:creationId xmlns:a16="http://schemas.microsoft.com/office/drawing/2014/main" id="{7B6BF184-2787-9220-7DCA-3328778EA0D5}"/>
              </a:ext>
            </a:extLst>
          </p:cNvP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2" name="Rounded Rectangle 1">
            <a:extLst>
              <a:ext uri="{FF2B5EF4-FFF2-40B4-BE49-F238E27FC236}">
                <a16:creationId xmlns:a16="http://schemas.microsoft.com/office/drawing/2014/main" id="{5077CF47-ADAE-B806-19EC-4FBB4D5074DB}"/>
              </a:ext>
            </a:extLst>
          </p:cNvPr>
          <p:cNvSpPr/>
          <p:nvPr/>
        </p:nvSpPr>
        <p:spPr>
          <a:xfrm>
            <a:off x="503046" y="3363207"/>
            <a:ext cx="3570070" cy="3494793"/>
          </a:xfrm>
          <a:prstGeom prst="roundRect">
            <a:avLst>
              <a:gd name="adj" fmla="val 786"/>
            </a:avLst>
          </a:prstGeom>
          <a:solidFill>
            <a:schemeClr val="bg1"/>
          </a:solidFill>
          <a:ln>
            <a:solidFill>
              <a:schemeClr val="bg1">
                <a:lumMod val="85000"/>
              </a:schemeClr>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3" name="Connector 94">
            <a:extLst>
              <a:ext uri="{FF2B5EF4-FFF2-40B4-BE49-F238E27FC236}">
                <a16:creationId xmlns:a16="http://schemas.microsoft.com/office/drawing/2014/main" id="{34F98CE8-E1CB-E829-797C-7C97D4ABE74D}"/>
              </a:ext>
            </a:extLst>
          </p:cNvPr>
          <p:cNvCxnSpPr/>
          <p:nvPr/>
        </p:nvCxnSpPr>
        <p:spPr>
          <a:xfrm>
            <a:off x="503046" y="3376923"/>
            <a:ext cx="3570070" cy="0"/>
          </a:xfrm>
          <a:prstGeom prst="line">
            <a:avLst/>
          </a:prstGeom>
          <a:ln w="27432">
            <a:solidFill>
              <a:srgbClr val="4F6E8F"/>
            </a:solidFill>
          </a:ln>
          <a:effectLst/>
        </p:spPr>
      </p:cxnSp>
      <p:sp>
        <p:nvSpPr>
          <p:cNvPr id="4" name="TextBox 3">
            <a:extLst>
              <a:ext uri="{FF2B5EF4-FFF2-40B4-BE49-F238E27FC236}">
                <a16:creationId xmlns:a16="http://schemas.microsoft.com/office/drawing/2014/main" id="{1097B19F-DF4F-24A3-07BF-D3E08C3E8D91}"/>
              </a:ext>
            </a:extLst>
          </p:cNvPr>
          <p:cNvSpPr txBox="1"/>
          <p:nvPr/>
        </p:nvSpPr>
        <p:spPr>
          <a:xfrm>
            <a:off x="786581" y="3628668"/>
            <a:ext cx="2435590" cy="31921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1" i="0" u="none" strike="noStrike" kern="1200" cap="none" spc="108" normalizeH="0" baseline="0" noProof="0">
                <a:ln>
                  <a:noFill/>
                </a:ln>
                <a:solidFill>
                  <a:srgbClr val="232422"/>
                </a:solidFill>
                <a:effectLst/>
                <a:uLnTx/>
                <a:uFillTx/>
                <a:latin typeface="Fira Sans"/>
                <a:ea typeface="+mn-ea"/>
                <a:cs typeface="+mn-cs"/>
              </a:rPr>
              <a:t>A · PRODUCT-LED</a:t>
            </a:r>
          </a:p>
        </p:txBody>
      </p:sp>
      <p:sp>
        <p:nvSpPr>
          <p:cNvPr id="5" name="TextBox 4">
            <a:extLst>
              <a:ext uri="{FF2B5EF4-FFF2-40B4-BE49-F238E27FC236}">
                <a16:creationId xmlns:a16="http://schemas.microsoft.com/office/drawing/2014/main" id="{C4FBCA16-BE11-633D-A62B-E10F7B5B613E}"/>
              </a:ext>
            </a:extLst>
          </p:cNvPr>
          <p:cNvSpPr txBox="1"/>
          <p:nvPr/>
        </p:nvSpPr>
        <p:spPr>
          <a:xfrm>
            <a:off x="786581" y="4033244"/>
            <a:ext cx="3153150" cy="564916"/>
          </a:xfrm>
          <a:prstGeom prst="rect">
            <a:avLst/>
          </a:prstGeom>
          <a:noFill/>
        </p:spPr>
        <p:txBody>
          <a:bodyPr wrap="square" lIns="0" tIns="0" rIns="0" bIns="0" anchor="t">
            <a:noAutofit/>
          </a:bodyPr>
          <a:lstStyle/>
          <a:p>
            <a:pPr marL="0" marR="0" lvl="0" indent="0" algn="l" defTabSz="457200" rtl="0" eaLnBrk="1" fontAlgn="auto" latinLnBrk="0" hangingPunct="1">
              <a:lnSpc>
                <a:spcPts val="2152"/>
              </a:lnSpc>
              <a:spcBef>
                <a:spcPts val="0"/>
              </a:spcBef>
              <a:spcAft>
                <a:spcPts val="0"/>
              </a:spcAft>
              <a:buClrTx/>
              <a:buSzTx/>
              <a:buFontTx/>
              <a:buNone/>
              <a:tabLst/>
              <a:defRPr/>
            </a:pPr>
            <a:r>
              <a:rPr kumimoji="0" lang="en-US" sz="1800" b="0" i="0" u="none" strike="noStrike" kern="1200" cap="none" spc="0" normalizeH="0" baseline="0" noProof="0">
                <a:ln>
                  <a:noFill/>
                </a:ln>
                <a:solidFill>
                  <a:srgbClr val="232422"/>
                </a:solidFill>
                <a:effectLst/>
                <a:uLnTx/>
                <a:uFillTx/>
                <a:latin typeface="Fira Sans"/>
                <a:ea typeface="+mn-ea"/>
                <a:cs typeface="+mn-cs"/>
              </a:rPr>
              <a:t>Build around</a:t>
            </a:r>
          </a:p>
          <a:p>
            <a:pPr marL="0" marR="0" lvl="0" indent="0" algn="l" defTabSz="457200" rtl="0" eaLnBrk="1" fontAlgn="auto" latinLnBrk="0" hangingPunct="1">
              <a:lnSpc>
                <a:spcPts val="2152"/>
              </a:lnSpc>
              <a:spcBef>
                <a:spcPts val="0"/>
              </a:spcBef>
              <a:spcAft>
                <a:spcPts val="0"/>
              </a:spcAft>
              <a:buClrTx/>
              <a:buSzTx/>
              <a:buFontTx/>
              <a:buNone/>
              <a:tabLst/>
              <a:defRPr/>
            </a:pPr>
            <a:r>
              <a:rPr kumimoji="0" lang="en-US" sz="1800" b="1" i="0" u="none" strike="noStrike" kern="1200" cap="none" spc="0" normalizeH="0" baseline="0" noProof="0">
                <a:ln>
                  <a:noFill/>
                </a:ln>
                <a:solidFill>
                  <a:srgbClr val="232422"/>
                </a:solidFill>
                <a:effectLst/>
                <a:uLnTx/>
                <a:uFillTx/>
                <a:latin typeface="Fira Sans"/>
                <a:ea typeface="+mn-ea"/>
                <a:cs typeface="+mn-cs"/>
              </a:rPr>
              <a:t>t</a:t>
            </a:r>
            <a:r>
              <a:rPr kumimoji="0" sz="1800" b="1" i="0" u="none" strike="noStrike" kern="1200" cap="none" spc="0" normalizeH="0" baseline="0" noProof="0">
                <a:ln>
                  <a:noFill/>
                </a:ln>
                <a:solidFill>
                  <a:srgbClr val="232422"/>
                </a:solidFill>
                <a:effectLst/>
                <a:uLnTx/>
                <a:uFillTx/>
                <a:latin typeface="Fira Sans"/>
                <a:ea typeface="+mn-ea"/>
                <a:cs typeface="+mn-cs"/>
              </a:rPr>
              <a:t>he checking</a:t>
            </a:r>
          </a:p>
          <a:p>
            <a:pPr marL="0" marR="0" lvl="0" indent="0" algn="l" defTabSz="457200" rtl="0" eaLnBrk="1" fontAlgn="auto" latinLnBrk="0" hangingPunct="1">
              <a:lnSpc>
                <a:spcPts val="2152"/>
              </a:lnSpc>
              <a:spcBef>
                <a:spcPts val="0"/>
              </a:spcBef>
              <a:spcAft>
                <a:spcPts val="0"/>
              </a:spcAft>
              <a:buClrTx/>
              <a:buSzTx/>
              <a:buFontTx/>
              <a:buNone/>
              <a:tabLst/>
              <a:defRPr/>
            </a:pPr>
            <a:r>
              <a:rPr kumimoji="0" sz="1800" b="1" i="0" u="none" strike="noStrike" kern="1200" cap="none" spc="0" normalizeH="0" baseline="0" noProof="0">
                <a:ln>
                  <a:noFill/>
                </a:ln>
                <a:solidFill>
                  <a:srgbClr val="232422"/>
                </a:solidFill>
                <a:effectLst/>
                <a:uLnTx/>
                <a:uFillTx/>
                <a:latin typeface="Fira Sans"/>
                <a:ea typeface="+mn-ea"/>
                <a:cs typeface="+mn-cs"/>
              </a:rPr>
              <a:t>product they hold</a:t>
            </a:r>
          </a:p>
        </p:txBody>
      </p:sp>
      <p:sp>
        <p:nvSpPr>
          <p:cNvPr id="7" name="Rounded Rectangle 6">
            <a:extLst>
              <a:ext uri="{FF2B5EF4-FFF2-40B4-BE49-F238E27FC236}">
                <a16:creationId xmlns:a16="http://schemas.microsoft.com/office/drawing/2014/main" id="{9BB90BD8-1918-55D3-B673-B3A4317DE8DF}"/>
              </a:ext>
            </a:extLst>
          </p:cNvPr>
          <p:cNvSpPr/>
          <p:nvPr/>
        </p:nvSpPr>
        <p:spPr>
          <a:xfrm>
            <a:off x="4310919" y="3363207"/>
            <a:ext cx="3570070" cy="3494793"/>
          </a:xfrm>
          <a:prstGeom prst="roundRect">
            <a:avLst>
              <a:gd name="adj" fmla="val 786"/>
            </a:avLst>
          </a:prstGeom>
          <a:solidFill>
            <a:srgbClr val="F1E6D2"/>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8" name="Connector 102">
            <a:extLst>
              <a:ext uri="{FF2B5EF4-FFF2-40B4-BE49-F238E27FC236}">
                <a16:creationId xmlns:a16="http://schemas.microsoft.com/office/drawing/2014/main" id="{FF6F9ABF-CB63-382C-8636-378F9AACBCCD}"/>
              </a:ext>
            </a:extLst>
          </p:cNvPr>
          <p:cNvCxnSpPr/>
          <p:nvPr/>
        </p:nvCxnSpPr>
        <p:spPr>
          <a:xfrm>
            <a:off x="4310919" y="3376923"/>
            <a:ext cx="3570070" cy="0"/>
          </a:xfrm>
          <a:prstGeom prst="line">
            <a:avLst/>
          </a:prstGeom>
          <a:ln w="57150">
            <a:solidFill>
              <a:srgbClr val="B0742F"/>
            </a:solidFill>
          </a:ln>
          <a:effectLst/>
        </p:spPr>
      </p:cxnSp>
      <p:sp>
        <p:nvSpPr>
          <p:cNvPr id="9" name="TextBox 8">
            <a:extLst>
              <a:ext uri="{FF2B5EF4-FFF2-40B4-BE49-F238E27FC236}">
                <a16:creationId xmlns:a16="http://schemas.microsoft.com/office/drawing/2014/main" id="{7E4D52CF-FF0F-1F40-4A7F-748121967FF8}"/>
              </a:ext>
            </a:extLst>
          </p:cNvPr>
          <p:cNvSpPr txBox="1"/>
          <p:nvPr/>
        </p:nvSpPr>
        <p:spPr>
          <a:xfrm>
            <a:off x="4594454" y="3628668"/>
            <a:ext cx="1980517" cy="203103"/>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1" i="0" u="none" strike="noStrike" kern="1200" cap="none" spc="108" normalizeH="0" baseline="0" noProof="0">
                <a:ln>
                  <a:noFill/>
                </a:ln>
                <a:solidFill>
                  <a:srgbClr val="232422"/>
                </a:solidFill>
                <a:effectLst/>
                <a:uLnTx/>
                <a:uFillTx/>
                <a:latin typeface="Fira Sans"/>
                <a:ea typeface="+mn-ea"/>
                <a:cs typeface="+mn-cs"/>
              </a:rPr>
              <a:t>B · BALANCE-LED</a:t>
            </a:r>
          </a:p>
        </p:txBody>
      </p:sp>
      <p:sp>
        <p:nvSpPr>
          <p:cNvPr id="10" name="TextBox 9">
            <a:extLst>
              <a:ext uri="{FF2B5EF4-FFF2-40B4-BE49-F238E27FC236}">
                <a16:creationId xmlns:a16="http://schemas.microsoft.com/office/drawing/2014/main" id="{5C844D95-F37B-0EE4-69D1-8897E5F68B95}"/>
              </a:ext>
            </a:extLst>
          </p:cNvPr>
          <p:cNvSpPr txBox="1"/>
          <p:nvPr/>
        </p:nvSpPr>
        <p:spPr>
          <a:xfrm>
            <a:off x="4594454" y="4033244"/>
            <a:ext cx="3153150" cy="291694"/>
          </a:xfrm>
          <a:prstGeom prst="rect">
            <a:avLst/>
          </a:prstGeom>
          <a:noFill/>
        </p:spPr>
        <p:txBody>
          <a:bodyPr wrap="none" lIns="0" tIns="0" rIns="0" bIns="0" anchor="t">
            <a:noAutofit/>
          </a:bodyPr>
          <a:lstStyle/>
          <a:p>
            <a:pPr marL="0" marR="0" lvl="0" indent="0" algn="l" defTabSz="457200" rtl="0" eaLnBrk="1" fontAlgn="auto" latinLnBrk="0" hangingPunct="1">
              <a:lnSpc>
                <a:spcPts val="2152"/>
              </a:lnSpc>
              <a:spcBef>
                <a:spcPts val="0"/>
              </a:spcBef>
              <a:spcAft>
                <a:spcPts val="0"/>
              </a:spcAft>
              <a:buClrTx/>
              <a:buSzTx/>
              <a:buFontTx/>
              <a:buNone/>
              <a:tabLst/>
              <a:defRPr/>
            </a:pPr>
            <a:r>
              <a:rPr kumimoji="0" lang="en-US" sz="1800" b="0" i="0" u="none" strike="noStrike" kern="1200" cap="none" spc="0" normalizeH="0" baseline="0" noProof="0">
                <a:ln>
                  <a:noFill/>
                </a:ln>
                <a:solidFill>
                  <a:srgbClr val="232422"/>
                </a:solidFill>
                <a:effectLst/>
                <a:uLnTx/>
                <a:uFillTx/>
                <a:latin typeface="Fira Sans"/>
                <a:ea typeface="+mn-ea"/>
                <a:cs typeface="+mn-cs"/>
              </a:rPr>
              <a:t>Build around</a:t>
            </a:r>
          </a:p>
          <a:p>
            <a:pPr marL="0" marR="0" lvl="0" indent="0" algn="l" defTabSz="457200" rtl="0" eaLnBrk="1" fontAlgn="auto" latinLnBrk="0" hangingPunct="1">
              <a:lnSpc>
                <a:spcPts val="2152"/>
              </a:lnSpc>
              <a:spcBef>
                <a:spcPts val="0"/>
              </a:spcBef>
              <a:spcAft>
                <a:spcPts val="0"/>
              </a:spcAft>
              <a:buClrTx/>
              <a:buSzTx/>
              <a:buFontTx/>
              <a:buNone/>
              <a:tabLst/>
              <a:defRPr/>
            </a:pPr>
            <a:r>
              <a:rPr kumimoji="0" lang="en-US" sz="1800" b="1" i="0" u="none" strike="noStrike" kern="1200" cap="none" spc="0" normalizeH="0" baseline="0" noProof="0">
                <a:ln>
                  <a:noFill/>
                </a:ln>
                <a:solidFill>
                  <a:srgbClr val="232422"/>
                </a:solidFill>
                <a:effectLst/>
                <a:uLnTx/>
                <a:uFillTx/>
                <a:latin typeface="Fira Sans"/>
                <a:ea typeface="+mn-ea"/>
                <a:cs typeface="+mn-cs"/>
              </a:rPr>
              <a:t>th</a:t>
            </a:r>
            <a:r>
              <a:rPr kumimoji="0" sz="1800" b="1" i="0" u="none" strike="noStrike" kern="1200" cap="none" spc="0" normalizeH="0" baseline="0" noProof="0">
                <a:ln>
                  <a:noFill/>
                </a:ln>
                <a:solidFill>
                  <a:srgbClr val="232422"/>
                </a:solidFill>
                <a:effectLst/>
                <a:uLnTx/>
                <a:uFillTx/>
                <a:latin typeface="Fira Sans"/>
                <a:ea typeface="+mn-ea"/>
                <a:cs typeface="+mn-cs"/>
              </a:rPr>
              <a:t>e balances </a:t>
            </a:r>
            <a:br>
              <a:rPr kumimoji="0" lang="en-US" sz="1800" b="1" i="0" u="none" strike="noStrike" kern="1200" cap="none" spc="0" normalizeH="0" baseline="0" noProof="0">
                <a:ln>
                  <a:noFill/>
                </a:ln>
                <a:solidFill>
                  <a:srgbClr val="232422"/>
                </a:solidFill>
                <a:effectLst/>
                <a:uLnTx/>
                <a:uFillTx/>
                <a:latin typeface="Fira Sans"/>
                <a:ea typeface="+mn-ea"/>
                <a:cs typeface="+mn-cs"/>
              </a:rPr>
            </a:br>
            <a:r>
              <a:rPr kumimoji="0" sz="1800" b="1" i="0" u="none" strike="noStrike" kern="1200" cap="none" spc="0" normalizeH="0" baseline="0" noProof="0">
                <a:ln>
                  <a:noFill/>
                </a:ln>
                <a:solidFill>
                  <a:srgbClr val="232422"/>
                </a:solidFill>
                <a:effectLst/>
                <a:uLnTx/>
                <a:uFillTx/>
                <a:latin typeface="Fira Sans"/>
                <a:ea typeface="+mn-ea"/>
                <a:cs typeface="+mn-cs"/>
              </a:rPr>
              <a:t>they consolidate</a:t>
            </a:r>
          </a:p>
        </p:txBody>
      </p:sp>
      <p:sp>
        <p:nvSpPr>
          <p:cNvPr id="12" name="Rounded Rectangle 11">
            <a:extLst>
              <a:ext uri="{FF2B5EF4-FFF2-40B4-BE49-F238E27FC236}">
                <a16:creationId xmlns:a16="http://schemas.microsoft.com/office/drawing/2014/main" id="{AE028096-F363-DD33-21C8-358C1FB3FBAD}"/>
              </a:ext>
            </a:extLst>
          </p:cNvPr>
          <p:cNvSpPr/>
          <p:nvPr/>
        </p:nvSpPr>
        <p:spPr>
          <a:xfrm>
            <a:off x="8118793" y="3363207"/>
            <a:ext cx="3570162" cy="3494793"/>
          </a:xfrm>
          <a:prstGeom prst="roundRect">
            <a:avLst>
              <a:gd name="adj" fmla="val 786"/>
            </a:avLst>
          </a:prstGeom>
          <a:solidFill>
            <a:schemeClr val="bg1"/>
          </a:solidFill>
          <a:ln>
            <a:solidFill>
              <a:schemeClr val="bg1">
                <a:lumMod val="85000"/>
              </a:schemeClr>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3" name="Connector 110">
            <a:extLst>
              <a:ext uri="{FF2B5EF4-FFF2-40B4-BE49-F238E27FC236}">
                <a16:creationId xmlns:a16="http://schemas.microsoft.com/office/drawing/2014/main" id="{9D96859B-369A-D9AD-A17F-917721E8E878}"/>
              </a:ext>
            </a:extLst>
          </p:cNvPr>
          <p:cNvCxnSpPr/>
          <p:nvPr/>
        </p:nvCxnSpPr>
        <p:spPr>
          <a:xfrm>
            <a:off x="8118793" y="3376923"/>
            <a:ext cx="3570161" cy="0"/>
          </a:xfrm>
          <a:prstGeom prst="line">
            <a:avLst/>
          </a:prstGeom>
          <a:ln w="27432">
            <a:solidFill>
              <a:srgbClr val="007651"/>
            </a:solidFill>
          </a:ln>
          <a:effectLst/>
        </p:spPr>
      </p:cxnSp>
      <p:sp>
        <p:nvSpPr>
          <p:cNvPr id="14" name="TextBox 13">
            <a:extLst>
              <a:ext uri="{FF2B5EF4-FFF2-40B4-BE49-F238E27FC236}">
                <a16:creationId xmlns:a16="http://schemas.microsoft.com/office/drawing/2014/main" id="{2977692A-698D-72E6-68AB-C0397F48FB28}"/>
              </a:ext>
            </a:extLst>
          </p:cNvPr>
          <p:cNvSpPr txBox="1"/>
          <p:nvPr/>
        </p:nvSpPr>
        <p:spPr>
          <a:xfrm>
            <a:off x="8402328" y="3628668"/>
            <a:ext cx="3153246"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1" i="0" u="none" strike="noStrike" kern="1200" cap="none" spc="108" normalizeH="0" baseline="0" noProof="0">
                <a:ln>
                  <a:noFill/>
                </a:ln>
                <a:solidFill>
                  <a:srgbClr val="232422"/>
                </a:solidFill>
                <a:effectLst/>
                <a:uLnTx/>
                <a:uFillTx/>
                <a:latin typeface="Fira Sans"/>
                <a:ea typeface="+mn-ea"/>
                <a:cs typeface="+mn-cs"/>
              </a:rPr>
              <a:t>C · RELATIONSHIP-GROWTH-LED</a:t>
            </a:r>
          </a:p>
        </p:txBody>
      </p:sp>
      <p:sp>
        <p:nvSpPr>
          <p:cNvPr id="15" name="TextBox 14">
            <a:extLst>
              <a:ext uri="{FF2B5EF4-FFF2-40B4-BE49-F238E27FC236}">
                <a16:creationId xmlns:a16="http://schemas.microsoft.com/office/drawing/2014/main" id="{E6F39586-D0A8-9314-3C5A-1DD98C0A7122}"/>
              </a:ext>
            </a:extLst>
          </p:cNvPr>
          <p:cNvSpPr txBox="1"/>
          <p:nvPr/>
        </p:nvSpPr>
        <p:spPr>
          <a:xfrm>
            <a:off x="8402328" y="4033244"/>
            <a:ext cx="3153246" cy="564916"/>
          </a:xfrm>
          <a:prstGeom prst="rect">
            <a:avLst/>
          </a:prstGeom>
          <a:noFill/>
        </p:spPr>
        <p:txBody>
          <a:bodyPr wrap="square" lIns="0" tIns="0" rIns="0" bIns="0" anchor="t">
            <a:noAutofit/>
          </a:bodyPr>
          <a:lstStyle/>
          <a:p>
            <a:pPr marL="0" marR="0" lvl="0" indent="0" algn="l" defTabSz="457200" rtl="0" eaLnBrk="1" fontAlgn="auto" latinLnBrk="0" hangingPunct="1">
              <a:lnSpc>
                <a:spcPts val="2152"/>
              </a:lnSpc>
              <a:spcBef>
                <a:spcPts val="0"/>
              </a:spcBef>
              <a:spcAft>
                <a:spcPts val="0"/>
              </a:spcAft>
              <a:buClrTx/>
              <a:buSzTx/>
              <a:buFontTx/>
              <a:buNone/>
              <a:tabLst/>
              <a:defRPr/>
            </a:pPr>
            <a:r>
              <a:rPr kumimoji="0" lang="en-US" sz="1800" b="0" i="0" u="none" strike="noStrike" kern="1200" cap="none" spc="0" normalizeH="0" baseline="0" noProof="0">
                <a:ln>
                  <a:noFill/>
                </a:ln>
                <a:solidFill>
                  <a:srgbClr val="232422"/>
                </a:solidFill>
                <a:effectLst/>
                <a:uLnTx/>
                <a:uFillTx/>
                <a:latin typeface="Fira Sans"/>
                <a:ea typeface="+mn-ea"/>
                <a:cs typeface="+mn-cs"/>
              </a:rPr>
              <a:t>Build around</a:t>
            </a:r>
          </a:p>
          <a:p>
            <a:pPr marL="0" marR="0" lvl="0" indent="0" algn="l" defTabSz="457200" rtl="0" eaLnBrk="1" fontAlgn="auto" latinLnBrk="0" hangingPunct="1">
              <a:lnSpc>
                <a:spcPts val="2152"/>
              </a:lnSpc>
              <a:spcBef>
                <a:spcPts val="0"/>
              </a:spcBef>
              <a:spcAft>
                <a:spcPts val="0"/>
              </a:spcAft>
              <a:buClrTx/>
              <a:buSzTx/>
              <a:buFontTx/>
              <a:buNone/>
              <a:tabLst/>
              <a:defRPr/>
            </a:pPr>
            <a:r>
              <a:rPr kumimoji="0" lang="en-US" sz="1800" b="1" i="0" u="none" strike="noStrike" kern="1200" cap="none" spc="0" normalizeH="0" baseline="0" noProof="0">
                <a:ln>
                  <a:noFill/>
                </a:ln>
                <a:solidFill>
                  <a:srgbClr val="232422"/>
                </a:solidFill>
                <a:effectLst/>
                <a:uLnTx/>
                <a:uFillTx/>
                <a:latin typeface="Fira Sans"/>
                <a:ea typeface="+mn-ea"/>
                <a:cs typeface="+mn-cs"/>
              </a:rPr>
              <a:t>h</a:t>
            </a:r>
            <a:r>
              <a:rPr kumimoji="0" sz="1800" b="1" i="0" u="none" strike="noStrike" kern="1200" cap="none" spc="0" normalizeH="0" baseline="0" noProof="0">
                <a:ln>
                  <a:noFill/>
                </a:ln>
                <a:solidFill>
                  <a:srgbClr val="232422"/>
                </a:solidFill>
                <a:effectLst/>
                <a:uLnTx/>
                <a:uFillTx/>
                <a:latin typeface="Fira Sans"/>
                <a:ea typeface="+mn-ea"/>
                <a:cs typeface="+mn-cs"/>
              </a:rPr>
              <a:t>ow they use </a:t>
            </a:r>
            <a:r>
              <a:rPr kumimoji="0" lang="en-US" sz="1800" b="1" i="0" u="none" strike="noStrike" kern="1200" cap="none" spc="0" normalizeH="0" baseline="0" noProof="0">
                <a:ln>
                  <a:noFill/>
                </a:ln>
                <a:solidFill>
                  <a:srgbClr val="232422"/>
                </a:solidFill>
                <a:effectLst/>
                <a:uLnTx/>
                <a:uFillTx/>
                <a:latin typeface="Fira Sans"/>
                <a:ea typeface="+mn-ea"/>
                <a:cs typeface="+mn-cs"/>
              </a:rPr>
              <a:t>&amp;</a:t>
            </a:r>
            <a:r>
              <a:rPr kumimoji="0" sz="1800" b="1" i="0" u="none" strike="noStrike" kern="1200" cap="none" spc="0" normalizeH="0" baseline="0" noProof="0">
                <a:ln>
                  <a:noFill/>
                </a:ln>
                <a:solidFill>
                  <a:srgbClr val="232422"/>
                </a:solidFill>
                <a:effectLst/>
                <a:uLnTx/>
                <a:uFillTx/>
                <a:latin typeface="Fira Sans"/>
                <a:ea typeface="+mn-ea"/>
                <a:cs typeface="+mn-cs"/>
              </a:rPr>
              <a:t> grow</a:t>
            </a:r>
          </a:p>
          <a:p>
            <a:pPr marL="0" marR="0" lvl="0" indent="0" algn="l" defTabSz="457200" rtl="0" eaLnBrk="1" fontAlgn="auto" latinLnBrk="0" hangingPunct="1">
              <a:lnSpc>
                <a:spcPts val="2152"/>
              </a:lnSpc>
              <a:spcBef>
                <a:spcPts val="0"/>
              </a:spcBef>
              <a:spcAft>
                <a:spcPts val="0"/>
              </a:spcAft>
              <a:buClrTx/>
              <a:buSzTx/>
              <a:buFontTx/>
              <a:buNone/>
              <a:tabLst/>
              <a:defRPr/>
            </a:pPr>
            <a:r>
              <a:rPr kumimoji="0" sz="1800" b="1" i="0" u="none" strike="noStrike" kern="1200" cap="none" spc="0" normalizeH="0" baseline="0" noProof="0">
                <a:ln>
                  <a:noFill/>
                </a:ln>
                <a:solidFill>
                  <a:srgbClr val="232422"/>
                </a:solidFill>
                <a:effectLst/>
                <a:uLnTx/>
                <a:uFillTx/>
                <a:latin typeface="Fira Sans"/>
                <a:ea typeface="+mn-ea"/>
                <a:cs typeface="+mn-cs"/>
              </a:rPr>
              <a:t>the relationship</a:t>
            </a:r>
          </a:p>
        </p:txBody>
      </p:sp>
      <p:pic>
        <p:nvPicPr>
          <p:cNvPr id="17" name="Graphic 16" descr="Hierarchy with solid fill">
            <a:extLst>
              <a:ext uri="{FF2B5EF4-FFF2-40B4-BE49-F238E27FC236}">
                <a16:creationId xmlns:a16="http://schemas.microsoft.com/office/drawing/2014/main" id="{0FBD7FFA-5AB0-9972-8E6D-D58544C6E7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7369632" y="3539391"/>
            <a:ext cx="383142" cy="383142"/>
          </a:xfrm>
          <a:prstGeom prst="rect">
            <a:avLst/>
          </a:prstGeom>
        </p:spPr>
      </p:pic>
      <p:grpSp>
        <p:nvGrpSpPr>
          <p:cNvPr id="18" name="Group 17">
            <a:extLst>
              <a:ext uri="{FF2B5EF4-FFF2-40B4-BE49-F238E27FC236}">
                <a16:creationId xmlns:a16="http://schemas.microsoft.com/office/drawing/2014/main" id="{9077F765-97E7-6FED-1DB4-8B4F3849A988}"/>
              </a:ext>
            </a:extLst>
          </p:cNvPr>
          <p:cNvGrpSpPr/>
          <p:nvPr/>
        </p:nvGrpSpPr>
        <p:grpSpPr>
          <a:xfrm>
            <a:off x="3381841" y="3443000"/>
            <a:ext cx="508000" cy="575926"/>
            <a:chOff x="6862480" y="-1345184"/>
            <a:chExt cx="631253" cy="699299"/>
          </a:xfrm>
        </p:grpSpPr>
        <p:pic>
          <p:nvPicPr>
            <p:cNvPr id="19" name="Graphic 18" descr="Credit card with solid fill">
              <a:extLst>
                <a:ext uri="{FF2B5EF4-FFF2-40B4-BE49-F238E27FC236}">
                  <a16:creationId xmlns:a16="http://schemas.microsoft.com/office/drawing/2014/main" id="{CDCF3563-8726-996D-7B35-BA763CCF21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62480" y="-1250578"/>
              <a:ext cx="322731" cy="322731"/>
            </a:xfrm>
            <a:prstGeom prst="rect">
              <a:avLst/>
            </a:prstGeom>
          </p:spPr>
        </p:pic>
        <p:pic>
          <p:nvPicPr>
            <p:cNvPr id="20" name="Graphic 19" descr="Credit card with solid fill">
              <a:extLst>
                <a:ext uri="{FF2B5EF4-FFF2-40B4-BE49-F238E27FC236}">
                  <a16:creationId xmlns:a16="http://schemas.microsoft.com/office/drawing/2014/main" id="{BB872477-AEAA-A896-7848-1E110416A7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66962" y="-1030943"/>
              <a:ext cx="322731" cy="322731"/>
            </a:xfrm>
            <a:prstGeom prst="rect">
              <a:avLst/>
            </a:prstGeom>
          </p:spPr>
        </p:pic>
        <p:pic>
          <p:nvPicPr>
            <p:cNvPr id="21" name="Graphic 20" descr="Rating Star with solid fill">
              <a:extLst>
                <a:ext uri="{FF2B5EF4-FFF2-40B4-BE49-F238E27FC236}">
                  <a16:creationId xmlns:a16="http://schemas.microsoft.com/office/drawing/2014/main" id="{AE36AF1A-42B1-245B-DF63-52003999E3EB}"/>
                </a:ext>
              </a:extLst>
            </p:cNvPr>
            <p:cNvPicPr>
              <a:picLocks noChangeAspect="1"/>
            </p:cNvPicPr>
            <p:nvPr/>
          </p:nvPicPr>
          <p:blipFill>
            <a:blip>
              <a:extLst>
                <a:ext uri="{96DAC541-7B7A-43D3-8B79-37D633B846F1}">
                  <asvg:svgBlip xmlns:asvg="http://schemas.microsoft.com/office/drawing/2016/SVG/main" r:embed="rId4"/>
                </a:ext>
              </a:extLst>
            </a:blip>
            <a:srcRect r="33730"/>
            <a:stretch>
              <a:fillRect/>
            </a:stretch>
          </p:blipFill>
          <p:spPr>
            <a:xfrm>
              <a:off x="7188201" y="-1106927"/>
              <a:ext cx="305532" cy="461042"/>
            </a:xfrm>
            <a:prstGeom prst="rect">
              <a:avLst/>
            </a:prstGeom>
          </p:spPr>
        </p:pic>
        <p:pic>
          <p:nvPicPr>
            <p:cNvPr id="22" name="Graphic 21" descr="Rating 1 Star with solid fill">
              <a:extLst>
                <a:ext uri="{FF2B5EF4-FFF2-40B4-BE49-F238E27FC236}">
                  <a16:creationId xmlns:a16="http://schemas.microsoft.com/office/drawing/2014/main" id="{77A00D64-5198-C9A1-B8A9-654ADDB90A33}"/>
                </a:ext>
              </a:extLst>
            </p:cNvPr>
            <p:cNvPicPr>
              <a:picLocks noChangeAspect="1"/>
            </p:cNvPicPr>
            <p:nvPr/>
          </p:nvPicPr>
          <p:blipFill>
            <a:blip>
              <a:extLst>
                <a:ext uri="{96DAC541-7B7A-43D3-8B79-37D633B846F1}">
                  <asvg:svgBlip xmlns:asvg="http://schemas.microsoft.com/office/drawing/2016/SVG/main" r:embed="rId5"/>
                </a:ext>
              </a:extLst>
            </a:blip>
            <a:srcRect r="64794"/>
            <a:stretch>
              <a:fillRect/>
            </a:stretch>
          </p:blipFill>
          <p:spPr>
            <a:xfrm flipH="1">
              <a:off x="7195984" y="-1345184"/>
              <a:ext cx="174659" cy="496099"/>
            </a:xfrm>
            <a:prstGeom prst="rect">
              <a:avLst/>
            </a:prstGeom>
          </p:spPr>
        </p:pic>
      </p:grpSp>
      <p:grpSp>
        <p:nvGrpSpPr>
          <p:cNvPr id="23" name="Group 22">
            <a:extLst>
              <a:ext uri="{FF2B5EF4-FFF2-40B4-BE49-F238E27FC236}">
                <a16:creationId xmlns:a16="http://schemas.microsoft.com/office/drawing/2014/main" id="{95ABD022-FBB3-6B04-F732-73E6C3707193}"/>
              </a:ext>
            </a:extLst>
          </p:cNvPr>
          <p:cNvGrpSpPr/>
          <p:nvPr/>
        </p:nvGrpSpPr>
        <p:grpSpPr>
          <a:xfrm>
            <a:off x="11006446" y="3465846"/>
            <a:ext cx="539932" cy="530233"/>
            <a:chOff x="8238308" y="-1456508"/>
            <a:chExt cx="914400" cy="914400"/>
          </a:xfrm>
        </p:grpSpPr>
        <p:pic>
          <p:nvPicPr>
            <p:cNvPr id="24" name="Graphic 23" descr="Cycle with people with solid fill">
              <a:extLst>
                <a:ext uri="{FF2B5EF4-FFF2-40B4-BE49-F238E27FC236}">
                  <a16:creationId xmlns:a16="http://schemas.microsoft.com/office/drawing/2014/main" id="{5CDEE3EF-0D48-D90E-F317-E6A7CFF9ECE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38308" y="-1456508"/>
              <a:ext cx="914400" cy="914400"/>
            </a:xfrm>
            <a:prstGeom prst="rect">
              <a:avLst/>
            </a:prstGeom>
          </p:spPr>
        </p:pic>
        <p:grpSp>
          <p:nvGrpSpPr>
            <p:cNvPr id="25" name="Group 24">
              <a:extLst>
                <a:ext uri="{FF2B5EF4-FFF2-40B4-BE49-F238E27FC236}">
                  <a16:creationId xmlns:a16="http://schemas.microsoft.com/office/drawing/2014/main" id="{65FE3F75-B912-B26E-B0D1-A5C0C727BD74}"/>
                </a:ext>
              </a:extLst>
            </p:cNvPr>
            <p:cNvGrpSpPr/>
            <p:nvPr/>
          </p:nvGrpSpPr>
          <p:grpSpPr>
            <a:xfrm>
              <a:off x="8311111" y="-1327918"/>
              <a:ext cx="763969" cy="720675"/>
              <a:chOff x="8311111" y="-1327918"/>
              <a:chExt cx="763969" cy="720675"/>
            </a:xfrm>
          </p:grpSpPr>
          <p:sp>
            <p:nvSpPr>
              <p:cNvPr id="26" name="Oval 25">
                <a:extLst>
                  <a:ext uri="{FF2B5EF4-FFF2-40B4-BE49-F238E27FC236}">
                    <a16:creationId xmlns:a16="http://schemas.microsoft.com/office/drawing/2014/main" id="{DD98B2A2-C86E-B395-27E0-2F30DD0AEB77}"/>
                  </a:ext>
                </a:extLst>
              </p:cNvPr>
              <p:cNvSpPr/>
              <p:nvPr/>
            </p:nvSpPr>
            <p:spPr>
              <a:xfrm>
                <a:off x="8537284" y="-1327918"/>
                <a:ext cx="303858" cy="306187"/>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Oval 26">
                <a:extLst>
                  <a:ext uri="{FF2B5EF4-FFF2-40B4-BE49-F238E27FC236}">
                    <a16:creationId xmlns:a16="http://schemas.microsoft.com/office/drawing/2014/main" id="{08C219BB-69F5-6782-6D73-03609735B851}"/>
                  </a:ext>
                </a:extLst>
              </p:cNvPr>
              <p:cNvSpPr/>
              <p:nvPr/>
            </p:nvSpPr>
            <p:spPr>
              <a:xfrm>
                <a:off x="8311111" y="-925078"/>
                <a:ext cx="303858" cy="306187"/>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Oval 27">
                <a:extLst>
                  <a:ext uri="{FF2B5EF4-FFF2-40B4-BE49-F238E27FC236}">
                    <a16:creationId xmlns:a16="http://schemas.microsoft.com/office/drawing/2014/main" id="{3B409CBA-F252-BF0A-B36C-DE63CCDC2D33}"/>
                  </a:ext>
                </a:extLst>
              </p:cNvPr>
              <p:cNvSpPr/>
              <p:nvPr/>
            </p:nvSpPr>
            <p:spPr>
              <a:xfrm>
                <a:off x="8771222" y="-913429"/>
                <a:ext cx="303858" cy="306186"/>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9" name="Graphic 28" descr="Bank with solid fill">
                <a:extLst>
                  <a:ext uri="{FF2B5EF4-FFF2-40B4-BE49-F238E27FC236}">
                    <a16:creationId xmlns:a16="http://schemas.microsoft.com/office/drawing/2014/main" id="{E5EAF3B8-45A2-7D01-8955-E8EFE3AF23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46085" y="-896928"/>
                <a:ext cx="245844" cy="245844"/>
              </a:xfrm>
              <a:prstGeom prst="rect">
                <a:avLst/>
              </a:prstGeom>
            </p:spPr>
          </p:pic>
          <p:pic>
            <p:nvPicPr>
              <p:cNvPr id="30" name="Graphic 29" descr="Safe with solid fill">
                <a:extLst>
                  <a:ext uri="{FF2B5EF4-FFF2-40B4-BE49-F238E27FC236}">
                    <a16:creationId xmlns:a16="http://schemas.microsoft.com/office/drawing/2014/main" id="{D491A4E9-F4AA-3095-F611-E26A02142F5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90359" y="-886502"/>
                <a:ext cx="265584" cy="265584"/>
              </a:xfrm>
              <a:prstGeom prst="rect">
                <a:avLst/>
              </a:prstGeom>
            </p:spPr>
          </p:pic>
          <p:pic>
            <p:nvPicPr>
              <p:cNvPr id="31" name="Graphic 30" descr="Credit card with solid fill">
                <a:extLst>
                  <a:ext uri="{FF2B5EF4-FFF2-40B4-BE49-F238E27FC236}">
                    <a16:creationId xmlns:a16="http://schemas.microsoft.com/office/drawing/2014/main" id="{B64F3009-B860-A44E-BA06-F34B5AF5F38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571534" y="-1292342"/>
                <a:ext cx="243985" cy="243985"/>
              </a:xfrm>
              <a:prstGeom prst="rect">
                <a:avLst/>
              </a:prstGeom>
            </p:spPr>
          </p:pic>
        </p:grpSp>
      </p:grpSp>
      <p:sp>
        <p:nvSpPr>
          <p:cNvPr id="32" name="TextBox 31">
            <a:extLst>
              <a:ext uri="{FF2B5EF4-FFF2-40B4-BE49-F238E27FC236}">
                <a16:creationId xmlns:a16="http://schemas.microsoft.com/office/drawing/2014/main" id="{A2018FFF-1413-5F28-81C5-5FA2374A1F98}"/>
              </a:ext>
            </a:extLst>
          </p:cNvPr>
          <p:cNvSpPr txBox="1"/>
          <p:nvPr/>
        </p:nvSpPr>
        <p:spPr>
          <a:xfrm>
            <a:off x="5530302" y="3072224"/>
            <a:ext cx="1131396" cy="204826"/>
          </a:xfrm>
          <a:prstGeom prst="rect">
            <a:avLst/>
          </a:prstGeom>
          <a:noFill/>
        </p:spPr>
        <p:txBody>
          <a:bodyPr wrap="none" lIns="0" tIns="0" rIns="0" bIns="0" anchor="t">
            <a:noAutofit/>
          </a:bodyPr>
          <a:lstStyle/>
          <a:p>
            <a:pPr marL="0" marR="0" lvl="0" indent="0" algn="ctr" defTabSz="457200" rtl="0" eaLnBrk="1" fontAlgn="auto" latinLnBrk="0" hangingPunct="1">
              <a:lnSpc>
                <a:spcPts val="1468"/>
              </a:lnSpc>
              <a:spcBef>
                <a:spcPts val="0"/>
              </a:spcBef>
              <a:spcAft>
                <a:spcPts val="0"/>
              </a:spcAft>
              <a:buClrTx/>
              <a:buSzTx/>
              <a:buFontTx/>
              <a:buNone/>
              <a:tabLst/>
              <a:defRPr/>
            </a:pPr>
            <a:r>
              <a:rPr kumimoji="0" lang="en-US" sz="1400" b="1" i="0" u="none" strike="noStrike" kern="1200" cap="none" spc="81" normalizeH="0" baseline="0" noProof="0">
                <a:ln>
                  <a:noFill/>
                </a:ln>
                <a:solidFill>
                  <a:srgbClr val="8F5C20"/>
                </a:solidFill>
                <a:effectLst/>
                <a:uLnTx/>
                <a:uFillTx/>
                <a:latin typeface="Fira Sans"/>
                <a:ea typeface="+mn-ea"/>
                <a:cs typeface="+mn-cs"/>
              </a:rPr>
              <a:t>OUR RECOMMENDATION</a:t>
            </a:r>
            <a:endParaRPr kumimoji="0" sz="1400" b="1" i="0" u="none" strike="noStrike" kern="1200" cap="none" spc="81" normalizeH="0" baseline="0" noProof="0">
              <a:ln>
                <a:noFill/>
              </a:ln>
              <a:solidFill>
                <a:srgbClr val="8F5C20"/>
              </a:solidFill>
              <a:effectLst/>
              <a:uLnTx/>
              <a:uFillTx/>
              <a:latin typeface="Fira Sans"/>
              <a:ea typeface="+mn-ea"/>
              <a:cs typeface="+mn-cs"/>
            </a:endParaRPr>
          </a:p>
        </p:txBody>
      </p:sp>
      <p:sp>
        <p:nvSpPr>
          <p:cNvPr id="33" name="Rectangle 32">
            <a:extLst>
              <a:ext uri="{FF2B5EF4-FFF2-40B4-BE49-F238E27FC236}">
                <a16:creationId xmlns:a16="http://schemas.microsoft.com/office/drawing/2014/main" id="{014994D9-BF19-0B7C-1E29-1E88782690D4}"/>
              </a:ext>
            </a:extLst>
          </p:cNvPr>
          <p:cNvSpPr/>
          <p:nvPr/>
        </p:nvSpPr>
        <p:spPr>
          <a:xfrm>
            <a:off x="749995" y="5195655"/>
            <a:ext cx="3006110" cy="918698"/>
          </a:xfrm>
          <a:prstGeom prst="rect">
            <a:avLst/>
          </a:prstGeom>
          <a:solidFill>
            <a:srgbClr val="232422">
              <a:alpha val="4000"/>
            </a:srgb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34" name="Connector 101">
            <a:extLst>
              <a:ext uri="{FF2B5EF4-FFF2-40B4-BE49-F238E27FC236}">
                <a16:creationId xmlns:a16="http://schemas.microsoft.com/office/drawing/2014/main" id="{FAB31C1E-95F1-D42A-17D8-C2660DBAF977}"/>
              </a:ext>
            </a:extLst>
          </p:cNvPr>
          <p:cNvCxnSpPr>
            <a:cxnSpLocks/>
          </p:cNvCxnSpPr>
          <p:nvPr/>
        </p:nvCxnSpPr>
        <p:spPr>
          <a:xfrm>
            <a:off x="763715" y="5195654"/>
            <a:ext cx="0" cy="918698"/>
          </a:xfrm>
          <a:prstGeom prst="line">
            <a:avLst/>
          </a:prstGeom>
          <a:ln w="27432">
            <a:solidFill>
              <a:srgbClr val="9A9A9A"/>
            </a:solidFill>
          </a:ln>
          <a:effectLst/>
        </p:spPr>
      </p:cxnSp>
      <p:sp>
        <p:nvSpPr>
          <p:cNvPr id="35" name="TextBox 34">
            <a:extLst>
              <a:ext uri="{FF2B5EF4-FFF2-40B4-BE49-F238E27FC236}">
                <a16:creationId xmlns:a16="http://schemas.microsoft.com/office/drawing/2014/main" id="{3E20A6EE-B2E1-A78B-CBEE-3D2F7C7F5668}"/>
              </a:ext>
            </a:extLst>
          </p:cNvPr>
          <p:cNvSpPr txBox="1"/>
          <p:nvPr/>
        </p:nvSpPr>
        <p:spPr>
          <a:xfrm>
            <a:off x="896336" y="5284979"/>
            <a:ext cx="2877911"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none" spc="75" normalizeH="0" baseline="0" noProof="0">
                <a:ln>
                  <a:noFill/>
                </a:ln>
                <a:solidFill>
                  <a:srgbClr val="575757"/>
                </a:solidFill>
                <a:effectLst/>
                <a:uLnTx/>
                <a:uFillTx/>
                <a:latin typeface="Fira Sans"/>
                <a:ea typeface="+mn-ea"/>
                <a:cs typeface="+mn-cs"/>
              </a:rPr>
              <a:t>SET ASIDE</a:t>
            </a:r>
          </a:p>
        </p:txBody>
      </p:sp>
      <p:sp>
        <p:nvSpPr>
          <p:cNvPr id="36" name="TextBox 35">
            <a:extLst>
              <a:ext uri="{FF2B5EF4-FFF2-40B4-BE49-F238E27FC236}">
                <a16:creationId xmlns:a16="http://schemas.microsoft.com/office/drawing/2014/main" id="{B01F4A1E-5BA3-E647-B384-411E173D2CD9}"/>
              </a:ext>
            </a:extLst>
          </p:cNvPr>
          <p:cNvSpPr txBox="1"/>
          <p:nvPr/>
        </p:nvSpPr>
        <p:spPr>
          <a:xfrm>
            <a:off x="896336" y="5464937"/>
            <a:ext cx="2877911" cy="718993"/>
          </a:xfrm>
          <a:prstGeom prst="rect">
            <a:avLst/>
          </a:prstGeom>
          <a:noFill/>
        </p:spPr>
        <p:txBody>
          <a:bodyPr wrap="square" lIns="0" tIns="0" rIns="0" bIns="0" anchor="t">
            <a:noAutofit/>
          </a:bodyPr>
          <a:lstStyle/>
          <a:p>
            <a:pPr marL="0" marR="0" lvl="0" indent="0" algn="l" defTabSz="457200" rtl="0" eaLnBrk="1" fontAlgn="auto" latinLnBrk="0" hangingPunct="1">
              <a:lnSpc>
                <a:spcPts val="1380"/>
              </a:lnSpc>
              <a:spcBef>
                <a:spcPts val="0"/>
              </a:spcBef>
              <a:spcAft>
                <a:spcPts val="0"/>
              </a:spcAft>
              <a:buClrTx/>
              <a:buSzTx/>
              <a:buFontTx/>
              <a:buNone/>
              <a:tabLst/>
              <a:defRPr/>
            </a:pPr>
            <a:r>
              <a:rPr kumimoji="0" sz="950" b="0" i="0" u="none" strike="noStrike" kern="1200" cap="none" spc="0" normalizeH="0" baseline="0" noProof="0">
                <a:ln>
                  <a:noFill/>
                </a:ln>
                <a:solidFill>
                  <a:srgbClr val="232422"/>
                </a:solidFill>
                <a:effectLst/>
                <a:uLnTx/>
                <a:uFillTx/>
                <a:latin typeface="Fira Sans"/>
                <a:ea typeface="+mn-ea"/>
                <a:cs typeface="+mn-cs"/>
              </a:rPr>
              <a:t>A relationship can grow without the product</a:t>
            </a:r>
          </a:p>
          <a:p>
            <a:pPr marL="0" marR="0" lvl="0" indent="0" algn="l" defTabSz="457200" rtl="0" eaLnBrk="1" fontAlgn="auto" latinLnBrk="0" hangingPunct="1">
              <a:lnSpc>
                <a:spcPts val="1380"/>
              </a:lnSpc>
              <a:spcBef>
                <a:spcPts val="0"/>
              </a:spcBef>
              <a:spcAft>
                <a:spcPts val="0"/>
              </a:spcAft>
              <a:buClrTx/>
              <a:buSzTx/>
              <a:buFontTx/>
              <a:buNone/>
              <a:tabLst/>
              <a:defRPr/>
            </a:pPr>
            <a:r>
              <a:rPr kumimoji="0" sz="950" b="0" i="0" u="none" strike="noStrike" kern="1200" cap="none" spc="0" normalizeH="0" baseline="0" noProof="0">
                <a:ln>
                  <a:noFill/>
                </a:ln>
                <a:solidFill>
                  <a:srgbClr val="232422"/>
                </a:solidFill>
                <a:effectLst/>
                <a:uLnTx/>
                <a:uFillTx/>
                <a:latin typeface="Fira Sans"/>
                <a:ea typeface="+mn-ea"/>
                <a:cs typeface="+mn-cs"/>
              </a:rPr>
              <a:t>changing – </a:t>
            </a:r>
            <a:r>
              <a:rPr kumimoji="0" lang="en-US" sz="950" b="0" i="0" u="none" strike="noStrike" kern="1200" cap="none" spc="0" normalizeH="0" baseline="0" noProof="0">
                <a:ln>
                  <a:noFill/>
                </a:ln>
                <a:solidFill>
                  <a:srgbClr val="232422"/>
                </a:solidFill>
                <a:effectLst/>
                <a:uLnTx/>
                <a:uFillTx/>
                <a:latin typeface="Fira Sans"/>
                <a:ea typeface="+mn-ea"/>
                <a:cs typeface="+mn-cs"/>
              </a:rPr>
              <a:t>Citizens’</a:t>
            </a:r>
            <a:r>
              <a:rPr kumimoji="0" sz="950" b="0" i="0" u="none" strike="noStrike" kern="1200" cap="none" spc="0" normalizeH="0" baseline="0" noProof="0">
                <a:ln>
                  <a:noFill/>
                </a:ln>
                <a:solidFill>
                  <a:srgbClr val="232422"/>
                </a:solidFill>
                <a:effectLst/>
                <a:uLnTx/>
                <a:uFillTx/>
                <a:latin typeface="Fira Sans"/>
                <a:ea typeface="+mn-ea"/>
                <a:cs typeface="+mn-cs"/>
              </a:rPr>
              <a:t> own upgrade data showed little</a:t>
            </a:r>
          </a:p>
          <a:p>
            <a:pPr marL="0" marR="0" lvl="0" indent="0" algn="l" defTabSz="457200" rtl="0" eaLnBrk="1" fontAlgn="auto" latinLnBrk="0" hangingPunct="1">
              <a:lnSpc>
                <a:spcPts val="1380"/>
              </a:lnSpc>
              <a:spcBef>
                <a:spcPts val="0"/>
              </a:spcBef>
              <a:spcAft>
                <a:spcPts val="0"/>
              </a:spcAft>
              <a:buClrTx/>
              <a:buSzTx/>
              <a:buFontTx/>
              <a:buNone/>
              <a:tabLst/>
              <a:defRPr/>
            </a:pPr>
            <a:r>
              <a:rPr kumimoji="0" sz="950" b="0" i="0" u="none" strike="noStrike" kern="1200" cap="none" spc="0" normalizeH="0" baseline="0" noProof="0">
                <a:ln>
                  <a:noFill/>
                </a:ln>
                <a:solidFill>
                  <a:srgbClr val="232422"/>
                </a:solidFill>
                <a:effectLst/>
                <a:uLnTx/>
                <a:uFillTx/>
                <a:latin typeface="Fira Sans"/>
                <a:ea typeface="+mn-ea"/>
                <a:cs typeface="+mn-cs"/>
              </a:rPr>
              <a:t>balance growth after product moves. </a:t>
            </a:r>
          </a:p>
        </p:txBody>
      </p:sp>
      <p:sp>
        <p:nvSpPr>
          <p:cNvPr id="37" name="Rectangle 36">
            <a:extLst>
              <a:ext uri="{FF2B5EF4-FFF2-40B4-BE49-F238E27FC236}">
                <a16:creationId xmlns:a16="http://schemas.microsoft.com/office/drawing/2014/main" id="{4A2E157F-795A-FA2D-6201-8A7826A76C44}"/>
              </a:ext>
            </a:extLst>
          </p:cNvPr>
          <p:cNvSpPr/>
          <p:nvPr/>
        </p:nvSpPr>
        <p:spPr>
          <a:xfrm>
            <a:off x="4487808" y="5204798"/>
            <a:ext cx="3216200" cy="909554"/>
          </a:xfrm>
          <a:prstGeom prst="rect">
            <a:avLst/>
          </a:prstGeom>
          <a:solidFill>
            <a:srgbClr val="F6EAD6"/>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38" name="Connector 113">
            <a:extLst>
              <a:ext uri="{FF2B5EF4-FFF2-40B4-BE49-F238E27FC236}">
                <a16:creationId xmlns:a16="http://schemas.microsoft.com/office/drawing/2014/main" id="{E2D66719-476C-CDE7-D06A-23E1500659B7}"/>
              </a:ext>
            </a:extLst>
          </p:cNvPr>
          <p:cNvCxnSpPr/>
          <p:nvPr/>
        </p:nvCxnSpPr>
        <p:spPr>
          <a:xfrm>
            <a:off x="4501528" y="5204798"/>
            <a:ext cx="0" cy="909554"/>
          </a:xfrm>
          <a:prstGeom prst="line">
            <a:avLst/>
          </a:prstGeom>
          <a:ln w="27432">
            <a:solidFill>
              <a:srgbClr val="B0742F"/>
            </a:solidFill>
          </a:ln>
          <a:effectLst/>
        </p:spPr>
      </p:cxnSp>
      <p:sp>
        <p:nvSpPr>
          <p:cNvPr id="39" name="TextBox 38">
            <a:extLst>
              <a:ext uri="{FF2B5EF4-FFF2-40B4-BE49-F238E27FC236}">
                <a16:creationId xmlns:a16="http://schemas.microsoft.com/office/drawing/2014/main" id="{35E1B37C-F570-168F-B7F6-70FD9FA4CCD5}"/>
              </a:ext>
            </a:extLst>
          </p:cNvPr>
          <p:cNvSpPr txBox="1"/>
          <p:nvPr/>
        </p:nvSpPr>
        <p:spPr>
          <a:xfrm>
            <a:off x="4634149" y="5294123"/>
            <a:ext cx="3098506"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none" spc="75" normalizeH="0" baseline="0" noProof="0">
                <a:ln>
                  <a:noFill/>
                </a:ln>
                <a:solidFill>
                  <a:srgbClr val="8F5C20"/>
                </a:solidFill>
                <a:effectLst/>
                <a:uLnTx/>
                <a:uFillTx/>
                <a:latin typeface="Fira Sans"/>
                <a:ea typeface="+mn-ea"/>
                <a:cs typeface="+mn-cs"/>
              </a:rPr>
              <a:t>WHY </a:t>
            </a:r>
            <a:r>
              <a:rPr kumimoji="0" lang="en-US" sz="950" b="1" i="0" u="none" strike="noStrike" kern="1200" cap="none" spc="75" normalizeH="0" baseline="0" noProof="0">
                <a:ln>
                  <a:noFill/>
                </a:ln>
                <a:solidFill>
                  <a:srgbClr val="8F5C20"/>
                </a:solidFill>
                <a:effectLst/>
                <a:uLnTx/>
                <a:uFillTx/>
                <a:latin typeface="Fira Sans"/>
                <a:ea typeface="+mn-ea"/>
                <a:cs typeface="+mn-cs"/>
              </a:rPr>
              <a:t>WE RECOMMEND IT</a:t>
            </a:r>
            <a:endParaRPr kumimoji="0" sz="950" b="1" i="0" u="none" strike="noStrike" kern="1200" cap="none" spc="75" normalizeH="0" baseline="0" noProof="0">
              <a:ln>
                <a:noFill/>
              </a:ln>
              <a:solidFill>
                <a:srgbClr val="8F5C20"/>
              </a:solidFill>
              <a:effectLst/>
              <a:uLnTx/>
              <a:uFillTx/>
              <a:latin typeface="Fira Sans"/>
              <a:ea typeface="+mn-ea"/>
              <a:cs typeface="+mn-cs"/>
            </a:endParaRPr>
          </a:p>
        </p:txBody>
      </p:sp>
      <p:sp>
        <p:nvSpPr>
          <p:cNvPr id="40" name="TextBox 39">
            <a:extLst>
              <a:ext uri="{FF2B5EF4-FFF2-40B4-BE49-F238E27FC236}">
                <a16:creationId xmlns:a16="http://schemas.microsoft.com/office/drawing/2014/main" id="{82B46AB0-CD8F-0B8D-21E4-BB4AEA8110AF}"/>
              </a:ext>
            </a:extLst>
          </p:cNvPr>
          <p:cNvSpPr txBox="1"/>
          <p:nvPr/>
        </p:nvSpPr>
        <p:spPr>
          <a:xfrm>
            <a:off x="4634149" y="5474081"/>
            <a:ext cx="2985850" cy="543794"/>
          </a:xfrm>
          <a:prstGeom prst="rect">
            <a:avLst/>
          </a:prstGeom>
          <a:noFill/>
        </p:spPr>
        <p:txBody>
          <a:bodyPr wrap="square" lIns="0" tIns="0" rIns="0" bIns="0" anchor="t">
            <a:noAutofit/>
          </a:bodyPr>
          <a:lstStyle/>
          <a:p>
            <a:pPr marL="0" marR="0" lvl="0" indent="0" algn="l" defTabSz="457200" rtl="0" eaLnBrk="1" fontAlgn="auto" latinLnBrk="0" hangingPunct="1">
              <a:lnSpc>
                <a:spcPts val="1380"/>
              </a:lnSpc>
              <a:spcBef>
                <a:spcPts val="0"/>
              </a:spcBef>
              <a:spcAft>
                <a:spcPts val="0"/>
              </a:spcAft>
              <a:buClrTx/>
              <a:buSzTx/>
              <a:buFontTx/>
              <a:buNone/>
              <a:tabLst/>
              <a:defRPr/>
            </a:pPr>
            <a:r>
              <a:rPr kumimoji="0" sz="950" b="0" i="0" u="none" strike="noStrike" kern="1200" cap="none" spc="0" normalizeH="0" baseline="0" noProof="0">
                <a:ln>
                  <a:noFill/>
                </a:ln>
                <a:solidFill>
                  <a:srgbClr val="232422"/>
                </a:solidFill>
                <a:effectLst/>
                <a:uLnTx/>
                <a:uFillTx/>
                <a:latin typeface="Fira Sans"/>
                <a:ea typeface="+mn-ea"/>
                <a:cs typeface="+mn-cs"/>
              </a:rPr>
              <a:t>Given the decisions already made and what the</a:t>
            </a:r>
          </a:p>
          <a:p>
            <a:pPr marL="0" marR="0" lvl="0" indent="0" algn="l" defTabSz="457200" rtl="0" eaLnBrk="1" fontAlgn="auto" latinLnBrk="0" hangingPunct="1">
              <a:lnSpc>
                <a:spcPts val="1380"/>
              </a:lnSpc>
              <a:spcBef>
                <a:spcPts val="0"/>
              </a:spcBef>
              <a:spcAft>
                <a:spcPts val="0"/>
              </a:spcAft>
              <a:buClrTx/>
              <a:buSzTx/>
              <a:buFontTx/>
              <a:buNone/>
              <a:tabLst/>
              <a:defRPr/>
            </a:pPr>
            <a:r>
              <a:rPr kumimoji="0" sz="950" b="0" i="0" u="none" strike="noStrike" kern="1200" cap="none" spc="0" normalizeH="0" baseline="0" noProof="0">
                <a:ln>
                  <a:noFill/>
                </a:ln>
                <a:solidFill>
                  <a:srgbClr val="232422"/>
                </a:solidFill>
                <a:effectLst/>
                <a:uLnTx/>
                <a:uFillTx/>
                <a:latin typeface="Fira Sans"/>
                <a:ea typeface="+mn-ea"/>
                <a:cs typeface="+mn-cs"/>
              </a:rPr>
              <a:t>research shows, this is the direction that </a:t>
            </a:r>
            <a:r>
              <a:rPr kumimoji="0" lang="en-US" sz="950" b="0" i="0" u="none" strike="noStrike" kern="1200" cap="none" spc="0" normalizeH="0" baseline="0" noProof="0">
                <a:ln>
                  <a:noFill/>
                </a:ln>
                <a:solidFill>
                  <a:srgbClr val="232422"/>
                </a:solidFill>
                <a:effectLst/>
                <a:uLnTx/>
                <a:uFillTx/>
                <a:latin typeface="Fira Sans"/>
                <a:ea typeface="+mn-ea"/>
                <a:cs typeface="+mn-cs"/>
              </a:rPr>
              <a:t>best supports Citizens’ objectives</a:t>
            </a:r>
            <a:endParaRPr kumimoji="0" sz="950" b="0" i="0" u="none" strike="noStrike" kern="1200" cap="none" spc="0" normalizeH="0" baseline="0" noProof="0">
              <a:ln>
                <a:noFill/>
              </a:ln>
              <a:solidFill>
                <a:srgbClr val="232422"/>
              </a:solidFill>
              <a:effectLst/>
              <a:uLnTx/>
              <a:uFillTx/>
              <a:latin typeface="Fira Sans"/>
              <a:ea typeface="+mn-ea"/>
              <a:cs typeface="+mn-cs"/>
            </a:endParaRPr>
          </a:p>
        </p:txBody>
      </p:sp>
      <p:sp>
        <p:nvSpPr>
          <p:cNvPr id="41" name="Rectangle 40">
            <a:extLst>
              <a:ext uri="{FF2B5EF4-FFF2-40B4-BE49-F238E27FC236}">
                <a16:creationId xmlns:a16="http://schemas.microsoft.com/office/drawing/2014/main" id="{621ECCFC-AC20-D544-2C67-F30352A0E545}"/>
              </a:ext>
            </a:extLst>
          </p:cNvPr>
          <p:cNvSpPr/>
          <p:nvPr/>
        </p:nvSpPr>
        <p:spPr>
          <a:xfrm>
            <a:off x="8435712" y="5195655"/>
            <a:ext cx="3006293" cy="918698"/>
          </a:xfrm>
          <a:prstGeom prst="rect">
            <a:avLst/>
          </a:prstGeom>
          <a:solidFill>
            <a:srgbClr val="232422">
              <a:alpha val="4000"/>
            </a:srgb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42" name="Connector 124">
            <a:extLst>
              <a:ext uri="{FF2B5EF4-FFF2-40B4-BE49-F238E27FC236}">
                <a16:creationId xmlns:a16="http://schemas.microsoft.com/office/drawing/2014/main" id="{E0FAB759-BA17-526E-3A77-5003C8F8F8E8}"/>
              </a:ext>
            </a:extLst>
          </p:cNvPr>
          <p:cNvCxnSpPr>
            <a:cxnSpLocks/>
          </p:cNvCxnSpPr>
          <p:nvPr/>
        </p:nvCxnSpPr>
        <p:spPr>
          <a:xfrm>
            <a:off x="8449431" y="5195654"/>
            <a:ext cx="0" cy="918698"/>
          </a:xfrm>
          <a:prstGeom prst="line">
            <a:avLst/>
          </a:prstGeom>
          <a:ln w="27432">
            <a:solidFill>
              <a:srgbClr val="9A9A9A"/>
            </a:solidFill>
          </a:ln>
          <a:effectLst/>
        </p:spPr>
      </p:cxnSp>
      <p:sp>
        <p:nvSpPr>
          <p:cNvPr id="43" name="TextBox 42">
            <a:extLst>
              <a:ext uri="{FF2B5EF4-FFF2-40B4-BE49-F238E27FC236}">
                <a16:creationId xmlns:a16="http://schemas.microsoft.com/office/drawing/2014/main" id="{98AB6E6F-FFC4-6518-F356-9E68553BC947}"/>
              </a:ext>
            </a:extLst>
          </p:cNvPr>
          <p:cNvSpPr txBox="1"/>
          <p:nvPr/>
        </p:nvSpPr>
        <p:spPr>
          <a:xfrm>
            <a:off x="8582052" y="5284979"/>
            <a:ext cx="2878103"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950" b="1" i="0" u="none" strike="noStrike" kern="1200" cap="none" spc="75" normalizeH="0" baseline="0" noProof="0">
                <a:ln>
                  <a:noFill/>
                </a:ln>
                <a:solidFill>
                  <a:srgbClr val="575757"/>
                </a:solidFill>
                <a:effectLst/>
                <a:uLnTx/>
                <a:uFillTx/>
                <a:latin typeface="Fira Sans"/>
                <a:ea typeface="+mn-ea"/>
                <a:cs typeface="+mn-cs"/>
              </a:rPr>
              <a:t>SET ASIDE</a:t>
            </a:r>
            <a:endParaRPr kumimoji="0" sz="950" b="1" i="0" u="none" strike="noStrike" kern="1200" cap="none" spc="75" normalizeH="0" baseline="0" noProof="0">
              <a:ln>
                <a:noFill/>
              </a:ln>
              <a:solidFill>
                <a:srgbClr val="575757"/>
              </a:solidFill>
              <a:effectLst/>
              <a:uLnTx/>
              <a:uFillTx/>
              <a:latin typeface="Fira Sans"/>
              <a:ea typeface="+mn-ea"/>
              <a:cs typeface="+mn-cs"/>
            </a:endParaRPr>
          </a:p>
        </p:txBody>
      </p:sp>
      <p:sp>
        <p:nvSpPr>
          <p:cNvPr id="44" name="TextBox 43">
            <a:extLst>
              <a:ext uri="{FF2B5EF4-FFF2-40B4-BE49-F238E27FC236}">
                <a16:creationId xmlns:a16="http://schemas.microsoft.com/office/drawing/2014/main" id="{A3759551-D909-DC92-3D2D-BBCF91EC3A2C}"/>
              </a:ext>
            </a:extLst>
          </p:cNvPr>
          <p:cNvSpPr txBox="1"/>
          <p:nvPr/>
        </p:nvSpPr>
        <p:spPr>
          <a:xfrm>
            <a:off x="8582053" y="5464937"/>
            <a:ext cx="2750966" cy="718993"/>
          </a:xfrm>
          <a:prstGeom prst="rect">
            <a:avLst/>
          </a:prstGeom>
          <a:noFill/>
        </p:spPr>
        <p:txBody>
          <a:bodyPr wrap="square" lIns="0" tIns="0" rIns="0" bIns="0" anchor="t">
            <a:noAutofit/>
          </a:bodyPr>
          <a:lstStyle/>
          <a:p>
            <a:pPr marL="0" marR="0" lvl="0" indent="0" algn="l" defTabSz="457200" rtl="0" eaLnBrk="1" fontAlgn="auto" latinLnBrk="0" hangingPunct="1">
              <a:lnSpc>
                <a:spcPts val="1380"/>
              </a:lnSpc>
              <a:spcBef>
                <a:spcPts val="0"/>
              </a:spcBef>
              <a:spcAft>
                <a:spcPts val="0"/>
              </a:spcAft>
              <a:buClrTx/>
              <a:buSzTx/>
              <a:buFontTx/>
              <a:buNone/>
              <a:tabLst/>
              <a:defRPr/>
            </a:pPr>
            <a:r>
              <a:rPr kumimoji="0" lang="en-US" sz="950" b="0" i="0" u="none" strike="noStrike" kern="1200" cap="none" spc="0" normalizeH="0" baseline="0" noProof="0">
                <a:ln>
                  <a:noFill/>
                </a:ln>
                <a:solidFill>
                  <a:srgbClr val="232422"/>
                </a:solidFill>
                <a:effectLst/>
                <a:uLnTx/>
                <a:uFillTx/>
                <a:latin typeface="Fira Sans"/>
                <a:ea typeface="+mn-ea"/>
                <a:cs typeface="+mn-cs"/>
              </a:rPr>
              <a:t>Requires behavioral rules, data, and comms that introduce greater complexity. But its core concept is compelling and could be a long-term vision.</a:t>
            </a:r>
          </a:p>
        </p:txBody>
      </p:sp>
      <p:sp>
        <p:nvSpPr>
          <p:cNvPr id="48" name="TextBox 47">
            <a:extLst>
              <a:ext uri="{FF2B5EF4-FFF2-40B4-BE49-F238E27FC236}">
                <a16:creationId xmlns:a16="http://schemas.microsoft.com/office/drawing/2014/main" id="{8FEED019-F187-E135-9FB0-5C17D7EE4201}"/>
              </a:ext>
            </a:extLst>
          </p:cNvPr>
          <p:cNvSpPr txBox="1"/>
          <p:nvPr/>
        </p:nvSpPr>
        <p:spPr>
          <a:xfrm>
            <a:off x="503047" y="1962091"/>
            <a:ext cx="7615718" cy="248717"/>
          </a:xfrm>
          <a:prstGeom prst="rect">
            <a:avLst/>
          </a:prstGeom>
          <a:noFill/>
        </p:spPr>
        <p:txBody>
          <a:bodyPr wrap="square" lIns="0" tIns="0" rIns="0" bIns="0" anchor="t">
            <a:noAutofit/>
          </a:bodyPr>
          <a:lstStyle/>
          <a:p>
            <a:pPr marL="0" marR="0" lvl="0" indent="0" algn="l" defTabSz="457200" rtl="0" eaLnBrk="1" fontAlgn="auto" latinLnBrk="0" hangingPunct="1">
              <a:lnSpc>
                <a:spcPts val="2260"/>
              </a:lnSpc>
              <a:spcBef>
                <a:spcPts val="0"/>
              </a:spcBef>
              <a:spcAft>
                <a:spcPts val="0"/>
              </a:spcAft>
              <a:buClrTx/>
              <a:buSzTx/>
              <a:buFontTx/>
              <a:buNone/>
              <a:tabLst/>
              <a:defRPr/>
            </a:pPr>
            <a:r>
              <a:rPr kumimoji="0" lang="en-US" sz="1800" b="0" i="0" u="none" strike="noStrike" kern="1200" cap="none" spc="0" normalizeH="0" baseline="0" noProof="0">
                <a:ln>
                  <a:noFill/>
                </a:ln>
                <a:solidFill>
                  <a:srgbClr val="232422"/>
                </a:solidFill>
                <a:effectLst/>
                <a:uLnTx/>
                <a:uFillTx/>
                <a:latin typeface="Fira Sans"/>
                <a:ea typeface="+mn-ea"/>
                <a:cs typeface="+mn-cs"/>
              </a:rPr>
              <a:t>These directions are developed enough to compare, but the recommended ecosystem still needs validation and design.</a:t>
            </a:r>
          </a:p>
        </p:txBody>
      </p:sp>
      <p:sp>
        <p:nvSpPr>
          <p:cNvPr id="49" name="TextBox 48">
            <a:extLst>
              <a:ext uri="{FF2B5EF4-FFF2-40B4-BE49-F238E27FC236}">
                <a16:creationId xmlns:a16="http://schemas.microsoft.com/office/drawing/2014/main" id="{60E7FAAE-C112-57E6-412A-939FED26822E}"/>
              </a:ext>
            </a:extLst>
          </p:cNvPr>
          <p:cNvSpPr txBox="1"/>
          <p:nvPr/>
        </p:nvSpPr>
        <p:spPr>
          <a:xfrm>
            <a:off x="646546" y="6234546"/>
            <a:ext cx="2687781"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65000"/>
                  </a:prstClr>
                </a:solidFill>
                <a:effectLst/>
                <a:uLnTx/>
                <a:uFillTx/>
                <a:latin typeface="Fira Mono" panose="020B0509050000020004" pitchFamily="49" charset="0"/>
                <a:ea typeface="Fira Mono" panose="020B0509050000020004" pitchFamily="49" charset="0"/>
                <a:cs typeface="+mn-cs"/>
              </a:rPr>
              <a:t>Full direction in Appendix</a:t>
            </a:r>
          </a:p>
        </p:txBody>
      </p:sp>
      <p:sp>
        <p:nvSpPr>
          <p:cNvPr id="50" name="TextBox 49">
            <a:extLst>
              <a:ext uri="{FF2B5EF4-FFF2-40B4-BE49-F238E27FC236}">
                <a16:creationId xmlns:a16="http://schemas.microsoft.com/office/drawing/2014/main" id="{E0C2819B-3F0D-15F0-C8B2-C0EAFE5AEC47}"/>
              </a:ext>
            </a:extLst>
          </p:cNvPr>
          <p:cNvSpPr txBox="1"/>
          <p:nvPr/>
        </p:nvSpPr>
        <p:spPr>
          <a:xfrm>
            <a:off x="8326583" y="6229928"/>
            <a:ext cx="2687781"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65000"/>
                  </a:prstClr>
                </a:solidFill>
                <a:effectLst/>
                <a:uLnTx/>
                <a:uFillTx/>
                <a:latin typeface="Fira Mono" panose="020B0509050000020004" pitchFamily="49" charset="0"/>
                <a:ea typeface="Fira Mono" panose="020B0509050000020004" pitchFamily="49" charset="0"/>
                <a:cs typeface="+mn-cs"/>
              </a:rPr>
              <a:t>Full direction in Appendix</a:t>
            </a:r>
          </a:p>
        </p:txBody>
      </p:sp>
    </p:spTree>
    <p:extLst>
      <p:ext uri="{BB962C8B-B14F-4D97-AF65-F5344CB8AC3E}">
        <p14:creationId xmlns:p14="http://schemas.microsoft.com/office/powerpoint/2010/main" val="1250163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84706B1-D672-7F73-2978-43E02160C331}"/>
              </a:ext>
            </a:extLst>
          </p:cNvPr>
          <p:cNvGrpSpPr/>
          <p:nvPr/>
        </p:nvGrpSpPr>
        <p:grpSpPr>
          <a:xfrm>
            <a:off x="503047" y="2254420"/>
            <a:ext cx="5199212" cy="869675"/>
            <a:chOff x="503046" y="2328310"/>
            <a:chExt cx="5292739" cy="869675"/>
          </a:xfrm>
        </p:grpSpPr>
        <p:sp>
          <p:nvSpPr>
            <p:cNvPr id="98" name="TextBox 97"/>
            <p:cNvSpPr txBox="1"/>
            <p:nvPr/>
          </p:nvSpPr>
          <p:spPr>
            <a:xfrm>
              <a:off x="503046" y="2328310"/>
              <a:ext cx="5291781"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1</a:t>
              </a:r>
              <a:r>
                <a:rPr kumimoji="0" lang="en-US" sz="1200" b="1" i="0" u="none" strike="noStrike" kern="1200" cap="none" spc="0" normalizeH="0" baseline="0" noProof="0">
                  <a:ln>
                    <a:noFill/>
                  </a:ln>
                  <a:solidFill>
                    <a:srgbClr val="232422"/>
                  </a:solidFill>
                  <a:effectLst/>
                  <a:uLnTx/>
                  <a:uFillTx/>
                  <a:latin typeface="Fira Sans"/>
                  <a:ea typeface="+mn-ea"/>
                  <a:cs typeface="+mn-cs"/>
                </a:rPr>
                <a:t>.  Relationship status is determined by combined balances</a:t>
              </a:r>
              <a:endParaRPr kumimoji="0" sz="1200" b="1" i="0" u="none" strike="noStrike" kern="1200" cap="none" spc="0" normalizeH="0" baseline="0" noProof="0">
                <a:ln>
                  <a:noFill/>
                </a:ln>
                <a:solidFill>
                  <a:srgbClr val="232422"/>
                </a:solidFill>
                <a:effectLst/>
                <a:uLnTx/>
                <a:uFillTx/>
                <a:latin typeface="Fira Sans"/>
                <a:ea typeface="+mn-ea"/>
                <a:cs typeface="+mn-cs"/>
              </a:endParaRPr>
            </a:p>
          </p:txBody>
        </p:sp>
        <p:sp>
          <p:nvSpPr>
            <p:cNvPr id="99" name="TextBox 98"/>
            <p:cNvSpPr txBox="1"/>
            <p:nvPr/>
          </p:nvSpPr>
          <p:spPr>
            <a:xfrm>
              <a:off x="503046" y="2572811"/>
              <a:ext cx="4997777" cy="358902"/>
            </a:xfrm>
            <a:prstGeom prst="rect">
              <a:avLst/>
            </a:prstGeom>
            <a:noFill/>
          </p:spPr>
          <p:txBody>
            <a:bodyPr wrap="square" lIns="0" tIns="0" rIns="0" bIns="0" anchor="t">
              <a:noAutofit/>
            </a:bodyPr>
            <a:lstStyle/>
            <a:p>
              <a:pPr marL="0" marR="0" lvl="0" indent="0" algn="l" defTabSz="457200" rtl="0" eaLnBrk="1" fontAlgn="auto" latinLnBrk="0" hangingPunct="1">
                <a:lnSpc>
                  <a:spcPts val="1441"/>
                </a:lnSpc>
                <a:spcBef>
                  <a:spcPts val="0"/>
                </a:spcBef>
                <a:spcAft>
                  <a:spcPts val="0"/>
                </a:spcAft>
                <a:buClrTx/>
                <a:buSzTx/>
                <a:buFontTx/>
                <a:buNone/>
                <a:tabLst/>
                <a:defRPr/>
              </a:pPr>
              <a:r>
                <a:rPr kumimoji="0" lang="en-US" sz="1050" b="0" i="0" u="none" strike="noStrike" kern="1200" cap="none" spc="0" normalizeH="0" baseline="0" noProof="0">
                  <a:ln>
                    <a:noFill/>
                  </a:ln>
                  <a:solidFill>
                    <a:srgbClr val="232422"/>
                  </a:solidFill>
                  <a:effectLst/>
                  <a:uLnTx/>
                  <a:uFillTx/>
                  <a:latin typeface="Fira Sans"/>
                  <a:ea typeface="+mn-ea"/>
                  <a:cs typeface="+mn-cs"/>
                </a:rPr>
                <a:t>Eligible deposits and investments place customers at to-be-set levels. Customers move up as they bring more of those balances to Citizens.</a:t>
              </a:r>
            </a:p>
          </p:txBody>
        </p:sp>
        <p:sp>
          <p:nvSpPr>
            <p:cNvPr id="100" name="TextBox 99"/>
            <p:cNvSpPr txBox="1"/>
            <p:nvPr/>
          </p:nvSpPr>
          <p:spPr>
            <a:xfrm>
              <a:off x="504004" y="3015105"/>
              <a:ext cx="5291781"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050" b="0" i="1" u="none" strike="noStrike" kern="1200" cap="none" spc="0" normalizeH="0" baseline="0" noProof="0">
                  <a:ln>
                    <a:noFill/>
                  </a:ln>
                  <a:solidFill>
                    <a:srgbClr val="217651"/>
                  </a:solidFill>
                  <a:effectLst/>
                  <a:uLnTx/>
                  <a:uFillTx/>
                  <a:latin typeface="Fira Sans"/>
                  <a:ea typeface="+mn-ea"/>
                  <a:cs typeface="+mn-cs"/>
                </a:rPr>
                <a:t>To define: which balances count, whose can be combined, and when they are measured.</a:t>
              </a:r>
            </a:p>
          </p:txBody>
        </p:sp>
      </p:grpSp>
      <p:cxnSp>
        <p:nvCxnSpPr>
          <p:cNvPr id="97" name="Connector 96"/>
          <p:cNvCxnSpPr/>
          <p:nvPr/>
        </p:nvCxnSpPr>
        <p:spPr>
          <a:xfrm>
            <a:off x="503046" y="3241873"/>
            <a:ext cx="5121920" cy="0"/>
          </a:xfrm>
          <a:prstGeom prst="line">
            <a:avLst/>
          </a:prstGeom>
          <a:ln w="9144">
            <a:solidFill>
              <a:srgbClr val="DDDBCE"/>
            </a:solidFill>
          </a:ln>
          <a:effectLst/>
        </p:spPr>
      </p:cxnSp>
      <p:grpSp>
        <p:nvGrpSpPr>
          <p:cNvPr id="32" name="Group 31">
            <a:extLst>
              <a:ext uri="{FF2B5EF4-FFF2-40B4-BE49-F238E27FC236}">
                <a16:creationId xmlns:a16="http://schemas.microsoft.com/office/drawing/2014/main" id="{13448B64-D887-80EE-2D00-C35EBEC477E6}"/>
              </a:ext>
            </a:extLst>
          </p:cNvPr>
          <p:cNvGrpSpPr/>
          <p:nvPr/>
        </p:nvGrpSpPr>
        <p:grpSpPr>
          <a:xfrm>
            <a:off x="503047" y="3359651"/>
            <a:ext cx="5288154" cy="892246"/>
            <a:chOff x="503046" y="3370429"/>
            <a:chExt cx="5383281" cy="892246"/>
          </a:xfrm>
        </p:grpSpPr>
        <p:sp>
          <p:nvSpPr>
            <p:cNvPr id="102" name="TextBox 101"/>
            <p:cNvSpPr txBox="1"/>
            <p:nvPr/>
          </p:nvSpPr>
          <p:spPr>
            <a:xfrm>
              <a:off x="503046" y="3370429"/>
              <a:ext cx="5378017"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2</a:t>
              </a:r>
              <a:r>
                <a:rPr kumimoji="0" lang="en-US" sz="1200" b="1" i="0" u="none" strike="noStrike" kern="1200" cap="none" spc="0" normalizeH="0" baseline="0" noProof="0">
                  <a:ln>
                    <a:noFill/>
                  </a:ln>
                  <a:solidFill>
                    <a:srgbClr val="232422"/>
                  </a:solidFill>
                  <a:effectLst/>
                  <a:uLnTx/>
                  <a:uFillTx/>
                  <a:latin typeface="Fira Sans"/>
                  <a:ea typeface="+mn-ea"/>
                  <a:cs typeface="+mn-cs"/>
                </a:rPr>
                <a:t>. Checking choice is separate from relationship status</a:t>
              </a:r>
            </a:p>
            <a:p>
              <a:pPr marL="0" marR="0" lvl="0" indent="0" algn="l" defTabSz="457200" rtl="0" eaLnBrk="1" fontAlgn="auto" latinLnBrk="0" hangingPunct="1">
                <a:lnSpc>
                  <a:spcPts val="1555"/>
                </a:lnSpc>
                <a:spcBef>
                  <a:spcPts val="0"/>
                </a:spcBef>
                <a:spcAft>
                  <a:spcPts val="0"/>
                </a:spcAft>
                <a:buClrTx/>
                <a:buSzTx/>
                <a:buFontTx/>
                <a:buNone/>
                <a:tabLst/>
                <a:defRPr/>
              </a:pPr>
              <a:endParaRPr kumimoji="0" sz="1200" b="1" i="0" u="none" strike="noStrike" kern="1200" cap="none" spc="0" normalizeH="0" baseline="0" noProof="0">
                <a:ln>
                  <a:noFill/>
                </a:ln>
                <a:solidFill>
                  <a:srgbClr val="232422"/>
                </a:solidFill>
                <a:effectLst/>
                <a:uLnTx/>
                <a:uFillTx/>
                <a:latin typeface="Fira Sans"/>
                <a:ea typeface="+mn-ea"/>
                <a:cs typeface="+mn-cs"/>
              </a:endParaRPr>
            </a:p>
          </p:txBody>
        </p:sp>
        <p:sp>
          <p:nvSpPr>
            <p:cNvPr id="103" name="TextBox 102"/>
            <p:cNvSpPr txBox="1"/>
            <p:nvPr/>
          </p:nvSpPr>
          <p:spPr>
            <a:xfrm>
              <a:off x="503046" y="3633403"/>
              <a:ext cx="5325099" cy="319762"/>
            </a:xfrm>
            <a:prstGeom prst="rect">
              <a:avLst/>
            </a:prstGeom>
            <a:noFill/>
          </p:spPr>
          <p:txBody>
            <a:bodyPr wrap="square" lIns="0" tIns="0" rIns="0" bIns="0" anchor="t">
              <a:noAutofit/>
            </a:bodyPr>
            <a:lstStyle/>
            <a:p>
              <a:pPr marL="0" marR="0" lvl="0" indent="0" algn="l" defTabSz="457200" rtl="0" eaLnBrk="1" fontAlgn="auto" latinLnBrk="0" hangingPunct="1">
                <a:lnSpc>
                  <a:spcPts val="1441"/>
                </a:lnSpc>
                <a:spcBef>
                  <a:spcPts val="0"/>
                </a:spcBef>
                <a:spcAft>
                  <a:spcPts val="0"/>
                </a:spcAft>
                <a:buClrTx/>
                <a:buSzTx/>
                <a:buFontTx/>
                <a:buNone/>
                <a:tabLst/>
                <a:defRPr/>
              </a:pPr>
              <a:r>
                <a:rPr kumimoji="0" lang="en-US" sz="1050" b="0" i="0" u="none" strike="noStrike" kern="1200" cap="none" spc="0" normalizeH="0" baseline="0" noProof="0">
                  <a:ln>
                    <a:noFill/>
                  </a:ln>
                  <a:solidFill>
                    <a:srgbClr val="232422"/>
                  </a:solidFill>
                  <a:effectLst/>
                  <a:uLnTx/>
                  <a:uFillTx/>
                  <a:latin typeface="Fira Sans"/>
                  <a:ea typeface="+mn-ea"/>
                  <a:cs typeface="+mn-cs"/>
                </a:rPr>
                <a:t>Customers choose the checking product that fits what they need. Their status changes with combined balances, not with an account upgrade.</a:t>
              </a:r>
            </a:p>
          </p:txBody>
        </p:sp>
        <p:sp>
          <p:nvSpPr>
            <p:cNvPr id="104" name="TextBox 103"/>
            <p:cNvSpPr txBox="1"/>
            <p:nvPr/>
          </p:nvSpPr>
          <p:spPr>
            <a:xfrm>
              <a:off x="508310" y="4079795"/>
              <a:ext cx="5378017"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050" b="0" i="1" u="none" strike="noStrike" kern="1200" cap="none" spc="0" normalizeH="0" baseline="0" noProof="0">
                  <a:ln>
                    <a:noFill/>
                  </a:ln>
                  <a:solidFill>
                    <a:srgbClr val="217651"/>
                  </a:solidFill>
                  <a:effectLst/>
                  <a:uLnTx/>
                  <a:uFillTx/>
                  <a:latin typeface="Fira Sans"/>
                  <a:ea typeface="+mn-ea"/>
                  <a:cs typeface="+mn-cs"/>
                </a:rPr>
                <a:t>To define: whether checking is required to enter status and when upgrades are </a:t>
              </a:r>
              <a:r>
                <a:rPr kumimoji="0" lang="en-US" sz="1050" b="0" i="1" u="none" strike="noStrike" kern="1200" cap="none" spc="0" normalizeH="0" baseline="0" noProof="0" err="1">
                  <a:ln>
                    <a:noFill/>
                  </a:ln>
                  <a:solidFill>
                    <a:srgbClr val="217651"/>
                  </a:solidFill>
                  <a:effectLst/>
                  <a:uLnTx/>
                  <a:uFillTx/>
                  <a:latin typeface="Fira Sans"/>
                  <a:ea typeface="+mn-ea"/>
                  <a:cs typeface="+mn-cs"/>
                </a:rPr>
                <a:t>reco’d</a:t>
              </a:r>
              <a:r>
                <a:rPr kumimoji="0" lang="en-US" sz="1050" b="0" i="1" u="none" strike="noStrike" kern="1200" cap="none" spc="0" normalizeH="0" baseline="0" noProof="0">
                  <a:ln>
                    <a:noFill/>
                  </a:ln>
                  <a:solidFill>
                    <a:srgbClr val="217651"/>
                  </a:solidFill>
                  <a:effectLst/>
                  <a:uLnTx/>
                  <a:uFillTx/>
                  <a:latin typeface="Fira Sans"/>
                  <a:ea typeface="+mn-ea"/>
                  <a:cs typeface="+mn-cs"/>
                </a:rPr>
                <a:t>.</a:t>
              </a:r>
            </a:p>
          </p:txBody>
        </p:sp>
      </p:grpSp>
      <p:grpSp>
        <p:nvGrpSpPr>
          <p:cNvPr id="33" name="Group 32">
            <a:extLst>
              <a:ext uri="{FF2B5EF4-FFF2-40B4-BE49-F238E27FC236}">
                <a16:creationId xmlns:a16="http://schemas.microsoft.com/office/drawing/2014/main" id="{9D847715-90CD-A08C-2BF3-767693F2CBCF}"/>
              </a:ext>
            </a:extLst>
          </p:cNvPr>
          <p:cNvGrpSpPr/>
          <p:nvPr/>
        </p:nvGrpSpPr>
        <p:grpSpPr>
          <a:xfrm>
            <a:off x="498982" y="4487453"/>
            <a:ext cx="5310691" cy="869675"/>
            <a:chOff x="498908" y="4402781"/>
            <a:chExt cx="5406223" cy="869675"/>
          </a:xfrm>
        </p:grpSpPr>
        <p:sp>
          <p:nvSpPr>
            <p:cNvPr id="106" name="TextBox 105"/>
            <p:cNvSpPr txBox="1"/>
            <p:nvPr/>
          </p:nvSpPr>
          <p:spPr>
            <a:xfrm>
              <a:off x="503046" y="4402781"/>
              <a:ext cx="5378017"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3</a:t>
              </a:r>
              <a:r>
                <a:rPr kumimoji="0" lang="en-US" sz="1200" b="1" i="0" u="none" strike="noStrike" kern="1200" cap="none" spc="0" normalizeH="0" baseline="0" noProof="0">
                  <a:ln>
                    <a:noFill/>
                  </a:ln>
                  <a:solidFill>
                    <a:srgbClr val="232422"/>
                  </a:solidFill>
                  <a:effectLst/>
                  <a:uLnTx/>
                  <a:uFillTx/>
                  <a:latin typeface="Fira Sans"/>
                  <a:ea typeface="+mn-ea"/>
                  <a:cs typeface="+mn-cs"/>
                </a:rPr>
                <a:t>.  Benefits and service</a:t>
              </a:r>
              <a:r>
                <a:rPr kumimoji="0" sz="1200" b="1" i="0" u="none" strike="noStrike" kern="1200" cap="none" spc="0" normalizeH="0" baseline="0" noProof="0">
                  <a:ln>
                    <a:noFill/>
                  </a:ln>
                  <a:solidFill>
                    <a:srgbClr val="232422"/>
                  </a:solidFill>
                  <a:effectLst/>
                  <a:uLnTx/>
                  <a:uFillTx/>
                  <a:latin typeface="Fira Sans"/>
                  <a:ea typeface="+mn-ea"/>
                  <a:cs typeface="+mn-cs"/>
                </a:rPr>
                <a:t> </a:t>
              </a:r>
              <a:r>
                <a:rPr kumimoji="0" lang="en-US" sz="1200" b="1" i="0" u="none" strike="noStrike" kern="1200" cap="none" spc="0" normalizeH="0" baseline="0" noProof="0">
                  <a:ln>
                    <a:noFill/>
                  </a:ln>
                  <a:solidFill>
                    <a:srgbClr val="232422"/>
                  </a:solidFill>
                  <a:effectLst/>
                  <a:uLnTx/>
                  <a:uFillTx/>
                  <a:latin typeface="Fira Sans"/>
                  <a:ea typeface="+mn-ea"/>
                  <a:cs typeface="+mn-cs"/>
                </a:rPr>
                <a:t>increase with status levels</a:t>
              </a:r>
              <a:endParaRPr kumimoji="0" sz="1200" b="1" i="0" u="none" strike="noStrike" kern="1200" cap="none" spc="0" normalizeH="0" baseline="0" noProof="0">
                <a:ln>
                  <a:noFill/>
                </a:ln>
                <a:solidFill>
                  <a:srgbClr val="232422"/>
                </a:solidFill>
                <a:effectLst/>
                <a:uLnTx/>
                <a:uFillTx/>
                <a:latin typeface="Fira Sans"/>
                <a:ea typeface="+mn-ea"/>
                <a:cs typeface="+mn-cs"/>
              </a:endParaRPr>
            </a:p>
          </p:txBody>
        </p:sp>
        <p:sp>
          <p:nvSpPr>
            <p:cNvPr id="107" name="TextBox 106"/>
            <p:cNvSpPr txBox="1"/>
            <p:nvPr/>
          </p:nvSpPr>
          <p:spPr>
            <a:xfrm>
              <a:off x="503046" y="4656517"/>
              <a:ext cx="5402085" cy="358902"/>
            </a:xfrm>
            <a:prstGeom prst="rect">
              <a:avLst/>
            </a:prstGeom>
            <a:noFill/>
          </p:spPr>
          <p:txBody>
            <a:bodyPr wrap="square" lIns="0" tIns="0" rIns="0" bIns="0" anchor="t">
              <a:noAutofit/>
            </a:bodyPr>
            <a:lstStyle/>
            <a:p>
              <a:pPr marL="0" marR="0" lvl="0" indent="0" algn="l" defTabSz="457200" rtl="0" eaLnBrk="1" fontAlgn="auto" latinLnBrk="0" hangingPunct="1">
                <a:lnSpc>
                  <a:spcPts val="1441"/>
                </a:lnSpc>
                <a:spcBef>
                  <a:spcPts val="0"/>
                </a:spcBef>
                <a:spcAft>
                  <a:spcPts val="0"/>
                </a:spcAft>
                <a:buClrTx/>
                <a:buSzTx/>
                <a:buFontTx/>
                <a:buNone/>
                <a:tabLst/>
                <a:defRPr/>
              </a:pPr>
              <a:r>
                <a:rPr kumimoji="0" lang="en-US" sz="1050" b="0" i="0" u="none" strike="noStrike" kern="1200" cap="none" spc="0" normalizeH="0" baseline="0" noProof="0">
                  <a:ln>
                    <a:noFill/>
                  </a:ln>
                  <a:solidFill>
                    <a:srgbClr val="232422"/>
                  </a:solidFill>
                  <a:effectLst/>
                  <a:uLnTx/>
                  <a:uFillTx/>
                  <a:latin typeface="Fira Sans"/>
                  <a:ea typeface="+mn-ea"/>
                  <a:cs typeface="+mn-cs"/>
                </a:rPr>
                <a:t>Benefits increase as customers move up. Level 1 keeps standard </a:t>
              </a:r>
              <a:r>
                <a:rPr kumimoji="0" lang="en-US" sz="1050" b="0" i="0" u="none" strike="noStrike" kern="1200" cap="none" spc="0" normalizeH="0" baseline="0" noProof="0" err="1">
                  <a:ln>
                    <a:noFill/>
                  </a:ln>
                  <a:solidFill>
                    <a:srgbClr val="232422"/>
                  </a:solidFill>
                  <a:effectLst/>
                  <a:uLnTx/>
                  <a:uFillTx/>
                  <a:latin typeface="Fira Sans"/>
                  <a:ea typeface="+mn-ea"/>
                  <a:cs typeface="+mn-cs"/>
                </a:rPr>
                <a:t>digital+branch</a:t>
              </a:r>
              <a:r>
                <a:rPr kumimoji="0" lang="en-US" sz="1050" b="0" i="0" u="none" strike="noStrike" kern="1200" cap="none" spc="0" normalizeH="0" baseline="0" noProof="0">
                  <a:ln>
                    <a:noFill/>
                  </a:ln>
                  <a:solidFill>
                    <a:srgbClr val="232422"/>
                  </a:solidFill>
                  <a:effectLst/>
                  <a:uLnTx/>
                  <a:uFillTx/>
                  <a:latin typeface="Fira Sans"/>
                  <a:ea typeface="+mn-ea"/>
                  <a:cs typeface="+mn-cs"/>
                </a:rPr>
                <a:t> service. Advisory offer in Level 2 is still to be shaped. Level 3 is tied to Private Client ($200k).</a:t>
              </a:r>
              <a:endParaRPr kumimoji="0" sz="1050" b="0" i="0" u="none" strike="noStrike" kern="1200" cap="none" spc="0" normalizeH="0" baseline="0" noProof="0">
                <a:ln>
                  <a:noFill/>
                </a:ln>
                <a:solidFill>
                  <a:srgbClr val="232422"/>
                </a:solidFill>
                <a:effectLst/>
                <a:uLnTx/>
                <a:uFillTx/>
                <a:latin typeface="Fira Sans"/>
                <a:ea typeface="+mn-ea"/>
                <a:cs typeface="+mn-cs"/>
              </a:endParaRPr>
            </a:p>
          </p:txBody>
        </p:sp>
        <p:sp>
          <p:nvSpPr>
            <p:cNvPr id="108" name="TextBox 107"/>
            <p:cNvSpPr txBox="1"/>
            <p:nvPr/>
          </p:nvSpPr>
          <p:spPr>
            <a:xfrm>
              <a:off x="498908" y="5089576"/>
              <a:ext cx="5378017"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050" b="0" i="1" u="none" strike="noStrike" kern="1200" cap="none" spc="0" normalizeH="0" baseline="0" noProof="0">
                  <a:ln>
                    <a:noFill/>
                  </a:ln>
                  <a:solidFill>
                    <a:srgbClr val="217651"/>
                  </a:solidFill>
                  <a:effectLst/>
                  <a:uLnTx/>
                  <a:uFillTx/>
                  <a:latin typeface="Fira Sans"/>
                  <a:ea typeface="+mn-ea"/>
                  <a:cs typeface="+mn-cs"/>
                </a:rPr>
                <a:t>To define: </a:t>
              </a:r>
              <a:r>
                <a:rPr kumimoji="0" sz="1050" b="0" i="1" u="none" strike="noStrike" kern="1200" cap="none" spc="0" normalizeH="0" baseline="0" noProof="0">
                  <a:ln>
                    <a:noFill/>
                  </a:ln>
                  <a:solidFill>
                    <a:srgbClr val="217651"/>
                  </a:solidFill>
                  <a:effectLst/>
                  <a:uLnTx/>
                  <a:uFillTx/>
                  <a:latin typeface="Fira Sans"/>
                  <a:ea typeface="+mn-ea"/>
                  <a:cs typeface="+mn-cs"/>
                </a:rPr>
                <a:t>the service commitment </a:t>
              </a:r>
              <a:r>
                <a:rPr kumimoji="0" lang="en-US" sz="1050" b="0" i="1" u="none" strike="noStrike" kern="1200" cap="none" spc="0" normalizeH="0" baseline="0" noProof="0">
                  <a:ln>
                    <a:noFill/>
                  </a:ln>
                  <a:solidFill>
                    <a:srgbClr val="217651"/>
                  </a:solidFill>
                  <a:effectLst/>
                  <a:uLnTx/>
                  <a:uFillTx/>
                  <a:latin typeface="Fira Sans"/>
                  <a:ea typeface="+mn-ea"/>
                  <a:cs typeface="+mn-cs"/>
                </a:rPr>
                <a:t>that can be consistently delivered at each </a:t>
              </a:r>
              <a:r>
                <a:rPr kumimoji="0" sz="1050" b="0" i="1" u="none" strike="noStrike" kern="1200" cap="none" spc="0" normalizeH="0" baseline="0" noProof="0">
                  <a:ln>
                    <a:noFill/>
                  </a:ln>
                  <a:solidFill>
                    <a:srgbClr val="217651"/>
                  </a:solidFill>
                  <a:effectLst/>
                  <a:uLnTx/>
                  <a:uFillTx/>
                  <a:latin typeface="Fira Sans"/>
                  <a:ea typeface="+mn-ea"/>
                  <a:cs typeface="+mn-cs"/>
                </a:rPr>
                <a:t>level.</a:t>
              </a:r>
            </a:p>
          </p:txBody>
        </p:sp>
      </p:grpSp>
      <p:cxnSp>
        <p:nvCxnSpPr>
          <p:cNvPr id="105" name="Connector 104"/>
          <p:cNvCxnSpPr/>
          <p:nvPr/>
        </p:nvCxnSpPr>
        <p:spPr>
          <a:xfrm>
            <a:off x="503046" y="5474906"/>
            <a:ext cx="5121920" cy="0"/>
          </a:xfrm>
          <a:prstGeom prst="line">
            <a:avLst/>
          </a:prstGeom>
          <a:ln w="9144">
            <a:solidFill>
              <a:srgbClr val="DDDBCE"/>
            </a:solidFill>
          </a:ln>
          <a:effectLst/>
        </p:spPr>
      </p:cxnSp>
      <p:grpSp>
        <p:nvGrpSpPr>
          <p:cNvPr id="34" name="Group 33">
            <a:extLst>
              <a:ext uri="{FF2B5EF4-FFF2-40B4-BE49-F238E27FC236}">
                <a16:creationId xmlns:a16="http://schemas.microsoft.com/office/drawing/2014/main" id="{2828C249-237C-C7A3-405C-38B83EDC9D15}"/>
              </a:ext>
            </a:extLst>
          </p:cNvPr>
          <p:cNvGrpSpPr/>
          <p:nvPr/>
        </p:nvGrpSpPr>
        <p:grpSpPr>
          <a:xfrm>
            <a:off x="503047" y="5592684"/>
            <a:ext cx="5288154" cy="869674"/>
            <a:chOff x="503046" y="5435666"/>
            <a:chExt cx="5383281" cy="869674"/>
          </a:xfrm>
        </p:grpSpPr>
        <p:sp>
          <p:nvSpPr>
            <p:cNvPr id="109" name="TextBox 108"/>
            <p:cNvSpPr txBox="1"/>
            <p:nvPr/>
          </p:nvSpPr>
          <p:spPr>
            <a:xfrm>
              <a:off x="503046" y="5435666"/>
              <a:ext cx="5378017"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4</a:t>
              </a:r>
              <a:r>
                <a:rPr kumimoji="0" lang="en-US" sz="1200" b="1" i="0" u="none" strike="noStrike" kern="1200" cap="none" spc="0" normalizeH="0" baseline="0" noProof="0">
                  <a:ln>
                    <a:noFill/>
                  </a:ln>
                  <a:solidFill>
                    <a:srgbClr val="232422"/>
                  </a:solidFill>
                  <a:effectLst/>
                  <a:uLnTx/>
                  <a:uFillTx/>
                  <a:latin typeface="Fira Sans"/>
                  <a:ea typeface="+mn-ea"/>
                  <a:cs typeface="+mn-cs"/>
                </a:rPr>
                <a:t>.  </a:t>
              </a:r>
              <a:r>
                <a:rPr kumimoji="0" sz="1200" b="1" i="0" u="none" strike="noStrike" kern="1200" cap="none" spc="0" normalizeH="0" baseline="0" noProof="0">
                  <a:ln>
                    <a:noFill/>
                  </a:ln>
                  <a:solidFill>
                    <a:srgbClr val="232422"/>
                  </a:solidFill>
                  <a:effectLst/>
                  <a:uLnTx/>
                  <a:uFillTx/>
                  <a:latin typeface="Fira Sans"/>
                  <a:ea typeface="+mn-ea"/>
                  <a:cs typeface="+mn-cs"/>
                </a:rPr>
                <a:t>The </a:t>
              </a:r>
              <a:r>
                <a:rPr kumimoji="0" lang="en-US" sz="1200" b="1" i="0" u="none" strike="noStrike" kern="1200" cap="none" spc="0" normalizeH="0" baseline="0" noProof="0">
                  <a:ln>
                    <a:noFill/>
                  </a:ln>
                  <a:solidFill>
                    <a:srgbClr val="232422"/>
                  </a:solidFill>
                  <a:effectLst/>
                  <a:uLnTx/>
                  <a:uFillTx/>
                  <a:latin typeface="Fira Sans"/>
                  <a:ea typeface="+mn-ea"/>
                  <a:cs typeface="+mn-cs"/>
                </a:rPr>
                <a:t>2028 program connects activity to new forms of value</a:t>
              </a:r>
              <a:endParaRPr kumimoji="0" sz="1200" b="1" i="0" u="none" strike="noStrike" kern="1200" cap="none" spc="0" normalizeH="0" baseline="0" noProof="0">
                <a:ln>
                  <a:noFill/>
                </a:ln>
                <a:solidFill>
                  <a:srgbClr val="232422"/>
                </a:solidFill>
                <a:effectLst/>
                <a:uLnTx/>
                <a:uFillTx/>
                <a:latin typeface="Fira Sans"/>
                <a:ea typeface="+mn-ea"/>
                <a:cs typeface="+mn-cs"/>
              </a:endParaRPr>
            </a:p>
          </p:txBody>
        </p:sp>
        <p:sp>
          <p:nvSpPr>
            <p:cNvPr id="110" name="TextBox 109"/>
            <p:cNvSpPr txBox="1"/>
            <p:nvPr/>
          </p:nvSpPr>
          <p:spPr>
            <a:xfrm>
              <a:off x="503046" y="5689401"/>
              <a:ext cx="5378017" cy="358902"/>
            </a:xfrm>
            <a:prstGeom prst="rect">
              <a:avLst/>
            </a:prstGeom>
            <a:noFill/>
          </p:spPr>
          <p:txBody>
            <a:bodyPr wrap="square" lIns="0" tIns="0" rIns="0" bIns="0" anchor="t">
              <a:noAutofit/>
            </a:bodyPr>
            <a:lstStyle/>
            <a:p>
              <a:pPr marL="0" marR="0" lvl="0" indent="0" algn="l" defTabSz="457200" rtl="0" eaLnBrk="1" fontAlgn="auto" latinLnBrk="0" hangingPunct="1">
                <a:lnSpc>
                  <a:spcPts val="1441"/>
                </a:lnSpc>
                <a:spcBef>
                  <a:spcPts val="0"/>
                </a:spcBef>
                <a:spcAft>
                  <a:spcPts val="0"/>
                </a:spcAft>
                <a:buClrTx/>
                <a:buSzTx/>
                <a:buFontTx/>
                <a:buNone/>
                <a:tabLst/>
                <a:defRPr/>
              </a:pPr>
              <a:r>
                <a:rPr kumimoji="0" lang="en-US" sz="1050" b="0" i="0" u="none" strike="noStrike" kern="1200" cap="none" spc="0" normalizeH="0" baseline="0" noProof="0">
                  <a:ln>
                    <a:noFill/>
                  </a:ln>
                  <a:solidFill>
                    <a:srgbClr val="232422"/>
                  </a:solidFill>
                  <a:effectLst/>
                  <a:uLnTx/>
                  <a:uFillTx/>
                  <a:latin typeface="Fira Sans"/>
                  <a:ea typeface="+mn-ea"/>
                  <a:cs typeface="+mn-cs"/>
                </a:rPr>
                <a:t>At launch, balance-led status, benefits, and service. In 2028, the program can add partner perks, experiences, and access without changing how the status levels work.</a:t>
              </a:r>
              <a:endParaRPr kumimoji="0" sz="1050" b="0" i="0" u="none" strike="noStrike" kern="1200" cap="none" spc="0" normalizeH="0" baseline="0" noProof="0">
                <a:ln>
                  <a:noFill/>
                </a:ln>
                <a:solidFill>
                  <a:srgbClr val="232422"/>
                </a:solidFill>
                <a:effectLst/>
                <a:uLnTx/>
                <a:uFillTx/>
                <a:latin typeface="Fira Sans"/>
                <a:ea typeface="+mn-ea"/>
                <a:cs typeface="+mn-cs"/>
              </a:endParaRPr>
            </a:p>
          </p:txBody>
        </p:sp>
        <p:sp>
          <p:nvSpPr>
            <p:cNvPr id="111" name="TextBox 110"/>
            <p:cNvSpPr txBox="1"/>
            <p:nvPr/>
          </p:nvSpPr>
          <p:spPr>
            <a:xfrm>
              <a:off x="508310" y="6122460"/>
              <a:ext cx="5378017"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1050" b="0" i="1" u="none" strike="noStrike" kern="1200" cap="none" spc="0" normalizeH="0" baseline="0" noProof="0">
                  <a:ln>
                    <a:noFill/>
                  </a:ln>
                  <a:solidFill>
                    <a:srgbClr val="217651"/>
                  </a:solidFill>
                  <a:effectLst/>
                  <a:uLnTx/>
                  <a:uFillTx/>
                  <a:latin typeface="Fira Sans"/>
                  <a:ea typeface="+mn-ea"/>
                  <a:cs typeface="+mn-cs"/>
                </a:rPr>
                <a:t>To define: which names need to be set at launch and which can wait for the loyalty work</a:t>
              </a:r>
              <a:endParaRPr kumimoji="0" sz="1050" b="0" i="1" u="none" strike="noStrike" kern="1200" cap="none" spc="0" normalizeH="0" baseline="0" noProof="0">
                <a:ln>
                  <a:noFill/>
                </a:ln>
                <a:solidFill>
                  <a:srgbClr val="217651"/>
                </a:solidFill>
                <a:effectLst/>
                <a:uLnTx/>
                <a:uFillTx/>
                <a:latin typeface="Fira Sans"/>
                <a:ea typeface="+mn-ea"/>
                <a:cs typeface="+mn-cs"/>
              </a:endParaRPr>
            </a:p>
          </p:txBody>
        </p:sp>
      </p:grpSp>
      <p:sp>
        <p:nvSpPr>
          <p:cNvPr id="91" name="TextBox 90"/>
          <p:cNvSpPr txBox="1"/>
          <p:nvPr/>
        </p:nvSpPr>
        <p:spPr>
          <a:xfrm>
            <a:off x="503046" y="366045"/>
            <a:ext cx="3821369"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ECOSYSTEM DIRECTION · OUR RECOMMENDATION</a:t>
            </a:r>
          </a:p>
        </p:txBody>
      </p:sp>
      <p:sp>
        <p:nvSpPr>
          <p:cNvPr id="92" name="Rectangle 91"/>
          <p:cNvSpPr/>
          <p:nvPr/>
        </p:nvSpPr>
        <p:spPr>
          <a:xfrm>
            <a:off x="6096000" y="0"/>
            <a:ext cx="6096000" cy="6858000"/>
          </a:xfrm>
          <a:prstGeom prst="rect">
            <a:avLst/>
          </a:prstGeom>
          <a:solidFill>
            <a:srgbClr val="F1E6D2"/>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3" name="TextBox 92"/>
          <p:cNvSpPr txBox="1"/>
          <p:nvPr/>
        </p:nvSpPr>
        <p:spPr>
          <a:xfrm>
            <a:off x="6480144" y="402621"/>
            <a:ext cx="2406205"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none" spc="130" normalizeH="0" baseline="0" noProof="0">
                <a:ln>
                  <a:noFill/>
                </a:ln>
                <a:solidFill>
                  <a:srgbClr val="8F5C20"/>
                </a:solidFill>
                <a:effectLst/>
                <a:uLnTx/>
                <a:uFillTx/>
                <a:latin typeface="Fira Sans"/>
                <a:ea typeface="+mn-ea"/>
                <a:cs typeface="+mn-cs"/>
              </a:rPr>
              <a:t>THE BALANCE-LED ECOSYSTEM</a:t>
            </a:r>
          </a:p>
        </p:txBody>
      </p:sp>
      <p:sp>
        <p:nvSpPr>
          <p:cNvPr id="94" name="TextBox 93"/>
          <p:cNvSpPr txBox="1"/>
          <p:nvPr/>
        </p:nvSpPr>
        <p:spPr>
          <a:xfrm>
            <a:off x="6480144" y="628821"/>
            <a:ext cx="3488508"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lang="en-US" sz="950" b="0" i="1" u="none" strike="noStrike" kern="1200" cap="none" spc="0" normalizeH="0" baseline="0" noProof="0">
                <a:ln>
                  <a:noFill/>
                </a:ln>
                <a:solidFill>
                  <a:srgbClr val="8A7351"/>
                </a:solidFill>
                <a:effectLst/>
                <a:uLnTx/>
                <a:uFillTx/>
                <a:latin typeface="Fira Sans"/>
                <a:ea typeface="+mn-ea"/>
                <a:cs typeface="+mn-cs"/>
              </a:rPr>
              <a:t>S</a:t>
            </a:r>
            <a:r>
              <a:rPr kumimoji="0" sz="950" b="0" i="1" u="none" strike="noStrike" kern="1200" cap="none" spc="0" normalizeH="0" baseline="0" noProof="0">
                <a:ln>
                  <a:noFill/>
                </a:ln>
                <a:solidFill>
                  <a:srgbClr val="8A7351"/>
                </a:solidFill>
                <a:effectLst/>
                <a:uLnTx/>
                <a:uFillTx/>
                <a:latin typeface="Fira Sans"/>
                <a:ea typeface="+mn-ea"/>
                <a:cs typeface="+mn-cs"/>
              </a:rPr>
              <a:t>implified checking-continuum view</a:t>
            </a:r>
          </a:p>
        </p:txBody>
      </p:sp>
      <p:sp>
        <p:nvSpPr>
          <p:cNvPr id="96" name="TextBox 95"/>
          <p:cNvSpPr txBox="1"/>
          <p:nvPr/>
        </p:nvSpPr>
        <p:spPr>
          <a:xfrm>
            <a:off x="503047" y="750975"/>
            <a:ext cx="5121920" cy="1373389"/>
          </a:xfrm>
          <a:prstGeom prst="rect">
            <a:avLst/>
          </a:prstGeom>
          <a:noFill/>
        </p:spPr>
        <p:txBody>
          <a:bodyPr wrap="square" lIns="0" tIns="0" rIns="0" bIns="0" anchor="t">
            <a:noAutofit/>
          </a:bodyPr>
          <a:lstStyle/>
          <a:p>
            <a:pPr marL="0" marR="0" lvl="0" indent="0" algn="l" defTabSz="457200" rtl="0" eaLnBrk="1" fontAlgn="auto" latinLnBrk="0" hangingPunct="1">
              <a:lnSpc>
                <a:spcPts val="3456"/>
              </a:lnSpc>
              <a:spcBef>
                <a:spcPts val="0"/>
              </a:spcBef>
              <a:spcAft>
                <a:spcPts val="0"/>
              </a:spcAft>
              <a:buClrTx/>
              <a:buSzTx/>
              <a:buFontTx/>
              <a:buNone/>
              <a:tabLst/>
              <a:defRPr/>
            </a:pPr>
            <a:r>
              <a:rPr kumimoji="0" sz="2900" b="0" i="0" u="none" strike="noStrike" kern="1200" cap="none" spc="-14" normalizeH="0" baseline="0" noProof="0">
                <a:ln>
                  <a:noFill/>
                </a:ln>
                <a:solidFill>
                  <a:srgbClr val="232422"/>
                </a:solidFill>
                <a:effectLst/>
                <a:uLnTx/>
                <a:uFillTx/>
                <a:latin typeface="Fira Sans"/>
                <a:ea typeface="+mn-ea"/>
                <a:cs typeface="+mn-cs"/>
              </a:rPr>
              <a:t>We recommend </a:t>
            </a:r>
            <a:r>
              <a:rPr kumimoji="0" lang="en-US" sz="2900" b="0" i="0" u="none" strike="noStrike" kern="1200" cap="none" spc="-14" normalizeH="0" baseline="0" noProof="0">
                <a:ln>
                  <a:noFill/>
                </a:ln>
                <a:solidFill>
                  <a:srgbClr val="232422"/>
                </a:solidFill>
                <a:effectLst/>
                <a:uLnTx/>
                <a:uFillTx/>
                <a:latin typeface="Fira Sans"/>
                <a:ea typeface="+mn-ea"/>
                <a:cs typeface="+mn-cs"/>
              </a:rPr>
              <a:t>building around combined balance to determine relationship status</a:t>
            </a:r>
          </a:p>
        </p:txBody>
      </p:sp>
      <p:cxnSp>
        <p:nvCxnSpPr>
          <p:cNvPr id="101" name="Connector 100"/>
          <p:cNvCxnSpPr/>
          <p:nvPr/>
        </p:nvCxnSpPr>
        <p:spPr>
          <a:xfrm>
            <a:off x="503046" y="4369675"/>
            <a:ext cx="5121920" cy="0"/>
          </a:xfrm>
          <a:prstGeom prst="line">
            <a:avLst/>
          </a:prstGeom>
          <a:ln w="9144">
            <a:solidFill>
              <a:srgbClr val="DDDBCE"/>
            </a:solidFill>
          </a:ln>
          <a:effectLst/>
        </p:spPr>
      </p:cxnSp>
      <p:sp>
        <p:nvSpPr>
          <p:cNvPr id="112" name="TextBox 111"/>
          <p:cNvSpPr txBox="1"/>
          <p:nvPr/>
        </p:nvSpPr>
        <p:spPr>
          <a:xfrm>
            <a:off x="6482431" y="941832"/>
            <a:ext cx="698593"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108" normalizeH="0" baseline="0" noProof="0">
                <a:ln>
                  <a:noFill/>
                </a:ln>
                <a:solidFill>
                  <a:srgbClr val="3A5570"/>
                </a:solidFill>
                <a:effectLst/>
                <a:uLnTx/>
                <a:uFillTx/>
                <a:latin typeface="Fira Sans"/>
                <a:ea typeface="+mn-ea"/>
                <a:cs typeface="+mn-cs"/>
              </a:rPr>
              <a:t>PRODUCT</a:t>
            </a:r>
          </a:p>
        </p:txBody>
      </p:sp>
      <p:sp>
        <p:nvSpPr>
          <p:cNvPr id="113" name="Rounded Rectangle 112"/>
          <p:cNvSpPr/>
          <p:nvPr/>
        </p:nvSpPr>
        <p:spPr>
          <a:xfrm>
            <a:off x="6482431" y="1207008"/>
            <a:ext cx="1646332" cy="420624"/>
          </a:xfrm>
          <a:prstGeom prst="roundRect">
            <a:avLst>
              <a:gd name="adj" fmla="val 19565"/>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4" name="TextBox 113"/>
          <p:cNvSpPr txBox="1"/>
          <p:nvPr/>
        </p:nvSpPr>
        <p:spPr>
          <a:xfrm>
            <a:off x="6846270" y="1325880"/>
            <a:ext cx="918653"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Entry checking</a:t>
            </a:r>
          </a:p>
        </p:txBody>
      </p:sp>
      <p:sp>
        <p:nvSpPr>
          <p:cNvPr id="115" name="Rounded Rectangle 114"/>
          <p:cNvSpPr/>
          <p:nvPr/>
        </p:nvSpPr>
        <p:spPr>
          <a:xfrm>
            <a:off x="8320834" y="1207008"/>
            <a:ext cx="1646332" cy="420624"/>
          </a:xfrm>
          <a:prstGeom prst="roundRect">
            <a:avLst>
              <a:gd name="adj" fmla="val 19565"/>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6" name="TextBox 115"/>
          <p:cNvSpPr txBox="1"/>
          <p:nvPr/>
        </p:nvSpPr>
        <p:spPr>
          <a:xfrm>
            <a:off x="8728987" y="1325880"/>
            <a:ext cx="830026"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Mid checking</a:t>
            </a:r>
          </a:p>
        </p:txBody>
      </p:sp>
      <p:sp>
        <p:nvSpPr>
          <p:cNvPr id="117" name="Rounded Rectangle 116"/>
          <p:cNvSpPr/>
          <p:nvPr/>
        </p:nvSpPr>
        <p:spPr>
          <a:xfrm>
            <a:off x="10159238" y="1207008"/>
            <a:ext cx="1701209" cy="420624"/>
          </a:xfrm>
          <a:prstGeom prst="roundRect">
            <a:avLst>
              <a:gd name="adj" fmla="val 19565"/>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8" name="TextBox 117"/>
          <p:cNvSpPr txBox="1"/>
          <p:nvPr/>
        </p:nvSpPr>
        <p:spPr>
          <a:xfrm>
            <a:off x="10442315" y="1325880"/>
            <a:ext cx="1135054"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3A5570"/>
                </a:solidFill>
                <a:effectLst/>
                <a:uLnTx/>
                <a:uFillTx/>
                <a:latin typeface="Fira Sans"/>
                <a:ea typeface="+mn-ea"/>
                <a:cs typeface="+mn-cs"/>
              </a:rPr>
              <a:t>Premium checking</a:t>
            </a:r>
          </a:p>
        </p:txBody>
      </p:sp>
      <p:sp>
        <p:nvSpPr>
          <p:cNvPr id="2" name="Freeform 1"/>
          <p:cNvSpPr/>
          <p:nvPr/>
        </p:nvSpPr>
        <p:spPr>
          <a:xfrm>
            <a:off x="7305596" y="1627632"/>
            <a:ext cx="1426821" cy="457200"/>
          </a:xfrm>
          <a:custGeom>
            <a:avLst/>
            <a:gdLst/>
            <a:ahLst/>
            <a:cxnLst/>
            <a:rect l="l" t="t" r="r" b="b"/>
            <a:pathLst>
              <a:path w="1426821" h="457200">
                <a:moveTo>
                  <a:pt x="0" y="0"/>
                </a:moveTo>
                <a:lnTo>
                  <a:pt x="1372" y="18014"/>
                </a:lnTo>
                <a:lnTo>
                  <a:pt x="5397" y="35662"/>
                </a:lnTo>
                <a:lnTo>
                  <a:pt x="20305" y="68489"/>
                </a:lnTo>
                <a:lnTo>
                  <a:pt x="42073" y="97384"/>
                </a:lnTo>
                <a:lnTo>
                  <a:pt x="68049" y="122530"/>
                </a:lnTo>
                <a:lnTo>
                  <a:pt x="96677" y="144567"/>
                </a:lnTo>
                <a:lnTo>
                  <a:pt x="142774" y="173279"/>
                </a:lnTo>
                <a:lnTo>
                  <a:pt x="191066" y="198059"/>
                </a:lnTo>
                <a:lnTo>
                  <a:pt x="257560" y="226588"/>
                </a:lnTo>
                <a:lnTo>
                  <a:pt x="342803" y="257038"/>
                </a:lnTo>
                <a:lnTo>
                  <a:pt x="446796" y="288219"/>
                </a:lnTo>
                <a:lnTo>
                  <a:pt x="569540" y="319308"/>
                </a:lnTo>
                <a:lnTo>
                  <a:pt x="711124" y="349667"/>
                </a:lnTo>
                <a:lnTo>
                  <a:pt x="889111" y="382311"/>
                </a:lnTo>
                <a:lnTo>
                  <a:pt x="1085848" y="412943"/>
                </a:lnTo>
                <a:lnTo>
                  <a:pt x="1337005" y="446410"/>
                </a:lnTo>
                <a:lnTo>
                  <a:pt x="1426821" y="457200"/>
                </a:lnTo>
              </a:path>
            </a:pathLst>
          </a:custGeom>
          <a:noFill/>
          <a:ln w="18288">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2"/>
          <p:cNvSpPr/>
          <p:nvPr/>
        </p:nvSpPr>
        <p:spPr>
          <a:xfrm>
            <a:off x="8679003" y="2048988"/>
            <a:ext cx="89999" cy="80010"/>
          </a:xfrm>
          <a:custGeom>
            <a:avLst/>
            <a:gdLst/>
            <a:ahLst/>
            <a:cxnLst/>
            <a:rect l="l" t="t" r="r" b="b"/>
            <a:pathLst>
              <a:path w="89999" h="80010">
                <a:moveTo>
                  <a:pt x="89999" y="44988"/>
                </a:moveTo>
                <a:lnTo>
                  <a:pt x="0" y="0"/>
                </a:lnTo>
                <a:lnTo>
                  <a:pt x="15183" y="74066"/>
                </a:lnTo>
                <a:lnTo>
                  <a:pt x="19939" y="80010"/>
                </a:lnTo>
                <a:lnTo>
                  <a:pt x="89999" y="44988"/>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19" name="Connector 118"/>
          <p:cNvCxnSpPr/>
          <p:nvPr/>
        </p:nvCxnSpPr>
        <p:spPr>
          <a:xfrm>
            <a:off x="9144000" y="1627632"/>
            <a:ext cx="0" cy="420624"/>
          </a:xfrm>
          <a:prstGeom prst="line">
            <a:avLst/>
          </a:prstGeom>
          <a:ln w="18288">
            <a:solidFill>
              <a:srgbClr val="B0742F"/>
            </a:solidFill>
          </a:ln>
          <a:effectLst/>
        </p:spPr>
      </p:cxnSp>
      <p:sp>
        <p:nvSpPr>
          <p:cNvPr id="4" name="Freeform 3"/>
          <p:cNvSpPr/>
          <p:nvPr/>
        </p:nvSpPr>
        <p:spPr>
          <a:xfrm>
            <a:off x="9098726" y="2002536"/>
            <a:ext cx="90548" cy="82296"/>
          </a:xfrm>
          <a:custGeom>
            <a:avLst/>
            <a:gdLst/>
            <a:ahLst/>
            <a:cxnLst/>
            <a:rect l="l" t="t" r="r" b="b"/>
            <a:pathLst>
              <a:path w="90548" h="82296">
                <a:moveTo>
                  <a:pt x="45274" y="82296"/>
                </a:moveTo>
                <a:lnTo>
                  <a:pt x="0" y="823"/>
                </a:lnTo>
                <a:lnTo>
                  <a:pt x="80213" y="0"/>
                </a:lnTo>
                <a:lnTo>
                  <a:pt x="90548" y="823"/>
                </a:lnTo>
                <a:lnTo>
                  <a:pt x="45274" y="82296"/>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4"/>
          <p:cNvSpPr/>
          <p:nvPr/>
        </p:nvSpPr>
        <p:spPr>
          <a:xfrm>
            <a:off x="9573875" y="1627632"/>
            <a:ext cx="1435967" cy="457200"/>
          </a:xfrm>
          <a:custGeom>
            <a:avLst/>
            <a:gdLst/>
            <a:ahLst/>
            <a:cxnLst/>
            <a:rect l="l" t="t" r="r" b="b"/>
            <a:pathLst>
              <a:path w="1435967" h="457200">
                <a:moveTo>
                  <a:pt x="1435967" y="0"/>
                </a:moveTo>
                <a:lnTo>
                  <a:pt x="1434596" y="18105"/>
                </a:lnTo>
                <a:lnTo>
                  <a:pt x="1430480" y="35844"/>
                </a:lnTo>
                <a:lnTo>
                  <a:pt x="1423986" y="52761"/>
                </a:lnTo>
                <a:lnTo>
                  <a:pt x="1404962" y="83759"/>
                </a:lnTo>
                <a:lnTo>
                  <a:pt x="1380450" y="110642"/>
                </a:lnTo>
                <a:lnTo>
                  <a:pt x="1352736" y="134142"/>
                </a:lnTo>
                <a:lnTo>
                  <a:pt x="1307279" y="164318"/>
                </a:lnTo>
                <a:lnTo>
                  <a:pt x="1259261" y="190195"/>
                </a:lnTo>
                <a:lnTo>
                  <a:pt x="1192768" y="219822"/>
                </a:lnTo>
                <a:lnTo>
                  <a:pt x="1107433" y="251186"/>
                </a:lnTo>
                <a:lnTo>
                  <a:pt x="1003074" y="283190"/>
                </a:lnTo>
                <a:lnTo>
                  <a:pt x="879690" y="314919"/>
                </a:lnTo>
                <a:lnTo>
                  <a:pt x="737466" y="345918"/>
                </a:lnTo>
                <a:lnTo>
                  <a:pt x="576491" y="375910"/>
                </a:lnTo>
                <a:lnTo>
                  <a:pt x="378840" y="407548"/>
                </a:lnTo>
                <a:lnTo>
                  <a:pt x="144512" y="439552"/>
                </a:lnTo>
                <a:lnTo>
                  <a:pt x="0" y="457200"/>
                </a:lnTo>
              </a:path>
            </a:pathLst>
          </a:custGeom>
          <a:noFill/>
          <a:ln w="18288">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5"/>
          <p:cNvSpPr/>
          <p:nvPr/>
        </p:nvSpPr>
        <p:spPr>
          <a:xfrm>
            <a:off x="9537290" y="2048988"/>
            <a:ext cx="90000" cy="80010"/>
          </a:xfrm>
          <a:custGeom>
            <a:avLst/>
            <a:gdLst/>
            <a:ahLst/>
            <a:cxnLst/>
            <a:rect l="l" t="t" r="r" b="b"/>
            <a:pathLst>
              <a:path w="90000" h="80010">
                <a:moveTo>
                  <a:pt x="0" y="44988"/>
                </a:moveTo>
                <a:lnTo>
                  <a:pt x="90000" y="0"/>
                </a:lnTo>
                <a:lnTo>
                  <a:pt x="74817" y="74066"/>
                </a:lnTo>
                <a:lnTo>
                  <a:pt x="70061" y="80010"/>
                </a:lnTo>
                <a:lnTo>
                  <a:pt x="0" y="44988"/>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0" name="Rounded Rectangle 119"/>
          <p:cNvSpPr/>
          <p:nvPr/>
        </p:nvSpPr>
        <p:spPr>
          <a:xfrm>
            <a:off x="7909251" y="2121408"/>
            <a:ext cx="2469497" cy="438912"/>
          </a:xfrm>
          <a:prstGeom prst="roundRect">
            <a:avLst>
              <a:gd name="adj" fmla="val 18750"/>
            </a:avLst>
          </a:prstGeom>
          <a:solidFill>
            <a:srgbClr val="FFFFFF"/>
          </a:solidFill>
          <a:ln w="14630">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1" name="TextBox 120"/>
          <p:cNvSpPr txBox="1"/>
          <p:nvPr/>
        </p:nvSpPr>
        <p:spPr>
          <a:xfrm>
            <a:off x="8337480" y="2167128"/>
            <a:ext cx="1613039"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F5C20"/>
                </a:solidFill>
                <a:effectLst/>
                <a:uLnTx/>
                <a:uFillTx/>
                <a:latin typeface="Fira Sans"/>
                <a:ea typeface="+mn-ea"/>
                <a:cs typeface="+mn-cs"/>
              </a:rPr>
              <a:t>Combined eligible balances</a:t>
            </a:r>
          </a:p>
        </p:txBody>
      </p:sp>
      <p:sp>
        <p:nvSpPr>
          <p:cNvPr id="122" name="TextBox 121"/>
          <p:cNvSpPr txBox="1"/>
          <p:nvPr/>
        </p:nvSpPr>
        <p:spPr>
          <a:xfrm>
            <a:off x="8219493" y="2331720"/>
            <a:ext cx="1849013"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F5C20"/>
                </a:solidFill>
                <a:effectLst/>
                <a:uLnTx/>
                <a:uFillTx/>
                <a:latin typeface="Fira Sans"/>
                <a:ea typeface="+mn-ea"/>
                <a:cs typeface="+mn-cs"/>
              </a:rPr>
              <a:t>Deposits + savings + investments</a:t>
            </a:r>
          </a:p>
        </p:txBody>
      </p:sp>
      <p:cxnSp>
        <p:nvCxnSpPr>
          <p:cNvPr id="125" name="Connector 124"/>
          <p:cNvCxnSpPr/>
          <p:nvPr/>
        </p:nvCxnSpPr>
        <p:spPr>
          <a:xfrm>
            <a:off x="9144000" y="2560320"/>
            <a:ext cx="0" cy="310896"/>
          </a:xfrm>
          <a:prstGeom prst="line">
            <a:avLst/>
          </a:prstGeom>
          <a:ln w="18288">
            <a:solidFill>
              <a:srgbClr val="B0742F"/>
            </a:solidFill>
          </a:ln>
          <a:effectLst/>
        </p:spPr>
      </p:cxnSp>
      <p:sp>
        <p:nvSpPr>
          <p:cNvPr id="7" name="Freeform 6"/>
          <p:cNvSpPr/>
          <p:nvPr/>
        </p:nvSpPr>
        <p:spPr>
          <a:xfrm>
            <a:off x="9098726" y="2825496"/>
            <a:ext cx="90548" cy="82296"/>
          </a:xfrm>
          <a:custGeom>
            <a:avLst/>
            <a:gdLst/>
            <a:ahLst/>
            <a:cxnLst/>
            <a:rect l="l" t="t" r="r" b="b"/>
            <a:pathLst>
              <a:path w="90548" h="82296">
                <a:moveTo>
                  <a:pt x="45274" y="82296"/>
                </a:moveTo>
                <a:lnTo>
                  <a:pt x="0" y="823"/>
                </a:lnTo>
                <a:lnTo>
                  <a:pt x="80213" y="0"/>
                </a:lnTo>
                <a:lnTo>
                  <a:pt x="90548" y="823"/>
                </a:lnTo>
                <a:lnTo>
                  <a:pt x="45274" y="82296"/>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6" name="TextBox 125"/>
          <p:cNvSpPr txBox="1"/>
          <p:nvPr/>
        </p:nvSpPr>
        <p:spPr>
          <a:xfrm>
            <a:off x="6482431" y="2715768"/>
            <a:ext cx="564326"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108" normalizeH="0" baseline="0" noProof="0">
                <a:ln>
                  <a:noFill/>
                </a:ln>
                <a:solidFill>
                  <a:srgbClr val="8F5C20"/>
                </a:solidFill>
                <a:effectLst/>
                <a:uLnTx/>
                <a:uFillTx/>
                <a:latin typeface="Fira Sans"/>
                <a:ea typeface="+mn-ea"/>
                <a:cs typeface="+mn-cs"/>
              </a:rPr>
              <a:t>STATUS</a:t>
            </a:r>
            <a:r>
              <a:rPr kumimoji="0" lang="en-US" sz="950" b="0" i="1" u="none" strike="noStrike" kern="1200" cap="none" spc="108" normalizeH="0" baseline="0" noProof="0">
                <a:ln>
                  <a:noFill/>
                </a:ln>
                <a:solidFill>
                  <a:srgbClr val="8F5C20"/>
                </a:solidFill>
                <a:effectLst/>
                <a:uLnTx/>
                <a:uFillTx/>
                <a:latin typeface="Fira Sans"/>
                <a:ea typeface="+mn-ea"/>
                <a:cs typeface="+mn-cs"/>
              </a:rPr>
              <a:t> (# of level TBD)</a:t>
            </a:r>
            <a:endParaRPr kumimoji="0" sz="950" b="0" i="1" u="none" strike="noStrike" kern="1200" cap="none" spc="108" normalizeH="0" baseline="0" noProof="0">
              <a:ln>
                <a:noFill/>
              </a:ln>
              <a:solidFill>
                <a:srgbClr val="8F5C20"/>
              </a:solidFill>
              <a:effectLst/>
              <a:uLnTx/>
              <a:uFillTx/>
              <a:latin typeface="Fira Sans"/>
              <a:ea typeface="+mn-ea"/>
              <a:cs typeface="+mn-cs"/>
            </a:endParaRPr>
          </a:p>
        </p:txBody>
      </p:sp>
      <p:sp>
        <p:nvSpPr>
          <p:cNvPr id="127" name="Rounded Rectangle 126"/>
          <p:cNvSpPr/>
          <p:nvPr/>
        </p:nvSpPr>
        <p:spPr>
          <a:xfrm>
            <a:off x="6482431" y="2944368"/>
            <a:ext cx="5378017" cy="658368"/>
          </a:xfrm>
          <a:prstGeom prst="roundRect">
            <a:avLst>
              <a:gd name="adj" fmla="val 13888"/>
            </a:avLst>
          </a:prstGeom>
          <a:solidFill>
            <a:srgbClr val="F6EAD6"/>
          </a:solidFill>
          <a:ln w="18288">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8" name="Rounded Rectangle 127"/>
          <p:cNvSpPr/>
          <p:nvPr/>
        </p:nvSpPr>
        <p:spPr>
          <a:xfrm>
            <a:off x="6610479" y="3054096"/>
            <a:ext cx="1646332" cy="329184"/>
          </a:xfrm>
          <a:prstGeom prst="roundRect">
            <a:avLst>
              <a:gd name="adj" fmla="val 19444"/>
            </a:avLst>
          </a:prstGeom>
          <a:solidFill>
            <a:srgbClr val="FFFFFF"/>
          </a:solidFill>
          <a:ln w="10972">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9" name="TextBox 128"/>
          <p:cNvSpPr txBox="1"/>
          <p:nvPr/>
        </p:nvSpPr>
        <p:spPr>
          <a:xfrm>
            <a:off x="7102549" y="3136577"/>
            <a:ext cx="662191"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8F5C20"/>
                </a:solidFill>
                <a:effectLst/>
                <a:uLnTx/>
                <a:uFillTx/>
                <a:latin typeface="Fira Sans"/>
                <a:ea typeface="+mn-ea"/>
                <a:cs typeface="+mn-cs"/>
              </a:rPr>
              <a:t>Level 1</a:t>
            </a:r>
            <a:endParaRPr kumimoji="0" sz="950" b="0" i="1" u="none" strike="noStrike" kern="1200" cap="none" spc="0" normalizeH="0" baseline="0" noProof="0">
              <a:ln>
                <a:noFill/>
              </a:ln>
              <a:solidFill>
                <a:srgbClr val="8F5C20"/>
              </a:solidFill>
              <a:effectLst/>
              <a:uLnTx/>
              <a:uFillTx/>
              <a:latin typeface="Fira Sans"/>
              <a:ea typeface="+mn-ea"/>
              <a:cs typeface="+mn-cs"/>
            </a:endParaRPr>
          </a:p>
        </p:txBody>
      </p:sp>
      <p:sp>
        <p:nvSpPr>
          <p:cNvPr id="130" name="Rounded Rectangle 129"/>
          <p:cNvSpPr/>
          <p:nvPr/>
        </p:nvSpPr>
        <p:spPr>
          <a:xfrm>
            <a:off x="8384858" y="3054096"/>
            <a:ext cx="1573161" cy="329184"/>
          </a:xfrm>
          <a:prstGeom prst="roundRect">
            <a:avLst>
              <a:gd name="adj" fmla="val 19444"/>
            </a:avLst>
          </a:prstGeom>
          <a:solidFill>
            <a:srgbClr val="FFFFFF"/>
          </a:solidFill>
          <a:ln w="10972">
            <a:solidFill>
              <a:srgbClr val="B0742F"/>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1" name="TextBox 130"/>
          <p:cNvSpPr txBox="1"/>
          <p:nvPr/>
        </p:nvSpPr>
        <p:spPr>
          <a:xfrm>
            <a:off x="8531656" y="3136577"/>
            <a:ext cx="1279565"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8F5C20"/>
                </a:solidFill>
                <a:effectLst/>
                <a:uLnTx/>
                <a:uFillTx/>
                <a:latin typeface="Fira Sans"/>
                <a:ea typeface="+mn-ea"/>
                <a:cs typeface="+mn-cs"/>
              </a:rPr>
              <a:t>L</a:t>
            </a:r>
            <a:r>
              <a:rPr kumimoji="0" sz="950" b="0" i="1" u="none" strike="noStrike" kern="1200" cap="none" spc="0" normalizeH="0" baseline="0" noProof="0">
                <a:ln>
                  <a:noFill/>
                </a:ln>
                <a:solidFill>
                  <a:srgbClr val="8F5C20"/>
                </a:solidFill>
                <a:effectLst/>
                <a:uLnTx/>
                <a:uFillTx/>
                <a:latin typeface="Fira Sans"/>
                <a:ea typeface="+mn-ea"/>
                <a:cs typeface="+mn-cs"/>
              </a:rPr>
              <a:t>evel</a:t>
            </a:r>
            <a:r>
              <a:rPr kumimoji="0" lang="en-US" sz="950" b="0" i="1" u="none" strike="noStrike" kern="1200" cap="none" spc="0" normalizeH="0" baseline="0" noProof="0">
                <a:ln>
                  <a:noFill/>
                </a:ln>
                <a:solidFill>
                  <a:srgbClr val="8F5C20"/>
                </a:solidFill>
                <a:effectLst/>
                <a:uLnTx/>
                <a:uFillTx/>
                <a:latin typeface="Fira Sans"/>
                <a:ea typeface="+mn-ea"/>
                <a:cs typeface="+mn-cs"/>
              </a:rPr>
              <a:t> 2</a:t>
            </a:r>
            <a:r>
              <a:rPr kumimoji="0" sz="950" b="0" i="1" u="none" strike="noStrike" kern="1200" cap="none" spc="0" normalizeH="0" baseline="0" noProof="0">
                <a:ln>
                  <a:noFill/>
                </a:ln>
                <a:solidFill>
                  <a:srgbClr val="8F5C20"/>
                </a:solidFill>
                <a:effectLst/>
                <a:uLnTx/>
                <a:uFillTx/>
                <a:latin typeface="Fira Sans"/>
                <a:ea typeface="+mn-ea"/>
                <a:cs typeface="+mn-cs"/>
              </a:rPr>
              <a:t> · timing TBD</a:t>
            </a:r>
          </a:p>
        </p:txBody>
      </p:sp>
      <p:sp>
        <p:nvSpPr>
          <p:cNvPr id="132" name="Rounded Rectangle 131"/>
          <p:cNvSpPr/>
          <p:nvPr/>
        </p:nvSpPr>
        <p:spPr>
          <a:xfrm>
            <a:off x="10086068" y="3054096"/>
            <a:ext cx="1646332" cy="329184"/>
          </a:xfrm>
          <a:prstGeom prst="roundRect">
            <a:avLst>
              <a:gd name="adj" fmla="val 19444"/>
            </a:avLst>
          </a:prstGeom>
          <a:solidFill>
            <a:srgbClr val="FFFFFF"/>
          </a:solidFill>
          <a:ln w="10972">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3" name="TextBox 132"/>
          <p:cNvSpPr txBox="1"/>
          <p:nvPr/>
        </p:nvSpPr>
        <p:spPr>
          <a:xfrm>
            <a:off x="10473687" y="3136577"/>
            <a:ext cx="871092"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8F5C20"/>
                </a:solidFill>
                <a:effectLst/>
                <a:uLnTx/>
                <a:uFillTx/>
                <a:latin typeface="Fira Sans"/>
                <a:ea typeface="+mn-ea"/>
                <a:cs typeface="+mn-cs"/>
              </a:rPr>
              <a:t>Level 3 (tied to PC)</a:t>
            </a:r>
            <a:endParaRPr kumimoji="0" sz="950" b="0" i="1" u="none" strike="noStrike" kern="1200" cap="none" spc="0" normalizeH="0" baseline="0" noProof="0">
              <a:ln>
                <a:noFill/>
              </a:ln>
              <a:solidFill>
                <a:srgbClr val="8F5C20"/>
              </a:solidFill>
              <a:effectLst/>
              <a:uLnTx/>
              <a:uFillTx/>
              <a:latin typeface="Fira Sans"/>
              <a:ea typeface="+mn-ea"/>
              <a:cs typeface="+mn-cs"/>
            </a:endParaRPr>
          </a:p>
        </p:txBody>
      </p:sp>
      <p:sp>
        <p:nvSpPr>
          <p:cNvPr id="134" name="TextBox 133"/>
          <p:cNvSpPr txBox="1"/>
          <p:nvPr/>
        </p:nvSpPr>
        <p:spPr>
          <a:xfrm>
            <a:off x="7676433" y="3650950"/>
            <a:ext cx="2990013"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8F5C20"/>
                </a:solidFill>
                <a:effectLst/>
                <a:uLnTx/>
                <a:uFillTx/>
                <a:latin typeface="Fira Sans"/>
                <a:ea typeface="+mn-ea"/>
                <a:cs typeface="+mn-cs"/>
              </a:rPr>
              <a:t>One system of status levels (# TBD). Names are placeholders.</a:t>
            </a:r>
            <a:endParaRPr kumimoji="0" sz="950" b="0" i="1" u="none" strike="noStrike" kern="1200" cap="none" spc="0" normalizeH="0" baseline="0" noProof="0">
              <a:ln>
                <a:noFill/>
              </a:ln>
              <a:solidFill>
                <a:srgbClr val="8F5C20"/>
              </a:solidFill>
              <a:effectLst/>
              <a:uLnTx/>
              <a:uFillTx/>
              <a:latin typeface="Fira Sans"/>
              <a:ea typeface="+mn-ea"/>
              <a:cs typeface="+mn-cs"/>
            </a:endParaRPr>
          </a:p>
        </p:txBody>
      </p:sp>
      <p:sp>
        <p:nvSpPr>
          <p:cNvPr id="8" name="Freeform 7"/>
          <p:cNvSpPr/>
          <p:nvPr/>
        </p:nvSpPr>
        <p:spPr>
          <a:xfrm>
            <a:off x="6317797" y="3602736"/>
            <a:ext cx="164634" cy="1975104"/>
          </a:xfrm>
          <a:custGeom>
            <a:avLst/>
            <a:gdLst/>
            <a:ahLst/>
            <a:cxnLst/>
            <a:rect l="l" t="t" r="r" b="b"/>
            <a:pathLst>
              <a:path w="164634" h="1975104">
                <a:moveTo>
                  <a:pt x="164634" y="0"/>
                </a:moveTo>
                <a:lnTo>
                  <a:pt x="0" y="0"/>
                </a:lnTo>
                <a:lnTo>
                  <a:pt x="0" y="1975104"/>
                </a:lnTo>
              </a:path>
            </a:pathLst>
          </a:custGeom>
          <a:noFill/>
          <a:ln w="10972">
            <a:solidFill>
              <a:srgbClr val="9A9A9A"/>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35" name="Connector 134"/>
          <p:cNvCxnSpPr/>
          <p:nvPr/>
        </p:nvCxnSpPr>
        <p:spPr>
          <a:xfrm>
            <a:off x="6317797" y="4233672"/>
            <a:ext cx="91463" cy="0"/>
          </a:xfrm>
          <a:prstGeom prst="line">
            <a:avLst/>
          </a:prstGeom>
          <a:ln w="11887">
            <a:solidFill>
              <a:srgbClr val="587B52"/>
            </a:solidFill>
          </a:ln>
          <a:effectLst/>
        </p:spPr>
      </p:cxnSp>
      <p:sp>
        <p:nvSpPr>
          <p:cNvPr id="9" name="Freeform 8"/>
          <p:cNvSpPr/>
          <p:nvPr/>
        </p:nvSpPr>
        <p:spPr>
          <a:xfrm>
            <a:off x="6372675" y="4198376"/>
            <a:ext cx="73170" cy="70592"/>
          </a:xfrm>
          <a:custGeom>
            <a:avLst/>
            <a:gdLst/>
            <a:ahLst/>
            <a:cxnLst/>
            <a:rect l="l" t="t" r="r" b="b"/>
            <a:pathLst>
              <a:path w="73170" h="70592">
                <a:moveTo>
                  <a:pt x="73170" y="35296"/>
                </a:moveTo>
                <a:lnTo>
                  <a:pt x="2561" y="0"/>
                </a:lnTo>
                <a:lnTo>
                  <a:pt x="0" y="64923"/>
                </a:lnTo>
                <a:lnTo>
                  <a:pt x="2561" y="70592"/>
                </a:lnTo>
                <a:lnTo>
                  <a:pt x="73170" y="35296"/>
                </a:lnTo>
                <a:close/>
              </a:path>
            </a:pathLst>
          </a:custGeom>
          <a:solidFill>
            <a:srgbClr val="587B52"/>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36" name="Connector 135"/>
          <p:cNvCxnSpPr/>
          <p:nvPr/>
        </p:nvCxnSpPr>
        <p:spPr>
          <a:xfrm>
            <a:off x="6317797" y="5577840"/>
            <a:ext cx="91463" cy="0"/>
          </a:xfrm>
          <a:prstGeom prst="line">
            <a:avLst/>
          </a:prstGeom>
          <a:ln w="11887">
            <a:solidFill>
              <a:srgbClr val="5D4B73"/>
            </a:solidFill>
          </a:ln>
          <a:effectLst/>
        </p:spPr>
      </p:cxnSp>
      <p:sp>
        <p:nvSpPr>
          <p:cNvPr id="10" name="Freeform 9"/>
          <p:cNvSpPr/>
          <p:nvPr/>
        </p:nvSpPr>
        <p:spPr>
          <a:xfrm>
            <a:off x="6372675" y="5542544"/>
            <a:ext cx="73170" cy="70592"/>
          </a:xfrm>
          <a:custGeom>
            <a:avLst/>
            <a:gdLst/>
            <a:ahLst/>
            <a:cxnLst/>
            <a:rect l="l" t="t" r="r" b="b"/>
            <a:pathLst>
              <a:path w="73170" h="70592">
                <a:moveTo>
                  <a:pt x="73170" y="35296"/>
                </a:moveTo>
                <a:lnTo>
                  <a:pt x="2561" y="0"/>
                </a:lnTo>
                <a:lnTo>
                  <a:pt x="0" y="64923"/>
                </a:lnTo>
                <a:lnTo>
                  <a:pt x="2561" y="70592"/>
                </a:lnTo>
                <a:lnTo>
                  <a:pt x="73170" y="35296"/>
                </a:lnTo>
                <a:close/>
              </a:path>
            </a:pathLst>
          </a:custGeom>
          <a:solidFill>
            <a:srgbClr val="5D4B73"/>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7" name="TextBox 136"/>
          <p:cNvSpPr txBox="1"/>
          <p:nvPr/>
        </p:nvSpPr>
        <p:spPr>
          <a:xfrm>
            <a:off x="6482431" y="3758184"/>
            <a:ext cx="488869"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108" normalizeH="0" baseline="0" noProof="0">
                <a:ln>
                  <a:noFill/>
                </a:ln>
                <a:solidFill>
                  <a:srgbClr val="42603E"/>
                </a:solidFill>
                <a:effectLst/>
                <a:uLnTx/>
                <a:uFillTx/>
                <a:latin typeface="Fira Sans"/>
                <a:ea typeface="+mn-ea"/>
                <a:cs typeface="+mn-cs"/>
              </a:rPr>
              <a:t>VALUE</a:t>
            </a:r>
          </a:p>
        </p:txBody>
      </p:sp>
      <p:sp>
        <p:nvSpPr>
          <p:cNvPr id="138" name="Rounded Rectangle 137"/>
          <p:cNvSpPr/>
          <p:nvPr/>
        </p:nvSpPr>
        <p:spPr>
          <a:xfrm>
            <a:off x="6482431" y="3986784"/>
            <a:ext cx="5378017" cy="914400"/>
          </a:xfrm>
          <a:prstGeom prst="roundRect">
            <a:avLst>
              <a:gd name="adj" fmla="val 10000"/>
            </a:avLst>
          </a:prstGeom>
          <a:solidFill>
            <a:srgbClr val="FFFFFF"/>
          </a:solidFill>
          <a:ln w="13716">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Freeform 10"/>
          <p:cNvSpPr/>
          <p:nvPr/>
        </p:nvSpPr>
        <p:spPr>
          <a:xfrm>
            <a:off x="6519016" y="4023360"/>
            <a:ext cx="5304846" cy="512064"/>
          </a:xfrm>
          <a:custGeom>
            <a:avLst/>
            <a:gdLst/>
            <a:ahLst/>
            <a:cxnLst/>
            <a:rect l="l" t="t" r="r" b="b"/>
            <a:pathLst>
              <a:path w="5304846" h="512064">
                <a:moveTo>
                  <a:pt x="0" y="0"/>
                </a:moveTo>
                <a:lnTo>
                  <a:pt x="5293505" y="0"/>
                </a:lnTo>
                <a:lnTo>
                  <a:pt x="5304846" y="46817"/>
                </a:lnTo>
                <a:lnTo>
                  <a:pt x="5304846" y="395752"/>
                </a:lnTo>
                <a:lnTo>
                  <a:pt x="5271553" y="420624"/>
                </a:lnTo>
                <a:lnTo>
                  <a:pt x="3061079" y="420624"/>
                </a:lnTo>
                <a:lnTo>
                  <a:pt x="3018274" y="435986"/>
                </a:lnTo>
                <a:lnTo>
                  <a:pt x="3018274" y="494142"/>
                </a:lnTo>
                <a:lnTo>
                  <a:pt x="2978031" y="512064"/>
                </a:lnTo>
                <a:lnTo>
                  <a:pt x="2338156" y="512064"/>
                </a:lnTo>
                <a:lnTo>
                  <a:pt x="2286571" y="505480"/>
                </a:lnTo>
                <a:lnTo>
                  <a:pt x="2286571" y="447324"/>
                </a:lnTo>
                <a:lnTo>
                  <a:pt x="2255108" y="420624"/>
                </a:lnTo>
                <a:lnTo>
                  <a:pt x="44634" y="420624"/>
                </a:lnTo>
                <a:lnTo>
                  <a:pt x="0" y="407091"/>
                </a:lnTo>
                <a:lnTo>
                  <a:pt x="0" y="0"/>
                </a:lnTo>
                <a:close/>
              </a:path>
            </a:pathLst>
          </a:custGeom>
          <a:solidFill>
            <a:srgbClr val="E6EFE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9" name="TextBox 138"/>
          <p:cNvSpPr txBox="1"/>
          <p:nvPr/>
        </p:nvSpPr>
        <p:spPr>
          <a:xfrm>
            <a:off x="6898861" y="4123944"/>
            <a:ext cx="4545156"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42603E"/>
                </a:solidFill>
                <a:effectLst/>
                <a:uLnTx/>
                <a:uFillTx/>
                <a:latin typeface="Fira Sans"/>
                <a:ea typeface="+mn-ea"/>
                <a:cs typeface="+mn-cs"/>
              </a:rPr>
              <a:t>Launch benefits step up with the levels – rate boosts, fee treatment, recognition</a:t>
            </a:r>
          </a:p>
        </p:txBody>
      </p:sp>
      <p:sp>
        <p:nvSpPr>
          <p:cNvPr id="12" name="Freeform 11"/>
          <p:cNvSpPr/>
          <p:nvPr/>
        </p:nvSpPr>
        <p:spPr>
          <a:xfrm>
            <a:off x="6519016" y="4443984"/>
            <a:ext cx="5304846" cy="91440"/>
          </a:xfrm>
          <a:custGeom>
            <a:avLst/>
            <a:gdLst/>
            <a:ahLst/>
            <a:cxnLst/>
            <a:rect l="l" t="t" r="r" b="b"/>
            <a:pathLst>
              <a:path w="5304846" h="91440">
                <a:moveTo>
                  <a:pt x="0" y="0"/>
                </a:moveTo>
                <a:lnTo>
                  <a:pt x="2277425" y="0"/>
                </a:lnTo>
                <a:lnTo>
                  <a:pt x="2286571" y="18288"/>
                </a:lnTo>
                <a:lnTo>
                  <a:pt x="2286571" y="73152"/>
                </a:lnTo>
                <a:lnTo>
                  <a:pt x="2295718" y="91440"/>
                </a:lnTo>
                <a:lnTo>
                  <a:pt x="3009128" y="91440"/>
                </a:lnTo>
                <a:lnTo>
                  <a:pt x="3018274" y="73152"/>
                </a:lnTo>
                <a:lnTo>
                  <a:pt x="3018274" y="18288"/>
                </a:lnTo>
                <a:lnTo>
                  <a:pt x="3027421" y="0"/>
                </a:lnTo>
                <a:lnTo>
                  <a:pt x="5304846" y="0"/>
                </a:lnTo>
              </a:path>
            </a:pathLst>
          </a:custGeom>
          <a:noFill/>
          <a:ln w="12801">
            <a:solidFill>
              <a:srgbClr val="587B52"/>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0" name="TextBox 139"/>
          <p:cNvSpPr txBox="1"/>
          <p:nvPr/>
        </p:nvSpPr>
        <p:spPr>
          <a:xfrm>
            <a:off x="7136573" y="4599432"/>
            <a:ext cx="4069732"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007651"/>
                </a:solidFill>
                <a:effectLst/>
                <a:uLnTx/>
                <a:uFillTx/>
                <a:latin typeface="Fira Sans"/>
                <a:ea typeface="+mn-ea"/>
                <a:cs typeface="+mn-cs"/>
              </a:rPr>
              <a:t>+ From 2028, the program </a:t>
            </a:r>
            <a:r>
              <a:rPr kumimoji="0" lang="en-US" sz="950" b="1" i="0" u="none" strike="noStrike" kern="1200" cap="none" spc="0" normalizeH="0" baseline="0" noProof="0">
                <a:ln>
                  <a:noFill/>
                </a:ln>
                <a:solidFill>
                  <a:srgbClr val="007651"/>
                </a:solidFill>
                <a:effectLst/>
                <a:uLnTx/>
                <a:uFillTx/>
                <a:latin typeface="Fira Sans"/>
                <a:ea typeface="+mn-ea"/>
                <a:cs typeface="+mn-cs"/>
              </a:rPr>
              <a:t>expands: </a:t>
            </a:r>
            <a:r>
              <a:rPr kumimoji="0" sz="950" b="1" i="0" u="none" strike="noStrike" kern="1200" cap="none" spc="0" normalizeH="0" baseline="0" noProof="0">
                <a:ln>
                  <a:noFill/>
                </a:ln>
                <a:solidFill>
                  <a:srgbClr val="007651"/>
                </a:solidFill>
                <a:effectLst/>
                <a:uLnTx/>
                <a:uFillTx/>
                <a:latin typeface="Fira Sans"/>
                <a:ea typeface="+mn-ea"/>
                <a:cs typeface="+mn-cs"/>
              </a:rPr>
              <a:t>experiences, access</a:t>
            </a:r>
            <a:r>
              <a:rPr kumimoji="0" lang="en-US" sz="950" b="1" i="0" u="none" strike="noStrike" kern="1200" cap="none" spc="0" normalizeH="0" baseline="0" noProof="0">
                <a:ln>
                  <a:noFill/>
                </a:ln>
                <a:solidFill>
                  <a:srgbClr val="007651"/>
                </a:solidFill>
                <a:effectLst/>
                <a:uLnTx/>
                <a:uFillTx/>
                <a:latin typeface="Fira Sans"/>
                <a:ea typeface="+mn-ea"/>
                <a:cs typeface="+mn-cs"/>
              </a:rPr>
              <a:t>, partner perks</a:t>
            </a:r>
            <a:endParaRPr kumimoji="0" sz="950" b="1" i="0" u="none" strike="noStrike" kern="1200" cap="none" spc="0" normalizeH="0" baseline="0" noProof="0">
              <a:ln>
                <a:noFill/>
              </a:ln>
              <a:solidFill>
                <a:srgbClr val="007651"/>
              </a:solidFill>
              <a:effectLst/>
              <a:uLnTx/>
              <a:uFillTx/>
              <a:latin typeface="Fira Sans"/>
              <a:ea typeface="+mn-ea"/>
              <a:cs typeface="+mn-cs"/>
            </a:endParaRPr>
          </a:p>
        </p:txBody>
      </p:sp>
      <p:sp>
        <p:nvSpPr>
          <p:cNvPr id="141" name="TextBox 140"/>
          <p:cNvSpPr txBox="1"/>
          <p:nvPr/>
        </p:nvSpPr>
        <p:spPr>
          <a:xfrm>
            <a:off x="6482431" y="5111496"/>
            <a:ext cx="621124"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108" normalizeH="0" baseline="0" noProof="0">
                <a:ln>
                  <a:noFill/>
                </a:ln>
                <a:solidFill>
                  <a:srgbClr val="5D4B73"/>
                </a:solidFill>
                <a:effectLst/>
                <a:uLnTx/>
                <a:uFillTx/>
                <a:latin typeface="Fira Sans"/>
                <a:ea typeface="+mn-ea"/>
                <a:cs typeface="+mn-cs"/>
              </a:rPr>
              <a:t>SERVICE</a:t>
            </a:r>
          </a:p>
        </p:txBody>
      </p:sp>
      <p:sp>
        <p:nvSpPr>
          <p:cNvPr id="142" name="Rounded Rectangle 141"/>
          <p:cNvSpPr/>
          <p:nvPr/>
        </p:nvSpPr>
        <p:spPr>
          <a:xfrm>
            <a:off x="6482431" y="5358384"/>
            <a:ext cx="1646332" cy="438912"/>
          </a:xfrm>
          <a:prstGeom prst="roundRect">
            <a:avLst>
              <a:gd name="adj" fmla="val 18750"/>
            </a:avLst>
          </a:prstGeom>
          <a:solidFill>
            <a:srgbClr val="FFFFFF"/>
          </a:solidFill>
          <a:ln w="10058">
            <a:solidFill>
              <a:srgbClr val="5D4B73"/>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3" name="TextBox 142"/>
          <p:cNvSpPr txBox="1"/>
          <p:nvPr/>
        </p:nvSpPr>
        <p:spPr>
          <a:xfrm>
            <a:off x="6836209" y="5404104"/>
            <a:ext cx="938775"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5D4B73"/>
                </a:solidFill>
                <a:effectLst/>
                <a:uLnTx/>
                <a:uFillTx/>
                <a:latin typeface="Fira Sans"/>
                <a:ea typeface="+mn-ea"/>
                <a:cs typeface="+mn-cs"/>
              </a:rPr>
              <a:t>Digital baseline</a:t>
            </a:r>
          </a:p>
        </p:txBody>
      </p:sp>
      <p:sp>
        <p:nvSpPr>
          <p:cNvPr id="144" name="TextBox 143"/>
          <p:cNvSpPr txBox="1"/>
          <p:nvPr/>
        </p:nvSpPr>
        <p:spPr>
          <a:xfrm>
            <a:off x="7051284" y="5568696"/>
            <a:ext cx="50862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5D4B73"/>
                </a:solidFill>
                <a:effectLst/>
                <a:uLnTx/>
                <a:uFillTx/>
                <a:latin typeface="Fira Sans"/>
                <a:ea typeface="+mn-ea"/>
                <a:cs typeface="+mn-cs"/>
              </a:rPr>
              <a:t>at entry</a:t>
            </a:r>
          </a:p>
        </p:txBody>
      </p:sp>
      <p:sp>
        <p:nvSpPr>
          <p:cNvPr id="145" name="Rounded Rectangle 144"/>
          <p:cNvSpPr/>
          <p:nvPr/>
        </p:nvSpPr>
        <p:spPr>
          <a:xfrm>
            <a:off x="8320834" y="5358384"/>
            <a:ext cx="1646332" cy="438912"/>
          </a:xfrm>
          <a:prstGeom prst="roundRect">
            <a:avLst>
              <a:gd name="adj" fmla="val 18750"/>
            </a:avLst>
          </a:prstGeom>
          <a:noFill/>
          <a:ln w="12801">
            <a:solidFill>
              <a:srgbClr val="5D4B73"/>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6" name="TextBox 145"/>
          <p:cNvSpPr txBox="1"/>
          <p:nvPr/>
        </p:nvSpPr>
        <p:spPr>
          <a:xfrm>
            <a:off x="8574552" y="5404104"/>
            <a:ext cx="1138896"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5D4B73"/>
                </a:solidFill>
                <a:effectLst/>
                <a:uLnTx/>
                <a:uFillTx/>
                <a:latin typeface="Fira Sans"/>
                <a:ea typeface="+mn-ea"/>
                <a:cs typeface="+mn-cs"/>
              </a:rPr>
              <a:t>Advisory step · TBD</a:t>
            </a:r>
          </a:p>
        </p:txBody>
      </p:sp>
      <p:sp>
        <p:nvSpPr>
          <p:cNvPr id="147" name="TextBox 146"/>
          <p:cNvSpPr txBox="1"/>
          <p:nvPr/>
        </p:nvSpPr>
        <p:spPr>
          <a:xfrm>
            <a:off x="8613607" y="5568696"/>
            <a:ext cx="1060786"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5D4B73"/>
                </a:solidFill>
                <a:effectLst/>
                <a:uLnTx/>
                <a:uFillTx/>
                <a:latin typeface="Fira Sans"/>
                <a:ea typeface="+mn-ea"/>
                <a:cs typeface="+mn-cs"/>
              </a:rPr>
              <a:t>near the mid level</a:t>
            </a:r>
          </a:p>
        </p:txBody>
      </p:sp>
      <p:sp>
        <p:nvSpPr>
          <p:cNvPr id="148" name="Rounded Rectangle 147"/>
          <p:cNvSpPr/>
          <p:nvPr/>
        </p:nvSpPr>
        <p:spPr>
          <a:xfrm>
            <a:off x="10159238" y="5358384"/>
            <a:ext cx="1701209" cy="438912"/>
          </a:xfrm>
          <a:prstGeom prst="roundRect">
            <a:avLst>
              <a:gd name="adj" fmla="val 18750"/>
            </a:avLst>
          </a:prstGeom>
          <a:solidFill>
            <a:srgbClr val="FFFFFF"/>
          </a:solidFill>
          <a:ln w="10058">
            <a:solidFill>
              <a:srgbClr val="5D4B73"/>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9" name="TextBox 148"/>
          <p:cNvSpPr txBox="1"/>
          <p:nvPr/>
        </p:nvSpPr>
        <p:spPr>
          <a:xfrm>
            <a:off x="10362560" y="5404104"/>
            <a:ext cx="1294565"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5D4B73"/>
                </a:solidFill>
                <a:effectLst/>
                <a:uLnTx/>
                <a:uFillTx/>
                <a:latin typeface="Fira Sans"/>
                <a:ea typeface="+mn-ea"/>
                <a:cs typeface="+mn-cs"/>
              </a:rPr>
              <a:t>Private Client service*</a:t>
            </a:r>
          </a:p>
        </p:txBody>
      </p:sp>
      <p:sp>
        <p:nvSpPr>
          <p:cNvPr id="150" name="TextBox 149"/>
          <p:cNvSpPr txBox="1"/>
          <p:nvPr/>
        </p:nvSpPr>
        <p:spPr>
          <a:xfrm>
            <a:off x="10360868" y="5568696"/>
            <a:ext cx="129795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5D4B73"/>
                </a:solidFill>
                <a:effectLst/>
                <a:uLnTx/>
                <a:uFillTx/>
                <a:latin typeface="Fira Sans"/>
                <a:ea typeface="+mn-ea"/>
                <a:cs typeface="+mn-cs"/>
              </a:rPr>
              <a:t>dedicated relationship</a:t>
            </a:r>
          </a:p>
        </p:txBody>
      </p:sp>
      <p:sp>
        <p:nvSpPr>
          <p:cNvPr id="152" name="TextBox 151"/>
          <p:cNvSpPr txBox="1"/>
          <p:nvPr/>
        </p:nvSpPr>
        <p:spPr>
          <a:xfrm>
            <a:off x="6482431" y="5986919"/>
            <a:ext cx="5003842" cy="173736"/>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A7351"/>
                </a:solidFill>
                <a:effectLst/>
                <a:uLnTx/>
                <a:uFillTx/>
                <a:latin typeface="Fira Sans"/>
                <a:ea typeface="+mn-ea"/>
                <a:cs typeface="+mn-cs"/>
              </a:rPr>
              <a:t>*working label – final names, including the premium product, come from the naming work</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pic>
        <p:nvPicPr>
          <p:cNvPr id="13" name="Graphic 12" descr="Hierarchy with solid fill">
            <a:extLst>
              <a:ext uri="{FF2B5EF4-FFF2-40B4-BE49-F238E27FC236}">
                <a16:creationId xmlns:a16="http://schemas.microsoft.com/office/drawing/2014/main" id="{A3BB5F44-B3EB-F416-246A-24B2616976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11668876" y="165498"/>
            <a:ext cx="383142" cy="38314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3821369"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ECOSYSTEM DIRECTION · OUR RECOMMENDATION</a:t>
            </a:r>
          </a:p>
        </p:txBody>
      </p:sp>
      <p:sp>
        <p:nvSpPr>
          <p:cNvPr id="92" name="TextBox 91"/>
          <p:cNvSpPr txBox="1"/>
          <p:nvPr/>
        </p:nvSpPr>
        <p:spPr>
          <a:xfrm>
            <a:off x="503046" y="743648"/>
            <a:ext cx="7320154" cy="471830"/>
          </a:xfrm>
          <a:prstGeom prst="rect">
            <a:avLst/>
          </a:prstGeom>
          <a:noFill/>
        </p:spPr>
        <p:txBody>
          <a:bodyPr wrap="non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Balance-led is the strongest working </a:t>
            </a:r>
            <a:br>
              <a:rPr kumimoji="0" lang="en-US" sz="2900" b="0" i="0" u="none" strike="noStrike" kern="1200" cap="none" spc="-14" normalizeH="0" baseline="0" noProof="0">
                <a:ln>
                  <a:noFill/>
                </a:ln>
                <a:solidFill>
                  <a:srgbClr val="232422"/>
                </a:solidFill>
                <a:effectLst/>
                <a:uLnTx/>
                <a:uFillTx/>
                <a:latin typeface="Fira Sans"/>
                <a:ea typeface="+mn-ea"/>
                <a:cs typeface="+mn-cs"/>
              </a:rPr>
            </a:br>
            <a:r>
              <a:rPr kumimoji="0" lang="en-US" sz="2900" b="0" i="0" u="none" strike="noStrike" kern="1200" cap="none" spc="-14" normalizeH="0" baseline="0" noProof="0">
                <a:ln>
                  <a:noFill/>
                </a:ln>
                <a:solidFill>
                  <a:srgbClr val="232422"/>
                </a:solidFill>
                <a:effectLst/>
                <a:uLnTx/>
                <a:uFillTx/>
                <a:latin typeface="Fira Sans"/>
                <a:ea typeface="+mn-ea"/>
                <a:cs typeface="+mn-cs"/>
              </a:rPr>
              <a:t>hypothesis across three key lenses</a:t>
            </a:r>
          </a:p>
        </p:txBody>
      </p:sp>
      <p:sp>
        <p:nvSpPr>
          <p:cNvPr id="93" name="TextBox 92"/>
          <p:cNvSpPr txBox="1"/>
          <p:nvPr/>
        </p:nvSpPr>
        <p:spPr>
          <a:xfrm>
            <a:off x="503046" y="1891498"/>
            <a:ext cx="4918699" cy="478963"/>
          </a:xfrm>
          <a:prstGeom prst="rect">
            <a:avLst/>
          </a:prstGeom>
          <a:noFill/>
        </p:spPr>
        <p:txBody>
          <a:bodyPr wrap="square" lIns="0" tIns="0" rIns="0" bIns="0" anchor="t">
            <a:noAutofit/>
          </a:bodyPr>
          <a:lstStyle/>
          <a:p>
            <a:pPr marL="0" marR="0" lvl="0" indent="0" algn="l" defTabSz="457200" rtl="0" eaLnBrk="1" fontAlgn="auto" latinLnBrk="0" hangingPunct="1">
              <a:lnSpc>
                <a:spcPts val="2114"/>
              </a:lnSpc>
              <a:spcBef>
                <a:spcPts val="600"/>
              </a:spcBef>
              <a:spcAft>
                <a:spcPts val="0"/>
              </a:spcAft>
              <a:buClrTx/>
              <a:buSzTx/>
              <a:buFontTx/>
              <a:buNone/>
              <a:tabLst/>
              <a:defRPr/>
            </a:pPr>
            <a:r>
              <a:rPr kumimoji="0" lang="en-US" sz="1400" b="0" i="0" u="none" strike="noStrike" kern="1200" cap="none" spc="0" normalizeH="0" baseline="0" noProof="0">
                <a:ln>
                  <a:noFill/>
                </a:ln>
                <a:solidFill>
                  <a:prstClr val="black">
                    <a:lumMod val="50000"/>
                    <a:lumOff val="50000"/>
                  </a:prstClr>
                </a:solidFill>
                <a:effectLst/>
                <a:uLnTx/>
                <a:uFillTx/>
                <a:latin typeface="Fira Sans"/>
                <a:ea typeface="+mn-ea"/>
                <a:cs typeface="+mn-cs"/>
              </a:rPr>
              <a:t>This is our current assessment. Full validation still requires financial, operational, and organizational analysis.</a:t>
            </a:r>
          </a:p>
        </p:txBody>
      </p:sp>
      <p:cxnSp>
        <p:nvCxnSpPr>
          <p:cNvPr id="94" name="Connector 93"/>
          <p:cNvCxnSpPr/>
          <p:nvPr/>
        </p:nvCxnSpPr>
        <p:spPr>
          <a:xfrm>
            <a:off x="503046" y="2890798"/>
            <a:ext cx="3545649" cy="0"/>
          </a:xfrm>
          <a:prstGeom prst="line">
            <a:avLst/>
          </a:prstGeom>
          <a:ln w="36576">
            <a:solidFill>
              <a:srgbClr val="35836B"/>
            </a:solidFill>
          </a:ln>
          <a:effectLst/>
        </p:spPr>
      </p:cxnSp>
      <p:sp>
        <p:nvSpPr>
          <p:cNvPr id="95" name="TextBox 94"/>
          <p:cNvSpPr txBox="1"/>
          <p:nvPr/>
        </p:nvSpPr>
        <p:spPr>
          <a:xfrm>
            <a:off x="503046" y="3135571"/>
            <a:ext cx="3722932"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000" b="1" i="0" u="none" strike="noStrike" kern="1200" cap="none" spc="94" normalizeH="0" baseline="0" noProof="0">
                <a:ln>
                  <a:noFill/>
                </a:ln>
                <a:solidFill>
                  <a:srgbClr val="35836B"/>
                </a:solidFill>
                <a:effectLst/>
                <a:uLnTx/>
                <a:uFillTx/>
                <a:latin typeface="Fira Sans"/>
                <a:ea typeface="+mn-ea"/>
                <a:cs typeface="+mn-cs"/>
              </a:rPr>
              <a:t>IS IT FEASIBLE?</a:t>
            </a:r>
          </a:p>
        </p:txBody>
      </p:sp>
      <p:sp>
        <p:nvSpPr>
          <p:cNvPr id="96" name="TextBox 95"/>
          <p:cNvSpPr txBox="1"/>
          <p:nvPr/>
        </p:nvSpPr>
        <p:spPr>
          <a:xfrm>
            <a:off x="503046" y="3426066"/>
            <a:ext cx="3722932" cy="786384"/>
          </a:xfrm>
          <a:prstGeom prst="rect">
            <a:avLst/>
          </a:prstGeom>
          <a:noFill/>
        </p:spPr>
        <p:txBody>
          <a:bodyPr wrap="none" lIns="0" tIns="0" rIns="0" bIns="0" anchor="t">
            <a:noAutofit/>
          </a:bodyPr>
          <a:lstStyle/>
          <a:p>
            <a:pPr marL="0" marR="0" lvl="0" indent="0" algn="l" defTabSz="457200" rtl="0" eaLnBrk="1" fontAlgn="auto" latinLnBrk="0" hangingPunct="1">
              <a:lnSpc>
                <a:spcPts val="6048"/>
              </a:lnSpc>
              <a:spcBef>
                <a:spcPts val="0"/>
              </a:spcBef>
              <a:spcAft>
                <a:spcPts val="0"/>
              </a:spcAft>
              <a:buClrTx/>
              <a:buSzTx/>
              <a:buFontTx/>
              <a:buNone/>
              <a:tabLst/>
              <a:defRPr/>
            </a:pPr>
            <a:r>
              <a:rPr kumimoji="0" sz="6050" b="0" i="0" u="none" strike="noStrike" kern="1200" cap="none" spc="0" normalizeH="0" baseline="0" noProof="0">
                <a:ln>
                  <a:noFill/>
                </a:ln>
                <a:solidFill>
                  <a:srgbClr val="35836B"/>
                </a:solidFill>
                <a:effectLst/>
                <a:uLnTx/>
                <a:uFillTx/>
                <a:latin typeface="Fira Sans Light"/>
                <a:ea typeface="+mn-ea"/>
                <a:cs typeface="+mn-cs"/>
              </a:rPr>
              <a:t>1</a:t>
            </a:r>
          </a:p>
        </p:txBody>
      </p:sp>
      <p:sp>
        <p:nvSpPr>
          <p:cNvPr id="97" name="TextBox 96"/>
          <p:cNvSpPr txBox="1"/>
          <p:nvPr/>
        </p:nvSpPr>
        <p:spPr>
          <a:xfrm>
            <a:off x="503046" y="4309363"/>
            <a:ext cx="3722932" cy="291694"/>
          </a:xfrm>
          <a:prstGeom prst="rect">
            <a:avLst/>
          </a:prstGeom>
          <a:noFill/>
        </p:spPr>
        <p:txBody>
          <a:bodyPr wrap="none" lIns="0" tIns="0" rIns="0" bIns="0" anchor="t">
            <a:noAutofit/>
          </a:bodyPr>
          <a:lstStyle/>
          <a:p>
            <a:pPr marL="0" marR="0" lvl="0" indent="0" algn="l" defTabSz="457200" rtl="0" eaLnBrk="1" fontAlgn="auto" latinLnBrk="0" hangingPunct="1">
              <a:lnSpc>
                <a:spcPts val="2152"/>
              </a:lnSpc>
              <a:spcBef>
                <a:spcPts val="0"/>
              </a:spcBef>
              <a:spcAft>
                <a:spcPts val="0"/>
              </a:spcAft>
              <a:buClrTx/>
              <a:buSzTx/>
              <a:buFontTx/>
              <a:buNone/>
              <a:tabLst/>
              <a:defRPr/>
            </a:pPr>
            <a:r>
              <a:rPr kumimoji="0" sz="1650" b="1" i="0" u="none" strike="noStrike" kern="1200" cap="none" spc="0" normalizeH="0" baseline="0" noProof="0">
                <a:ln>
                  <a:noFill/>
                </a:ln>
                <a:solidFill>
                  <a:srgbClr val="232422"/>
                </a:solidFill>
                <a:effectLst/>
                <a:uLnTx/>
                <a:uFillTx/>
                <a:latin typeface="Fira Sans"/>
                <a:ea typeface="+mn-ea"/>
                <a:cs typeface="+mn-cs"/>
              </a:rPr>
              <a:t>Fits decisions already made</a:t>
            </a:r>
          </a:p>
        </p:txBody>
      </p:sp>
      <p:sp>
        <p:nvSpPr>
          <p:cNvPr id="98" name="TextBox 97"/>
          <p:cNvSpPr txBox="1"/>
          <p:nvPr/>
        </p:nvSpPr>
        <p:spPr>
          <a:xfrm>
            <a:off x="503046" y="4668933"/>
            <a:ext cx="2775863" cy="468904"/>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The premium merge and Private Client direction both separate the relationship level from checking choice.</a:t>
            </a:r>
          </a:p>
        </p:txBody>
      </p:sp>
      <p:cxnSp>
        <p:nvCxnSpPr>
          <p:cNvPr id="99" name="Connector 98"/>
          <p:cNvCxnSpPr/>
          <p:nvPr/>
        </p:nvCxnSpPr>
        <p:spPr>
          <a:xfrm>
            <a:off x="4323084" y="2890798"/>
            <a:ext cx="3545741" cy="0"/>
          </a:xfrm>
          <a:prstGeom prst="line">
            <a:avLst/>
          </a:prstGeom>
          <a:ln w="36576">
            <a:solidFill>
              <a:srgbClr val="007651"/>
            </a:solidFill>
          </a:ln>
          <a:effectLst/>
        </p:spPr>
      </p:cxnSp>
      <p:sp>
        <p:nvSpPr>
          <p:cNvPr id="100" name="TextBox 99"/>
          <p:cNvSpPr txBox="1"/>
          <p:nvPr/>
        </p:nvSpPr>
        <p:spPr>
          <a:xfrm>
            <a:off x="4323084" y="3135571"/>
            <a:ext cx="3723028"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000" b="1" i="0" u="none" strike="noStrike" kern="1200" cap="none" spc="94" normalizeH="0" baseline="0" noProof="0">
                <a:ln>
                  <a:noFill/>
                </a:ln>
                <a:solidFill>
                  <a:srgbClr val="007651"/>
                </a:solidFill>
                <a:effectLst/>
                <a:uLnTx/>
                <a:uFillTx/>
                <a:latin typeface="Fira Sans"/>
                <a:ea typeface="+mn-ea"/>
                <a:cs typeface="+mn-cs"/>
              </a:rPr>
              <a:t>IS IT DESIRABLE?</a:t>
            </a:r>
          </a:p>
        </p:txBody>
      </p:sp>
      <p:sp>
        <p:nvSpPr>
          <p:cNvPr id="101" name="TextBox 100"/>
          <p:cNvSpPr txBox="1"/>
          <p:nvPr/>
        </p:nvSpPr>
        <p:spPr>
          <a:xfrm>
            <a:off x="4323084" y="3426066"/>
            <a:ext cx="3723028" cy="786384"/>
          </a:xfrm>
          <a:prstGeom prst="rect">
            <a:avLst/>
          </a:prstGeom>
          <a:noFill/>
        </p:spPr>
        <p:txBody>
          <a:bodyPr wrap="none" lIns="0" tIns="0" rIns="0" bIns="0" anchor="t">
            <a:noAutofit/>
          </a:bodyPr>
          <a:lstStyle/>
          <a:p>
            <a:pPr marL="0" marR="0" lvl="0" indent="0" algn="l" defTabSz="457200" rtl="0" eaLnBrk="1" fontAlgn="auto" latinLnBrk="0" hangingPunct="1">
              <a:lnSpc>
                <a:spcPts val="6048"/>
              </a:lnSpc>
              <a:spcBef>
                <a:spcPts val="0"/>
              </a:spcBef>
              <a:spcAft>
                <a:spcPts val="0"/>
              </a:spcAft>
              <a:buClrTx/>
              <a:buSzTx/>
              <a:buFontTx/>
              <a:buNone/>
              <a:tabLst/>
              <a:defRPr/>
            </a:pPr>
            <a:r>
              <a:rPr kumimoji="0" sz="6050" b="0" i="0" u="none" strike="noStrike" kern="1200" cap="none" spc="0" normalizeH="0" baseline="0" noProof="0">
                <a:ln>
                  <a:noFill/>
                </a:ln>
                <a:solidFill>
                  <a:srgbClr val="007651"/>
                </a:solidFill>
                <a:effectLst/>
                <a:uLnTx/>
                <a:uFillTx/>
                <a:latin typeface="Fira Sans Light"/>
                <a:ea typeface="+mn-ea"/>
                <a:cs typeface="+mn-cs"/>
              </a:rPr>
              <a:t>2</a:t>
            </a:r>
          </a:p>
        </p:txBody>
      </p:sp>
      <p:sp>
        <p:nvSpPr>
          <p:cNvPr id="102" name="TextBox 101"/>
          <p:cNvSpPr txBox="1"/>
          <p:nvPr/>
        </p:nvSpPr>
        <p:spPr>
          <a:xfrm>
            <a:off x="4323084" y="4309363"/>
            <a:ext cx="3723028" cy="291694"/>
          </a:xfrm>
          <a:prstGeom prst="rect">
            <a:avLst/>
          </a:prstGeom>
          <a:noFill/>
        </p:spPr>
        <p:txBody>
          <a:bodyPr wrap="none" lIns="0" tIns="0" rIns="0" bIns="0" anchor="t">
            <a:noAutofit/>
          </a:bodyPr>
          <a:lstStyle/>
          <a:p>
            <a:pPr marL="0" marR="0" lvl="0" indent="0" algn="l" defTabSz="457200" rtl="0" eaLnBrk="1" fontAlgn="auto" latinLnBrk="0" hangingPunct="1">
              <a:lnSpc>
                <a:spcPts val="2152"/>
              </a:lnSpc>
              <a:spcBef>
                <a:spcPts val="0"/>
              </a:spcBef>
              <a:spcAft>
                <a:spcPts val="0"/>
              </a:spcAft>
              <a:buClrTx/>
              <a:buSzTx/>
              <a:buFontTx/>
              <a:buNone/>
              <a:tabLst/>
              <a:defRPr/>
            </a:pPr>
            <a:r>
              <a:rPr kumimoji="0" sz="1650" b="1" i="0" u="none" strike="noStrike" kern="1200" cap="none" spc="0" normalizeH="0" baseline="0" noProof="0">
                <a:ln>
                  <a:noFill/>
                </a:ln>
                <a:solidFill>
                  <a:srgbClr val="232422"/>
                </a:solidFill>
                <a:effectLst/>
                <a:uLnTx/>
                <a:uFillTx/>
                <a:latin typeface="Fira Sans"/>
                <a:ea typeface="+mn-ea"/>
                <a:cs typeface="+mn-cs"/>
              </a:rPr>
              <a:t>Serves the key customer groups</a:t>
            </a:r>
          </a:p>
        </p:txBody>
      </p:sp>
      <p:sp>
        <p:nvSpPr>
          <p:cNvPr id="103" name="TextBox 102"/>
          <p:cNvSpPr txBox="1"/>
          <p:nvPr/>
        </p:nvSpPr>
        <p:spPr>
          <a:xfrm>
            <a:off x="4323084" y="4668933"/>
            <a:ext cx="3723028"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Wealth builders bank across providers, affluent</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customers say they want coordinated service, and</a:t>
            </a:r>
          </a:p>
          <a:p>
            <a:pPr marL="0" marR="0" lvl="0" indent="0" algn="l" defTabSz="457200" rtl="0" eaLnBrk="1" fontAlgn="auto" latinLnBrk="0" hangingPunct="1">
              <a:lnSpc>
                <a:spcPts val="1774"/>
              </a:lnSpc>
              <a:spcBef>
                <a:spcPts val="0"/>
              </a:spcBef>
              <a:spcAft>
                <a:spcPts val="0"/>
              </a:spcAft>
              <a:buClrTx/>
              <a:buSzTx/>
              <a:buFontTx/>
              <a:buNone/>
              <a:tabLst/>
              <a:defRPr/>
            </a:pPr>
            <a:r>
              <a:rPr kumimoji="0" sz="1200" b="0" i="0" u="none" strike="noStrike" kern="1200" cap="none" spc="0" normalizeH="0" baseline="0" noProof="0">
                <a:ln>
                  <a:noFill/>
                </a:ln>
                <a:solidFill>
                  <a:srgbClr val="575757"/>
                </a:solidFill>
                <a:effectLst/>
                <a:uLnTx/>
                <a:uFillTx/>
                <a:latin typeface="Fira Sans"/>
                <a:ea typeface="+mn-ea"/>
                <a:cs typeface="+mn-cs"/>
              </a:rPr>
              <a:t>the everyday base is recognized from day one.</a:t>
            </a:r>
          </a:p>
        </p:txBody>
      </p:sp>
      <p:cxnSp>
        <p:nvCxnSpPr>
          <p:cNvPr id="104" name="Connector 103"/>
          <p:cNvCxnSpPr/>
          <p:nvPr/>
        </p:nvCxnSpPr>
        <p:spPr>
          <a:xfrm>
            <a:off x="8143213" y="2890798"/>
            <a:ext cx="3545650" cy="0"/>
          </a:xfrm>
          <a:prstGeom prst="line">
            <a:avLst/>
          </a:prstGeom>
          <a:ln w="36576">
            <a:solidFill>
              <a:srgbClr val="00482D"/>
            </a:solidFill>
          </a:ln>
          <a:effectLst/>
        </p:spPr>
      </p:cxnSp>
      <p:sp>
        <p:nvSpPr>
          <p:cNvPr id="105" name="TextBox 104"/>
          <p:cNvSpPr txBox="1"/>
          <p:nvPr/>
        </p:nvSpPr>
        <p:spPr>
          <a:xfrm>
            <a:off x="8143213" y="3135571"/>
            <a:ext cx="3722932"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1000" b="1" i="0" u="none" strike="noStrike" kern="1200" cap="none" spc="94" normalizeH="0" baseline="0" noProof="0">
                <a:ln>
                  <a:noFill/>
                </a:ln>
                <a:solidFill>
                  <a:srgbClr val="00482D"/>
                </a:solidFill>
                <a:effectLst/>
                <a:uLnTx/>
                <a:uFillTx/>
                <a:latin typeface="Fira Sans"/>
                <a:ea typeface="+mn-ea"/>
                <a:cs typeface="+mn-cs"/>
              </a:rPr>
              <a:t>IS IT VIABLE?</a:t>
            </a:r>
          </a:p>
        </p:txBody>
      </p:sp>
      <p:sp>
        <p:nvSpPr>
          <p:cNvPr id="106" name="TextBox 105"/>
          <p:cNvSpPr txBox="1"/>
          <p:nvPr/>
        </p:nvSpPr>
        <p:spPr>
          <a:xfrm>
            <a:off x="8143213" y="3426066"/>
            <a:ext cx="3722932" cy="786384"/>
          </a:xfrm>
          <a:prstGeom prst="rect">
            <a:avLst/>
          </a:prstGeom>
          <a:noFill/>
        </p:spPr>
        <p:txBody>
          <a:bodyPr wrap="none" lIns="0" tIns="0" rIns="0" bIns="0" anchor="t">
            <a:noAutofit/>
          </a:bodyPr>
          <a:lstStyle/>
          <a:p>
            <a:pPr marL="0" marR="0" lvl="0" indent="0" algn="l" defTabSz="457200" rtl="0" eaLnBrk="1" fontAlgn="auto" latinLnBrk="0" hangingPunct="1">
              <a:lnSpc>
                <a:spcPts val="6048"/>
              </a:lnSpc>
              <a:spcBef>
                <a:spcPts val="0"/>
              </a:spcBef>
              <a:spcAft>
                <a:spcPts val="0"/>
              </a:spcAft>
              <a:buClrTx/>
              <a:buSzTx/>
              <a:buFontTx/>
              <a:buNone/>
              <a:tabLst/>
              <a:defRPr/>
            </a:pPr>
            <a:r>
              <a:rPr kumimoji="0" sz="6050" b="0" i="0" u="none" strike="noStrike" kern="1200" cap="none" spc="0" normalizeH="0" baseline="0" noProof="0">
                <a:ln>
                  <a:noFill/>
                </a:ln>
                <a:solidFill>
                  <a:srgbClr val="00482D"/>
                </a:solidFill>
                <a:effectLst/>
                <a:uLnTx/>
                <a:uFillTx/>
                <a:latin typeface="Fira Sans Light"/>
                <a:ea typeface="+mn-ea"/>
                <a:cs typeface="+mn-cs"/>
              </a:rPr>
              <a:t>3</a:t>
            </a:r>
          </a:p>
        </p:txBody>
      </p:sp>
      <p:sp>
        <p:nvSpPr>
          <p:cNvPr id="107" name="TextBox 106"/>
          <p:cNvSpPr txBox="1"/>
          <p:nvPr/>
        </p:nvSpPr>
        <p:spPr>
          <a:xfrm>
            <a:off x="8143213" y="4309363"/>
            <a:ext cx="3722932" cy="291694"/>
          </a:xfrm>
          <a:prstGeom prst="rect">
            <a:avLst/>
          </a:prstGeom>
          <a:noFill/>
        </p:spPr>
        <p:txBody>
          <a:bodyPr wrap="none" lIns="0" tIns="0" rIns="0" bIns="0" anchor="t">
            <a:noAutofit/>
          </a:bodyPr>
          <a:lstStyle/>
          <a:p>
            <a:pPr marL="0" marR="0" lvl="0" indent="0" algn="l" defTabSz="457200" rtl="0" eaLnBrk="1" fontAlgn="auto" latinLnBrk="0" hangingPunct="1">
              <a:lnSpc>
                <a:spcPts val="2152"/>
              </a:lnSpc>
              <a:spcBef>
                <a:spcPts val="0"/>
              </a:spcBef>
              <a:spcAft>
                <a:spcPts val="0"/>
              </a:spcAft>
              <a:buClrTx/>
              <a:buSzTx/>
              <a:buFontTx/>
              <a:buNone/>
              <a:tabLst/>
              <a:defRPr/>
            </a:pPr>
            <a:r>
              <a:rPr kumimoji="0" sz="1650" b="1" i="0" u="none" strike="noStrike" kern="1200" cap="none" spc="0" normalizeH="0" baseline="0" noProof="0">
                <a:ln>
                  <a:noFill/>
                </a:ln>
                <a:solidFill>
                  <a:srgbClr val="232422"/>
                </a:solidFill>
                <a:effectLst/>
                <a:uLnTx/>
                <a:uFillTx/>
                <a:latin typeface="Fira Sans"/>
                <a:ea typeface="+mn-ea"/>
                <a:cs typeface="+mn-cs"/>
              </a:rPr>
              <a:t>Prepares for 2028</a:t>
            </a:r>
          </a:p>
        </p:txBody>
      </p:sp>
      <p:sp>
        <p:nvSpPr>
          <p:cNvPr id="108" name="TextBox 107"/>
          <p:cNvSpPr txBox="1"/>
          <p:nvPr/>
        </p:nvSpPr>
        <p:spPr>
          <a:xfrm>
            <a:off x="8143213" y="4668933"/>
            <a:ext cx="2607914" cy="694212"/>
          </a:xfrm>
          <a:prstGeom prst="rect">
            <a:avLst/>
          </a:prstGeom>
          <a:noFill/>
        </p:spPr>
        <p:txBody>
          <a:bodyPr wrap="square" lIns="0" tIns="0" rIns="0" bIns="0" anchor="t">
            <a:noAutofit/>
          </a:bodyPr>
          <a:lstStyle/>
          <a:p>
            <a:pPr marL="0" marR="0" lvl="0" indent="0" algn="l" defTabSz="457200" rtl="0" eaLnBrk="1" fontAlgn="auto" latinLnBrk="0" hangingPunct="1">
              <a:lnSpc>
                <a:spcPts val="1774"/>
              </a:lnSpc>
              <a:spcBef>
                <a:spcPts val="0"/>
              </a:spcBef>
              <a:spcAft>
                <a:spcPts val="0"/>
              </a:spcAft>
              <a:buClrTx/>
              <a:buSzTx/>
              <a:buFontTx/>
              <a:buNone/>
              <a:tabLst/>
              <a:defRPr/>
            </a:pPr>
            <a:r>
              <a:rPr kumimoji="0" lang="en-US" sz="1200" b="0" i="0" u="none" strike="noStrike" kern="1200" cap="none" spc="0" normalizeH="0" baseline="0" noProof="0">
                <a:ln>
                  <a:noFill/>
                </a:ln>
                <a:solidFill>
                  <a:srgbClr val="575757"/>
                </a:solidFill>
                <a:effectLst/>
                <a:uLnTx/>
                <a:uFillTx/>
                <a:latin typeface="Fira Sans"/>
                <a:ea typeface="+mn-ea"/>
                <a:cs typeface="+mn-cs"/>
              </a:rPr>
              <a:t>The balance-led levels give the planned loyalty revamp a clear structure to add to.</a:t>
            </a:r>
          </a:p>
        </p:txBody>
      </p:sp>
      <p:cxnSp>
        <p:nvCxnSpPr>
          <p:cNvPr id="109" name="Connector 108"/>
          <p:cNvCxnSpPr/>
          <p:nvPr/>
        </p:nvCxnSpPr>
        <p:spPr>
          <a:xfrm>
            <a:off x="503046" y="6414516"/>
            <a:ext cx="11185908" cy="0"/>
          </a:xfrm>
          <a:prstGeom prst="line">
            <a:avLst/>
          </a:prstGeom>
          <a:ln w="9144">
            <a:solidFill>
              <a:srgbClr val="DDDBCE"/>
            </a:solidFill>
          </a:ln>
          <a:effectLst/>
        </p:spPr>
      </p:cxnSp>
      <p:sp>
        <p:nvSpPr>
          <p:cNvPr id="110" name="TextBox 109"/>
          <p:cNvSpPr txBox="1"/>
          <p:nvPr/>
        </p:nvSpPr>
        <p:spPr>
          <a:xfrm>
            <a:off x="503046" y="6491373"/>
            <a:ext cx="11688954" cy="160934"/>
          </a:xfrm>
          <a:prstGeom prst="rect">
            <a:avLst/>
          </a:prstGeom>
          <a:noFill/>
        </p:spPr>
        <p:txBody>
          <a:bodyPr wrap="non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Ecosystem direction recommendation · August 2026</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2146542"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WHY BALANCE-LED · 1 OF 3</a:t>
            </a:r>
          </a:p>
        </p:txBody>
      </p:sp>
      <p:sp>
        <p:nvSpPr>
          <p:cNvPr id="92" name="Rounded Rectangle 91"/>
          <p:cNvSpPr/>
          <p:nvPr/>
        </p:nvSpPr>
        <p:spPr>
          <a:xfrm>
            <a:off x="6261090" y="347472"/>
            <a:ext cx="1874714" cy="219456"/>
          </a:xfrm>
          <a:prstGeom prst="roundRect">
            <a:avLst>
              <a:gd name="adj" fmla="val 50000"/>
            </a:avLst>
          </a:prstGeom>
          <a:solidFill>
            <a:srgbClr val="35836B"/>
          </a:solidFill>
          <a:ln w="9144">
            <a:solidFill>
              <a:srgbClr val="35836B"/>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a:ea typeface="+mn-ea"/>
                <a:cs typeface="+mn-cs"/>
              </a:rPr>
              <a:t>1 · Fits decisions already made</a:t>
            </a:r>
          </a:p>
        </p:txBody>
      </p:sp>
      <p:sp>
        <p:nvSpPr>
          <p:cNvPr id="93" name="Rounded Rectangle 92"/>
          <p:cNvSpPr/>
          <p:nvPr/>
        </p:nvSpPr>
        <p:spPr>
          <a:xfrm>
            <a:off x="8199829" y="347472"/>
            <a:ext cx="2100628"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2 · Serves the key customer groups</a:t>
            </a:r>
          </a:p>
        </p:txBody>
      </p:sp>
      <p:sp>
        <p:nvSpPr>
          <p:cNvPr id="94" name="Rounded Rectangle 93"/>
          <p:cNvSpPr/>
          <p:nvPr/>
        </p:nvSpPr>
        <p:spPr>
          <a:xfrm>
            <a:off x="10364480" y="347472"/>
            <a:ext cx="1324474"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3 · Prepares for 2028</a:t>
            </a:r>
          </a:p>
        </p:txBody>
      </p:sp>
      <p:sp>
        <p:nvSpPr>
          <p:cNvPr id="95" name="TextBox 94"/>
          <p:cNvSpPr txBox="1"/>
          <p:nvPr/>
        </p:nvSpPr>
        <p:spPr>
          <a:xfrm>
            <a:off x="503046" y="743648"/>
            <a:ext cx="11134772"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The Private Client decision separates recognition from the product</a:t>
            </a:r>
          </a:p>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 our recommendation extends that principle to every level</a:t>
            </a:r>
          </a:p>
        </p:txBody>
      </p:sp>
      <p:cxnSp>
        <p:nvCxnSpPr>
          <p:cNvPr id="96" name="Connector 95"/>
          <p:cNvCxnSpPr/>
          <p:nvPr/>
        </p:nvCxnSpPr>
        <p:spPr>
          <a:xfrm>
            <a:off x="503046" y="2835463"/>
            <a:ext cx="5121920" cy="0"/>
          </a:xfrm>
          <a:prstGeom prst="line">
            <a:avLst/>
          </a:prstGeom>
          <a:ln w="9144">
            <a:solidFill>
              <a:srgbClr val="DDDBCE"/>
            </a:solidFill>
          </a:ln>
          <a:effectLst/>
        </p:spPr>
      </p:cxnSp>
      <p:sp>
        <p:nvSpPr>
          <p:cNvPr id="97" name="TextBox 96"/>
          <p:cNvSpPr txBox="1"/>
          <p:nvPr/>
        </p:nvSpPr>
        <p:spPr>
          <a:xfrm>
            <a:off x="503046" y="2105806"/>
            <a:ext cx="5378017" cy="248717"/>
          </a:xfrm>
          <a:prstGeom prst="rect">
            <a:avLst/>
          </a:prstGeom>
          <a:noFill/>
        </p:spPr>
        <p:txBody>
          <a:bodyPr wrap="non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lang="en-US" sz="1200" b="1" i="0" u="none" strike="noStrike" kern="1200" cap="none" spc="0" normalizeH="0" baseline="0" noProof="0">
                <a:ln>
                  <a:noFill/>
                </a:ln>
                <a:solidFill>
                  <a:srgbClr val="232422"/>
                </a:solidFill>
                <a:effectLst/>
                <a:uLnTx/>
                <a:uFillTx/>
                <a:latin typeface="Fira Sans"/>
                <a:ea typeface="+mn-ea"/>
                <a:cs typeface="+mn-cs"/>
              </a:rPr>
              <a:t>The merged premium product can no longer define Private Client</a:t>
            </a:r>
          </a:p>
        </p:txBody>
      </p:sp>
      <p:sp>
        <p:nvSpPr>
          <p:cNvPr id="98" name="TextBox 97"/>
          <p:cNvSpPr txBox="1"/>
          <p:nvPr/>
        </p:nvSpPr>
        <p:spPr>
          <a:xfrm>
            <a:off x="503046" y="2342232"/>
            <a:ext cx="4909463" cy="389443"/>
          </a:xfrm>
          <a:prstGeom prst="rect">
            <a:avLst/>
          </a:prstGeom>
          <a:noFill/>
        </p:spPr>
        <p:txBody>
          <a:bodyPr wrap="square" lIns="0" tIns="0" rIns="0" bIns="0" anchor="t">
            <a:noAutofit/>
          </a:bodyPr>
          <a:lstStyle/>
          <a:p>
            <a:pPr marL="0" marR="0" lvl="0" indent="0" algn="l" defTabSz="457200" rtl="0" eaLnBrk="1" fontAlgn="auto" latinLnBrk="0" hangingPunct="1">
              <a:lnSpc>
                <a:spcPts val="1461"/>
              </a:lnSpc>
              <a:spcBef>
                <a:spcPts val="0"/>
              </a:spcBef>
              <a:spcAft>
                <a:spcPts val="0"/>
              </a:spcAft>
              <a:buClrTx/>
              <a:buSzTx/>
              <a:buFontTx/>
              <a:buNone/>
              <a:tabLst/>
              <a:defRPr/>
            </a:pPr>
            <a:r>
              <a:rPr kumimoji="0" lang="en-US" sz="1000" b="0" i="0" u="none" strike="noStrike" kern="1200" cap="none" spc="0" normalizeH="0" baseline="0" noProof="0">
                <a:ln>
                  <a:noFill/>
                </a:ln>
                <a:solidFill>
                  <a:srgbClr val="575757"/>
                </a:solidFill>
                <a:effectLst/>
                <a:uLnTx/>
                <a:uFillTx/>
                <a:latin typeface="Fira Sans"/>
                <a:ea typeface="+mn-ea"/>
                <a:cs typeface="+mn-cs"/>
              </a:rPr>
              <a:t>Once Quest and Private Client Checking become one premium product, the checking product can no longer determine who is a Private Client.</a:t>
            </a:r>
          </a:p>
        </p:txBody>
      </p:sp>
      <p:cxnSp>
        <p:nvCxnSpPr>
          <p:cNvPr id="99" name="Connector 98"/>
          <p:cNvCxnSpPr/>
          <p:nvPr/>
        </p:nvCxnSpPr>
        <p:spPr>
          <a:xfrm>
            <a:off x="503046" y="3645530"/>
            <a:ext cx="5121920" cy="0"/>
          </a:xfrm>
          <a:prstGeom prst="line">
            <a:avLst/>
          </a:prstGeom>
          <a:ln w="9144">
            <a:solidFill>
              <a:srgbClr val="DDDBCE"/>
            </a:solidFill>
          </a:ln>
          <a:effectLst/>
        </p:spPr>
      </p:cxnSp>
      <p:sp>
        <p:nvSpPr>
          <p:cNvPr id="100" name="TextBox 99"/>
          <p:cNvSpPr txBox="1"/>
          <p:nvPr/>
        </p:nvSpPr>
        <p:spPr>
          <a:xfrm>
            <a:off x="503046" y="2915873"/>
            <a:ext cx="5378017" cy="248717"/>
          </a:xfrm>
          <a:prstGeom prst="rect">
            <a:avLst/>
          </a:prstGeom>
          <a:noFill/>
        </p:spPr>
        <p:txBody>
          <a:bodyPr wrap="non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lang="en-US" sz="1200" b="1" i="0" u="none" strike="noStrike" kern="1200" cap="none" spc="0" normalizeH="0" baseline="0" noProof="0">
                <a:ln>
                  <a:noFill/>
                </a:ln>
                <a:solidFill>
                  <a:srgbClr val="232422"/>
                </a:solidFill>
                <a:effectLst/>
                <a:uLnTx/>
                <a:uFillTx/>
                <a:latin typeface="Fira Sans"/>
                <a:ea typeface="+mn-ea"/>
                <a:cs typeface="+mn-cs"/>
              </a:rPr>
              <a:t>The $200,000 threshold already depends on combined balances</a:t>
            </a:r>
          </a:p>
        </p:txBody>
      </p:sp>
      <p:sp>
        <p:nvSpPr>
          <p:cNvPr id="101" name="TextBox 100"/>
          <p:cNvSpPr txBox="1"/>
          <p:nvPr/>
        </p:nvSpPr>
        <p:spPr>
          <a:xfrm>
            <a:off x="503046" y="3152299"/>
            <a:ext cx="4493827" cy="389443"/>
          </a:xfrm>
          <a:prstGeom prst="rect">
            <a:avLst/>
          </a:prstGeom>
          <a:noFill/>
        </p:spPr>
        <p:txBody>
          <a:bodyPr wrap="square" lIns="0" tIns="0" rIns="0" bIns="0" anchor="t">
            <a:noAutofit/>
          </a:bodyPr>
          <a:lstStyle/>
          <a:p>
            <a:pPr marL="0" marR="0" lvl="0" indent="0" algn="l" defTabSz="457200" rtl="0" eaLnBrk="1" fontAlgn="auto" latinLnBrk="0" hangingPunct="1">
              <a:lnSpc>
                <a:spcPts val="1461"/>
              </a:lnSpc>
              <a:spcBef>
                <a:spcPts val="0"/>
              </a:spcBef>
              <a:spcAft>
                <a:spcPts val="0"/>
              </a:spcAft>
              <a:buClrTx/>
              <a:buSzTx/>
              <a:buFontTx/>
              <a:buNone/>
              <a:tabLst/>
              <a:defRPr/>
            </a:pPr>
            <a:r>
              <a:rPr kumimoji="0" lang="en-US" sz="1000" b="0" i="0" u="none" strike="noStrike" kern="1200" cap="none" spc="0" normalizeH="0" baseline="0" noProof="0">
                <a:ln>
                  <a:noFill/>
                </a:ln>
                <a:solidFill>
                  <a:srgbClr val="575757"/>
                </a:solidFill>
                <a:effectLst/>
                <a:uLnTx/>
                <a:uFillTx/>
                <a:latin typeface="Fira Sans"/>
                <a:ea typeface="+mn-ea"/>
                <a:cs typeface="+mn-cs"/>
              </a:rPr>
              <a:t>Combined balances set the threshold, making Private Client available from any checking product.</a:t>
            </a:r>
          </a:p>
        </p:txBody>
      </p:sp>
      <p:sp>
        <p:nvSpPr>
          <p:cNvPr id="102" name="TextBox 101"/>
          <p:cNvSpPr txBox="1"/>
          <p:nvPr/>
        </p:nvSpPr>
        <p:spPr>
          <a:xfrm>
            <a:off x="503046" y="3726031"/>
            <a:ext cx="5378017" cy="248717"/>
          </a:xfrm>
          <a:prstGeom prst="rect">
            <a:avLst/>
          </a:prstGeom>
          <a:noFill/>
        </p:spPr>
        <p:txBody>
          <a:bodyPr wrap="none" lIns="0" tIns="0" rIns="0" bIns="0" anchor="t">
            <a:noAutofit/>
          </a:bodyPr>
          <a:lstStyle/>
          <a:p>
            <a:pPr marL="0" marR="0" lvl="0" indent="0" algn="l" defTabSz="457200" rtl="0" eaLnBrk="1" fontAlgn="auto" latinLnBrk="0" hangingPunct="1">
              <a:lnSpc>
                <a:spcPts val="1814"/>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One rule for every level is simpler than two</a:t>
            </a:r>
          </a:p>
        </p:txBody>
      </p:sp>
      <p:sp>
        <p:nvSpPr>
          <p:cNvPr id="103" name="TextBox 102"/>
          <p:cNvSpPr txBox="1"/>
          <p:nvPr/>
        </p:nvSpPr>
        <p:spPr>
          <a:xfrm>
            <a:off x="503046" y="3962457"/>
            <a:ext cx="5378017" cy="389443"/>
          </a:xfrm>
          <a:prstGeom prst="rect">
            <a:avLst/>
          </a:prstGeom>
          <a:noFill/>
        </p:spPr>
        <p:txBody>
          <a:bodyPr wrap="square" lIns="0" tIns="0" rIns="0" bIns="0" anchor="t">
            <a:noAutofit/>
          </a:bodyPr>
          <a:lstStyle/>
          <a:p>
            <a:pPr marL="0" marR="0" lvl="0" indent="0" algn="l" defTabSz="457200" rtl="0" eaLnBrk="1" fontAlgn="auto" latinLnBrk="0" hangingPunct="1">
              <a:lnSpc>
                <a:spcPts val="146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Extending the same principle everywhere avoids product rules for some customers and</a:t>
            </a:r>
          </a:p>
          <a:p>
            <a:pPr marL="0" marR="0" lvl="0" indent="0" algn="l" defTabSz="457200" rtl="0" eaLnBrk="1" fontAlgn="auto" latinLnBrk="0" hangingPunct="1">
              <a:lnSpc>
                <a:spcPts val="146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relationship rules for others.</a:t>
            </a:r>
          </a:p>
        </p:txBody>
      </p:sp>
      <p:sp>
        <p:nvSpPr>
          <p:cNvPr id="104" name="Rectangle 103"/>
          <p:cNvSpPr/>
          <p:nvPr/>
        </p:nvSpPr>
        <p:spPr>
          <a:xfrm>
            <a:off x="503046" y="4505980"/>
            <a:ext cx="5121920" cy="719541"/>
          </a:xfrm>
          <a:prstGeom prst="rect">
            <a:avLst/>
          </a:prstGeom>
          <a:solidFill>
            <a:srgbClr val="F6EAD6"/>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05" name="Connector 104"/>
          <p:cNvCxnSpPr/>
          <p:nvPr/>
        </p:nvCxnSpPr>
        <p:spPr>
          <a:xfrm>
            <a:off x="516765" y="4505980"/>
            <a:ext cx="0" cy="719542"/>
          </a:xfrm>
          <a:prstGeom prst="line">
            <a:avLst/>
          </a:prstGeom>
          <a:ln w="27432">
            <a:solidFill>
              <a:srgbClr val="B0742F"/>
            </a:solidFill>
          </a:ln>
          <a:effectLst/>
        </p:spPr>
      </p:cxnSp>
      <p:sp>
        <p:nvSpPr>
          <p:cNvPr id="106" name="TextBox 105"/>
          <p:cNvSpPr txBox="1"/>
          <p:nvPr/>
        </p:nvSpPr>
        <p:spPr>
          <a:xfrm>
            <a:off x="667679" y="4609070"/>
            <a:ext cx="4772539" cy="554949"/>
          </a:xfrm>
          <a:prstGeom prst="rect">
            <a:avLst/>
          </a:prstGeom>
          <a:noFill/>
        </p:spPr>
        <p:txBody>
          <a:bodyPr wrap="square" lIns="0" tIns="0" rIns="0" bIns="0" anchor="t">
            <a:noAutofit/>
          </a:bodyPr>
          <a:lstStyle/>
          <a:p>
            <a:pPr marL="0" marR="0" lvl="0" indent="0" algn="l" defTabSz="457200" rtl="0" eaLnBrk="1" fontAlgn="auto" latinLnBrk="0" hangingPunct="1">
              <a:lnSpc>
                <a:spcPts val="1409"/>
              </a:lnSpc>
              <a:spcBef>
                <a:spcPts val="0"/>
              </a:spcBef>
              <a:spcAft>
                <a:spcPts val="0"/>
              </a:spcAft>
              <a:buClrTx/>
              <a:buSzTx/>
              <a:buFontTx/>
              <a:buNone/>
              <a:tabLst/>
              <a:defRPr/>
            </a:pPr>
            <a:r>
              <a:rPr kumimoji="0" sz="1000" b="1" i="0" u="none" strike="noStrike" kern="1200" cap="none" spc="0" normalizeH="0" baseline="0" noProof="0">
                <a:ln>
                  <a:noFill/>
                </a:ln>
                <a:solidFill>
                  <a:srgbClr val="232422"/>
                </a:solidFill>
                <a:effectLst/>
                <a:uLnTx/>
                <a:uFillTx/>
                <a:latin typeface="Fira Sans"/>
                <a:ea typeface="+mn-ea"/>
                <a:cs typeface="+mn-cs"/>
              </a:rPr>
              <a:t>The counter-scenario:</a:t>
            </a:r>
            <a:r>
              <a:rPr kumimoji="0" sz="1000" b="0" i="0" u="none" strike="noStrike" kern="1200" cap="none" spc="0" normalizeH="0" baseline="0" noProof="0">
                <a:ln>
                  <a:noFill/>
                </a:ln>
                <a:solidFill>
                  <a:srgbClr val="232422"/>
                </a:solidFill>
                <a:effectLst/>
                <a:uLnTx/>
                <a:uFillTx/>
                <a:latin typeface="Fira Sans"/>
                <a:ea typeface="+mn-ea"/>
                <a:cs typeface="+mn-cs"/>
              </a:rPr>
              <a:t> </a:t>
            </a:r>
            <a:r>
              <a:rPr kumimoji="0" lang="en-US" sz="1000" b="0" i="0" u="none" strike="noStrike" kern="1200" cap="none" spc="0" normalizeH="0" baseline="0" noProof="0">
                <a:ln>
                  <a:noFill/>
                </a:ln>
                <a:solidFill>
                  <a:srgbClr val="232422"/>
                </a:solidFill>
                <a:effectLst/>
                <a:uLnTx/>
                <a:uFillTx/>
                <a:latin typeface="Fira Sans"/>
                <a:ea typeface="+mn-ea"/>
                <a:cs typeface="+mn-cs"/>
              </a:rPr>
              <a:t>Balances could qualify only the Private Client relationship, while the rest is product-led. TD shows that this lighter model is viable. Simpler at launch, but gives customers less visible progression across the relationship.</a:t>
            </a:r>
          </a:p>
          <a:p>
            <a:pPr marL="0" marR="0" lvl="0" indent="0" algn="l" defTabSz="457200" rtl="0" eaLnBrk="1" fontAlgn="auto" latinLnBrk="0" hangingPunct="1">
              <a:lnSpc>
                <a:spcPts val="1409"/>
              </a:lnSpc>
              <a:spcBef>
                <a:spcPts val="0"/>
              </a:spcBef>
              <a:spcAft>
                <a:spcPts val="0"/>
              </a:spcAft>
              <a:buClrTx/>
              <a:buSzTx/>
              <a:buFontTx/>
              <a:buNone/>
              <a:tabLst/>
              <a:defRPr/>
            </a:pPr>
            <a:endParaRPr kumimoji="0" sz="1000" b="0" i="0" u="none" strike="noStrike" kern="1200" cap="none" spc="0" normalizeH="0" baseline="0" noProof="0">
              <a:ln>
                <a:noFill/>
              </a:ln>
              <a:solidFill>
                <a:srgbClr val="232422"/>
              </a:solidFill>
              <a:effectLst/>
              <a:uLnTx/>
              <a:uFillTx/>
              <a:latin typeface="Fira Sans"/>
              <a:ea typeface="+mn-ea"/>
              <a:cs typeface="+mn-cs"/>
            </a:endParaRPr>
          </a:p>
        </p:txBody>
      </p:sp>
      <p:sp>
        <p:nvSpPr>
          <p:cNvPr id="107" name="Rectangle 106"/>
          <p:cNvSpPr/>
          <p:nvPr/>
        </p:nvSpPr>
        <p:spPr>
          <a:xfrm>
            <a:off x="503046" y="5298673"/>
            <a:ext cx="5121920" cy="926635"/>
          </a:xfrm>
          <a:prstGeom prst="rect">
            <a:avLst/>
          </a:prstGeom>
          <a:solidFill>
            <a:srgbClr val="232422">
              <a:alpha val="3000"/>
            </a:srgb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08" name="Connector 107"/>
          <p:cNvCxnSpPr>
            <a:cxnSpLocks/>
          </p:cNvCxnSpPr>
          <p:nvPr/>
        </p:nvCxnSpPr>
        <p:spPr>
          <a:xfrm>
            <a:off x="516765" y="5298674"/>
            <a:ext cx="0" cy="926635"/>
          </a:xfrm>
          <a:prstGeom prst="line">
            <a:avLst/>
          </a:prstGeom>
          <a:ln w="27432">
            <a:solidFill>
              <a:srgbClr val="9A9A9A"/>
            </a:solidFill>
          </a:ln>
          <a:effectLst/>
        </p:spPr>
      </p:cxnSp>
      <p:sp>
        <p:nvSpPr>
          <p:cNvPr id="109" name="TextBox 108"/>
          <p:cNvSpPr txBox="1"/>
          <p:nvPr/>
        </p:nvSpPr>
        <p:spPr>
          <a:xfrm>
            <a:off x="667679" y="5411001"/>
            <a:ext cx="4809485" cy="554949"/>
          </a:xfrm>
          <a:prstGeom prst="rect">
            <a:avLst/>
          </a:prstGeom>
          <a:noFill/>
        </p:spPr>
        <p:txBody>
          <a:bodyPr wrap="square" lIns="0" tIns="0" rIns="0" bIns="0" anchor="t">
            <a:noAutofit/>
          </a:bodyPr>
          <a:lstStyle/>
          <a:p>
            <a:pPr marL="0" marR="0" lvl="0" indent="0" algn="l" defTabSz="457200" rtl="0" eaLnBrk="1" fontAlgn="auto" latinLnBrk="0" hangingPunct="1">
              <a:lnSpc>
                <a:spcPts val="1409"/>
              </a:lnSpc>
              <a:spcBef>
                <a:spcPts val="0"/>
              </a:spcBef>
              <a:spcAft>
                <a:spcPts val="0"/>
              </a:spcAft>
              <a:buClrTx/>
              <a:buSzTx/>
              <a:buFontTx/>
              <a:buNone/>
              <a:tabLst/>
              <a:defRPr/>
            </a:pPr>
            <a:r>
              <a:rPr kumimoji="0" sz="1000" b="1" i="0" u="none" strike="noStrike" kern="1200" cap="none" spc="0" normalizeH="0" baseline="0" noProof="0">
                <a:ln>
                  <a:noFill/>
                </a:ln>
                <a:solidFill>
                  <a:srgbClr val="232422"/>
                </a:solidFill>
                <a:effectLst/>
                <a:uLnTx/>
                <a:uFillTx/>
                <a:latin typeface="Fira Sans"/>
                <a:ea typeface="+mn-ea"/>
                <a:cs typeface="+mn-cs"/>
              </a:rPr>
              <a:t>On the name:</a:t>
            </a:r>
            <a:r>
              <a:rPr kumimoji="0" sz="1000" b="0" i="0" u="none" strike="noStrike" kern="1200" cap="none" spc="0" normalizeH="0" baseline="0" noProof="0">
                <a:ln>
                  <a:noFill/>
                </a:ln>
                <a:solidFill>
                  <a:srgbClr val="232422"/>
                </a:solidFill>
                <a:effectLst/>
                <a:uLnTx/>
                <a:uFillTx/>
                <a:latin typeface="Fira Sans"/>
                <a:ea typeface="+mn-ea"/>
                <a:cs typeface="+mn-cs"/>
              </a:rPr>
              <a:t> Private Client is the working label</a:t>
            </a:r>
            <a:r>
              <a:rPr kumimoji="0" lang="en-US" sz="1000" b="0" i="0" u="none" strike="noStrike" kern="1200" cap="none" spc="0" normalizeH="0" baseline="0" noProof="0">
                <a:ln>
                  <a:noFill/>
                </a:ln>
                <a:solidFill>
                  <a:srgbClr val="232422"/>
                </a:solidFill>
                <a:effectLst/>
                <a:uLnTx/>
                <a:uFillTx/>
                <a:latin typeface="Fira Sans"/>
                <a:ea typeface="+mn-ea"/>
                <a:cs typeface="+mn-cs"/>
              </a:rPr>
              <a:t>. The choice to make: </a:t>
            </a:r>
          </a:p>
          <a:p>
            <a:pPr marL="171450" marR="0" lvl="0" indent="-171450" algn="l" defTabSz="457200" rtl="0" eaLnBrk="1" fontAlgn="auto" latinLnBrk="0" hangingPunct="1">
              <a:lnSpc>
                <a:spcPts val="1409"/>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Use Private Client for both the level and service</a:t>
            </a:r>
          </a:p>
          <a:p>
            <a:pPr marL="171450" marR="0" lvl="0" indent="-171450" algn="l" defTabSz="457200" rtl="0" eaLnBrk="1" fontAlgn="auto" latinLnBrk="0" hangingPunct="1">
              <a:lnSpc>
                <a:spcPts val="1409"/>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Extend the name, as Citi does with </a:t>
            </a:r>
            <a:r>
              <a:rPr kumimoji="0" lang="en-US" sz="1000" b="0" i="0" u="none" strike="noStrike" kern="1200" cap="none" spc="0" normalizeH="0" baseline="0" noProof="0" err="1">
                <a:ln>
                  <a:noFill/>
                </a:ln>
                <a:solidFill>
                  <a:srgbClr val="232422"/>
                </a:solidFill>
                <a:effectLst/>
                <a:uLnTx/>
                <a:uFillTx/>
                <a:latin typeface="Fira Sans"/>
                <a:ea typeface="+mn-ea"/>
                <a:cs typeface="+mn-cs"/>
              </a:rPr>
              <a:t>Citigold</a:t>
            </a:r>
            <a:r>
              <a:rPr kumimoji="0" lang="en-US" sz="1000" b="0" i="0" u="none" strike="noStrike" kern="1200" cap="none" spc="0" normalizeH="0" baseline="0" noProof="0">
                <a:ln>
                  <a:noFill/>
                </a:ln>
                <a:solidFill>
                  <a:srgbClr val="232422"/>
                </a:solidFill>
                <a:effectLst/>
                <a:uLnTx/>
                <a:uFillTx/>
                <a:latin typeface="Fira Sans"/>
                <a:ea typeface="+mn-ea"/>
                <a:cs typeface="+mn-cs"/>
              </a:rPr>
              <a:t> Private Client</a:t>
            </a:r>
          </a:p>
          <a:p>
            <a:pPr marL="171450" marR="0" lvl="0" indent="-171450" algn="l" defTabSz="457200" rtl="0" eaLnBrk="1" fontAlgn="auto" latinLnBrk="0" hangingPunct="1">
              <a:lnSpc>
                <a:spcPts val="1409"/>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232422"/>
                </a:solidFill>
                <a:effectLst/>
                <a:uLnTx/>
                <a:uFillTx/>
                <a:latin typeface="Fira Sans"/>
                <a:ea typeface="+mn-ea"/>
                <a:cs typeface="+mn-cs"/>
              </a:rPr>
              <a:t>Give the level another name and reserve Private Client for the service</a:t>
            </a:r>
          </a:p>
        </p:txBody>
      </p:sp>
      <p:sp>
        <p:nvSpPr>
          <p:cNvPr id="110" name="TextBox 109"/>
          <p:cNvSpPr txBox="1"/>
          <p:nvPr/>
        </p:nvSpPr>
        <p:spPr>
          <a:xfrm>
            <a:off x="6219475" y="2039112"/>
            <a:ext cx="1813800"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108" normalizeH="0" baseline="0" noProof="0">
                <a:ln>
                  <a:noFill/>
                </a:ln>
                <a:solidFill>
                  <a:srgbClr val="8F5C20"/>
                </a:solidFill>
                <a:effectLst/>
                <a:uLnTx/>
                <a:uFillTx/>
                <a:latin typeface="Fira Sans"/>
                <a:ea typeface="+mn-ea"/>
                <a:cs typeface="+mn-cs"/>
              </a:rPr>
              <a:t>THE </a:t>
            </a:r>
            <a:r>
              <a:rPr kumimoji="0" lang="en-US" sz="950" b="1" i="0" u="none" strike="noStrike" kern="1200" cap="none" spc="108" normalizeH="0" baseline="0" noProof="0">
                <a:ln>
                  <a:noFill/>
                </a:ln>
                <a:solidFill>
                  <a:srgbClr val="8F5C20"/>
                </a:solidFill>
                <a:effectLst/>
                <a:uLnTx/>
                <a:uFillTx/>
                <a:latin typeface="Fira Sans"/>
                <a:ea typeface="+mn-ea"/>
                <a:cs typeface="+mn-cs"/>
              </a:rPr>
              <a:t>CURRENT </a:t>
            </a:r>
            <a:r>
              <a:rPr kumimoji="0" sz="950" b="1" i="0" u="none" strike="noStrike" kern="1200" cap="none" spc="108" normalizeH="0" baseline="0" noProof="0">
                <a:ln>
                  <a:noFill/>
                </a:ln>
                <a:solidFill>
                  <a:srgbClr val="8F5C20"/>
                </a:solidFill>
                <a:effectLst/>
                <a:uLnTx/>
                <a:uFillTx/>
                <a:latin typeface="Fira Sans"/>
                <a:ea typeface="+mn-ea"/>
                <a:cs typeface="+mn-cs"/>
              </a:rPr>
              <a:t>DECISION AT THE TOP</a:t>
            </a:r>
          </a:p>
        </p:txBody>
      </p:sp>
      <p:sp>
        <p:nvSpPr>
          <p:cNvPr id="111" name="Rounded Rectangle 110"/>
          <p:cNvSpPr/>
          <p:nvPr/>
        </p:nvSpPr>
        <p:spPr>
          <a:xfrm>
            <a:off x="6219475" y="2304288"/>
            <a:ext cx="1646332" cy="402336"/>
          </a:xfrm>
          <a:prstGeom prst="roundRect">
            <a:avLst>
              <a:gd name="adj" fmla="val 18181"/>
            </a:avLst>
          </a:prstGeom>
          <a:solidFill>
            <a:srgbClr val="FFFFFF"/>
          </a:solidFill>
          <a:ln w="10972">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2" name="TextBox 111"/>
          <p:cNvSpPr txBox="1"/>
          <p:nvPr/>
        </p:nvSpPr>
        <p:spPr>
          <a:xfrm>
            <a:off x="6655478" y="2350008"/>
            <a:ext cx="77432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Any checking</a:t>
            </a:r>
          </a:p>
        </p:txBody>
      </p:sp>
      <p:sp>
        <p:nvSpPr>
          <p:cNvPr id="113" name="TextBox 112"/>
          <p:cNvSpPr txBox="1"/>
          <p:nvPr/>
        </p:nvSpPr>
        <p:spPr>
          <a:xfrm>
            <a:off x="6794776" y="2496312"/>
            <a:ext cx="495729"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product</a:t>
            </a:r>
          </a:p>
        </p:txBody>
      </p:sp>
      <p:sp>
        <p:nvSpPr>
          <p:cNvPr id="114" name="TextBox 113"/>
          <p:cNvSpPr txBox="1"/>
          <p:nvPr/>
        </p:nvSpPr>
        <p:spPr>
          <a:xfrm>
            <a:off x="7881904" y="2386584"/>
            <a:ext cx="150731" cy="228600"/>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8A7351"/>
                </a:solidFill>
                <a:effectLst/>
                <a:uLnTx/>
                <a:uFillTx/>
                <a:latin typeface="Fira Sans"/>
                <a:ea typeface="+mn-ea"/>
                <a:cs typeface="+mn-cs"/>
              </a:rPr>
              <a:t>+</a:t>
            </a:r>
          </a:p>
        </p:txBody>
      </p:sp>
      <p:sp>
        <p:nvSpPr>
          <p:cNvPr id="115" name="Rounded Rectangle 114"/>
          <p:cNvSpPr/>
          <p:nvPr/>
        </p:nvSpPr>
        <p:spPr>
          <a:xfrm>
            <a:off x="8048732" y="2304288"/>
            <a:ext cx="1737794" cy="402336"/>
          </a:xfrm>
          <a:prstGeom prst="roundRect">
            <a:avLst>
              <a:gd name="adj" fmla="val 18181"/>
            </a:avLst>
          </a:prstGeom>
          <a:solidFill>
            <a:srgbClr val="FFFFFF"/>
          </a:solidFill>
          <a:ln w="1188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6" name="TextBox 115"/>
          <p:cNvSpPr txBox="1"/>
          <p:nvPr/>
        </p:nvSpPr>
        <p:spPr>
          <a:xfrm>
            <a:off x="8357602" y="2350008"/>
            <a:ext cx="1120054"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F5C20"/>
                </a:solidFill>
                <a:effectLst/>
                <a:uLnTx/>
                <a:uFillTx/>
                <a:latin typeface="Fira Sans"/>
                <a:ea typeface="+mn-ea"/>
                <a:cs typeface="+mn-cs"/>
              </a:rPr>
              <a:t>$200,000 combined</a:t>
            </a:r>
          </a:p>
        </p:txBody>
      </p:sp>
      <p:sp>
        <p:nvSpPr>
          <p:cNvPr id="117" name="TextBox 116"/>
          <p:cNvSpPr txBox="1"/>
          <p:nvPr/>
        </p:nvSpPr>
        <p:spPr>
          <a:xfrm>
            <a:off x="8642875" y="2496312"/>
            <a:ext cx="549509"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F5C20"/>
                </a:solidFill>
                <a:effectLst/>
                <a:uLnTx/>
                <a:uFillTx/>
                <a:latin typeface="Fira Sans"/>
                <a:ea typeface="+mn-ea"/>
                <a:cs typeface="+mn-cs"/>
              </a:rPr>
              <a:t>balances</a:t>
            </a:r>
          </a:p>
        </p:txBody>
      </p:sp>
      <p:cxnSp>
        <p:nvCxnSpPr>
          <p:cNvPr id="118" name="Connector 117"/>
          <p:cNvCxnSpPr/>
          <p:nvPr/>
        </p:nvCxnSpPr>
        <p:spPr>
          <a:xfrm>
            <a:off x="9786527" y="2505456"/>
            <a:ext cx="310973" cy="0"/>
          </a:xfrm>
          <a:prstGeom prst="line">
            <a:avLst/>
          </a:prstGeom>
          <a:ln w="14630">
            <a:solidFill>
              <a:srgbClr val="B0742F"/>
            </a:solidFill>
          </a:ln>
          <a:effectLst/>
        </p:spPr>
      </p:cxnSp>
      <p:sp>
        <p:nvSpPr>
          <p:cNvPr id="2" name="Freeform 1"/>
          <p:cNvSpPr/>
          <p:nvPr/>
        </p:nvSpPr>
        <p:spPr>
          <a:xfrm>
            <a:off x="10051769" y="2460193"/>
            <a:ext cx="82317" cy="90526"/>
          </a:xfrm>
          <a:custGeom>
            <a:avLst/>
            <a:gdLst/>
            <a:ahLst/>
            <a:cxnLst/>
            <a:rect l="l" t="t" r="r" b="b"/>
            <a:pathLst>
              <a:path w="82317" h="90526">
                <a:moveTo>
                  <a:pt x="82317" y="45263"/>
                </a:moveTo>
                <a:lnTo>
                  <a:pt x="823" y="0"/>
                </a:lnTo>
                <a:lnTo>
                  <a:pt x="0" y="80193"/>
                </a:lnTo>
                <a:lnTo>
                  <a:pt x="823" y="90526"/>
                </a:lnTo>
                <a:lnTo>
                  <a:pt x="82317" y="45263"/>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9" name="Rounded Rectangle 118"/>
          <p:cNvSpPr/>
          <p:nvPr/>
        </p:nvSpPr>
        <p:spPr>
          <a:xfrm>
            <a:off x="10170671" y="2304288"/>
            <a:ext cx="1518284" cy="402336"/>
          </a:xfrm>
          <a:prstGeom prst="roundRect">
            <a:avLst>
              <a:gd name="adj" fmla="val 18181"/>
            </a:avLst>
          </a:prstGeom>
          <a:solidFill>
            <a:srgbClr val="F6EAD6"/>
          </a:solidFill>
          <a:ln w="13716">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0" name="TextBox 119"/>
          <p:cNvSpPr txBox="1"/>
          <p:nvPr/>
        </p:nvSpPr>
        <p:spPr>
          <a:xfrm>
            <a:off x="10509083" y="2350008"/>
            <a:ext cx="841458"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F5C20"/>
                </a:solidFill>
                <a:effectLst/>
                <a:uLnTx/>
                <a:uFillTx/>
                <a:latin typeface="Fira Sans"/>
                <a:ea typeface="+mn-ea"/>
                <a:cs typeface="+mn-cs"/>
              </a:rPr>
              <a:t>Private Client*</a:t>
            </a:r>
          </a:p>
        </p:txBody>
      </p:sp>
      <p:sp>
        <p:nvSpPr>
          <p:cNvPr id="121" name="TextBox 120"/>
          <p:cNvSpPr txBox="1"/>
          <p:nvPr/>
        </p:nvSpPr>
        <p:spPr>
          <a:xfrm>
            <a:off x="10475425" y="2496312"/>
            <a:ext cx="90877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F5C20"/>
                </a:solidFill>
                <a:effectLst/>
                <a:uLnTx/>
                <a:uFillTx/>
                <a:latin typeface="Fira Sans"/>
                <a:ea typeface="+mn-ea"/>
                <a:cs typeface="+mn-cs"/>
              </a:rPr>
              <a:t>status + service</a:t>
            </a:r>
          </a:p>
        </p:txBody>
      </p:sp>
      <p:sp>
        <p:nvSpPr>
          <p:cNvPr id="122" name="TextBox 121"/>
          <p:cNvSpPr txBox="1"/>
          <p:nvPr/>
        </p:nvSpPr>
        <p:spPr>
          <a:xfrm>
            <a:off x="6950035" y="2889504"/>
            <a:ext cx="400836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A7351"/>
                </a:solidFill>
                <a:effectLst/>
                <a:uLnTx/>
                <a:uFillTx/>
                <a:latin typeface="Fira Sans"/>
                <a:ea typeface="+mn-ea"/>
                <a:cs typeface="+mn-cs"/>
              </a:rPr>
              <a:t>decided direction: balances set Private Client, from any checking product</a:t>
            </a:r>
          </a:p>
        </p:txBody>
      </p:sp>
      <p:cxnSp>
        <p:nvCxnSpPr>
          <p:cNvPr id="123" name="Connector 122"/>
          <p:cNvCxnSpPr/>
          <p:nvPr/>
        </p:nvCxnSpPr>
        <p:spPr>
          <a:xfrm>
            <a:off x="6219475" y="3236976"/>
            <a:ext cx="5469479" cy="0"/>
          </a:xfrm>
          <a:prstGeom prst="line">
            <a:avLst/>
          </a:prstGeom>
          <a:ln w="9144">
            <a:solidFill>
              <a:srgbClr val="DCCFBB"/>
            </a:solidFill>
          </a:ln>
          <a:effectLst/>
        </p:spPr>
      </p:cxnSp>
      <p:sp>
        <p:nvSpPr>
          <p:cNvPr id="124" name="TextBox 123"/>
          <p:cNvSpPr txBox="1"/>
          <p:nvPr/>
        </p:nvSpPr>
        <p:spPr>
          <a:xfrm>
            <a:off x="6219475" y="3355848"/>
            <a:ext cx="1871696"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108" normalizeH="0" baseline="0" noProof="0">
                <a:ln>
                  <a:noFill/>
                </a:ln>
                <a:solidFill>
                  <a:srgbClr val="8F5C20"/>
                </a:solidFill>
                <a:effectLst/>
                <a:uLnTx/>
                <a:uFillTx/>
                <a:latin typeface="Fira Sans"/>
                <a:ea typeface="+mn-ea"/>
                <a:cs typeface="+mn-cs"/>
              </a:rPr>
              <a:t>EXTENDED TO EVERY LEVEL</a:t>
            </a:r>
          </a:p>
        </p:txBody>
      </p:sp>
      <p:sp>
        <p:nvSpPr>
          <p:cNvPr id="125" name="Rounded Rectangle 124"/>
          <p:cNvSpPr/>
          <p:nvPr/>
        </p:nvSpPr>
        <p:spPr>
          <a:xfrm>
            <a:off x="6219475" y="3639312"/>
            <a:ext cx="1646332" cy="365760"/>
          </a:xfrm>
          <a:prstGeom prst="roundRect">
            <a:avLst>
              <a:gd name="adj" fmla="val 17500"/>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6" name="TextBox 125"/>
          <p:cNvSpPr txBox="1"/>
          <p:nvPr/>
        </p:nvSpPr>
        <p:spPr>
          <a:xfrm>
            <a:off x="6613588" y="3730752"/>
            <a:ext cx="85810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Entry checking</a:t>
            </a:r>
          </a:p>
        </p:txBody>
      </p:sp>
      <p:sp>
        <p:nvSpPr>
          <p:cNvPr id="127" name="Rounded Rectangle 126"/>
          <p:cNvSpPr/>
          <p:nvPr/>
        </p:nvSpPr>
        <p:spPr>
          <a:xfrm>
            <a:off x="8131049" y="3639312"/>
            <a:ext cx="1646332" cy="365760"/>
          </a:xfrm>
          <a:prstGeom prst="roundRect">
            <a:avLst>
              <a:gd name="adj" fmla="val 17500"/>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8" name="TextBox 127"/>
          <p:cNvSpPr txBox="1"/>
          <p:nvPr/>
        </p:nvSpPr>
        <p:spPr>
          <a:xfrm>
            <a:off x="8566229" y="3730752"/>
            <a:ext cx="775971"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Mid checking</a:t>
            </a:r>
          </a:p>
        </p:txBody>
      </p:sp>
      <p:sp>
        <p:nvSpPr>
          <p:cNvPr id="129" name="Rounded Rectangle 128"/>
          <p:cNvSpPr/>
          <p:nvPr/>
        </p:nvSpPr>
        <p:spPr>
          <a:xfrm>
            <a:off x="10042623" y="3639312"/>
            <a:ext cx="1646332" cy="365760"/>
          </a:xfrm>
          <a:prstGeom prst="roundRect">
            <a:avLst>
              <a:gd name="adj" fmla="val 17500"/>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0" name="TextBox 129"/>
          <p:cNvSpPr txBox="1"/>
          <p:nvPr/>
        </p:nvSpPr>
        <p:spPr>
          <a:xfrm>
            <a:off x="10336218" y="3730752"/>
            <a:ext cx="105914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Premium checking</a:t>
            </a:r>
          </a:p>
        </p:txBody>
      </p:sp>
      <p:sp>
        <p:nvSpPr>
          <p:cNvPr id="3" name="Freeform 2"/>
          <p:cNvSpPr/>
          <p:nvPr/>
        </p:nvSpPr>
        <p:spPr>
          <a:xfrm>
            <a:off x="7042641" y="4005072"/>
            <a:ext cx="1463406" cy="384048"/>
          </a:xfrm>
          <a:custGeom>
            <a:avLst/>
            <a:gdLst/>
            <a:ahLst/>
            <a:cxnLst/>
            <a:rect l="l" t="t" r="r" b="b"/>
            <a:pathLst>
              <a:path w="1463406" h="384048">
                <a:moveTo>
                  <a:pt x="0" y="0"/>
                </a:moveTo>
                <a:lnTo>
                  <a:pt x="1920" y="18014"/>
                </a:lnTo>
                <a:lnTo>
                  <a:pt x="7317" y="35296"/>
                </a:lnTo>
                <a:lnTo>
                  <a:pt x="15823" y="51389"/>
                </a:lnTo>
                <a:lnTo>
                  <a:pt x="38780" y="79370"/>
                </a:lnTo>
                <a:lnTo>
                  <a:pt x="66493" y="102779"/>
                </a:lnTo>
                <a:lnTo>
                  <a:pt x="96859" y="122712"/>
                </a:lnTo>
                <a:lnTo>
                  <a:pt x="145151" y="147950"/>
                </a:lnTo>
                <a:lnTo>
                  <a:pt x="212194" y="175931"/>
                </a:lnTo>
                <a:lnTo>
                  <a:pt x="298260" y="204734"/>
                </a:lnTo>
                <a:lnTo>
                  <a:pt x="403442" y="233355"/>
                </a:lnTo>
                <a:lnTo>
                  <a:pt x="527466" y="261244"/>
                </a:lnTo>
                <a:lnTo>
                  <a:pt x="670240" y="288127"/>
                </a:lnTo>
                <a:lnTo>
                  <a:pt x="849690" y="316200"/>
                </a:lnTo>
                <a:lnTo>
                  <a:pt x="1047798" y="341986"/>
                </a:lnTo>
                <a:lnTo>
                  <a:pt x="1282492" y="367406"/>
                </a:lnTo>
                <a:lnTo>
                  <a:pt x="1463406" y="384048"/>
                </a:lnTo>
              </a:path>
            </a:pathLst>
          </a:custGeom>
          <a:noFill/>
          <a:ln w="14630">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3"/>
          <p:cNvSpPr/>
          <p:nvPr/>
        </p:nvSpPr>
        <p:spPr>
          <a:xfrm>
            <a:off x="8452632" y="4353276"/>
            <a:ext cx="90000" cy="80010"/>
          </a:xfrm>
          <a:custGeom>
            <a:avLst/>
            <a:gdLst/>
            <a:ahLst/>
            <a:cxnLst/>
            <a:rect l="l" t="t" r="r" b="b"/>
            <a:pathLst>
              <a:path w="90000" h="80010">
                <a:moveTo>
                  <a:pt x="90000" y="44988"/>
                </a:moveTo>
                <a:lnTo>
                  <a:pt x="0" y="0"/>
                </a:lnTo>
                <a:lnTo>
                  <a:pt x="15183" y="74066"/>
                </a:lnTo>
                <a:lnTo>
                  <a:pt x="19939" y="80010"/>
                </a:lnTo>
                <a:lnTo>
                  <a:pt x="90000" y="44988"/>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31" name="Connector 130"/>
          <p:cNvCxnSpPr/>
          <p:nvPr/>
        </p:nvCxnSpPr>
        <p:spPr>
          <a:xfrm>
            <a:off x="8954215" y="4005072"/>
            <a:ext cx="0" cy="347472"/>
          </a:xfrm>
          <a:prstGeom prst="line">
            <a:avLst/>
          </a:prstGeom>
          <a:ln w="14630">
            <a:solidFill>
              <a:srgbClr val="B0742F"/>
            </a:solidFill>
          </a:ln>
          <a:effectLst/>
        </p:spPr>
      </p:cxnSp>
      <p:sp>
        <p:nvSpPr>
          <p:cNvPr id="5" name="Freeform 4"/>
          <p:cNvSpPr/>
          <p:nvPr/>
        </p:nvSpPr>
        <p:spPr>
          <a:xfrm>
            <a:off x="8908940" y="4306824"/>
            <a:ext cx="90549" cy="82296"/>
          </a:xfrm>
          <a:custGeom>
            <a:avLst/>
            <a:gdLst/>
            <a:ahLst/>
            <a:cxnLst/>
            <a:rect l="l" t="t" r="r" b="b"/>
            <a:pathLst>
              <a:path w="90549" h="82296">
                <a:moveTo>
                  <a:pt x="45275" y="82296"/>
                </a:moveTo>
                <a:lnTo>
                  <a:pt x="0" y="823"/>
                </a:lnTo>
                <a:lnTo>
                  <a:pt x="80213" y="0"/>
                </a:lnTo>
                <a:lnTo>
                  <a:pt x="90549" y="823"/>
                </a:lnTo>
                <a:lnTo>
                  <a:pt x="45275" y="82296"/>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5"/>
          <p:cNvSpPr/>
          <p:nvPr/>
        </p:nvSpPr>
        <p:spPr>
          <a:xfrm>
            <a:off x="9402383" y="4005072"/>
            <a:ext cx="1463405" cy="384048"/>
          </a:xfrm>
          <a:custGeom>
            <a:avLst/>
            <a:gdLst/>
            <a:ahLst/>
            <a:cxnLst/>
            <a:rect l="l" t="t" r="r" b="b"/>
            <a:pathLst>
              <a:path w="1463405" h="384048">
                <a:moveTo>
                  <a:pt x="1463405" y="0"/>
                </a:moveTo>
                <a:lnTo>
                  <a:pt x="1461485" y="18014"/>
                </a:lnTo>
                <a:lnTo>
                  <a:pt x="1456088" y="35296"/>
                </a:lnTo>
                <a:lnTo>
                  <a:pt x="1447582" y="51389"/>
                </a:lnTo>
                <a:lnTo>
                  <a:pt x="1424625" y="79370"/>
                </a:lnTo>
                <a:lnTo>
                  <a:pt x="1396912" y="102779"/>
                </a:lnTo>
                <a:lnTo>
                  <a:pt x="1366546" y="122712"/>
                </a:lnTo>
                <a:lnTo>
                  <a:pt x="1318254" y="147950"/>
                </a:lnTo>
                <a:lnTo>
                  <a:pt x="1251212" y="175931"/>
                </a:lnTo>
                <a:lnTo>
                  <a:pt x="1165145" y="204734"/>
                </a:lnTo>
                <a:lnTo>
                  <a:pt x="1059963" y="233355"/>
                </a:lnTo>
                <a:lnTo>
                  <a:pt x="935939" y="261244"/>
                </a:lnTo>
                <a:lnTo>
                  <a:pt x="793166" y="288127"/>
                </a:lnTo>
                <a:lnTo>
                  <a:pt x="613715" y="316200"/>
                </a:lnTo>
                <a:lnTo>
                  <a:pt x="415607" y="341986"/>
                </a:lnTo>
                <a:lnTo>
                  <a:pt x="180913" y="367406"/>
                </a:lnTo>
                <a:lnTo>
                  <a:pt x="0" y="384048"/>
                </a:lnTo>
              </a:path>
            </a:pathLst>
          </a:custGeom>
          <a:noFill/>
          <a:ln w="14630">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6"/>
          <p:cNvSpPr/>
          <p:nvPr/>
        </p:nvSpPr>
        <p:spPr>
          <a:xfrm>
            <a:off x="9365797" y="4353276"/>
            <a:ext cx="90000" cy="80010"/>
          </a:xfrm>
          <a:custGeom>
            <a:avLst/>
            <a:gdLst/>
            <a:ahLst/>
            <a:cxnLst/>
            <a:rect l="l" t="t" r="r" b="b"/>
            <a:pathLst>
              <a:path w="90000" h="80010">
                <a:moveTo>
                  <a:pt x="0" y="44988"/>
                </a:moveTo>
                <a:lnTo>
                  <a:pt x="90000" y="0"/>
                </a:lnTo>
                <a:lnTo>
                  <a:pt x="74817" y="74066"/>
                </a:lnTo>
                <a:lnTo>
                  <a:pt x="70061" y="80010"/>
                </a:lnTo>
                <a:lnTo>
                  <a:pt x="0" y="44988"/>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2" name="Rounded Rectangle 131"/>
          <p:cNvSpPr/>
          <p:nvPr/>
        </p:nvSpPr>
        <p:spPr>
          <a:xfrm>
            <a:off x="7719466" y="4425696"/>
            <a:ext cx="2469497" cy="365760"/>
          </a:xfrm>
          <a:prstGeom prst="roundRect">
            <a:avLst>
              <a:gd name="adj" fmla="val 20000"/>
            </a:avLst>
          </a:prstGeom>
          <a:solidFill>
            <a:srgbClr val="FFFFFF"/>
          </a:solidFill>
          <a:ln w="12801">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3" name="TextBox 132"/>
          <p:cNvSpPr txBox="1"/>
          <p:nvPr/>
        </p:nvSpPr>
        <p:spPr>
          <a:xfrm>
            <a:off x="8176231" y="4517136"/>
            <a:ext cx="1555966"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F5C20"/>
                </a:solidFill>
                <a:effectLst/>
                <a:uLnTx/>
                <a:uFillTx/>
                <a:latin typeface="Fira Sans"/>
                <a:ea typeface="+mn-ea"/>
                <a:cs typeface="+mn-cs"/>
              </a:rPr>
              <a:t>Combined eligible balances</a:t>
            </a:r>
          </a:p>
        </p:txBody>
      </p:sp>
      <p:cxnSp>
        <p:nvCxnSpPr>
          <p:cNvPr id="134" name="Connector 133"/>
          <p:cNvCxnSpPr/>
          <p:nvPr/>
        </p:nvCxnSpPr>
        <p:spPr>
          <a:xfrm>
            <a:off x="8954215" y="4791456"/>
            <a:ext cx="0" cy="219456"/>
          </a:xfrm>
          <a:prstGeom prst="line">
            <a:avLst/>
          </a:prstGeom>
          <a:ln w="14630">
            <a:solidFill>
              <a:srgbClr val="B0742F"/>
            </a:solidFill>
          </a:ln>
          <a:effectLst/>
        </p:spPr>
      </p:cxnSp>
      <p:sp>
        <p:nvSpPr>
          <p:cNvPr id="8" name="Freeform 7"/>
          <p:cNvSpPr/>
          <p:nvPr/>
        </p:nvSpPr>
        <p:spPr>
          <a:xfrm>
            <a:off x="8908940" y="4965192"/>
            <a:ext cx="90549" cy="82296"/>
          </a:xfrm>
          <a:custGeom>
            <a:avLst/>
            <a:gdLst/>
            <a:ahLst/>
            <a:cxnLst/>
            <a:rect l="l" t="t" r="r" b="b"/>
            <a:pathLst>
              <a:path w="90549" h="82296">
                <a:moveTo>
                  <a:pt x="45275" y="82296"/>
                </a:moveTo>
                <a:lnTo>
                  <a:pt x="0" y="823"/>
                </a:lnTo>
                <a:lnTo>
                  <a:pt x="80213" y="0"/>
                </a:lnTo>
                <a:lnTo>
                  <a:pt x="90549" y="823"/>
                </a:lnTo>
                <a:lnTo>
                  <a:pt x="45275" y="82296"/>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5" name="Rounded Rectangle 134"/>
          <p:cNvSpPr/>
          <p:nvPr/>
        </p:nvSpPr>
        <p:spPr>
          <a:xfrm>
            <a:off x="6219475" y="5084064"/>
            <a:ext cx="5469479" cy="512064"/>
          </a:xfrm>
          <a:prstGeom prst="roundRect">
            <a:avLst>
              <a:gd name="adj" fmla="val 16071"/>
            </a:avLst>
          </a:prstGeom>
          <a:solidFill>
            <a:srgbClr val="F6EAD6"/>
          </a:solidFill>
          <a:ln w="14630">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6" name="TextBox 135"/>
          <p:cNvSpPr txBox="1"/>
          <p:nvPr/>
        </p:nvSpPr>
        <p:spPr>
          <a:xfrm>
            <a:off x="8173670" y="5157216"/>
            <a:ext cx="1561088" cy="192024"/>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8F5C20"/>
                </a:solidFill>
                <a:effectLst/>
                <a:uLnTx/>
                <a:uFillTx/>
                <a:latin typeface="Fira Sans"/>
                <a:ea typeface="+mn-ea"/>
                <a:cs typeface="+mn-cs"/>
              </a:rPr>
              <a:t>L1</a:t>
            </a:r>
            <a:r>
              <a:rPr kumimoji="0" sz="950" b="1" i="0" u="none" strike="noStrike" kern="1200" cap="none" spc="0" normalizeH="0" baseline="0" noProof="0">
                <a:ln>
                  <a:noFill/>
                </a:ln>
                <a:solidFill>
                  <a:srgbClr val="8F5C20"/>
                </a:solidFill>
                <a:effectLst/>
                <a:uLnTx/>
                <a:uFillTx/>
                <a:latin typeface="Fira Sans"/>
                <a:ea typeface="+mn-ea"/>
                <a:cs typeface="+mn-cs"/>
              </a:rPr>
              <a:t> ·</a:t>
            </a:r>
            <a:r>
              <a:rPr kumimoji="0" lang="en-US" sz="950" b="1" i="0" u="none" strike="noStrike" kern="1200" cap="none" spc="0" normalizeH="0" baseline="0" noProof="0">
                <a:ln>
                  <a:noFill/>
                </a:ln>
                <a:solidFill>
                  <a:srgbClr val="8F5C20"/>
                </a:solidFill>
                <a:effectLst/>
                <a:uLnTx/>
                <a:uFillTx/>
                <a:latin typeface="Fira Sans"/>
                <a:ea typeface="+mn-ea"/>
                <a:cs typeface="+mn-cs"/>
              </a:rPr>
              <a:t> L2</a:t>
            </a:r>
            <a:r>
              <a:rPr kumimoji="0" sz="950" b="1" i="0" u="none" strike="noStrike" kern="1200" cap="none" spc="0" normalizeH="0" baseline="0" noProof="0">
                <a:ln>
                  <a:noFill/>
                </a:ln>
                <a:solidFill>
                  <a:srgbClr val="8F5C20"/>
                </a:solidFill>
                <a:effectLst/>
                <a:uLnTx/>
                <a:uFillTx/>
                <a:latin typeface="Fira Sans"/>
                <a:ea typeface="+mn-ea"/>
                <a:cs typeface="+mn-cs"/>
              </a:rPr>
              <a:t> · </a:t>
            </a:r>
            <a:r>
              <a:rPr kumimoji="0" lang="en-US" sz="950" b="1" i="0" u="none" strike="noStrike" kern="1200" cap="none" spc="0" normalizeH="0" baseline="0" noProof="0">
                <a:ln>
                  <a:noFill/>
                </a:ln>
                <a:solidFill>
                  <a:srgbClr val="8F5C20"/>
                </a:solidFill>
                <a:effectLst/>
                <a:uLnTx/>
                <a:uFillTx/>
                <a:latin typeface="Fira Sans"/>
                <a:ea typeface="+mn-ea"/>
                <a:cs typeface="+mn-cs"/>
              </a:rPr>
              <a:t>L3 (Private Client</a:t>
            </a:r>
            <a:r>
              <a:rPr kumimoji="0" sz="950" b="1" i="0" u="none" strike="noStrike" kern="1200" cap="none" spc="0" normalizeH="0" baseline="0" noProof="0">
                <a:ln>
                  <a:noFill/>
                </a:ln>
                <a:solidFill>
                  <a:srgbClr val="8F5C20"/>
                </a:solidFill>
                <a:effectLst/>
                <a:uLnTx/>
                <a:uFillTx/>
                <a:latin typeface="Fira Sans"/>
                <a:ea typeface="+mn-ea"/>
                <a:cs typeface="+mn-cs"/>
              </a:rPr>
              <a:t>*</a:t>
            </a:r>
            <a:r>
              <a:rPr kumimoji="0" lang="en-US" sz="950" b="1" i="0" u="none" strike="noStrike" kern="1200" cap="none" spc="0" normalizeH="0" baseline="0" noProof="0">
                <a:ln>
                  <a:noFill/>
                </a:ln>
                <a:solidFill>
                  <a:srgbClr val="8F5C20"/>
                </a:solidFill>
                <a:effectLst/>
                <a:uLnTx/>
                <a:uFillTx/>
                <a:latin typeface="Fira Sans"/>
                <a:ea typeface="+mn-ea"/>
                <a:cs typeface="+mn-cs"/>
              </a:rPr>
              <a:t>)</a:t>
            </a:r>
            <a:endParaRPr kumimoji="0" sz="950" b="1" i="0" u="none" strike="noStrike" kern="1200" cap="none" spc="0" normalizeH="0" baseline="0" noProof="0">
              <a:ln>
                <a:noFill/>
              </a:ln>
              <a:solidFill>
                <a:srgbClr val="8F5C20"/>
              </a:solidFill>
              <a:effectLst/>
              <a:uLnTx/>
              <a:uFillTx/>
              <a:latin typeface="Fira Sans"/>
              <a:ea typeface="+mn-ea"/>
              <a:cs typeface="+mn-cs"/>
            </a:endParaRPr>
          </a:p>
        </p:txBody>
      </p:sp>
      <p:sp>
        <p:nvSpPr>
          <p:cNvPr id="137" name="TextBox 136"/>
          <p:cNvSpPr txBox="1"/>
          <p:nvPr/>
        </p:nvSpPr>
        <p:spPr>
          <a:xfrm>
            <a:off x="7024119" y="5340096"/>
            <a:ext cx="386019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F5C20"/>
                </a:solidFill>
                <a:effectLst/>
                <a:uLnTx/>
                <a:uFillTx/>
                <a:latin typeface="Fira Sans"/>
                <a:ea typeface="+mn-ea"/>
                <a:cs typeface="+mn-cs"/>
              </a:rPr>
              <a:t>one </a:t>
            </a:r>
            <a:r>
              <a:rPr kumimoji="0" lang="en-US" sz="950" b="0" i="1" u="none" strike="noStrike" kern="1200" cap="none" spc="0" normalizeH="0" baseline="0" noProof="0">
                <a:ln>
                  <a:noFill/>
                </a:ln>
                <a:solidFill>
                  <a:srgbClr val="8F5C20"/>
                </a:solidFill>
                <a:effectLst/>
                <a:uLnTx/>
                <a:uFillTx/>
                <a:latin typeface="Fira Sans"/>
                <a:ea typeface="+mn-ea"/>
                <a:cs typeface="+mn-cs"/>
              </a:rPr>
              <a:t>qualification</a:t>
            </a:r>
            <a:r>
              <a:rPr kumimoji="0" sz="950" b="0" i="1" u="none" strike="noStrike" kern="1200" cap="none" spc="0" normalizeH="0" baseline="0" noProof="0">
                <a:ln>
                  <a:noFill/>
                </a:ln>
                <a:solidFill>
                  <a:srgbClr val="8F5C20"/>
                </a:solidFill>
                <a:effectLst/>
                <a:uLnTx/>
                <a:uFillTx/>
                <a:latin typeface="Fira Sans"/>
                <a:ea typeface="+mn-ea"/>
                <a:cs typeface="+mn-cs"/>
              </a:rPr>
              <a:t> </a:t>
            </a:r>
            <a:r>
              <a:rPr kumimoji="0" lang="en-US" sz="950" b="0" i="1" u="none" strike="noStrike" kern="1200" cap="none" spc="0" normalizeH="0" baseline="0" noProof="0">
                <a:ln>
                  <a:noFill/>
                </a:ln>
                <a:solidFill>
                  <a:srgbClr val="8F5C20"/>
                </a:solidFill>
                <a:effectLst/>
                <a:uLnTx/>
                <a:uFillTx/>
                <a:latin typeface="Fira Sans"/>
                <a:ea typeface="+mn-ea"/>
                <a:cs typeface="+mn-cs"/>
              </a:rPr>
              <a:t>rule</a:t>
            </a:r>
            <a:r>
              <a:rPr kumimoji="0" sz="950" b="0" i="1" u="none" strike="noStrike" kern="1200" cap="none" spc="0" normalizeH="0" baseline="0" noProof="0">
                <a:ln>
                  <a:noFill/>
                </a:ln>
                <a:solidFill>
                  <a:srgbClr val="8F5C20"/>
                </a:solidFill>
                <a:effectLst/>
                <a:uLnTx/>
                <a:uFillTx/>
                <a:latin typeface="Fira Sans"/>
                <a:ea typeface="+mn-ea"/>
                <a:cs typeface="+mn-cs"/>
              </a:rPr>
              <a:t>, </a:t>
            </a:r>
            <a:r>
              <a:rPr kumimoji="0" lang="en-US" sz="950" b="0" i="1" u="none" strike="noStrike" kern="1200" cap="none" spc="0" normalizeH="0" baseline="0" noProof="0">
                <a:ln>
                  <a:noFill/>
                </a:ln>
                <a:solidFill>
                  <a:srgbClr val="8F5C20"/>
                </a:solidFill>
                <a:effectLst/>
                <a:uLnTx/>
                <a:uFillTx/>
                <a:latin typeface="Fira Sans"/>
                <a:ea typeface="+mn-ea"/>
                <a:cs typeface="+mn-cs"/>
              </a:rPr>
              <a:t>regardless of the</a:t>
            </a:r>
            <a:r>
              <a:rPr kumimoji="0" sz="950" b="0" i="1" u="none" strike="noStrike" kern="1200" cap="none" spc="0" normalizeH="0" baseline="0" noProof="0">
                <a:ln>
                  <a:noFill/>
                </a:ln>
                <a:solidFill>
                  <a:srgbClr val="8F5C20"/>
                </a:solidFill>
                <a:effectLst/>
                <a:uLnTx/>
                <a:uFillTx/>
                <a:latin typeface="Fira Sans"/>
                <a:ea typeface="+mn-ea"/>
                <a:cs typeface="+mn-cs"/>
              </a:rPr>
              <a:t> checking product the customer holds</a:t>
            </a:r>
          </a:p>
        </p:txBody>
      </p:sp>
      <p:sp>
        <p:nvSpPr>
          <p:cNvPr id="138" name="TextBox 137"/>
          <p:cNvSpPr txBox="1"/>
          <p:nvPr/>
        </p:nvSpPr>
        <p:spPr>
          <a:xfrm>
            <a:off x="6219475" y="5779008"/>
            <a:ext cx="862769" cy="173736"/>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A7351"/>
                </a:solidFill>
                <a:effectLst/>
                <a:uLnTx/>
                <a:uFillTx/>
                <a:latin typeface="Fira Sans"/>
                <a:ea typeface="+mn-ea"/>
                <a:cs typeface="+mn-cs"/>
              </a:rPr>
              <a:t>*working label</a:t>
            </a:r>
          </a:p>
        </p:txBody>
      </p:sp>
      <p:cxnSp>
        <p:nvCxnSpPr>
          <p:cNvPr id="139" name="Connector 138"/>
          <p:cNvCxnSpPr/>
          <p:nvPr/>
        </p:nvCxnSpPr>
        <p:spPr>
          <a:xfrm>
            <a:off x="503046" y="6414516"/>
            <a:ext cx="11185908" cy="0"/>
          </a:xfrm>
          <a:prstGeom prst="line">
            <a:avLst/>
          </a:prstGeom>
          <a:ln w="9144">
            <a:solidFill>
              <a:srgbClr val="DDDBCE"/>
            </a:solidFill>
          </a:ln>
          <a:effectLst/>
        </p:spPr>
      </p:cxnSp>
      <p:sp>
        <p:nvSpPr>
          <p:cNvPr id="140" name="TextBox 139"/>
          <p:cNvSpPr txBox="1"/>
          <p:nvPr/>
        </p:nvSpPr>
        <p:spPr>
          <a:xfrm>
            <a:off x="503046" y="6491373"/>
            <a:ext cx="11688954" cy="160934"/>
          </a:xfrm>
          <a:prstGeom prst="rect">
            <a:avLst/>
          </a:prstGeom>
          <a:noFill/>
        </p:spPr>
        <p:txBody>
          <a:bodyPr wrap="non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Citizens product direction, August 2026 · Citizens published Private Client threshold · Citi and TD published program materials · *working label</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2154408"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WHY BALANCE-LED · 2 OF 3</a:t>
            </a:r>
          </a:p>
        </p:txBody>
      </p:sp>
      <p:sp>
        <p:nvSpPr>
          <p:cNvPr id="92" name="Rounded Rectangle 91"/>
          <p:cNvSpPr/>
          <p:nvPr/>
        </p:nvSpPr>
        <p:spPr>
          <a:xfrm>
            <a:off x="6254322" y="347472"/>
            <a:ext cx="1872702"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1 · Fits decisions already made</a:t>
            </a:r>
          </a:p>
        </p:txBody>
      </p:sp>
      <p:sp>
        <p:nvSpPr>
          <p:cNvPr id="93" name="Rounded Rectangle 92"/>
          <p:cNvSpPr/>
          <p:nvPr/>
        </p:nvSpPr>
        <p:spPr>
          <a:xfrm>
            <a:off x="8191048" y="347472"/>
            <a:ext cx="2109408" cy="219456"/>
          </a:xfrm>
          <a:prstGeom prst="roundRect">
            <a:avLst>
              <a:gd name="adj" fmla="val 50000"/>
            </a:avLst>
          </a:prstGeom>
          <a:solidFill>
            <a:srgbClr val="007651"/>
          </a:solidFill>
          <a:ln w="9144">
            <a:solidFill>
              <a:srgbClr val="007651"/>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a:ea typeface="+mn-ea"/>
                <a:cs typeface="+mn-cs"/>
              </a:rPr>
              <a:t>2 · Serves the key customer groups</a:t>
            </a:r>
          </a:p>
        </p:txBody>
      </p:sp>
      <p:sp>
        <p:nvSpPr>
          <p:cNvPr id="94" name="Rounded Rectangle 93"/>
          <p:cNvSpPr/>
          <p:nvPr/>
        </p:nvSpPr>
        <p:spPr>
          <a:xfrm>
            <a:off x="10364480" y="347472"/>
            <a:ext cx="1324474"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3 · Prepares for 2028</a:t>
            </a:r>
          </a:p>
        </p:txBody>
      </p:sp>
      <p:sp>
        <p:nvSpPr>
          <p:cNvPr id="95" name="TextBox 94"/>
          <p:cNvSpPr txBox="1"/>
          <p:nvPr/>
        </p:nvSpPr>
        <p:spPr>
          <a:xfrm>
            <a:off x="503046" y="743648"/>
            <a:ext cx="9509172"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This ecosystem designs for W</a:t>
            </a:r>
            <a:r>
              <a:rPr kumimoji="0" sz="2900" b="0" i="0" u="none" strike="noStrike" kern="1200" cap="none" spc="-14" normalizeH="0" baseline="0" noProof="0">
                <a:ln>
                  <a:noFill/>
                </a:ln>
                <a:solidFill>
                  <a:srgbClr val="232422"/>
                </a:solidFill>
                <a:effectLst/>
                <a:uLnTx/>
                <a:uFillTx/>
                <a:latin typeface="Fira Sans"/>
                <a:ea typeface="+mn-ea"/>
                <a:cs typeface="+mn-cs"/>
              </a:rPr>
              <a:t>ealth </a:t>
            </a:r>
            <a:r>
              <a:rPr kumimoji="0" lang="en-US" sz="2900" b="0" i="0" u="none" strike="noStrike" kern="1200" cap="none" spc="-14" normalizeH="0" baseline="0" noProof="0">
                <a:ln>
                  <a:noFill/>
                </a:ln>
                <a:solidFill>
                  <a:srgbClr val="232422"/>
                </a:solidFill>
                <a:effectLst/>
                <a:uLnTx/>
                <a:uFillTx/>
                <a:latin typeface="Fira Sans"/>
                <a:ea typeface="+mn-ea"/>
                <a:cs typeface="+mn-cs"/>
              </a:rPr>
              <a:t>B</a:t>
            </a:r>
            <a:r>
              <a:rPr kumimoji="0" sz="2900" b="0" i="0" u="none" strike="noStrike" kern="1200" cap="none" spc="-14" normalizeH="0" baseline="0" noProof="0">
                <a:ln>
                  <a:noFill/>
                </a:ln>
                <a:solidFill>
                  <a:srgbClr val="232422"/>
                </a:solidFill>
                <a:effectLst/>
                <a:uLnTx/>
                <a:uFillTx/>
                <a:latin typeface="Fira Sans"/>
                <a:ea typeface="+mn-ea"/>
                <a:cs typeface="+mn-cs"/>
              </a:rPr>
              <a:t>uilders</a:t>
            </a:r>
            <a:r>
              <a:rPr kumimoji="0" lang="en-US" sz="2900" b="0" i="0" u="none" strike="noStrike" kern="1200" cap="none" spc="-14" normalizeH="0" baseline="0" noProof="0">
                <a:ln>
                  <a:noFill/>
                </a:ln>
                <a:solidFill>
                  <a:srgbClr val="232422"/>
                </a:solidFill>
                <a:effectLst/>
                <a:uLnTx/>
                <a:uFillTx/>
                <a:latin typeface="Fira Sans"/>
                <a:ea typeface="+mn-ea"/>
                <a:cs typeface="+mn-cs"/>
              </a:rPr>
              <a:t>, while serving </a:t>
            </a:r>
            <a:r>
              <a:rPr kumimoji="0" sz="2900" b="0" i="0" u="none" strike="noStrike" kern="1200" cap="none" spc="-14" normalizeH="0" baseline="0" noProof="0">
                <a:ln>
                  <a:noFill/>
                </a:ln>
                <a:solidFill>
                  <a:srgbClr val="232422"/>
                </a:solidFill>
                <a:effectLst/>
                <a:uLnTx/>
                <a:uFillTx/>
                <a:latin typeface="Fira Sans"/>
                <a:ea typeface="+mn-ea"/>
                <a:cs typeface="+mn-cs"/>
              </a:rPr>
              <a:t>the broader affluent and the everyday base</a:t>
            </a:r>
            <a:r>
              <a:rPr kumimoji="0" lang="en-US" sz="2900" b="0" i="0" u="none" strike="noStrike" kern="1200" cap="none" spc="-14" normalizeH="0" baseline="0" noProof="0">
                <a:ln>
                  <a:noFill/>
                </a:ln>
                <a:solidFill>
                  <a:srgbClr val="232422"/>
                </a:solidFill>
                <a:effectLst/>
                <a:uLnTx/>
                <a:uFillTx/>
                <a:latin typeface="Fira Sans"/>
                <a:ea typeface="+mn-ea"/>
                <a:cs typeface="+mn-cs"/>
              </a:rPr>
              <a:t>,</a:t>
            </a:r>
            <a:r>
              <a:rPr kumimoji="0" sz="2900" b="0" i="0" u="none" strike="noStrike" kern="1200" cap="none" spc="-14" normalizeH="0" baseline="0" noProof="0">
                <a:ln>
                  <a:noFill/>
                </a:ln>
                <a:solidFill>
                  <a:srgbClr val="232422"/>
                </a:solidFill>
                <a:effectLst/>
                <a:uLnTx/>
                <a:uFillTx/>
                <a:latin typeface="Fira Sans"/>
                <a:ea typeface="+mn-ea"/>
                <a:cs typeface="+mn-cs"/>
              </a:rPr>
              <a:t> too</a:t>
            </a:r>
          </a:p>
        </p:txBody>
      </p:sp>
      <p:cxnSp>
        <p:nvCxnSpPr>
          <p:cNvPr id="96" name="Connector 95"/>
          <p:cNvCxnSpPr/>
          <p:nvPr/>
        </p:nvCxnSpPr>
        <p:spPr>
          <a:xfrm>
            <a:off x="503046" y="1997964"/>
            <a:ext cx="11185908" cy="0"/>
          </a:xfrm>
          <a:prstGeom prst="line">
            <a:avLst/>
          </a:prstGeom>
          <a:ln w="9144">
            <a:solidFill>
              <a:srgbClr val="DDDBCE"/>
            </a:solidFill>
          </a:ln>
          <a:effectLst/>
        </p:spPr>
      </p:cxnSp>
      <p:sp>
        <p:nvSpPr>
          <p:cNvPr id="97" name="Rectangle 96"/>
          <p:cNvSpPr/>
          <p:nvPr/>
        </p:nvSpPr>
        <p:spPr>
          <a:xfrm>
            <a:off x="539631" y="2433690"/>
            <a:ext cx="45731" cy="82296"/>
          </a:xfrm>
          <a:prstGeom prst="rect">
            <a:avLst/>
          </a:prstGeom>
          <a:noFill/>
          <a:ln w="14630">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Rectangle 97"/>
          <p:cNvSpPr/>
          <p:nvPr/>
        </p:nvSpPr>
        <p:spPr>
          <a:xfrm>
            <a:off x="617374" y="2387970"/>
            <a:ext cx="45731" cy="128016"/>
          </a:xfrm>
          <a:prstGeom prst="rect">
            <a:avLst/>
          </a:prstGeom>
          <a:noFill/>
          <a:ln w="14630">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9" name="Rectangle 98"/>
          <p:cNvSpPr/>
          <p:nvPr/>
        </p:nvSpPr>
        <p:spPr>
          <a:xfrm>
            <a:off x="695118" y="2342250"/>
            <a:ext cx="45731" cy="173736"/>
          </a:xfrm>
          <a:prstGeom prst="rect">
            <a:avLst/>
          </a:prstGeom>
          <a:noFill/>
          <a:ln w="14630">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TextBox 99"/>
          <p:cNvSpPr txBox="1"/>
          <p:nvPr/>
        </p:nvSpPr>
        <p:spPr>
          <a:xfrm>
            <a:off x="503046" y="2605276"/>
            <a:ext cx="2094500"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1" i="0" u="none" strike="noStrike" kern="1200" cap="all" spc="104" normalizeH="0" baseline="0" noProof="0">
                <a:ln>
                  <a:noFill/>
                </a:ln>
                <a:solidFill>
                  <a:srgbClr val="007651"/>
                </a:solidFill>
                <a:effectLst/>
                <a:uLnTx/>
                <a:uFillTx/>
                <a:latin typeface="Fira Sans"/>
                <a:ea typeface="+mn-ea"/>
                <a:cs typeface="+mn-cs"/>
              </a:rPr>
              <a:t>WEALTH BUILDERS</a:t>
            </a:r>
          </a:p>
        </p:txBody>
      </p:sp>
      <p:sp>
        <p:nvSpPr>
          <p:cNvPr id="101" name="TextBox 100"/>
          <p:cNvSpPr txBox="1"/>
          <p:nvPr/>
        </p:nvSpPr>
        <p:spPr>
          <a:xfrm>
            <a:off x="503046" y="2829915"/>
            <a:ext cx="2094500" cy="210312"/>
          </a:xfrm>
          <a:prstGeom prst="rect">
            <a:avLst/>
          </a:prstGeom>
          <a:noFill/>
        </p:spPr>
        <p:txBody>
          <a:bodyPr wrap="none" lIns="0" tIns="0" rIns="0" bIns="0" anchor="t">
            <a:noAutofit/>
          </a:bodyPr>
          <a:lstStyle/>
          <a:p>
            <a:pPr marL="0" marR="0" lvl="0" indent="0" algn="l" defTabSz="457200" rtl="0" eaLnBrk="1" fontAlgn="auto" latinLnBrk="0" hangingPunct="1">
              <a:lnSpc>
                <a:spcPts val="1512"/>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The </a:t>
            </a:r>
            <a:r>
              <a:rPr kumimoji="0" lang="en-US" sz="1100" b="0" i="0" u="none" strike="noStrike" kern="1200" cap="none" spc="0" normalizeH="0" baseline="0" noProof="0">
                <a:ln>
                  <a:noFill/>
                </a:ln>
                <a:solidFill>
                  <a:srgbClr val="575757"/>
                </a:solidFill>
                <a:effectLst/>
                <a:uLnTx/>
                <a:uFillTx/>
                <a:latin typeface="Fira Sans"/>
                <a:ea typeface="+mn-ea"/>
                <a:cs typeface="+mn-cs"/>
              </a:rPr>
              <a:t>growth</a:t>
            </a:r>
            <a:r>
              <a:rPr kumimoji="0" sz="1100" b="0" i="0" u="none" strike="noStrike" kern="1200" cap="none" spc="0" normalizeH="0" baseline="0" noProof="0">
                <a:ln>
                  <a:noFill/>
                </a:ln>
                <a:solidFill>
                  <a:srgbClr val="575757"/>
                </a:solidFill>
                <a:effectLst/>
                <a:uLnTx/>
                <a:uFillTx/>
                <a:latin typeface="Fira Sans"/>
                <a:ea typeface="+mn-ea"/>
                <a:cs typeface="+mn-cs"/>
              </a:rPr>
              <a:t> target</a:t>
            </a:r>
          </a:p>
        </p:txBody>
      </p:sp>
      <p:sp>
        <p:nvSpPr>
          <p:cNvPr id="102" name="TextBox 101"/>
          <p:cNvSpPr txBox="1"/>
          <p:nvPr/>
        </p:nvSpPr>
        <p:spPr>
          <a:xfrm>
            <a:off x="2724727" y="2394479"/>
            <a:ext cx="5773129" cy="635508"/>
          </a:xfrm>
          <a:prstGeom prst="rect">
            <a:avLst/>
          </a:prstGeom>
          <a:noFill/>
        </p:spPr>
        <p:txBody>
          <a:bodyPr wrap="square" lIns="0" tIns="0" rIns="0" bIns="0" anchor="t">
            <a:noAutofit/>
          </a:bodyPr>
          <a:lstStyle/>
          <a:p>
            <a:pPr marL="0" marR="0" lvl="0" indent="0" algn="l" defTabSz="457200" rtl="0" eaLnBrk="1" fontAlgn="auto" latinLnBrk="0" hangingPunct="1">
              <a:lnSpc>
                <a:spcPts val="1620"/>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Wealth builders hold products beyond their primary bank, and Citizens is the primary</a:t>
            </a:r>
          </a:p>
          <a:p>
            <a:pPr marL="0" marR="0" lvl="0" indent="0" algn="l" defTabSz="457200" rtl="0" eaLnBrk="1" fontAlgn="auto" latinLnBrk="0" hangingPunct="1">
              <a:lnSpc>
                <a:spcPts val="1620"/>
              </a:lnSpc>
              <a:spcBef>
                <a:spcPts val="0"/>
              </a:spcBef>
              <a:spcAft>
                <a:spcPts val="0"/>
              </a:spcAft>
              <a:buClrTx/>
              <a:buSzTx/>
              <a:buFontTx/>
              <a:buNone/>
              <a:tabLst/>
              <a:defRPr/>
            </a:pPr>
            <a:r>
              <a:rPr kumimoji="0" sz="1100" b="0" i="0" u="none" strike="noStrike" kern="1200" cap="none" spc="0" normalizeH="0" baseline="0" noProof="0">
                <a:ln>
                  <a:noFill/>
                </a:ln>
                <a:solidFill>
                  <a:srgbClr val="232422"/>
                </a:solidFill>
                <a:effectLst/>
                <a:uLnTx/>
                <a:uFillTx/>
                <a:latin typeface="Fira Sans"/>
                <a:ea typeface="+mn-ea"/>
                <a:cs typeface="+mn-cs"/>
              </a:rPr>
              <a:t>checking bank for about 3% of the segment. </a:t>
            </a:r>
            <a:r>
              <a:rPr kumimoji="0" lang="en-US" sz="1100" b="0" i="0" u="none" strike="noStrike" kern="1200" cap="none" spc="0" normalizeH="0" baseline="0" noProof="0">
                <a:ln>
                  <a:noFill/>
                </a:ln>
                <a:solidFill>
                  <a:srgbClr val="232422"/>
                </a:solidFill>
                <a:effectLst/>
                <a:uLnTx/>
                <a:uFillTx/>
                <a:latin typeface="Fira Sans"/>
                <a:ea typeface="+mn-ea"/>
                <a:cs typeface="+mn-cs"/>
              </a:rPr>
              <a:t>Counting combined balances gives them a clear reason to bring more here and gives Citizens more ways to grow with them.</a:t>
            </a:r>
          </a:p>
        </p:txBody>
      </p:sp>
      <p:sp>
        <p:nvSpPr>
          <p:cNvPr id="103" name="TextBox 102"/>
          <p:cNvSpPr txBox="1"/>
          <p:nvPr/>
        </p:nvSpPr>
        <p:spPr>
          <a:xfrm>
            <a:off x="9122362" y="2281320"/>
            <a:ext cx="1454260" cy="548640"/>
          </a:xfrm>
          <a:prstGeom prst="rect">
            <a:avLst/>
          </a:prstGeom>
          <a:noFill/>
        </p:spPr>
        <p:txBody>
          <a:bodyPr wrap="none" lIns="0" tIns="0" rIns="0" bIns="0" anchor="t">
            <a:noAutofit/>
          </a:bodyPr>
          <a:lstStyle/>
          <a:p>
            <a:pPr marL="0" marR="0" lvl="0" indent="0" algn="l" defTabSz="457200" rtl="0" eaLnBrk="1" fontAlgn="auto" latinLnBrk="0" hangingPunct="1">
              <a:lnSpc>
                <a:spcPts val="4176"/>
              </a:lnSpc>
              <a:spcBef>
                <a:spcPts val="0"/>
              </a:spcBef>
              <a:spcAft>
                <a:spcPts val="0"/>
              </a:spcAft>
              <a:buClrTx/>
              <a:buSzTx/>
              <a:buFontTx/>
              <a:buNone/>
              <a:tabLst/>
              <a:defRPr/>
            </a:pPr>
            <a:r>
              <a:rPr kumimoji="0" sz="4200" b="0" i="0" u="none" strike="noStrike" kern="1200" cap="none" spc="-42" normalizeH="0" baseline="0" noProof="0">
                <a:ln>
                  <a:noFill/>
                </a:ln>
                <a:solidFill>
                  <a:srgbClr val="007651"/>
                </a:solidFill>
                <a:effectLst/>
                <a:uLnTx/>
                <a:uFillTx/>
                <a:latin typeface="Fira Sans Light"/>
                <a:ea typeface="+mn-ea"/>
                <a:cs typeface="+mn-cs"/>
              </a:rPr>
              <a:t>3.7</a:t>
            </a:r>
          </a:p>
        </p:txBody>
      </p:sp>
      <p:sp>
        <p:nvSpPr>
          <p:cNvPr id="104" name="TextBox 103"/>
          <p:cNvSpPr txBox="1"/>
          <p:nvPr/>
        </p:nvSpPr>
        <p:spPr>
          <a:xfrm>
            <a:off x="9122362" y="2768713"/>
            <a:ext cx="1454260" cy="369418"/>
          </a:xfrm>
          <a:prstGeom prst="rect">
            <a:avLst/>
          </a:prstGeom>
          <a:noFill/>
        </p:spPr>
        <p:txBody>
          <a:bodyPr wrap="non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sz="1950" b="0" i="0" u="none" strike="noStrike" kern="1200" cap="none" spc="0" normalizeH="0" baseline="0" noProof="0">
                <a:ln>
                  <a:noFill/>
                </a:ln>
                <a:solidFill>
                  <a:srgbClr val="575757"/>
                </a:solidFill>
                <a:effectLst/>
                <a:uLnTx/>
                <a:uFillTx/>
                <a:latin typeface="Fira Sans Light"/>
                <a:ea typeface="+mn-ea"/>
                <a:cs typeface="+mn-cs"/>
              </a:rPr>
              <a:t>of 5.6</a:t>
            </a:r>
          </a:p>
        </p:txBody>
      </p:sp>
      <p:sp>
        <p:nvSpPr>
          <p:cNvPr id="105" name="TextBox 104"/>
          <p:cNvSpPr txBox="1"/>
          <p:nvPr/>
        </p:nvSpPr>
        <p:spPr>
          <a:xfrm>
            <a:off x="10252988" y="2246054"/>
            <a:ext cx="1403304" cy="1093257"/>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products at the </a:t>
            </a:r>
            <a:br>
              <a:rPr kumimoji="0" lang="en-US" sz="1000" b="0" i="0" u="none" strike="noStrike" kern="1200" cap="none" spc="0" normalizeH="0" baseline="0" noProof="0">
                <a:ln>
                  <a:noFill/>
                </a:ln>
                <a:solidFill>
                  <a:srgbClr val="575757"/>
                </a:solidFill>
                <a:effectLst/>
                <a:uLnTx/>
                <a:uFillTx/>
                <a:latin typeface="Fira Sans"/>
                <a:ea typeface="+mn-ea"/>
                <a:cs typeface="+mn-cs"/>
              </a:rPr>
            </a:br>
            <a:r>
              <a:rPr kumimoji="0" sz="1000" b="0" i="0" u="none" strike="noStrike" kern="1200" cap="none" spc="0" normalizeH="0" baseline="0" noProof="0">
                <a:ln>
                  <a:noFill/>
                </a:ln>
                <a:solidFill>
                  <a:srgbClr val="575757"/>
                </a:solidFill>
                <a:effectLst/>
                <a:uLnTx/>
                <a:uFillTx/>
                <a:latin typeface="Fira Sans"/>
                <a:ea typeface="+mn-ea"/>
                <a:cs typeface="+mn-cs"/>
              </a:rPr>
              <a:t>primary</a:t>
            </a:r>
            <a:r>
              <a:rPr kumimoji="0" lang="en-US" sz="1000" b="0" i="0" u="none" strike="noStrike" kern="1200" cap="none" spc="0" normalizeH="0" baseline="0" noProof="0">
                <a:ln>
                  <a:noFill/>
                </a:ln>
                <a:solidFill>
                  <a:srgbClr val="575757"/>
                </a:solidFill>
                <a:effectLst/>
                <a:uLnTx/>
                <a:uFillTx/>
                <a:latin typeface="Fira Sans"/>
                <a:ea typeface="+mn-ea"/>
                <a:cs typeface="+mn-cs"/>
              </a:rPr>
              <a:t> </a:t>
            </a:r>
            <a:r>
              <a:rPr kumimoji="0" sz="1000" b="0" i="0" u="none" strike="noStrike" kern="1200" cap="none" spc="0" normalizeH="0" baseline="0" noProof="0">
                <a:ln>
                  <a:noFill/>
                </a:ln>
                <a:solidFill>
                  <a:srgbClr val="575757"/>
                </a:solidFill>
                <a:effectLst/>
                <a:uLnTx/>
                <a:uFillTx/>
                <a:latin typeface="Fira Sans"/>
                <a:ea typeface="+mn-ea"/>
                <a:cs typeface="+mn-cs"/>
              </a:rPr>
              <a:t>bank vs. products held</a:t>
            </a:r>
            <a:r>
              <a:rPr kumimoji="0" lang="en-US" sz="1000" b="0" i="0" u="none" strike="noStrike" kern="1200" cap="none" spc="0" normalizeH="0" baseline="0" noProof="0">
                <a:ln>
                  <a:noFill/>
                </a:ln>
                <a:solidFill>
                  <a:srgbClr val="575757"/>
                </a:solidFill>
                <a:effectLst/>
                <a:uLnTx/>
                <a:uFillTx/>
                <a:latin typeface="Fira Sans"/>
                <a:ea typeface="+mn-ea"/>
                <a:cs typeface="+mn-cs"/>
              </a:rPr>
              <a:t> </a:t>
            </a:r>
            <a:r>
              <a:rPr kumimoji="0" sz="1000" b="0" i="0" u="none" strike="noStrike" kern="1200" cap="none" spc="0" normalizeH="0" baseline="0" noProof="0">
                <a:ln>
                  <a:noFill/>
                </a:ln>
                <a:solidFill>
                  <a:srgbClr val="575757"/>
                </a:solidFill>
                <a:effectLst/>
                <a:uLnTx/>
                <a:uFillTx/>
                <a:latin typeface="Fira Sans"/>
                <a:ea typeface="+mn-ea"/>
                <a:cs typeface="+mn-cs"/>
              </a:rPr>
              <a:t>overall </a:t>
            </a:r>
            <a:br>
              <a:rPr kumimoji="0" lang="en-US" sz="1000" b="0" i="0" u="none" strike="noStrike" kern="1200" cap="none" spc="0" normalizeH="0" baseline="0" noProof="0">
                <a:ln>
                  <a:noFill/>
                </a:ln>
                <a:solidFill>
                  <a:srgbClr val="575757"/>
                </a:solidFill>
                <a:effectLst/>
                <a:uLnTx/>
                <a:uFillTx/>
                <a:latin typeface="Fira Sans"/>
                <a:ea typeface="+mn-ea"/>
                <a:cs typeface="+mn-cs"/>
              </a:rPr>
            </a:br>
            <a:br>
              <a:rPr kumimoji="0" lang="en-US" sz="1000" b="0" i="0" u="none" strike="noStrike" kern="1200" cap="none" spc="0" normalizeH="0" baseline="0" noProof="0">
                <a:ln>
                  <a:noFill/>
                </a:ln>
                <a:solidFill>
                  <a:srgbClr val="575757"/>
                </a:solidFill>
                <a:effectLst/>
                <a:uLnTx/>
                <a:uFillTx/>
                <a:latin typeface="Fira Sans"/>
                <a:ea typeface="+mn-ea"/>
                <a:cs typeface="+mn-cs"/>
              </a:rPr>
            </a:br>
            <a:r>
              <a:rPr kumimoji="0" sz="1000" b="0" i="0" u="none" strike="noStrike" kern="1200" cap="none" spc="0" normalizeH="0" baseline="0" noProof="0">
                <a:ln>
                  <a:noFill/>
                </a:ln>
                <a:solidFill>
                  <a:srgbClr val="575757"/>
                </a:solidFill>
                <a:effectLst/>
                <a:uLnTx/>
                <a:uFillTx/>
                <a:latin typeface="Fira Sans"/>
                <a:ea typeface="+mn-ea"/>
                <a:cs typeface="+mn-cs"/>
              </a:rPr>
              <a:t>(</a:t>
            </a:r>
            <a:r>
              <a:rPr kumimoji="0" lang="en-US" sz="1000" b="0" i="0" u="none" strike="noStrike" kern="1200" cap="none" spc="0" normalizeH="0" baseline="0" noProof="0">
                <a:ln>
                  <a:noFill/>
                </a:ln>
                <a:solidFill>
                  <a:srgbClr val="575757"/>
                </a:solidFill>
                <a:effectLst/>
                <a:uLnTx/>
                <a:uFillTx/>
                <a:latin typeface="Fira Sans"/>
                <a:ea typeface="+mn-ea"/>
                <a:cs typeface="+mn-cs"/>
              </a:rPr>
              <a:t>IWB</a:t>
            </a:r>
            <a:r>
              <a:rPr kumimoji="0" sz="1000" b="0" i="0" u="none" strike="noStrike" kern="1200" cap="none" spc="0" normalizeH="0" baseline="0" noProof="0">
                <a:ln>
                  <a:noFill/>
                </a:ln>
                <a:solidFill>
                  <a:srgbClr val="575757"/>
                </a:solidFill>
                <a:effectLst/>
                <a:uLnTx/>
                <a:uFillTx/>
                <a:latin typeface="Fira Sans"/>
                <a:ea typeface="+mn-ea"/>
                <a:cs typeface="+mn-cs"/>
              </a:rPr>
              <a:t>; </a:t>
            </a:r>
            <a:r>
              <a:rPr kumimoji="0" lang="en-US" sz="1000" b="0" i="0" u="none" strike="noStrike" kern="1200" cap="none" spc="0" normalizeH="0" baseline="0" noProof="0">
                <a:ln>
                  <a:noFill/>
                </a:ln>
                <a:solidFill>
                  <a:srgbClr val="575757"/>
                </a:solidFill>
                <a:effectLst/>
                <a:uLnTx/>
                <a:uFillTx/>
                <a:latin typeface="Fira Sans"/>
                <a:ea typeface="+mn-ea"/>
                <a:cs typeface="+mn-cs"/>
              </a:rPr>
              <a:t>PWB</a:t>
            </a:r>
            <a:r>
              <a:rPr kumimoji="0" sz="1000" b="0" i="0" u="none" strike="noStrike" kern="1200" cap="none" spc="0" normalizeH="0" baseline="0" noProof="0">
                <a:ln>
                  <a:noFill/>
                </a:ln>
                <a:solidFill>
                  <a:srgbClr val="575757"/>
                </a:solidFill>
                <a:effectLst/>
                <a:uLnTx/>
                <a:uFillTx/>
                <a:latin typeface="Fira Sans"/>
                <a:ea typeface="+mn-ea"/>
                <a:cs typeface="+mn-cs"/>
              </a:rPr>
              <a:t>:</a:t>
            </a:r>
            <a:r>
              <a:rPr kumimoji="0" lang="en-US" sz="1000" b="0" i="0" u="none" strike="noStrike" kern="1200" cap="none" spc="0" normalizeH="0" baseline="0" noProof="0">
                <a:ln>
                  <a:noFill/>
                </a:ln>
                <a:solidFill>
                  <a:srgbClr val="575757"/>
                </a:solidFill>
                <a:effectLst/>
                <a:uLnTx/>
                <a:uFillTx/>
                <a:latin typeface="Fira Sans"/>
                <a:ea typeface="+mn-ea"/>
                <a:cs typeface="+mn-cs"/>
              </a:rPr>
              <a:t> </a:t>
            </a:r>
            <a:r>
              <a:rPr kumimoji="0" sz="1000" b="0" i="0" u="none" strike="noStrike" kern="1200" cap="none" spc="0" normalizeH="0" baseline="0" noProof="0">
                <a:ln>
                  <a:noFill/>
                </a:ln>
                <a:solidFill>
                  <a:srgbClr val="575757"/>
                </a:solidFill>
                <a:effectLst/>
                <a:uLnTx/>
                <a:uFillTx/>
                <a:latin typeface="Fira Sans"/>
                <a:ea typeface="+mn-ea"/>
                <a:cs typeface="+mn-cs"/>
              </a:rPr>
              <a:t>4.1 of 6.0)</a:t>
            </a:r>
          </a:p>
        </p:txBody>
      </p:sp>
      <p:cxnSp>
        <p:nvCxnSpPr>
          <p:cNvPr id="106" name="Connector 105"/>
          <p:cNvCxnSpPr/>
          <p:nvPr/>
        </p:nvCxnSpPr>
        <p:spPr>
          <a:xfrm>
            <a:off x="503046" y="3360420"/>
            <a:ext cx="11185908" cy="0"/>
          </a:xfrm>
          <a:prstGeom prst="line">
            <a:avLst/>
          </a:prstGeom>
          <a:ln w="9144">
            <a:solidFill>
              <a:srgbClr val="DDDBCE"/>
            </a:solidFill>
          </a:ln>
          <a:effectLst/>
        </p:spPr>
      </p:cxnSp>
      <p:sp>
        <p:nvSpPr>
          <p:cNvPr id="2" name="Freeform 1"/>
          <p:cNvSpPr/>
          <p:nvPr/>
        </p:nvSpPr>
        <p:spPr>
          <a:xfrm>
            <a:off x="539631" y="3695746"/>
            <a:ext cx="201218" cy="201168"/>
          </a:xfrm>
          <a:custGeom>
            <a:avLst/>
            <a:gdLst/>
            <a:ahLst/>
            <a:cxnLst/>
            <a:rect l="l" t="t" r="r" b="b"/>
            <a:pathLst>
              <a:path w="201218" h="201168">
                <a:moveTo>
                  <a:pt x="100609" y="0"/>
                </a:moveTo>
                <a:lnTo>
                  <a:pt x="201218" y="100584"/>
                </a:lnTo>
                <a:lnTo>
                  <a:pt x="100609" y="201168"/>
                </a:lnTo>
                <a:lnTo>
                  <a:pt x="0" y="100584"/>
                </a:lnTo>
                <a:lnTo>
                  <a:pt x="100609" y="0"/>
                </a:lnTo>
              </a:path>
            </a:pathLst>
          </a:custGeom>
          <a:noFill/>
          <a:ln w="14630">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2"/>
          <p:cNvSpPr/>
          <p:nvPr/>
        </p:nvSpPr>
        <p:spPr>
          <a:xfrm>
            <a:off x="594509" y="3750610"/>
            <a:ext cx="91462" cy="91440"/>
          </a:xfrm>
          <a:custGeom>
            <a:avLst/>
            <a:gdLst/>
            <a:ahLst/>
            <a:cxnLst/>
            <a:rect l="l" t="t" r="r" b="b"/>
            <a:pathLst>
              <a:path w="91462" h="91440">
                <a:moveTo>
                  <a:pt x="45731" y="0"/>
                </a:moveTo>
                <a:lnTo>
                  <a:pt x="91462" y="45720"/>
                </a:lnTo>
                <a:lnTo>
                  <a:pt x="45731" y="91440"/>
                </a:lnTo>
                <a:lnTo>
                  <a:pt x="0" y="45720"/>
                </a:lnTo>
                <a:lnTo>
                  <a:pt x="45731" y="0"/>
                </a:lnTo>
              </a:path>
            </a:pathLst>
          </a:custGeom>
          <a:noFill/>
          <a:ln w="10972">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7" name="TextBox 106"/>
          <p:cNvSpPr txBox="1"/>
          <p:nvPr/>
        </p:nvSpPr>
        <p:spPr>
          <a:xfrm>
            <a:off x="503046" y="3986204"/>
            <a:ext cx="2094500"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1" i="0" u="none" strike="noStrike" kern="1200" cap="all" spc="104" normalizeH="0" baseline="0" noProof="0">
                <a:ln>
                  <a:noFill/>
                </a:ln>
                <a:solidFill>
                  <a:srgbClr val="007651"/>
                </a:solidFill>
                <a:effectLst/>
                <a:uLnTx/>
                <a:uFillTx/>
                <a:latin typeface="Fira Sans"/>
                <a:ea typeface="+mn-ea"/>
                <a:cs typeface="+mn-cs"/>
              </a:rPr>
              <a:t>THE BROADER AFFLUENT</a:t>
            </a:r>
          </a:p>
        </p:txBody>
      </p:sp>
      <p:sp>
        <p:nvSpPr>
          <p:cNvPr id="108" name="TextBox 107"/>
          <p:cNvSpPr txBox="1"/>
          <p:nvPr/>
        </p:nvSpPr>
        <p:spPr>
          <a:xfrm>
            <a:off x="503046" y="4210843"/>
            <a:ext cx="2094500" cy="210312"/>
          </a:xfrm>
          <a:prstGeom prst="rect">
            <a:avLst/>
          </a:prstGeom>
          <a:noFill/>
        </p:spPr>
        <p:txBody>
          <a:bodyPr wrap="none" lIns="0" tIns="0" rIns="0" bIns="0" anchor="t">
            <a:noAutofit/>
          </a:bodyPr>
          <a:lstStyle/>
          <a:p>
            <a:pPr marL="0" marR="0" lvl="0" indent="0" algn="l" defTabSz="457200" rtl="0" eaLnBrk="1" fontAlgn="auto" latinLnBrk="0" hangingPunct="1">
              <a:lnSpc>
                <a:spcPts val="1512"/>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What they have asked for</a:t>
            </a:r>
          </a:p>
        </p:txBody>
      </p:sp>
      <p:sp>
        <p:nvSpPr>
          <p:cNvPr id="109" name="TextBox 108"/>
          <p:cNvSpPr txBox="1"/>
          <p:nvPr/>
        </p:nvSpPr>
        <p:spPr>
          <a:xfrm>
            <a:off x="2724727" y="3738462"/>
            <a:ext cx="5560291" cy="635508"/>
          </a:xfrm>
          <a:prstGeom prst="rect">
            <a:avLst/>
          </a:prstGeom>
          <a:noFill/>
        </p:spPr>
        <p:txBody>
          <a:bodyPr wrap="square" lIns="0" tIns="0" rIns="0" bIns="0" anchor="t">
            <a:noAutofit/>
          </a:bodyPr>
          <a:lstStyle/>
          <a:p>
            <a:pPr marL="0" marR="0" lvl="0" indent="0" algn="l" defTabSz="457200" rtl="0" eaLnBrk="1" fontAlgn="auto" latinLnBrk="0" hangingPunct="1">
              <a:lnSpc>
                <a:spcPts val="1620"/>
              </a:lnSpc>
              <a:spcBef>
                <a:spcPts val="0"/>
              </a:spcBef>
              <a:spcAft>
                <a:spcPts val="0"/>
              </a:spcAft>
              <a:buClrTx/>
              <a:buSzTx/>
              <a:buFontTx/>
              <a:buNone/>
              <a:tabLst/>
              <a:defRPr/>
            </a:pPr>
            <a:r>
              <a:rPr kumimoji="0" lang="en-US" sz="1100" b="0" i="0" u="none" strike="noStrike" kern="1200" cap="none" spc="0" normalizeH="0" baseline="0" noProof="0">
                <a:ln>
                  <a:noFill/>
                </a:ln>
                <a:solidFill>
                  <a:srgbClr val="232422"/>
                </a:solidFill>
                <a:effectLst/>
                <a:uLnTx/>
                <a:uFillTx/>
                <a:latin typeface="Fira Sans"/>
                <a:ea typeface="+mn-ea"/>
                <a:cs typeface="+mn-cs"/>
              </a:rPr>
              <a:t>A</a:t>
            </a:r>
            <a:r>
              <a:rPr kumimoji="0" sz="1100" b="0" i="0" u="none" strike="noStrike" kern="1200" cap="none" spc="0" normalizeH="0" baseline="0" noProof="0">
                <a:ln>
                  <a:noFill/>
                </a:ln>
                <a:solidFill>
                  <a:srgbClr val="232422"/>
                </a:solidFill>
                <a:effectLst/>
                <a:uLnTx/>
                <a:uFillTx/>
                <a:latin typeface="Fira Sans"/>
                <a:ea typeface="+mn-ea"/>
                <a:cs typeface="+mn-cs"/>
              </a:rPr>
              <a:t>bout </a:t>
            </a:r>
            <a:r>
              <a:rPr kumimoji="0" lang="en-US" sz="1100" b="0" i="0" u="none" strike="noStrike" kern="1200" cap="none" spc="0" normalizeH="0" baseline="0" noProof="0">
                <a:ln>
                  <a:noFill/>
                </a:ln>
                <a:solidFill>
                  <a:srgbClr val="232422"/>
                </a:solidFill>
                <a:effectLst/>
                <a:uLnTx/>
                <a:uFillTx/>
                <a:latin typeface="Fira Sans"/>
                <a:ea typeface="+mn-ea"/>
                <a:cs typeface="+mn-cs"/>
              </a:rPr>
              <a:t>3</a:t>
            </a:r>
            <a:r>
              <a:rPr kumimoji="0" sz="1100" b="0" i="0" u="none" strike="noStrike" kern="1200" cap="none" spc="0" normalizeH="0" baseline="0" noProof="0">
                <a:ln>
                  <a:noFill/>
                </a:ln>
                <a:solidFill>
                  <a:srgbClr val="232422"/>
                </a:solidFill>
                <a:effectLst/>
                <a:uLnTx/>
                <a:uFillTx/>
                <a:latin typeface="Fira Sans"/>
                <a:ea typeface="+mn-ea"/>
                <a:cs typeface="+mn-cs"/>
              </a:rPr>
              <a:t> in </a:t>
            </a:r>
            <a:r>
              <a:rPr kumimoji="0" lang="en-US" sz="1100" b="0" i="0" u="none" strike="noStrike" kern="1200" cap="none" spc="0" normalizeH="0" baseline="0" noProof="0">
                <a:ln>
                  <a:noFill/>
                </a:ln>
                <a:solidFill>
                  <a:srgbClr val="232422"/>
                </a:solidFill>
                <a:effectLst/>
                <a:uLnTx/>
                <a:uFillTx/>
                <a:latin typeface="Fira Sans"/>
                <a:ea typeface="+mn-ea"/>
                <a:cs typeface="+mn-cs"/>
              </a:rPr>
              <a:t>10</a:t>
            </a:r>
            <a:r>
              <a:rPr kumimoji="0" sz="1100" b="0" i="0" u="none" strike="noStrike" kern="1200" cap="none" spc="0" normalizeH="0" baseline="0" noProof="0">
                <a:ln>
                  <a:noFill/>
                </a:ln>
                <a:solidFill>
                  <a:srgbClr val="232422"/>
                </a:solidFill>
                <a:effectLst/>
                <a:uLnTx/>
                <a:uFillTx/>
                <a:latin typeface="Fira Sans"/>
                <a:ea typeface="+mn-ea"/>
                <a:cs typeface="+mn-cs"/>
              </a:rPr>
              <a:t> affluent clients prefer one firm for banking and</a:t>
            </a:r>
            <a:r>
              <a:rPr kumimoji="0" lang="en-US" sz="1100" b="0" i="0" u="none" strike="noStrike" kern="1200" cap="none" spc="0" normalizeH="0" baseline="0" noProof="0">
                <a:ln>
                  <a:noFill/>
                </a:ln>
                <a:solidFill>
                  <a:srgbClr val="232422"/>
                </a:solidFill>
                <a:effectLst/>
                <a:uLnTx/>
                <a:uFillTx/>
                <a:latin typeface="Fira Sans"/>
                <a:ea typeface="+mn-ea"/>
                <a:cs typeface="+mn-cs"/>
              </a:rPr>
              <a:t> </a:t>
            </a:r>
            <a:r>
              <a:rPr kumimoji="0" sz="1100" b="0" i="0" u="none" strike="noStrike" kern="1200" cap="none" spc="0" normalizeH="0" baseline="0" noProof="0">
                <a:ln>
                  <a:noFill/>
                </a:ln>
                <a:solidFill>
                  <a:srgbClr val="232422"/>
                </a:solidFill>
                <a:effectLst/>
                <a:uLnTx/>
                <a:uFillTx/>
                <a:latin typeface="Fira Sans"/>
                <a:ea typeface="+mn-ea"/>
                <a:cs typeface="+mn-cs"/>
              </a:rPr>
              <a:t>wealth. </a:t>
            </a:r>
            <a:r>
              <a:rPr kumimoji="0" lang="en-US" sz="1100" b="0" i="0" u="none" strike="noStrike" kern="1200" cap="none" spc="0" normalizeH="0" baseline="0" noProof="0">
                <a:ln>
                  <a:noFill/>
                </a:ln>
                <a:solidFill>
                  <a:srgbClr val="232422"/>
                </a:solidFill>
                <a:effectLst/>
                <a:uLnTx/>
                <a:uFillTx/>
                <a:latin typeface="Fira Sans"/>
                <a:ea typeface="+mn-ea"/>
                <a:cs typeface="+mn-cs"/>
              </a:rPr>
              <a:t>At $200,000, Private Client* pairs the top relationship level with dedicated service without requiring a checking upgrade.</a:t>
            </a:r>
          </a:p>
        </p:txBody>
      </p:sp>
      <p:sp>
        <p:nvSpPr>
          <p:cNvPr id="110" name="TextBox 109"/>
          <p:cNvSpPr txBox="1"/>
          <p:nvPr/>
        </p:nvSpPr>
        <p:spPr>
          <a:xfrm>
            <a:off x="8872980" y="3804821"/>
            <a:ext cx="1454260" cy="548640"/>
          </a:xfrm>
          <a:prstGeom prst="rect">
            <a:avLst/>
          </a:prstGeom>
          <a:noFill/>
        </p:spPr>
        <p:txBody>
          <a:bodyPr wrap="none" lIns="0" tIns="0" rIns="0" bIns="0" anchor="t">
            <a:noAutofit/>
          </a:bodyPr>
          <a:lstStyle/>
          <a:p>
            <a:pPr marL="0" marR="0" lvl="0" indent="0" algn="l" defTabSz="457200" rtl="0" eaLnBrk="1" fontAlgn="auto" latinLnBrk="0" hangingPunct="1">
              <a:lnSpc>
                <a:spcPts val="4176"/>
              </a:lnSpc>
              <a:spcBef>
                <a:spcPts val="0"/>
              </a:spcBef>
              <a:spcAft>
                <a:spcPts val="0"/>
              </a:spcAft>
              <a:buClrTx/>
              <a:buSzTx/>
              <a:buFontTx/>
              <a:buNone/>
              <a:tabLst/>
              <a:defRPr/>
            </a:pPr>
            <a:r>
              <a:rPr kumimoji="0" sz="4200" b="0" i="0" u="none" strike="noStrike" kern="1200" cap="none" spc="-42" normalizeH="0" baseline="0" noProof="0">
                <a:ln>
                  <a:noFill/>
                </a:ln>
                <a:solidFill>
                  <a:srgbClr val="007651"/>
                </a:solidFill>
                <a:effectLst/>
                <a:uLnTx/>
                <a:uFillTx/>
                <a:latin typeface="Fira Sans Light"/>
                <a:ea typeface="+mn-ea"/>
                <a:cs typeface="+mn-cs"/>
              </a:rPr>
              <a:t>~30%</a:t>
            </a:r>
          </a:p>
        </p:txBody>
      </p:sp>
      <p:sp>
        <p:nvSpPr>
          <p:cNvPr id="111" name="TextBox 110"/>
          <p:cNvSpPr txBox="1"/>
          <p:nvPr/>
        </p:nvSpPr>
        <p:spPr>
          <a:xfrm>
            <a:off x="10252987" y="3673165"/>
            <a:ext cx="1564015" cy="734995"/>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of $1M–$25M clients</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prefer one firm for</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banking and wealth –</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2023 stated preference</a:t>
            </a:r>
          </a:p>
        </p:txBody>
      </p:sp>
      <p:cxnSp>
        <p:nvCxnSpPr>
          <p:cNvPr id="112" name="Connector 111"/>
          <p:cNvCxnSpPr/>
          <p:nvPr/>
        </p:nvCxnSpPr>
        <p:spPr>
          <a:xfrm>
            <a:off x="503046" y="4722876"/>
            <a:ext cx="11185908" cy="0"/>
          </a:xfrm>
          <a:prstGeom prst="line">
            <a:avLst/>
          </a:prstGeom>
          <a:ln w="9144">
            <a:solidFill>
              <a:srgbClr val="DDDBCE"/>
            </a:solidFill>
          </a:ln>
          <a:effectLst/>
        </p:spPr>
      </p:cxnSp>
      <p:sp>
        <p:nvSpPr>
          <p:cNvPr id="4" name="Freeform 3"/>
          <p:cNvSpPr/>
          <p:nvPr/>
        </p:nvSpPr>
        <p:spPr>
          <a:xfrm>
            <a:off x="539631" y="5002692"/>
            <a:ext cx="201218" cy="82296"/>
          </a:xfrm>
          <a:custGeom>
            <a:avLst/>
            <a:gdLst/>
            <a:ahLst/>
            <a:cxnLst/>
            <a:rect l="l" t="t" r="r" b="b"/>
            <a:pathLst>
              <a:path w="201218" h="82296">
                <a:moveTo>
                  <a:pt x="0" y="82296"/>
                </a:moveTo>
                <a:lnTo>
                  <a:pt x="100609" y="0"/>
                </a:lnTo>
                <a:lnTo>
                  <a:pt x="201218" y="82296"/>
                </a:lnTo>
              </a:path>
            </a:pathLst>
          </a:custGeom>
          <a:noFill/>
          <a:ln w="14630">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4"/>
          <p:cNvSpPr/>
          <p:nvPr/>
        </p:nvSpPr>
        <p:spPr>
          <a:xfrm>
            <a:off x="567070" y="5075844"/>
            <a:ext cx="146340" cy="109728"/>
          </a:xfrm>
          <a:custGeom>
            <a:avLst/>
            <a:gdLst/>
            <a:ahLst/>
            <a:cxnLst/>
            <a:rect l="l" t="t" r="r" b="b"/>
            <a:pathLst>
              <a:path w="146340" h="109728">
                <a:moveTo>
                  <a:pt x="0" y="0"/>
                </a:moveTo>
                <a:lnTo>
                  <a:pt x="0" y="106710"/>
                </a:lnTo>
                <a:lnTo>
                  <a:pt x="12164" y="109728"/>
                </a:lnTo>
                <a:lnTo>
                  <a:pt x="134176" y="109728"/>
                </a:lnTo>
                <a:lnTo>
                  <a:pt x="146340" y="106710"/>
                </a:lnTo>
                <a:lnTo>
                  <a:pt x="146340" y="0"/>
                </a:lnTo>
              </a:path>
            </a:pathLst>
          </a:custGeom>
          <a:noFill/>
          <a:ln w="14630">
            <a:solidFill>
              <a:srgbClr val="007651"/>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3" name="TextBox 112"/>
          <p:cNvSpPr txBox="1"/>
          <p:nvPr/>
        </p:nvSpPr>
        <p:spPr>
          <a:xfrm>
            <a:off x="503046" y="5284006"/>
            <a:ext cx="2094500"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1" i="0" u="none" strike="noStrike" kern="1200" cap="all" spc="104" normalizeH="0" baseline="0" noProof="0">
                <a:ln>
                  <a:noFill/>
                </a:ln>
                <a:solidFill>
                  <a:srgbClr val="007651"/>
                </a:solidFill>
                <a:effectLst/>
                <a:uLnTx/>
                <a:uFillTx/>
                <a:latin typeface="Fira Sans"/>
                <a:ea typeface="+mn-ea"/>
                <a:cs typeface="+mn-cs"/>
              </a:rPr>
              <a:t>THE EVERYDAY BASE</a:t>
            </a:r>
          </a:p>
        </p:txBody>
      </p:sp>
      <p:sp>
        <p:nvSpPr>
          <p:cNvPr id="114" name="TextBox 113"/>
          <p:cNvSpPr txBox="1"/>
          <p:nvPr/>
        </p:nvSpPr>
        <p:spPr>
          <a:xfrm>
            <a:off x="503046" y="5508645"/>
            <a:ext cx="2094500" cy="210312"/>
          </a:xfrm>
          <a:prstGeom prst="rect">
            <a:avLst/>
          </a:prstGeom>
          <a:noFill/>
        </p:spPr>
        <p:txBody>
          <a:bodyPr wrap="none" lIns="0" tIns="0" rIns="0" bIns="0" anchor="t">
            <a:noAutofit/>
          </a:bodyPr>
          <a:lstStyle/>
          <a:p>
            <a:pPr marL="0" marR="0" lvl="0" indent="0" algn="l" defTabSz="457200" rtl="0" eaLnBrk="1" fontAlgn="auto" latinLnBrk="0" hangingPunct="1">
              <a:lnSpc>
                <a:spcPts val="1512"/>
              </a:lnSpc>
              <a:spcBef>
                <a:spcPts val="0"/>
              </a:spcBef>
              <a:spcAft>
                <a:spcPts val="0"/>
              </a:spcAft>
              <a:buClrTx/>
              <a:buSzTx/>
              <a:buFontTx/>
              <a:buNone/>
              <a:tabLst/>
              <a:defRPr/>
            </a:pPr>
            <a:r>
              <a:rPr kumimoji="0" sz="1100" b="0" i="0" u="none" strike="noStrike" kern="1200" cap="none" spc="0" normalizeH="0" baseline="0" noProof="0">
                <a:ln>
                  <a:noFill/>
                </a:ln>
                <a:solidFill>
                  <a:srgbClr val="575757"/>
                </a:solidFill>
                <a:effectLst/>
                <a:uLnTx/>
                <a:uFillTx/>
                <a:latin typeface="Fira Sans"/>
                <a:ea typeface="+mn-ea"/>
                <a:cs typeface="+mn-cs"/>
              </a:rPr>
              <a:t>Richer everyday relationships</a:t>
            </a:r>
          </a:p>
        </p:txBody>
      </p:sp>
      <p:sp>
        <p:nvSpPr>
          <p:cNvPr id="115" name="TextBox 114"/>
          <p:cNvSpPr txBox="1"/>
          <p:nvPr/>
        </p:nvSpPr>
        <p:spPr>
          <a:xfrm>
            <a:off x="2724727" y="5119391"/>
            <a:ext cx="5773129" cy="635508"/>
          </a:xfrm>
          <a:prstGeom prst="rect">
            <a:avLst/>
          </a:prstGeom>
          <a:noFill/>
        </p:spPr>
        <p:txBody>
          <a:bodyPr wrap="square" lIns="0" tIns="0" rIns="0" bIns="0" anchor="t">
            <a:noAutofit/>
          </a:bodyPr>
          <a:lstStyle/>
          <a:p>
            <a:pPr marL="0" marR="0" lvl="0" indent="0" algn="l" defTabSz="457200" rtl="0" eaLnBrk="1" fontAlgn="auto" latinLnBrk="0" hangingPunct="1">
              <a:lnSpc>
                <a:spcPts val="1620"/>
              </a:lnSpc>
              <a:spcBef>
                <a:spcPts val="0"/>
              </a:spcBef>
              <a:spcAft>
                <a:spcPts val="0"/>
              </a:spcAft>
              <a:buClrTx/>
              <a:buSzTx/>
              <a:buFontTx/>
              <a:buNone/>
              <a:tabLst/>
              <a:defRPr/>
            </a:pPr>
            <a:r>
              <a:rPr kumimoji="0" lang="en-US" sz="1100" b="0" i="0" u="none" strike="noStrike" kern="1200" cap="none" spc="0" normalizeH="0" baseline="0" noProof="0">
                <a:ln>
                  <a:noFill/>
                </a:ln>
                <a:solidFill>
                  <a:srgbClr val="232422"/>
                </a:solidFill>
                <a:effectLst/>
                <a:uLnTx/>
                <a:uFillTx/>
                <a:latin typeface="Fira Sans"/>
                <a:ea typeface="+mn-ea"/>
                <a:cs typeface="+mn-cs"/>
              </a:rPr>
              <a:t>Every checking customer starts at the Level 1 entry with a visible first benefit, creating a connection that can encourage banking primacy</a:t>
            </a:r>
            <a:r>
              <a:rPr kumimoji="0" sz="1100" b="0" i="0" u="none" strike="noStrike" kern="1200" cap="none" spc="0" normalizeH="0" baseline="0" noProof="0">
                <a:ln>
                  <a:noFill/>
                </a:ln>
                <a:solidFill>
                  <a:srgbClr val="232422"/>
                </a:solidFill>
                <a:effectLst/>
                <a:uLnTx/>
                <a:uFillTx/>
                <a:latin typeface="Fira Sans"/>
                <a:ea typeface="+mn-ea"/>
                <a:cs typeface="+mn-cs"/>
              </a:rPr>
              <a:t>. The relationship deepens after the</a:t>
            </a:r>
            <a:r>
              <a:rPr kumimoji="0" lang="en-US" sz="1100" b="0" i="0" u="none" strike="noStrike" kern="1200" cap="none" spc="0" normalizeH="0" baseline="0" noProof="0">
                <a:ln>
                  <a:noFill/>
                </a:ln>
                <a:solidFill>
                  <a:srgbClr val="232422"/>
                </a:solidFill>
                <a:effectLst/>
                <a:uLnTx/>
                <a:uFillTx/>
                <a:latin typeface="Fira Sans"/>
                <a:ea typeface="+mn-ea"/>
                <a:cs typeface="+mn-cs"/>
              </a:rPr>
              <a:t> </a:t>
            </a:r>
            <a:r>
              <a:rPr kumimoji="0" sz="1100" b="0" i="0" u="none" strike="noStrike" kern="1200" cap="none" spc="0" normalizeH="0" baseline="0" noProof="0">
                <a:ln>
                  <a:noFill/>
                </a:ln>
                <a:solidFill>
                  <a:srgbClr val="232422"/>
                </a:solidFill>
                <a:effectLst/>
                <a:uLnTx/>
                <a:uFillTx/>
                <a:latin typeface="Fira Sans"/>
                <a:ea typeface="+mn-ea"/>
                <a:cs typeface="+mn-cs"/>
              </a:rPr>
              <a:t>account is opened.</a:t>
            </a:r>
          </a:p>
        </p:txBody>
      </p:sp>
      <p:sp>
        <p:nvSpPr>
          <p:cNvPr id="116" name="TextBox 115"/>
          <p:cNvSpPr txBox="1"/>
          <p:nvPr/>
        </p:nvSpPr>
        <p:spPr>
          <a:xfrm>
            <a:off x="9122362" y="5192142"/>
            <a:ext cx="1454260" cy="548640"/>
          </a:xfrm>
          <a:prstGeom prst="rect">
            <a:avLst/>
          </a:prstGeom>
          <a:noFill/>
        </p:spPr>
        <p:txBody>
          <a:bodyPr wrap="none" lIns="0" tIns="0" rIns="0" bIns="0" anchor="t">
            <a:noAutofit/>
          </a:bodyPr>
          <a:lstStyle/>
          <a:p>
            <a:pPr marL="0" marR="0" lvl="0" indent="0" algn="l" defTabSz="457200" rtl="0" eaLnBrk="1" fontAlgn="auto" latinLnBrk="0" hangingPunct="1">
              <a:lnSpc>
                <a:spcPts val="4176"/>
              </a:lnSpc>
              <a:spcBef>
                <a:spcPts val="0"/>
              </a:spcBef>
              <a:spcAft>
                <a:spcPts val="0"/>
              </a:spcAft>
              <a:buClrTx/>
              <a:buSzTx/>
              <a:buFontTx/>
              <a:buNone/>
              <a:tabLst/>
              <a:defRPr/>
            </a:pPr>
            <a:r>
              <a:rPr kumimoji="0" sz="4200" b="0" i="0" u="none" strike="noStrike" kern="1200" cap="none" spc="-42" normalizeH="0" baseline="0" noProof="0">
                <a:ln>
                  <a:noFill/>
                </a:ln>
                <a:solidFill>
                  <a:srgbClr val="007651"/>
                </a:solidFill>
                <a:effectLst/>
                <a:uLnTx/>
                <a:uFillTx/>
                <a:latin typeface="Fira Sans Light"/>
                <a:ea typeface="+mn-ea"/>
                <a:cs typeface="+mn-cs"/>
              </a:rPr>
              <a:t>49%</a:t>
            </a:r>
          </a:p>
        </p:txBody>
      </p:sp>
      <p:sp>
        <p:nvSpPr>
          <p:cNvPr id="117" name="TextBox 116"/>
          <p:cNvSpPr txBox="1"/>
          <p:nvPr/>
        </p:nvSpPr>
        <p:spPr>
          <a:xfrm>
            <a:off x="10252987" y="4970966"/>
            <a:ext cx="1564015" cy="914126"/>
          </a:xfrm>
          <a:prstGeom prst="rect">
            <a:avLst/>
          </a:prstGeom>
          <a:noFill/>
        </p:spPr>
        <p:txBody>
          <a:bodyPr wrap="square" lIns="0" tIns="0" rIns="0" bIns="0" anchor="t">
            <a:noAutofit/>
          </a:bodyPr>
          <a:lstStyle/>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of new checking</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accounts opened as</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secondary in late 2025 –</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industry-wide,</a:t>
            </a:r>
          </a:p>
          <a:p>
            <a:pPr marL="0" marR="0" lvl="0" indent="0" algn="l" defTabSz="457200" rtl="0" eaLnBrk="1" fontAlgn="auto" latinLnBrk="0" hangingPunct="1">
              <a:lnSpc>
                <a:spcPts val="1411"/>
              </a:lnSpc>
              <a:spcBef>
                <a:spcPts val="0"/>
              </a:spcBef>
              <a:spcAft>
                <a:spcPts val="0"/>
              </a:spcAft>
              <a:buClrTx/>
              <a:buSzTx/>
              <a:buFontTx/>
              <a:buNone/>
              <a:tabLst/>
              <a:defRPr/>
            </a:pPr>
            <a:r>
              <a:rPr kumimoji="0" sz="1000" b="0" i="0" u="none" strike="noStrike" kern="1200" cap="none" spc="0" normalizeH="0" baseline="0" noProof="0">
                <a:ln>
                  <a:noFill/>
                </a:ln>
                <a:solidFill>
                  <a:srgbClr val="575757"/>
                </a:solidFill>
                <a:effectLst/>
                <a:uLnTx/>
                <a:uFillTx/>
                <a:latin typeface="Fira Sans"/>
                <a:ea typeface="+mn-ea"/>
                <a:cs typeface="+mn-cs"/>
              </a:rPr>
              <a:t>not Citizens-specific</a:t>
            </a:r>
          </a:p>
        </p:txBody>
      </p:sp>
      <p:cxnSp>
        <p:nvCxnSpPr>
          <p:cNvPr id="118" name="Connector 117"/>
          <p:cNvCxnSpPr/>
          <p:nvPr/>
        </p:nvCxnSpPr>
        <p:spPr>
          <a:xfrm>
            <a:off x="503046" y="6295644"/>
            <a:ext cx="11185908" cy="0"/>
          </a:xfrm>
          <a:prstGeom prst="line">
            <a:avLst/>
          </a:prstGeom>
          <a:ln w="9144">
            <a:solidFill>
              <a:srgbClr val="DDDBCE"/>
            </a:solidFill>
          </a:ln>
          <a:effectLst/>
        </p:spPr>
      </p:cxnSp>
      <p:sp>
        <p:nvSpPr>
          <p:cNvPr id="119" name="TextBox 118"/>
          <p:cNvSpPr txBox="1"/>
          <p:nvPr/>
        </p:nvSpPr>
        <p:spPr>
          <a:xfrm>
            <a:off x="503046" y="6384408"/>
            <a:ext cx="11688954" cy="256032"/>
          </a:xfrm>
          <a:prstGeom prst="rect">
            <a:avLst/>
          </a:prstGeom>
          <a:noFill/>
        </p:spPr>
        <p:txBody>
          <a:bodyPr wrap="square" lIns="0" tIns="0" rIns="0" bIns="0" anchor="t">
            <a:noAutofit/>
          </a:bodyPr>
          <a:lstStyle/>
          <a:p>
            <a:pPr marL="0" marR="0" lvl="0" indent="0" algn="l" defTabSz="457200" rtl="0" eaLnBrk="1" fontAlgn="auto" latinLnBrk="0" hangingPunct="1">
              <a:lnSpc>
                <a:spcPts val="936"/>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Client-supplied retail banking survey, December 2025 fieldwork (products held; paraphrased) · McKinsey affluent consumer research, 2023 · J.D. Power U.S. retail banking research, Q4</a:t>
            </a:r>
          </a:p>
          <a:p>
            <a:pPr marL="0" marR="0" lvl="0" indent="0" algn="l" defTabSz="457200" rtl="0" eaLnBrk="1" fontAlgn="auto" latinLnBrk="0" hangingPunct="1">
              <a:lnSpc>
                <a:spcPts val="936"/>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2025 · Citizens published Private Client threshold · *working label</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2154774"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WHY BALANCE-LED · 3 OF 3</a:t>
            </a:r>
          </a:p>
        </p:txBody>
      </p:sp>
      <p:sp>
        <p:nvSpPr>
          <p:cNvPr id="92" name="Rounded Rectangle 91"/>
          <p:cNvSpPr/>
          <p:nvPr/>
        </p:nvSpPr>
        <p:spPr>
          <a:xfrm>
            <a:off x="6254231" y="347472"/>
            <a:ext cx="1872702"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1 · Fits decisions already made</a:t>
            </a:r>
          </a:p>
        </p:txBody>
      </p:sp>
      <p:sp>
        <p:nvSpPr>
          <p:cNvPr id="93" name="Rounded Rectangle 92"/>
          <p:cNvSpPr/>
          <p:nvPr/>
        </p:nvSpPr>
        <p:spPr>
          <a:xfrm>
            <a:off x="8190957" y="347472"/>
            <a:ext cx="2100628" cy="219456"/>
          </a:xfrm>
          <a:prstGeom prst="roundRect">
            <a:avLst>
              <a:gd name="adj" fmla="val 50000"/>
            </a:avLst>
          </a:prstGeom>
          <a:noFill/>
          <a:ln w="9144">
            <a:solidFill>
              <a:srgbClr val="DDDBCE"/>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9A9A9A"/>
                </a:solidFill>
                <a:effectLst/>
                <a:uLnTx/>
                <a:uFillTx/>
                <a:latin typeface="Fira Sans"/>
                <a:ea typeface="+mn-ea"/>
                <a:cs typeface="+mn-cs"/>
              </a:rPr>
              <a:t>2 · Serves the key customer groups</a:t>
            </a:r>
          </a:p>
        </p:txBody>
      </p:sp>
      <p:sp>
        <p:nvSpPr>
          <p:cNvPr id="94" name="Rounded Rectangle 93"/>
          <p:cNvSpPr/>
          <p:nvPr/>
        </p:nvSpPr>
        <p:spPr>
          <a:xfrm>
            <a:off x="10355609" y="347472"/>
            <a:ext cx="1333346" cy="219456"/>
          </a:xfrm>
          <a:prstGeom prst="roundRect">
            <a:avLst>
              <a:gd name="adj" fmla="val 50000"/>
            </a:avLst>
          </a:prstGeom>
          <a:solidFill>
            <a:srgbClr val="00482D"/>
          </a:solidFill>
          <a:ln w="9144">
            <a:solidFill>
              <a:srgbClr val="00482D"/>
            </a:solidFill>
          </a:ln>
          <a:effectLst/>
        </p:spPr>
        <p:txBody>
          <a:bodyPr wrap="non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Fira Sans"/>
                <a:ea typeface="+mn-ea"/>
                <a:cs typeface="+mn-cs"/>
              </a:rPr>
              <a:t>3 · Prepares for 2028</a:t>
            </a:r>
          </a:p>
        </p:txBody>
      </p:sp>
      <p:sp>
        <p:nvSpPr>
          <p:cNvPr id="95" name="TextBox 94"/>
          <p:cNvSpPr txBox="1"/>
          <p:nvPr/>
        </p:nvSpPr>
        <p:spPr>
          <a:xfrm>
            <a:off x="503046" y="743648"/>
            <a:ext cx="10405099"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In 2028, loyalty can connect activity to experiences, access, and partner benefits without changing the status system</a:t>
            </a:r>
            <a:endParaRPr kumimoji="0" sz="2900" b="0" i="0" u="none" strike="noStrike" kern="1200" cap="none" spc="-14" normalizeH="0" baseline="0" noProof="0">
              <a:ln>
                <a:noFill/>
              </a:ln>
              <a:solidFill>
                <a:srgbClr val="232422"/>
              </a:solidFill>
              <a:effectLst/>
              <a:uLnTx/>
              <a:uFillTx/>
              <a:latin typeface="Fira Sans"/>
              <a:ea typeface="+mn-ea"/>
              <a:cs typeface="+mn-cs"/>
            </a:endParaRPr>
          </a:p>
        </p:txBody>
      </p:sp>
      <p:grpSp>
        <p:nvGrpSpPr>
          <p:cNvPr id="17" name="Group 16">
            <a:extLst>
              <a:ext uri="{FF2B5EF4-FFF2-40B4-BE49-F238E27FC236}">
                <a16:creationId xmlns:a16="http://schemas.microsoft.com/office/drawing/2014/main" id="{6D43ABC5-DC9B-4B6D-97FB-F3806B3D70C9}"/>
              </a:ext>
            </a:extLst>
          </p:cNvPr>
          <p:cNvGrpSpPr/>
          <p:nvPr/>
        </p:nvGrpSpPr>
        <p:grpSpPr>
          <a:xfrm>
            <a:off x="503046" y="2156856"/>
            <a:ext cx="11244215" cy="3372566"/>
            <a:chOff x="503046" y="1956816"/>
            <a:chExt cx="11244215" cy="3136391"/>
          </a:xfrm>
        </p:grpSpPr>
        <p:sp>
          <p:nvSpPr>
            <p:cNvPr id="96" name="Rounded Rectangle 95"/>
            <p:cNvSpPr/>
            <p:nvPr/>
          </p:nvSpPr>
          <p:spPr>
            <a:xfrm>
              <a:off x="503046" y="1956816"/>
              <a:ext cx="5391736" cy="3136391"/>
            </a:xfrm>
            <a:prstGeom prst="roundRect">
              <a:avLst>
                <a:gd name="adj" fmla="val 609"/>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7" name="TextBox 96"/>
            <p:cNvSpPr txBox="1"/>
            <p:nvPr/>
          </p:nvSpPr>
          <p:spPr>
            <a:xfrm>
              <a:off x="695118" y="2074646"/>
              <a:ext cx="5257971"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lang="en-US" sz="1050" b="1" i="0" u="none" strike="noStrike" kern="1200" cap="all" spc="104" normalizeH="0" baseline="0" noProof="0">
                  <a:ln>
                    <a:noFill/>
                  </a:ln>
                  <a:solidFill>
                    <a:srgbClr val="232422"/>
                  </a:solidFill>
                  <a:effectLst/>
                  <a:uLnTx/>
                  <a:uFillTx/>
                  <a:latin typeface="Fira Sans"/>
                  <a:ea typeface="+mn-ea"/>
                  <a:cs typeface="+mn-cs"/>
                </a:rPr>
                <a:t>PRE-2028</a:t>
              </a:r>
              <a:endParaRPr kumimoji="0" sz="1050" b="1" i="0" u="none" strike="noStrike" kern="1200" cap="all" spc="104" normalizeH="0" baseline="0" noProof="0">
                <a:ln>
                  <a:noFill/>
                </a:ln>
                <a:solidFill>
                  <a:srgbClr val="232422"/>
                </a:solidFill>
                <a:effectLst/>
                <a:uLnTx/>
                <a:uFillTx/>
                <a:latin typeface="Fira Sans"/>
                <a:ea typeface="+mn-ea"/>
                <a:cs typeface="+mn-cs"/>
              </a:endParaRPr>
            </a:p>
          </p:txBody>
        </p:sp>
        <p:sp>
          <p:nvSpPr>
            <p:cNvPr id="98" name="TextBox 97"/>
            <p:cNvSpPr txBox="1"/>
            <p:nvPr/>
          </p:nvSpPr>
          <p:spPr>
            <a:xfrm>
              <a:off x="695118" y="2297373"/>
              <a:ext cx="5257971" cy="197328"/>
            </a:xfrm>
            <a:prstGeom prst="rect">
              <a:avLst/>
            </a:prstGeom>
            <a:noFill/>
          </p:spPr>
          <p:txBody>
            <a:bodyPr wrap="none" lIns="0" tIns="0" rIns="0" bIns="0" anchor="t">
              <a:noAutofit/>
            </a:bodyPr>
            <a:lstStyle/>
            <a:p>
              <a:pPr marL="0" marR="0" lvl="0" indent="0" algn="l" defTabSz="457200" rtl="0" eaLnBrk="1" fontAlgn="auto" latinLnBrk="0" hangingPunct="1">
                <a:lnSpc>
                  <a:spcPts val="1409"/>
                </a:lnSpc>
                <a:spcBef>
                  <a:spcPts val="0"/>
                </a:spcBef>
                <a:spcAft>
                  <a:spcPts val="0"/>
                </a:spcAft>
                <a:buClrTx/>
                <a:buSzTx/>
                <a:buFontTx/>
                <a:buNone/>
                <a:tabLst/>
                <a:defRPr/>
              </a:pPr>
              <a:r>
                <a:rPr kumimoji="0" lang="en-US" sz="1050" b="0" i="0" u="none" strike="noStrike" kern="1200" cap="none" spc="0" normalizeH="0" baseline="0" noProof="0">
                  <a:ln>
                    <a:noFill/>
                  </a:ln>
                  <a:solidFill>
                    <a:srgbClr val="575757"/>
                  </a:solidFill>
                  <a:effectLst/>
                  <a:uLnTx/>
                  <a:uFillTx/>
                  <a:latin typeface="Fira Sans"/>
                  <a:ea typeface="+mn-ea"/>
                  <a:cs typeface="+mn-cs"/>
                </a:rPr>
                <a:t>Combined balances determine the relationship level. Benefits and service follow.</a:t>
              </a:r>
              <a:endParaRPr kumimoji="0" sz="1050" b="0" i="0" u="none" strike="noStrike" kern="1200" cap="none" spc="0" normalizeH="0" baseline="0" noProof="0">
                <a:ln>
                  <a:noFill/>
                </a:ln>
                <a:solidFill>
                  <a:srgbClr val="575757"/>
                </a:solidFill>
                <a:effectLst/>
                <a:uLnTx/>
                <a:uFillTx/>
                <a:latin typeface="Fira Sans"/>
                <a:ea typeface="+mn-ea"/>
                <a:cs typeface="+mn-cs"/>
              </a:endParaRPr>
            </a:p>
          </p:txBody>
        </p:sp>
        <p:sp>
          <p:nvSpPr>
            <p:cNvPr id="99" name="Rounded Rectangle 98"/>
            <p:cNvSpPr/>
            <p:nvPr/>
          </p:nvSpPr>
          <p:spPr>
            <a:xfrm>
              <a:off x="695209" y="2602017"/>
              <a:ext cx="1520113" cy="339700"/>
            </a:xfrm>
            <a:prstGeom prst="roundRect">
              <a:avLst>
                <a:gd name="adj" fmla="val 18411"/>
              </a:avLst>
            </a:prstGeom>
            <a:solidFill>
              <a:srgbClr val="FFFFFF"/>
            </a:solidFill>
            <a:ln w="1069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TextBox 99"/>
            <p:cNvSpPr txBox="1"/>
            <p:nvPr/>
          </p:nvSpPr>
          <p:spPr>
            <a:xfrm>
              <a:off x="1020405" y="2679649"/>
              <a:ext cx="86972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Entry checking</a:t>
              </a:r>
            </a:p>
          </p:txBody>
        </p:sp>
        <p:sp>
          <p:nvSpPr>
            <p:cNvPr id="101" name="Rounded Rectangle 100"/>
            <p:cNvSpPr/>
            <p:nvPr/>
          </p:nvSpPr>
          <p:spPr>
            <a:xfrm>
              <a:off x="2438857" y="2602017"/>
              <a:ext cx="1520113" cy="339700"/>
            </a:xfrm>
            <a:prstGeom prst="roundRect">
              <a:avLst>
                <a:gd name="adj" fmla="val 18411"/>
              </a:avLst>
            </a:prstGeom>
            <a:solidFill>
              <a:srgbClr val="FFFFFF"/>
            </a:solidFill>
            <a:ln w="1069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TextBox 101"/>
            <p:cNvSpPr txBox="1"/>
            <p:nvPr/>
          </p:nvSpPr>
          <p:spPr>
            <a:xfrm>
              <a:off x="2805806" y="2679649"/>
              <a:ext cx="78621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Mid checking</a:t>
              </a:r>
            </a:p>
          </p:txBody>
        </p:sp>
        <p:sp>
          <p:nvSpPr>
            <p:cNvPr id="103" name="Rounded Rectangle 102"/>
            <p:cNvSpPr/>
            <p:nvPr/>
          </p:nvSpPr>
          <p:spPr>
            <a:xfrm>
              <a:off x="4182505" y="2602017"/>
              <a:ext cx="1520113" cy="339700"/>
            </a:xfrm>
            <a:prstGeom prst="roundRect">
              <a:avLst>
                <a:gd name="adj" fmla="val 18411"/>
              </a:avLst>
            </a:prstGeom>
            <a:solidFill>
              <a:srgbClr val="FFFFFF"/>
            </a:solidFill>
            <a:ln w="1069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TextBox 103"/>
            <p:cNvSpPr txBox="1"/>
            <p:nvPr/>
          </p:nvSpPr>
          <p:spPr>
            <a:xfrm>
              <a:off x="4405812" y="2679649"/>
              <a:ext cx="107350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Premium checking</a:t>
              </a:r>
            </a:p>
          </p:txBody>
        </p:sp>
        <p:sp>
          <p:nvSpPr>
            <p:cNvPr id="2" name="Freeform 1"/>
            <p:cNvSpPr/>
            <p:nvPr/>
          </p:nvSpPr>
          <p:spPr>
            <a:xfrm>
              <a:off x="1455266" y="2941716"/>
              <a:ext cx="1073042" cy="268194"/>
            </a:xfrm>
            <a:custGeom>
              <a:avLst/>
              <a:gdLst/>
              <a:ahLst/>
              <a:cxnLst/>
              <a:rect l="l" t="t" r="r" b="b"/>
              <a:pathLst>
                <a:path w="1073042" h="268194">
                  <a:moveTo>
                    <a:pt x="0" y="0"/>
                  </a:moveTo>
                  <a:lnTo>
                    <a:pt x="3750" y="17191"/>
                  </a:lnTo>
                  <a:lnTo>
                    <a:pt x="13170" y="32004"/>
                  </a:lnTo>
                  <a:lnTo>
                    <a:pt x="25701" y="44349"/>
                  </a:lnTo>
                  <a:lnTo>
                    <a:pt x="54969" y="64008"/>
                  </a:lnTo>
                  <a:lnTo>
                    <a:pt x="102895" y="86411"/>
                  </a:lnTo>
                  <a:lnTo>
                    <a:pt x="169663" y="109454"/>
                  </a:lnTo>
                  <a:lnTo>
                    <a:pt x="254815" y="132588"/>
                  </a:lnTo>
                  <a:lnTo>
                    <a:pt x="375546" y="158923"/>
                  </a:lnTo>
                  <a:lnTo>
                    <a:pt x="549234" y="190287"/>
                  </a:lnTo>
                  <a:lnTo>
                    <a:pt x="845848" y="235550"/>
                  </a:lnTo>
                  <a:lnTo>
                    <a:pt x="1073042" y="268194"/>
                  </a:lnTo>
                </a:path>
              </a:pathLst>
            </a:custGeom>
            <a:noFill/>
            <a:ln w="1252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2"/>
            <p:cNvSpPr/>
            <p:nvPr/>
          </p:nvSpPr>
          <p:spPr>
            <a:xfrm>
              <a:off x="2483949" y="3183209"/>
              <a:ext cx="80121" cy="69495"/>
            </a:xfrm>
            <a:custGeom>
              <a:avLst/>
              <a:gdLst/>
              <a:ahLst/>
              <a:cxnLst/>
              <a:rect l="l" t="t" r="r" b="b"/>
              <a:pathLst>
                <a:path w="80121" h="69495">
                  <a:moveTo>
                    <a:pt x="80121" y="35662"/>
                  </a:moveTo>
                  <a:lnTo>
                    <a:pt x="0" y="0"/>
                  </a:lnTo>
                  <a:lnTo>
                    <a:pt x="16097" y="65746"/>
                  </a:lnTo>
                  <a:lnTo>
                    <a:pt x="20853" y="69495"/>
                  </a:lnTo>
                  <a:lnTo>
                    <a:pt x="80121" y="35662"/>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05" name="Connector 104"/>
            <p:cNvCxnSpPr/>
            <p:nvPr/>
          </p:nvCxnSpPr>
          <p:spPr>
            <a:xfrm>
              <a:off x="3198914" y="2941716"/>
              <a:ext cx="0" cy="250363"/>
            </a:xfrm>
            <a:prstGeom prst="line">
              <a:avLst/>
            </a:prstGeom>
            <a:ln w="12527">
              <a:solidFill>
                <a:srgbClr val="B0742F"/>
              </a:solidFill>
            </a:ln>
            <a:effectLst/>
          </p:spPr>
        </p:cxnSp>
        <p:sp>
          <p:nvSpPr>
            <p:cNvPr id="4" name="Freeform 3"/>
            <p:cNvSpPr/>
            <p:nvPr/>
          </p:nvSpPr>
          <p:spPr>
            <a:xfrm>
              <a:off x="3154646" y="3147365"/>
              <a:ext cx="88536" cy="80467"/>
            </a:xfrm>
            <a:custGeom>
              <a:avLst/>
              <a:gdLst/>
              <a:ahLst/>
              <a:cxnLst/>
              <a:rect l="l" t="t" r="r" b="b"/>
              <a:pathLst>
                <a:path w="88536" h="80467">
                  <a:moveTo>
                    <a:pt x="44268" y="80467"/>
                  </a:moveTo>
                  <a:lnTo>
                    <a:pt x="0" y="731"/>
                  </a:lnTo>
                  <a:lnTo>
                    <a:pt x="78475" y="0"/>
                  </a:lnTo>
                  <a:lnTo>
                    <a:pt x="88536" y="731"/>
                  </a:lnTo>
                  <a:lnTo>
                    <a:pt x="44268" y="80467"/>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4"/>
            <p:cNvSpPr/>
            <p:nvPr/>
          </p:nvSpPr>
          <p:spPr>
            <a:xfrm>
              <a:off x="3869519" y="2941716"/>
              <a:ext cx="1073043" cy="268194"/>
            </a:xfrm>
            <a:custGeom>
              <a:avLst/>
              <a:gdLst/>
              <a:ahLst/>
              <a:cxnLst/>
              <a:rect l="l" t="t" r="r" b="b"/>
              <a:pathLst>
                <a:path w="1073043" h="268194">
                  <a:moveTo>
                    <a:pt x="1073043" y="0"/>
                  </a:moveTo>
                  <a:lnTo>
                    <a:pt x="1069293" y="17100"/>
                  </a:lnTo>
                  <a:lnTo>
                    <a:pt x="1059872" y="32004"/>
                  </a:lnTo>
                  <a:lnTo>
                    <a:pt x="1047342" y="44349"/>
                  </a:lnTo>
                  <a:lnTo>
                    <a:pt x="1018074" y="64008"/>
                  </a:lnTo>
                  <a:lnTo>
                    <a:pt x="970147" y="86411"/>
                  </a:lnTo>
                  <a:lnTo>
                    <a:pt x="903379" y="109454"/>
                  </a:lnTo>
                  <a:lnTo>
                    <a:pt x="818227" y="132588"/>
                  </a:lnTo>
                  <a:lnTo>
                    <a:pt x="697496" y="158923"/>
                  </a:lnTo>
                  <a:lnTo>
                    <a:pt x="523808" y="190287"/>
                  </a:lnTo>
                  <a:lnTo>
                    <a:pt x="227194" y="235550"/>
                  </a:lnTo>
                  <a:lnTo>
                    <a:pt x="0" y="268194"/>
                  </a:lnTo>
                </a:path>
              </a:pathLst>
            </a:custGeom>
            <a:noFill/>
            <a:ln w="1252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5"/>
            <p:cNvSpPr/>
            <p:nvPr/>
          </p:nvSpPr>
          <p:spPr>
            <a:xfrm>
              <a:off x="3833757" y="3183209"/>
              <a:ext cx="80122" cy="69495"/>
            </a:xfrm>
            <a:custGeom>
              <a:avLst/>
              <a:gdLst/>
              <a:ahLst/>
              <a:cxnLst/>
              <a:rect l="l" t="t" r="r" b="b"/>
              <a:pathLst>
                <a:path w="80122" h="69495">
                  <a:moveTo>
                    <a:pt x="0" y="35662"/>
                  </a:moveTo>
                  <a:lnTo>
                    <a:pt x="80122" y="0"/>
                  </a:lnTo>
                  <a:lnTo>
                    <a:pt x="64024" y="65746"/>
                  </a:lnTo>
                  <a:lnTo>
                    <a:pt x="59268" y="69495"/>
                  </a:lnTo>
                  <a:lnTo>
                    <a:pt x="0" y="35662"/>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6" name="Rounded Rectangle 105"/>
            <p:cNvSpPr/>
            <p:nvPr/>
          </p:nvSpPr>
          <p:spPr>
            <a:xfrm>
              <a:off x="695209" y="3263585"/>
              <a:ext cx="5007409" cy="536296"/>
            </a:xfrm>
            <a:prstGeom prst="roundRect">
              <a:avLst>
                <a:gd name="adj" fmla="val 15004"/>
              </a:avLst>
            </a:prstGeom>
            <a:solidFill>
              <a:srgbClr val="F6EAD6"/>
            </a:solidFill>
            <a:ln w="13441">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7" name="Rounded Rectangle 106"/>
            <p:cNvSpPr/>
            <p:nvPr/>
          </p:nvSpPr>
          <p:spPr>
            <a:xfrm>
              <a:off x="802587" y="3370844"/>
              <a:ext cx="1466424" cy="321777"/>
            </a:xfrm>
            <a:prstGeom prst="roundRect">
              <a:avLst>
                <a:gd name="adj" fmla="val 16680"/>
              </a:avLst>
            </a:prstGeom>
            <a:solidFill>
              <a:srgbClr val="FFFFFF"/>
            </a:solidFill>
            <a:ln w="9875">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8" name="TextBox 107"/>
            <p:cNvSpPr txBox="1"/>
            <p:nvPr/>
          </p:nvSpPr>
          <p:spPr>
            <a:xfrm>
              <a:off x="1211426" y="3439516"/>
              <a:ext cx="64865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8F5C20"/>
                  </a:solidFill>
                  <a:effectLst/>
                  <a:uLnTx/>
                  <a:uFillTx/>
                  <a:latin typeface="Fira Sans"/>
                  <a:ea typeface="+mn-ea"/>
                  <a:cs typeface="+mn-cs"/>
                </a:rPr>
                <a:t>Level 1</a:t>
              </a:r>
              <a:endParaRPr kumimoji="0" sz="950" b="0" i="1" u="none" strike="noStrike" kern="1200" cap="none" spc="0" normalizeH="0" baseline="0" noProof="0">
                <a:ln>
                  <a:noFill/>
                </a:ln>
                <a:solidFill>
                  <a:srgbClr val="8F5C20"/>
                </a:solidFill>
                <a:effectLst/>
                <a:uLnTx/>
                <a:uFillTx/>
                <a:latin typeface="Fira Sans"/>
                <a:ea typeface="+mn-ea"/>
                <a:cs typeface="+mn-cs"/>
              </a:endParaRPr>
            </a:p>
          </p:txBody>
        </p:sp>
        <p:sp>
          <p:nvSpPr>
            <p:cNvPr id="109" name="Rounded Rectangle 108"/>
            <p:cNvSpPr/>
            <p:nvPr/>
          </p:nvSpPr>
          <p:spPr>
            <a:xfrm>
              <a:off x="2465656" y="3370844"/>
              <a:ext cx="1466516" cy="321777"/>
            </a:xfrm>
            <a:prstGeom prst="roundRect">
              <a:avLst>
                <a:gd name="adj" fmla="val 16680"/>
              </a:avLst>
            </a:prstGeom>
            <a:noFill/>
            <a:ln w="9875">
              <a:solidFill>
                <a:srgbClr val="B0742F"/>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0" name="TextBox 109"/>
            <p:cNvSpPr txBox="1"/>
            <p:nvPr/>
          </p:nvSpPr>
          <p:spPr>
            <a:xfrm>
              <a:off x="2572942" y="3439516"/>
              <a:ext cx="1251944"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8F5C20"/>
                  </a:solidFill>
                  <a:effectLst/>
                  <a:uLnTx/>
                  <a:uFillTx/>
                  <a:latin typeface="Fira Sans"/>
                  <a:ea typeface="+mn-ea"/>
                  <a:cs typeface="+mn-cs"/>
                </a:rPr>
                <a:t>L</a:t>
              </a:r>
              <a:r>
                <a:rPr kumimoji="0" sz="950" b="0" i="1" u="none" strike="noStrike" kern="1200" cap="none" spc="0" normalizeH="0" baseline="0" noProof="0" err="1">
                  <a:ln>
                    <a:noFill/>
                  </a:ln>
                  <a:solidFill>
                    <a:srgbClr val="8F5C20"/>
                  </a:solidFill>
                  <a:effectLst/>
                  <a:uLnTx/>
                  <a:uFillTx/>
                  <a:latin typeface="Fira Sans"/>
                  <a:ea typeface="+mn-ea"/>
                  <a:cs typeface="+mn-cs"/>
                </a:rPr>
                <a:t>evel</a:t>
              </a:r>
              <a:r>
                <a:rPr kumimoji="0" lang="en-US" sz="950" b="0" i="1" u="none" strike="noStrike" kern="1200" cap="none" spc="0" normalizeH="0" baseline="0" noProof="0">
                  <a:ln>
                    <a:noFill/>
                  </a:ln>
                  <a:solidFill>
                    <a:srgbClr val="8F5C20"/>
                  </a:solidFill>
                  <a:effectLst/>
                  <a:uLnTx/>
                  <a:uFillTx/>
                  <a:latin typeface="Fira Sans"/>
                  <a:ea typeface="+mn-ea"/>
                  <a:cs typeface="+mn-cs"/>
                </a:rPr>
                <a:t> 2</a:t>
              </a:r>
              <a:r>
                <a:rPr kumimoji="0" sz="950" b="0" i="1" u="none" strike="noStrike" kern="1200" cap="none" spc="0" normalizeH="0" baseline="0" noProof="0">
                  <a:ln>
                    <a:noFill/>
                  </a:ln>
                  <a:solidFill>
                    <a:srgbClr val="8F5C20"/>
                  </a:solidFill>
                  <a:effectLst/>
                  <a:uLnTx/>
                  <a:uFillTx/>
                  <a:latin typeface="Fira Sans"/>
                  <a:ea typeface="+mn-ea"/>
                  <a:cs typeface="+mn-cs"/>
                </a:rPr>
                <a:t> · timing TBD</a:t>
              </a:r>
            </a:p>
          </p:txBody>
        </p:sp>
        <p:sp>
          <p:nvSpPr>
            <p:cNvPr id="111" name="Rounded Rectangle 110"/>
            <p:cNvSpPr/>
            <p:nvPr/>
          </p:nvSpPr>
          <p:spPr>
            <a:xfrm>
              <a:off x="4128817" y="3370844"/>
              <a:ext cx="1466424" cy="321777"/>
            </a:xfrm>
            <a:prstGeom prst="roundRect">
              <a:avLst>
                <a:gd name="adj" fmla="val 16680"/>
              </a:avLst>
            </a:prstGeom>
            <a:solidFill>
              <a:srgbClr val="FFFFFF"/>
            </a:solidFill>
            <a:ln w="9875">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2" name="TextBox 111"/>
            <p:cNvSpPr txBox="1"/>
            <p:nvPr/>
          </p:nvSpPr>
          <p:spPr>
            <a:xfrm>
              <a:off x="4435675" y="3446339"/>
              <a:ext cx="85280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8F5C20"/>
                  </a:solidFill>
                  <a:effectLst/>
                  <a:uLnTx/>
                  <a:uFillTx/>
                  <a:latin typeface="Fira Sans"/>
                  <a:ea typeface="+mn-ea"/>
                  <a:cs typeface="+mn-cs"/>
                </a:rPr>
                <a:t>Level 3 (tied to PC)</a:t>
              </a:r>
              <a:endParaRPr kumimoji="0" sz="950" b="0" i="1" u="none" strike="noStrike" kern="1200" cap="none" spc="0" normalizeH="0" baseline="0" noProof="0">
                <a:ln>
                  <a:noFill/>
                </a:ln>
                <a:solidFill>
                  <a:srgbClr val="8F5C20"/>
                </a:solidFill>
                <a:effectLst/>
                <a:uLnTx/>
                <a:uFillTx/>
                <a:latin typeface="Fira Sans"/>
                <a:ea typeface="+mn-ea"/>
                <a:cs typeface="+mn-cs"/>
              </a:endParaRPr>
            </a:p>
          </p:txBody>
        </p:sp>
        <p:sp>
          <p:nvSpPr>
            <p:cNvPr id="114" name="Rounded Rectangle 113"/>
            <p:cNvSpPr/>
            <p:nvPr/>
          </p:nvSpPr>
          <p:spPr>
            <a:xfrm>
              <a:off x="695209" y="3925062"/>
              <a:ext cx="5007409" cy="679399"/>
            </a:xfrm>
            <a:prstGeom prst="roundRect">
              <a:avLst>
                <a:gd name="adj" fmla="val 10524"/>
              </a:avLst>
            </a:prstGeom>
            <a:solidFill>
              <a:srgbClr val="FFFFFF"/>
            </a:solidFill>
            <a:ln w="11612">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6"/>
            <p:cNvSpPr/>
            <p:nvPr/>
          </p:nvSpPr>
          <p:spPr>
            <a:xfrm>
              <a:off x="722099" y="3951854"/>
              <a:ext cx="4953629" cy="393375"/>
            </a:xfrm>
            <a:custGeom>
              <a:avLst/>
              <a:gdLst/>
              <a:ahLst/>
              <a:cxnLst/>
              <a:rect l="l" t="t" r="r" b="b"/>
              <a:pathLst>
                <a:path w="4953629" h="393375">
                  <a:moveTo>
                    <a:pt x="0" y="0"/>
                  </a:moveTo>
                  <a:lnTo>
                    <a:pt x="4919331" y="0"/>
                  </a:lnTo>
                  <a:lnTo>
                    <a:pt x="4953629" y="19202"/>
                  </a:lnTo>
                  <a:lnTo>
                    <a:pt x="4953629" y="286481"/>
                  </a:lnTo>
                  <a:lnTo>
                    <a:pt x="4926648" y="312908"/>
                  </a:lnTo>
                  <a:lnTo>
                    <a:pt x="2948214" y="312908"/>
                  </a:lnTo>
                  <a:lnTo>
                    <a:pt x="2897087" y="315194"/>
                  </a:lnTo>
                  <a:lnTo>
                    <a:pt x="2897087" y="368686"/>
                  </a:lnTo>
                  <a:lnTo>
                    <a:pt x="2868276" y="393375"/>
                  </a:lnTo>
                  <a:lnTo>
                    <a:pt x="2280078" y="393375"/>
                  </a:lnTo>
                  <a:lnTo>
                    <a:pt x="2235353" y="384597"/>
                  </a:lnTo>
                  <a:lnTo>
                    <a:pt x="2235353" y="331196"/>
                  </a:lnTo>
                  <a:lnTo>
                    <a:pt x="2200140" y="312908"/>
                  </a:lnTo>
                  <a:lnTo>
                    <a:pt x="7866" y="312908"/>
                  </a:lnTo>
                  <a:lnTo>
                    <a:pt x="0" y="267279"/>
                  </a:lnTo>
                  <a:lnTo>
                    <a:pt x="0" y="0"/>
                  </a:lnTo>
                  <a:close/>
                </a:path>
              </a:pathLst>
            </a:custGeom>
            <a:solidFill>
              <a:srgbClr val="E6EFE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5" name="TextBox 114"/>
            <p:cNvSpPr txBox="1"/>
            <p:nvPr/>
          </p:nvSpPr>
          <p:spPr>
            <a:xfrm>
              <a:off x="1649899" y="4011564"/>
              <a:ext cx="309803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42603E"/>
                  </a:solidFill>
                  <a:effectLst/>
                  <a:uLnTx/>
                  <a:uFillTx/>
                  <a:latin typeface="Fira Sans"/>
                  <a:ea typeface="+mn-ea"/>
                  <a:cs typeface="+mn-cs"/>
                </a:rPr>
                <a:t>Relationship benefits increase with status</a:t>
              </a:r>
            </a:p>
          </p:txBody>
        </p:sp>
        <p:sp>
          <p:nvSpPr>
            <p:cNvPr id="8" name="Freeform 7"/>
            <p:cNvSpPr/>
            <p:nvPr/>
          </p:nvSpPr>
          <p:spPr>
            <a:xfrm>
              <a:off x="722099" y="4264762"/>
              <a:ext cx="4953629" cy="80467"/>
            </a:xfrm>
            <a:custGeom>
              <a:avLst/>
              <a:gdLst/>
              <a:ahLst/>
              <a:cxnLst/>
              <a:rect l="l" t="t" r="r" b="b"/>
              <a:pathLst>
                <a:path w="4953629" h="80467">
                  <a:moveTo>
                    <a:pt x="0" y="0"/>
                  </a:moveTo>
                  <a:lnTo>
                    <a:pt x="2224835" y="0"/>
                  </a:lnTo>
                  <a:lnTo>
                    <a:pt x="2235353" y="14996"/>
                  </a:lnTo>
                  <a:lnTo>
                    <a:pt x="2235353" y="66202"/>
                  </a:lnTo>
                  <a:lnTo>
                    <a:pt x="2246694" y="80467"/>
                  </a:lnTo>
                  <a:lnTo>
                    <a:pt x="2886020" y="80467"/>
                  </a:lnTo>
                  <a:lnTo>
                    <a:pt x="2897087" y="66019"/>
                  </a:lnTo>
                  <a:lnTo>
                    <a:pt x="2897087" y="14813"/>
                  </a:lnTo>
                  <a:lnTo>
                    <a:pt x="2907788" y="0"/>
                  </a:lnTo>
                  <a:lnTo>
                    <a:pt x="4953629" y="0"/>
                  </a:lnTo>
                </a:path>
              </a:pathLst>
            </a:custGeom>
            <a:noFill/>
            <a:ln w="11612">
              <a:solidFill>
                <a:srgbClr val="587B52"/>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6" name="TextBox 115"/>
            <p:cNvSpPr txBox="1"/>
            <p:nvPr/>
          </p:nvSpPr>
          <p:spPr>
            <a:xfrm>
              <a:off x="1218011" y="4394954"/>
              <a:ext cx="396180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42603E"/>
                  </a:solidFill>
                  <a:effectLst/>
                  <a:uLnTx/>
                  <a:uFillTx/>
                  <a:latin typeface="Fira Sans"/>
                  <a:ea typeface="+mn-ea"/>
                  <a:cs typeface="+mn-cs"/>
                </a:rPr>
                <a:t>Space held for the program</a:t>
              </a:r>
            </a:p>
          </p:txBody>
        </p:sp>
        <p:sp>
          <p:nvSpPr>
            <p:cNvPr id="117" name="TextBox 116"/>
            <p:cNvSpPr txBox="1"/>
            <p:nvPr/>
          </p:nvSpPr>
          <p:spPr>
            <a:xfrm>
              <a:off x="695209" y="4758474"/>
              <a:ext cx="4502625"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575757"/>
                  </a:solidFill>
                  <a:effectLst/>
                  <a:uLnTx/>
                  <a:uFillTx/>
                  <a:latin typeface="Fira Sans"/>
                  <a:ea typeface="+mn-ea"/>
                  <a:cs typeface="+mn-cs"/>
                </a:rPr>
                <a:t>The levels reflect what customers keep at Citizens – deposits and investments</a:t>
              </a:r>
            </a:p>
          </p:txBody>
        </p:sp>
        <p:sp>
          <p:nvSpPr>
            <p:cNvPr id="118" name="Rounded Rectangle 117"/>
            <p:cNvSpPr/>
            <p:nvPr/>
          </p:nvSpPr>
          <p:spPr>
            <a:xfrm>
              <a:off x="6297218" y="1956816"/>
              <a:ext cx="5391736" cy="3136391"/>
            </a:xfrm>
            <a:prstGeom prst="roundRect">
              <a:avLst>
                <a:gd name="adj" fmla="val 609"/>
              </a:avLst>
            </a:prstGeom>
            <a:solidFill>
              <a:srgbClr val="FFFFFF"/>
            </a:solidFill>
            <a:ln w="9144">
              <a:solidFill>
                <a:srgbClr val="DDDBC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9" name="TextBox 118"/>
            <p:cNvSpPr txBox="1"/>
            <p:nvPr/>
          </p:nvSpPr>
          <p:spPr>
            <a:xfrm>
              <a:off x="6489290" y="2074646"/>
              <a:ext cx="5257971"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050" b="1" i="0" u="none" strike="noStrike" kern="1200" cap="all" spc="104" normalizeH="0" baseline="0" noProof="0">
                  <a:ln>
                    <a:noFill/>
                  </a:ln>
                  <a:solidFill>
                    <a:srgbClr val="007651"/>
                  </a:solidFill>
                  <a:effectLst/>
                  <a:uLnTx/>
                  <a:uFillTx/>
                  <a:latin typeface="Fira Sans"/>
                  <a:ea typeface="+mn-ea"/>
                  <a:cs typeface="+mn-cs"/>
                </a:rPr>
                <a:t>FROM 2028 · THE PROGRAM </a:t>
              </a:r>
              <a:r>
                <a:rPr kumimoji="0" lang="en-US" sz="1050" b="1" i="0" u="none" strike="noStrike" kern="1200" cap="all" spc="104" normalizeH="0" baseline="0" noProof="0">
                  <a:ln>
                    <a:noFill/>
                  </a:ln>
                  <a:solidFill>
                    <a:srgbClr val="007651"/>
                  </a:solidFill>
                  <a:effectLst/>
                  <a:uLnTx/>
                  <a:uFillTx/>
                  <a:latin typeface="Fira Sans"/>
                  <a:ea typeface="+mn-ea"/>
                  <a:cs typeface="+mn-cs"/>
                </a:rPr>
                <a:t>EXPANDS</a:t>
              </a:r>
              <a:endParaRPr kumimoji="0" sz="1050" b="1" i="0" u="none" strike="noStrike" kern="1200" cap="all" spc="104" normalizeH="0" baseline="0" noProof="0">
                <a:ln>
                  <a:noFill/>
                </a:ln>
                <a:solidFill>
                  <a:srgbClr val="007651"/>
                </a:solidFill>
                <a:effectLst/>
                <a:uLnTx/>
                <a:uFillTx/>
                <a:latin typeface="Fira Sans"/>
                <a:ea typeface="+mn-ea"/>
                <a:cs typeface="+mn-cs"/>
              </a:endParaRPr>
            </a:p>
          </p:txBody>
        </p:sp>
        <p:sp>
          <p:nvSpPr>
            <p:cNvPr id="120" name="TextBox 119"/>
            <p:cNvSpPr txBox="1"/>
            <p:nvPr/>
          </p:nvSpPr>
          <p:spPr>
            <a:xfrm>
              <a:off x="6489290" y="2297373"/>
              <a:ext cx="5257971" cy="197328"/>
            </a:xfrm>
            <a:prstGeom prst="rect">
              <a:avLst/>
            </a:prstGeom>
            <a:noFill/>
          </p:spPr>
          <p:txBody>
            <a:bodyPr wrap="none" lIns="0" tIns="0" rIns="0" bIns="0" anchor="t">
              <a:noAutofit/>
            </a:bodyPr>
            <a:lstStyle/>
            <a:p>
              <a:pPr marL="0" marR="0" lvl="0" indent="0" algn="l" defTabSz="457200" rtl="0" eaLnBrk="1" fontAlgn="auto" latinLnBrk="0" hangingPunct="1">
                <a:lnSpc>
                  <a:spcPts val="1409"/>
                </a:lnSpc>
                <a:spcBef>
                  <a:spcPts val="0"/>
                </a:spcBef>
                <a:spcAft>
                  <a:spcPts val="0"/>
                </a:spcAft>
                <a:buClrTx/>
                <a:buSzTx/>
                <a:buFontTx/>
                <a:buNone/>
                <a:tabLst/>
                <a:defRPr/>
              </a:pPr>
              <a:r>
                <a:rPr kumimoji="0" lang="en-US" sz="1050" b="0" i="0" u="none" strike="noStrike" kern="1200" cap="none" spc="0" normalizeH="0" baseline="0" noProof="0">
                  <a:ln>
                    <a:noFill/>
                  </a:ln>
                  <a:solidFill>
                    <a:srgbClr val="575757"/>
                  </a:solidFill>
                  <a:effectLst/>
                  <a:uLnTx/>
                  <a:uFillTx/>
                  <a:latin typeface="Fira Sans"/>
                  <a:ea typeface="+mn-ea"/>
                  <a:cs typeface="+mn-cs"/>
                </a:rPr>
                <a:t>Adds more ways to earn via activity + behavior. Status stays the same. </a:t>
              </a:r>
            </a:p>
          </p:txBody>
        </p:sp>
        <p:sp>
          <p:nvSpPr>
            <p:cNvPr id="121" name="Rounded Rectangle 120"/>
            <p:cNvSpPr/>
            <p:nvPr/>
          </p:nvSpPr>
          <p:spPr>
            <a:xfrm>
              <a:off x="6489473" y="2602017"/>
              <a:ext cx="1520021" cy="339700"/>
            </a:xfrm>
            <a:prstGeom prst="roundRect">
              <a:avLst>
                <a:gd name="adj" fmla="val 18411"/>
              </a:avLst>
            </a:prstGeom>
            <a:solidFill>
              <a:srgbClr val="FFFFFF"/>
            </a:solidFill>
            <a:ln w="10698">
              <a:solidFill>
                <a:srgbClr val="8095AB"/>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2" name="TextBox 121"/>
            <p:cNvSpPr txBox="1"/>
            <p:nvPr/>
          </p:nvSpPr>
          <p:spPr>
            <a:xfrm>
              <a:off x="6814578" y="2679649"/>
              <a:ext cx="86972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708395"/>
                  </a:solidFill>
                  <a:effectLst/>
                  <a:uLnTx/>
                  <a:uFillTx/>
                  <a:latin typeface="Fira Sans"/>
                  <a:ea typeface="+mn-ea"/>
                  <a:cs typeface="+mn-cs"/>
                </a:rPr>
                <a:t>Entry checking</a:t>
              </a:r>
            </a:p>
          </p:txBody>
        </p:sp>
        <p:sp>
          <p:nvSpPr>
            <p:cNvPr id="123" name="Rounded Rectangle 122"/>
            <p:cNvSpPr/>
            <p:nvPr/>
          </p:nvSpPr>
          <p:spPr>
            <a:xfrm>
              <a:off x="8233030" y="2602017"/>
              <a:ext cx="1520113" cy="339700"/>
            </a:xfrm>
            <a:prstGeom prst="roundRect">
              <a:avLst>
                <a:gd name="adj" fmla="val 18411"/>
              </a:avLst>
            </a:prstGeom>
            <a:solidFill>
              <a:srgbClr val="FFFFFF"/>
            </a:solidFill>
            <a:ln w="10698">
              <a:solidFill>
                <a:srgbClr val="8095AB"/>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4" name="TextBox 123"/>
            <p:cNvSpPr txBox="1"/>
            <p:nvPr/>
          </p:nvSpPr>
          <p:spPr>
            <a:xfrm>
              <a:off x="8599979" y="2679649"/>
              <a:ext cx="78621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708395"/>
                  </a:solidFill>
                  <a:effectLst/>
                  <a:uLnTx/>
                  <a:uFillTx/>
                  <a:latin typeface="Fira Sans"/>
                  <a:ea typeface="+mn-ea"/>
                  <a:cs typeface="+mn-cs"/>
                </a:rPr>
                <a:t>Mid checking</a:t>
              </a:r>
            </a:p>
          </p:txBody>
        </p:sp>
        <p:sp>
          <p:nvSpPr>
            <p:cNvPr id="125" name="Rounded Rectangle 124"/>
            <p:cNvSpPr/>
            <p:nvPr/>
          </p:nvSpPr>
          <p:spPr>
            <a:xfrm>
              <a:off x="9976678" y="2602017"/>
              <a:ext cx="1520113" cy="339700"/>
            </a:xfrm>
            <a:prstGeom prst="roundRect">
              <a:avLst>
                <a:gd name="adj" fmla="val 18411"/>
              </a:avLst>
            </a:prstGeom>
            <a:solidFill>
              <a:srgbClr val="FFFFFF"/>
            </a:solidFill>
            <a:ln w="10698">
              <a:solidFill>
                <a:srgbClr val="8095AB"/>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6" name="TextBox 125"/>
            <p:cNvSpPr txBox="1"/>
            <p:nvPr/>
          </p:nvSpPr>
          <p:spPr>
            <a:xfrm>
              <a:off x="10199985" y="2679649"/>
              <a:ext cx="107350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708395"/>
                  </a:solidFill>
                  <a:effectLst/>
                  <a:uLnTx/>
                  <a:uFillTx/>
                  <a:latin typeface="Fira Sans"/>
                  <a:ea typeface="+mn-ea"/>
                  <a:cs typeface="+mn-cs"/>
                </a:rPr>
                <a:t>Premium checking</a:t>
              </a:r>
            </a:p>
          </p:txBody>
        </p:sp>
        <p:sp>
          <p:nvSpPr>
            <p:cNvPr id="9" name="Freeform 8"/>
            <p:cNvSpPr/>
            <p:nvPr/>
          </p:nvSpPr>
          <p:spPr>
            <a:xfrm>
              <a:off x="7249438" y="2941716"/>
              <a:ext cx="1073043" cy="268194"/>
            </a:xfrm>
            <a:custGeom>
              <a:avLst/>
              <a:gdLst/>
              <a:ahLst/>
              <a:cxnLst/>
              <a:rect l="l" t="t" r="r" b="b"/>
              <a:pathLst>
                <a:path w="1073043" h="268194">
                  <a:moveTo>
                    <a:pt x="0" y="0"/>
                  </a:moveTo>
                  <a:lnTo>
                    <a:pt x="3750" y="17191"/>
                  </a:lnTo>
                  <a:lnTo>
                    <a:pt x="13171" y="32004"/>
                  </a:lnTo>
                  <a:lnTo>
                    <a:pt x="25701" y="44349"/>
                  </a:lnTo>
                  <a:lnTo>
                    <a:pt x="54969" y="64008"/>
                  </a:lnTo>
                  <a:lnTo>
                    <a:pt x="102896" y="86411"/>
                  </a:lnTo>
                  <a:lnTo>
                    <a:pt x="169664" y="109454"/>
                  </a:lnTo>
                  <a:lnTo>
                    <a:pt x="254816" y="132588"/>
                  </a:lnTo>
                  <a:lnTo>
                    <a:pt x="375547" y="158923"/>
                  </a:lnTo>
                  <a:lnTo>
                    <a:pt x="549235" y="190287"/>
                  </a:lnTo>
                  <a:lnTo>
                    <a:pt x="845849" y="235550"/>
                  </a:lnTo>
                  <a:lnTo>
                    <a:pt x="1073043" y="268194"/>
                  </a:lnTo>
                </a:path>
              </a:pathLst>
            </a:custGeom>
            <a:noFill/>
            <a:ln w="12527">
              <a:solidFill>
                <a:srgbClr val="C69A66"/>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9"/>
            <p:cNvSpPr/>
            <p:nvPr/>
          </p:nvSpPr>
          <p:spPr>
            <a:xfrm>
              <a:off x="8278121" y="3183209"/>
              <a:ext cx="80122" cy="69495"/>
            </a:xfrm>
            <a:custGeom>
              <a:avLst/>
              <a:gdLst/>
              <a:ahLst/>
              <a:cxnLst/>
              <a:rect l="l" t="t" r="r" b="b"/>
              <a:pathLst>
                <a:path w="80122" h="69495">
                  <a:moveTo>
                    <a:pt x="80122" y="35662"/>
                  </a:moveTo>
                  <a:lnTo>
                    <a:pt x="0" y="0"/>
                  </a:lnTo>
                  <a:lnTo>
                    <a:pt x="16098" y="65746"/>
                  </a:lnTo>
                  <a:lnTo>
                    <a:pt x="20854" y="69495"/>
                  </a:lnTo>
                  <a:lnTo>
                    <a:pt x="80122" y="35662"/>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27" name="Connector 126"/>
            <p:cNvCxnSpPr/>
            <p:nvPr/>
          </p:nvCxnSpPr>
          <p:spPr>
            <a:xfrm>
              <a:off x="8993086" y="2941716"/>
              <a:ext cx="0" cy="250363"/>
            </a:xfrm>
            <a:prstGeom prst="line">
              <a:avLst/>
            </a:prstGeom>
            <a:ln w="12527">
              <a:solidFill>
                <a:srgbClr val="C69A66"/>
              </a:solidFill>
            </a:ln>
            <a:effectLst/>
          </p:spPr>
        </p:cxnSp>
        <p:sp>
          <p:nvSpPr>
            <p:cNvPr id="11" name="Freeform 10"/>
            <p:cNvSpPr/>
            <p:nvPr/>
          </p:nvSpPr>
          <p:spPr>
            <a:xfrm>
              <a:off x="8948818" y="3147365"/>
              <a:ext cx="88536" cy="80467"/>
            </a:xfrm>
            <a:custGeom>
              <a:avLst/>
              <a:gdLst/>
              <a:ahLst/>
              <a:cxnLst/>
              <a:rect l="l" t="t" r="r" b="b"/>
              <a:pathLst>
                <a:path w="88536" h="80467">
                  <a:moveTo>
                    <a:pt x="44268" y="80467"/>
                  </a:moveTo>
                  <a:lnTo>
                    <a:pt x="0" y="731"/>
                  </a:lnTo>
                  <a:lnTo>
                    <a:pt x="78475" y="0"/>
                  </a:lnTo>
                  <a:lnTo>
                    <a:pt x="88536" y="731"/>
                  </a:lnTo>
                  <a:lnTo>
                    <a:pt x="44268" y="80467"/>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11"/>
            <p:cNvSpPr/>
            <p:nvPr/>
          </p:nvSpPr>
          <p:spPr>
            <a:xfrm>
              <a:off x="9663692" y="2941716"/>
              <a:ext cx="1073042" cy="268194"/>
            </a:xfrm>
            <a:custGeom>
              <a:avLst/>
              <a:gdLst/>
              <a:ahLst/>
              <a:cxnLst/>
              <a:rect l="l" t="t" r="r" b="b"/>
              <a:pathLst>
                <a:path w="1073042" h="268194">
                  <a:moveTo>
                    <a:pt x="1073042" y="0"/>
                  </a:moveTo>
                  <a:lnTo>
                    <a:pt x="1069292" y="17100"/>
                  </a:lnTo>
                  <a:lnTo>
                    <a:pt x="1059872" y="32004"/>
                  </a:lnTo>
                  <a:lnTo>
                    <a:pt x="1047341" y="44349"/>
                  </a:lnTo>
                  <a:lnTo>
                    <a:pt x="1018073" y="64008"/>
                  </a:lnTo>
                  <a:lnTo>
                    <a:pt x="970147" y="86411"/>
                  </a:lnTo>
                  <a:lnTo>
                    <a:pt x="903379" y="109454"/>
                  </a:lnTo>
                  <a:lnTo>
                    <a:pt x="818227" y="132588"/>
                  </a:lnTo>
                  <a:lnTo>
                    <a:pt x="697496" y="158923"/>
                  </a:lnTo>
                  <a:lnTo>
                    <a:pt x="523808" y="190287"/>
                  </a:lnTo>
                  <a:lnTo>
                    <a:pt x="227194" y="235550"/>
                  </a:lnTo>
                  <a:lnTo>
                    <a:pt x="0" y="268194"/>
                  </a:lnTo>
                </a:path>
              </a:pathLst>
            </a:custGeom>
            <a:noFill/>
            <a:ln w="12527">
              <a:solidFill>
                <a:srgbClr val="C69A66"/>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Freeform 12"/>
            <p:cNvSpPr/>
            <p:nvPr/>
          </p:nvSpPr>
          <p:spPr>
            <a:xfrm>
              <a:off x="9627930" y="3183209"/>
              <a:ext cx="80121" cy="69495"/>
            </a:xfrm>
            <a:custGeom>
              <a:avLst/>
              <a:gdLst/>
              <a:ahLst/>
              <a:cxnLst/>
              <a:rect l="l" t="t" r="r" b="b"/>
              <a:pathLst>
                <a:path w="80121" h="69495">
                  <a:moveTo>
                    <a:pt x="0" y="35662"/>
                  </a:moveTo>
                  <a:lnTo>
                    <a:pt x="80121" y="0"/>
                  </a:lnTo>
                  <a:lnTo>
                    <a:pt x="64024" y="65746"/>
                  </a:lnTo>
                  <a:lnTo>
                    <a:pt x="59268" y="69495"/>
                  </a:lnTo>
                  <a:lnTo>
                    <a:pt x="0" y="35662"/>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8" name="Rounded Rectangle 127"/>
            <p:cNvSpPr/>
            <p:nvPr/>
          </p:nvSpPr>
          <p:spPr>
            <a:xfrm>
              <a:off x="6489473" y="3263585"/>
              <a:ext cx="5007318" cy="536296"/>
            </a:xfrm>
            <a:prstGeom prst="roundRect">
              <a:avLst>
                <a:gd name="adj" fmla="val 15004"/>
              </a:avLst>
            </a:prstGeom>
            <a:solidFill>
              <a:srgbClr val="F9F0E2"/>
            </a:solidFill>
            <a:ln w="13441">
              <a:solidFill>
                <a:srgbClr val="C69A66"/>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9" name="Rounded Rectangle 128"/>
            <p:cNvSpPr/>
            <p:nvPr/>
          </p:nvSpPr>
          <p:spPr>
            <a:xfrm>
              <a:off x="6596759" y="3370844"/>
              <a:ext cx="1466424" cy="321777"/>
            </a:xfrm>
            <a:prstGeom prst="roundRect">
              <a:avLst>
                <a:gd name="adj" fmla="val 16680"/>
              </a:avLst>
            </a:prstGeom>
            <a:solidFill>
              <a:srgbClr val="FFFFFF"/>
            </a:solidFill>
            <a:ln w="9875">
              <a:solidFill>
                <a:srgbClr val="C69A66"/>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0" name="TextBox 129"/>
            <p:cNvSpPr txBox="1"/>
            <p:nvPr/>
          </p:nvSpPr>
          <p:spPr>
            <a:xfrm>
              <a:off x="7005598" y="3439516"/>
              <a:ext cx="64865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AE885B"/>
                  </a:solidFill>
                  <a:effectLst/>
                  <a:uLnTx/>
                  <a:uFillTx/>
                  <a:latin typeface="Fira Sans"/>
                  <a:ea typeface="+mn-ea"/>
                  <a:cs typeface="+mn-cs"/>
                </a:rPr>
                <a:t>Level 1</a:t>
              </a:r>
              <a:endParaRPr kumimoji="0" sz="950" b="0" i="1" u="none" strike="noStrike" kern="1200" cap="none" spc="0" normalizeH="0" baseline="0" noProof="0">
                <a:ln>
                  <a:noFill/>
                </a:ln>
                <a:solidFill>
                  <a:srgbClr val="AE885B"/>
                </a:solidFill>
                <a:effectLst/>
                <a:uLnTx/>
                <a:uFillTx/>
                <a:latin typeface="Fira Sans"/>
                <a:ea typeface="+mn-ea"/>
                <a:cs typeface="+mn-cs"/>
              </a:endParaRPr>
            </a:p>
          </p:txBody>
        </p:sp>
        <p:sp>
          <p:nvSpPr>
            <p:cNvPr id="131" name="Rounded Rectangle 130"/>
            <p:cNvSpPr/>
            <p:nvPr/>
          </p:nvSpPr>
          <p:spPr>
            <a:xfrm>
              <a:off x="8259828" y="3370844"/>
              <a:ext cx="1466516" cy="321777"/>
            </a:xfrm>
            <a:prstGeom prst="roundRect">
              <a:avLst>
                <a:gd name="adj" fmla="val 16680"/>
              </a:avLst>
            </a:prstGeom>
            <a:solidFill>
              <a:srgbClr val="FFFFFF"/>
            </a:solidFill>
            <a:ln w="9875">
              <a:solidFill>
                <a:srgbClr val="C69A66"/>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2" name="TextBox 131"/>
            <p:cNvSpPr txBox="1"/>
            <p:nvPr/>
          </p:nvSpPr>
          <p:spPr>
            <a:xfrm>
              <a:off x="8710466" y="3439516"/>
              <a:ext cx="565241"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AE885B"/>
                  </a:solidFill>
                  <a:effectLst/>
                  <a:uLnTx/>
                  <a:uFillTx/>
                  <a:latin typeface="Fira Sans"/>
                  <a:ea typeface="+mn-ea"/>
                  <a:cs typeface="+mn-cs"/>
                </a:rPr>
                <a:t>Level 2</a:t>
              </a:r>
              <a:endParaRPr kumimoji="0" sz="950" b="0" i="1" u="none" strike="noStrike" kern="1200" cap="none" spc="0" normalizeH="0" baseline="0" noProof="0">
                <a:ln>
                  <a:noFill/>
                </a:ln>
                <a:solidFill>
                  <a:srgbClr val="AE885B"/>
                </a:solidFill>
                <a:effectLst/>
                <a:uLnTx/>
                <a:uFillTx/>
                <a:latin typeface="Fira Sans"/>
                <a:ea typeface="+mn-ea"/>
                <a:cs typeface="+mn-cs"/>
              </a:endParaRPr>
            </a:p>
          </p:txBody>
        </p:sp>
        <p:sp>
          <p:nvSpPr>
            <p:cNvPr id="133" name="Rounded Rectangle 132"/>
            <p:cNvSpPr/>
            <p:nvPr/>
          </p:nvSpPr>
          <p:spPr>
            <a:xfrm>
              <a:off x="9922989" y="3370844"/>
              <a:ext cx="1466424" cy="321777"/>
            </a:xfrm>
            <a:prstGeom prst="roundRect">
              <a:avLst>
                <a:gd name="adj" fmla="val 16680"/>
              </a:avLst>
            </a:prstGeom>
            <a:solidFill>
              <a:srgbClr val="FFFFFF"/>
            </a:solidFill>
            <a:ln w="9875">
              <a:solidFill>
                <a:srgbClr val="C69A66"/>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4" name="TextBox 133"/>
            <p:cNvSpPr txBox="1"/>
            <p:nvPr/>
          </p:nvSpPr>
          <p:spPr>
            <a:xfrm>
              <a:off x="10229847" y="3446338"/>
              <a:ext cx="85280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AE885B"/>
                  </a:solidFill>
                  <a:effectLst/>
                  <a:uLnTx/>
                  <a:uFillTx/>
                  <a:latin typeface="Fira Sans"/>
                  <a:ea typeface="+mn-ea"/>
                  <a:cs typeface="+mn-cs"/>
                </a:rPr>
                <a:t>Level 3 (tied to PC)</a:t>
              </a:r>
              <a:endParaRPr kumimoji="0" sz="950" b="0" i="1" u="none" strike="noStrike" kern="1200" cap="none" spc="0" normalizeH="0" baseline="0" noProof="0">
                <a:ln>
                  <a:noFill/>
                </a:ln>
                <a:solidFill>
                  <a:srgbClr val="AE885B"/>
                </a:solidFill>
                <a:effectLst/>
                <a:uLnTx/>
                <a:uFillTx/>
                <a:latin typeface="Fira Sans"/>
                <a:ea typeface="+mn-ea"/>
                <a:cs typeface="+mn-cs"/>
              </a:endParaRPr>
            </a:p>
          </p:txBody>
        </p:sp>
        <p:sp>
          <p:nvSpPr>
            <p:cNvPr id="136" name="Rounded Rectangle 135"/>
            <p:cNvSpPr/>
            <p:nvPr/>
          </p:nvSpPr>
          <p:spPr>
            <a:xfrm>
              <a:off x="6489473" y="3925062"/>
              <a:ext cx="5007318" cy="679399"/>
            </a:xfrm>
            <a:prstGeom prst="roundRect">
              <a:avLst>
                <a:gd name="adj" fmla="val 10524"/>
              </a:avLst>
            </a:prstGeom>
            <a:solidFill>
              <a:srgbClr val="FFFFFF"/>
            </a:solidFill>
            <a:ln w="13441">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Freeform 13"/>
            <p:cNvSpPr/>
            <p:nvPr/>
          </p:nvSpPr>
          <p:spPr>
            <a:xfrm>
              <a:off x="6516272" y="3951854"/>
              <a:ext cx="4953629" cy="393375"/>
            </a:xfrm>
            <a:custGeom>
              <a:avLst/>
              <a:gdLst/>
              <a:ahLst/>
              <a:cxnLst/>
              <a:rect l="l" t="t" r="r" b="b"/>
              <a:pathLst>
                <a:path w="4953629" h="393375">
                  <a:moveTo>
                    <a:pt x="0" y="0"/>
                  </a:moveTo>
                  <a:lnTo>
                    <a:pt x="4919330" y="0"/>
                  </a:lnTo>
                  <a:lnTo>
                    <a:pt x="4953629" y="19202"/>
                  </a:lnTo>
                  <a:lnTo>
                    <a:pt x="4953629" y="286481"/>
                  </a:lnTo>
                  <a:lnTo>
                    <a:pt x="4926647" y="312908"/>
                  </a:lnTo>
                  <a:lnTo>
                    <a:pt x="2948214" y="312908"/>
                  </a:lnTo>
                  <a:lnTo>
                    <a:pt x="2897086" y="315194"/>
                  </a:lnTo>
                  <a:lnTo>
                    <a:pt x="2897086" y="368686"/>
                  </a:lnTo>
                  <a:lnTo>
                    <a:pt x="2868275" y="393375"/>
                  </a:lnTo>
                  <a:lnTo>
                    <a:pt x="2280078" y="393375"/>
                  </a:lnTo>
                  <a:lnTo>
                    <a:pt x="2235352" y="384597"/>
                  </a:lnTo>
                  <a:lnTo>
                    <a:pt x="2235352" y="331196"/>
                  </a:lnTo>
                  <a:lnTo>
                    <a:pt x="2200139" y="312908"/>
                  </a:lnTo>
                  <a:lnTo>
                    <a:pt x="7866" y="312908"/>
                  </a:lnTo>
                  <a:lnTo>
                    <a:pt x="0" y="267279"/>
                  </a:lnTo>
                  <a:lnTo>
                    <a:pt x="0" y="0"/>
                  </a:lnTo>
                  <a:close/>
                </a:path>
              </a:pathLst>
            </a:custGeom>
            <a:solidFill>
              <a:srgbClr val="E6EFE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7" name="TextBox 136"/>
            <p:cNvSpPr txBox="1"/>
            <p:nvPr/>
          </p:nvSpPr>
          <p:spPr>
            <a:xfrm>
              <a:off x="6807947" y="4011564"/>
              <a:ext cx="4370279"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42603E"/>
                  </a:solidFill>
                  <a:effectLst/>
                  <a:uLnTx/>
                  <a:uFillTx/>
                  <a:latin typeface="Fira Sans"/>
                  <a:ea typeface="+mn-ea"/>
                  <a:cs typeface="+mn-cs"/>
                </a:rPr>
                <a:t>Relationship benefits continue to increase with status</a:t>
              </a:r>
              <a:endParaRPr kumimoji="0" sz="950" b="0" i="0" u="none" strike="noStrike" kern="1200" cap="none" spc="0" normalizeH="0" baseline="0" noProof="0">
                <a:ln>
                  <a:noFill/>
                </a:ln>
                <a:solidFill>
                  <a:srgbClr val="42603E"/>
                </a:solidFill>
                <a:effectLst/>
                <a:uLnTx/>
                <a:uFillTx/>
                <a:latin typeface="Fira Sans"/>
                <a:ea typeface="+mn-ea"/>
                <a:cs typeface="+mn-cs"/>
              </a:endParaRPr>
            </a:p>
          </p:txBody>
        </p:sp>
        <p:sp>
          <p:nvSpPr>
            <p:cNvPr id="15" name="Freeform 14"/>
            <p:cNvSpPr/>
            <p:nvPr/>
          </p:nvSpPr>
          <p:spPr>
            <a:xfrm>
              <a:off x="6516272" y="4264762"/>
              <a:ext cx="4953629" cy="312907"/>
            </a:xfrm>
            <a:custGeom>
              <a:avLst/>
              <a:gdLst/>
              <a:ahLst/>
              <a:cxnLst/>
              <a:rect l="l" t="t" r="r" b="b"/>
              <a:pathLst>
                <a:path w="4953629" h="312907">
                  <a:moveTo>
                    <a:pt x="0" y="0"/>
                  </a:moveTo>
                  <a:lnTo>
                    <a:pt x="2192273" y="0"/>
                  </a:lnTo>
                  <a:lnTo>
                    <a:pt x="2235352" y="10332"/>
                  </a:lnTo>
                  <a:lnTo>
                    <a:pt x="2235352" y="63825"/>
                  </a:lnTo>
                  <a:lnTo>
                    <a:pt x="2272212" y="80467"/>
                  </a:lnTo>
                  <a:lnTo>
                    <a:pt x="2860410" y="80467"/>
                  </a:lnTo>
                  <a:lnTo>
                    <a:pt x="2897086" y="63642"/>
                  </a:lnTo>
                  <a:lnTo>
                    <a:pt x="2897086" y="10241"/>
                  </a:lnTo>
                  <a:lnTo>
                    <a:pt x="2940348" y="0"/>
                  </a:lnTo>
                  <a:lnTo>
                    <a:pt x="4918781" y="0"/>
                  </a:lnTo>
                  <a:lnTo>
                    <a:pt x="4953629" y="18562"/>
                  </a:lnTo>
                  <a:lnTo>
                    <a:pt x="4953629" y="285932"/>
                  </a:lnTo>
                  <a:lnTo>
                    <a:pt x="4927196" y="312907"/>
                  </a:lnTo>
                  <a:lnTo>
                    <a:pt x="7866" y="312907"/>
                  </a:lnTo>
                  <a:lnTo>
                    <a:pt x="0" y="267279"/>
                  </a:lnTo>
                  <a:lnTo>
                    <a:pt x="0" y="0"/>
                  </a:lnTo>
                  <a:close/>
                </a:path>
              </a:pathLst>
            </a:custGeom>
            <a:solidFill>
              <a:srgbClr val="00765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Freeform 15"/>
            <p:cNvSpPr/>
            <p:nvPr/>
          </p:nvSpPr>
          <p:spPr>
            <a:xfrm>
              <a:off x="6516272" y="4264762"/>
              <a:ext cx="4953629" cy="80467"/>
            </a:xfrm>
            <a:custGeom>
              <a:avLst/>
              <a:gdLst/>
              <a:ahLst/>
              <a:cxnLst/>
              <a:rect l="l" t="t" r="r" b="b"/>
              <a:pathLst>
                <a:path w="4953629" h="80467">
                  <a:moveTo>
                    <a:pt x="0" y="0"/>
                  </a:moveTo>
                  <a:lnTo>
                    <a:pt x="2224834" y="0"/>
                  </a:lnTo>
                  <a:lnTo>
                    <a:pt x="2235352" y="14996"/>
                  </a:lnTo>
                  <a:lnTo>
                    <a:pt x="2235352" y="66202"/>
                  </a:lnTo>
                  <a:lnTo>
                    <a:pt x="2246694" y="80467"/>
                  </a:lnTo>
                  <a:lnTo>
                    <a:pt x="2886019" y="80467"/>
                  </a:lnTo>
                  <a:lnTo>
                    <a:pt x="2897086" y="66019"/>
                  </a:lnTo>
                  <a:lnTo>
                    <a:pt x="2897086" y="14813"/>
                  </a:lnTo>
                  <a:lnTo>
                    <a:pt x="2907787" y="0"/>
                  </a:lnTo>
                  <a:lnTo>
                    <a:pt x="4953629" y="0"/>
                  </a:lnTo>
                </a:path>
              </a:pathLst>
            </a:custGeom>
            <a:noFill/>
            <a:ln w="11612">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8" name="TextBox 137"/>
            <p:cNvSpPr txBox="1"/>
            <p:nvPr/>
          </p:nvSpPr>
          <p:spPr>
            <a:xfrm>
              <a:off x="6875447" y="4351264"/>
              <a:ext cx="4235279"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FFFF"/>
                  </a:solidFill>
                  <a:effectLst/>
                  <a:uLnTx/>
                  <a:uFillTx/>
                  <a:latin typeface="Fira Sans"/>
                  <a:ea typeface="+mn-ea"/>
                  <a:cs typeface="+mn-cs"/>
                </a:rPr>
                <a:t>Activity can unlock </a:t>
              </a:r>
              <a:r>
                <a:rPr kumimoji="0" sz="950" b="1" i="0" u="none" strike="noStrike" kern="1200" cap="none" spc="0" normalizeH="0" baseline="0" noProof="0">
                  <a:ln>
                    <a:noFill/>
                  </a:ln>
                  <a:solidFill>
                    <a:srgbClr val="FFFFFF"/>
                  </a:solidFill>
                  <a:effectLst/>
                  <a:uLnTx/>
                  <a:uFillTx/>
                  <a:latin typeface="Fira Sans"/>
                  <a:ea typeface="+mn-ea"/>
                  <a:cs typeface="+mn-cs"/>
                </a:rPr>
                <a:t>experiences, access, and partner benefits</a:t>
              </a:r>
            </a:p>
          </p:txBody>
        </p:sp>
        <p:sp>
          <p:nvSpPr>
            <p:cNvPr id="139" name="TextBox 138"/>
            <p:cNvSpPr txBox="1"/>
            <p:nvPr/>
          </p:nvSpPr>
          <p:spPr>
            <a:xfrm>
              <a:off x="6489473" y="4758474"/>
              <a:ext cx="3704795"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575757"/>
                  </a:solidFill>
                  <a:effectLst/>
                  <a:uLnTx/>
                  <a:uFillTx/>
                  <a:latin typeface="Fira Sans"/>
                  <a:ea typeface="+mn-ea"/>
                  <a:cs typeface="+mn-cs"/>
                </a:rPr>
                <a:t>The program rewards how actively customers bank with Citizens</a:t>
              </a:r>
            </a:p>
          </p:txBody>
        </p:sp>
      </p:grpSp>
      <p:sp>
        <p:nvSpPr>
          <p:cNvPr id="140" name="Rectangle 139"/>
          <p:cNvSpPr/>
          <p:nvPr/>
        </p:nvSpPr>
        <p:spPr>
          <a:xfrm>
            <a:off x="503046" y="5628550"/>
            <a:ext cx="11185908" cy="635508"/>
          </a:xfrm>
          <a:prstGeom prst="rect">
            <a:avLst/>
          </a:prstGeom>
          <a:solidFill>
            <a:srgbClr val="232422">
              <a:alpha val="4000"/>
            </a:srgbClr>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41" name="Connector 140"/>
          <p:cNvCxnSpPr/>
          <p:nvPr/>
        </p:nvCxnSpPr>
        <p:spPr>
          <a:xfrm>
            <a:off x="516765" y="5628550"/>
            <a:ext cx="0" cy="635508"/>
          </a:xfrm>
          <a:prstGeom prst="line">
            <a:avLst/>
          </a:prstGeom>
          <a:ln w="27432">
            <a:solidFill>
              <a:srgbClr val="232422"/>
            </a:solidFill>
          </a:ln>
          <a:effectLst/>
        </p:spPr>
      </p:cxnSp>
      <p:sp>
        <p:nvSpPr>
          <p:cNvPr id="142" name="TextBox 141"/>
          <p:cNvSpPr txBox="1"/>
          <p:nvPr/>
        </p:nvSpPr>
        <p:spPr>
          <a:xfrm>
            <a:off x="676825" y="5726297"/>
            <a:ext cx="10730084" cy="416052"/>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sz="1200" b="1" i="0" u="none" strike="noStrike" kern="1200" cap="none" spc="0" normalizeH="0" baseline="0" noProof="0">
                <a:ln>
                  <a:noFill/>
                </a:ln>
                <a:solidFill>
                  <a:srgbClr val="232422"/>
                </a:solidFill>
                <a:effectLst/>
                <a:uLnTx/>
                <a:uFillTx/>
                <a:latin typeface="Fira Sans"/>
                <a:ea typeface="+mn-ea"/>
                <a:cs typeface="+mn-cs"/>
              </a:rPr>
              <a:t>The design intent:</a:t>
            </a:r>
            <a:r>
              <a:rPr kumimoji="0" sz="1200" b="0" i="0" u="none" strike="noStrike" kern="1200" cap="none" spc="0" normalizeH="0" baseline="0" noProof="0">
                <a:ln>
                  <a:noFill/>
                </a:ln>
                <a:solidFill>
                  <a:srgbClr val="232422"/>
                </a:solidFill>
                <a:effectLst/>
                <a:uLnTx/>
                <a:uFillTx/>
                <a:latin typeface="Fira Sans"/>
                <a:ea typeface="+mn-ea"/>
                <a:cs typeface="+mn-cs"/>
              </a:rPr>
              <a:t> </a:t>
            </a:r>
            <a:r>
              <a:rPr kumimoji="0" lang="en-US" sz="1200" b="0" i="0" u="none" strike="noStrike" kern="1200" cap="none" spc="0" normalizeH="0" baseline="0" noProof="0">
                <a:ln>
                  <a:noFill/>
                </a:ln>
                <a:solidFill>
                  <a:srgbClr val="232422"/>
                </a:solidFill>
                <a:effectLst/>
                <a:uLnTx/>
                <a:uFillTx/>
                <a:latin typeface="Fira Sans"/>
                <a:ea typeface="+mn-ea"/>
                <a:cs typeface="+mn-cs"/>
              </a:rPr>
              <a:t>Whether launched in two parts or at once, this shape ties together two measures into one program. Combined balances determine status. Activity and engagement can unlock additional value without changing that status. Timing, naming, and program design remain to be validated.</a:t>
            </a:r>
            <a:endParaRPr kumimoji="0" sz="1200" b="0" i="0" u="none" strike="noStrike" kern="1200" cap="none" spc="0" normalizeH="0" baseline="0" noProof="0">
              <a:ln>
                <a:noFill/>
              </a:ln>
              <a:solidFill>
                <a:srgbClr val="232422"/>
              </a:solidFill>
              <a:effectLst/>
              <a:uLnTx/>
              <a:uFillTx/>
              <a:latin typeface="Fira Sans"/>
              <a:ea typeface="+mn-ea"/>
              <a:cs typeface="+mn-cs"/>
            </a:endParaRPr>
          </a:p>
        </p:txBody>
      </p:sp>
      <p:cxnSp>
        <p:nvCxnSpPr>
          <p:cNvPr id="143" name="Connector 142"/>
          <p:cNvCxnSpPr/>
          <p:nvPr/>
        </p:nvCxnSpPr>
        <p:spPr>
          <a:xfrm>
            <a:off x="503046" y="6414516"/>
            <a:ext cx="11185908" cy="0"/>
          </a:xfrm>
          <a:prstGeom prst="line">
            <a:avLst/>
          </a:prstGeom>
          <a:ln w="9144">
            <a:solidFill>
              <a:srgbClr val="DDDBCE"/>
            </a:solidFill>
          </a:ln>
          <a:effectLst/>
        </p:spPr>
      </p:cxnSp>
      <p:sp>
        <p:nvSpPr>
          <p:cNvPr id="144" name="TextBox 143"/>
          <p:cNvSpPr txBox="1"/>
          <p:nvPr/>
        </p:nvSpPr>
        <p:spPr>
          <a:xfrm>
            <a:off x="503046" y="6491373"/>
            <a:ext cx="11688954" cy="160934"/>
          </a:xfrm>
          <a:prstGeom prst="rect">
            <a:avLst/>
          </a:prstGeom>
          <a:noFill/>
        </p:spPr>
        <p:txBody>
          <a:bodyPr wrap="non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Citizens loyalty sequencing as discussed, August 2026 · Loyalty program design remains future scope with its own validation path · *working label</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
        <p:nvSpPr>
          <p:cNvPr id="18" name="TextBox 17">
            <a:extLst>
              <a:ext uri="{FF2B5EF4-FFF2-40B4-BE49-F238E27FC236}">
                <a16:creationId xmlns:a16="http://schemas.microsoft.com/office/drawing/2014/main" id="{0305C9D8-87B9-DE91-52FC-75C051102936}"/>
              </a:ext>
            </a:extLst>
          </p:cNvPr>
          <p:cNvSpPr txBox="1"/>
          <p:nvPr/>
        </p:nvSpPr>
        <p:spPr>
          <a:xfrm>
            <a:off x="444739" y="1807546"/>
            <a:ext cx="494077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ira Sans Light" panose="020B0403050000020004" pitchFamily="34" charset="0"/>
                <a:ea typeface="+mn-ea"/>
                <a:cs typeface="+mn-cs"/>
              </a:rPr>
              <a:t>Sequence is illustrative — could be a single launch in 2028</a:t>
            </a:r>
          </a:p>
        </p:txBody>
      </p:sp>
    </p:spTree>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3292402" cy="215798"/>
          </a:xfrm>
          <a:prstGeom prst="rect">
            <a:avLst/>
          </a:prstGeom>
          <a:noFill/>
        </p:spPr>
        <p:txBody>
          <a:bodyPr wrap="non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1" i="0" u="none" strike="noStrike" kern="1200" cap="all" spc="130" normalizeH="0" baseline="0" noProof="0">
                <a:ln>
                  <a:noFill/>
                </a:ln>
                <a:solidFill>
                  <a:srgbClr val="9A9A9A"/>
                </a:solidFill>
                <a:effectLst/>
                <a:uLnTx/>
                <a:uFillTx/>
                <a:latin typeface="Fira Sans"/>
                <a:ea typeface="+mn-ea"/>
                <a:cs typeface="+mn-cs"/>
              </a:rPr>
              <a:t>ECOSYSTEM DIRECTION · FOR DISCUSSION</a:t>
            </a:r>
          </a:p>
        </p:txBody>
      </p:sp>
      <p:sp>
        <p:nvSpPr>
          <p:cNvPr id="92" name="TextBox 91"/>
          <p:cNvSpPr txBox="1"/>
          <p:nvPr/>
        </p:nvSpPr>
        <p:spPr>
          <a:xfrm>
            <a:off x="503046" y="743648"/>
            <a:ext cx="11688954" cy="471830"/>
          </a:xfrm>
          <a:prstGeom prst="rect">
            <a:avLst/>
          </a:prstGeom>
          <a:noFill/>
        </p:spPr>
        <p:txBody>
          <a:bodyPr wrap="non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Let’s discuss — open questions</a:t>
            </a:r>
            <a:endParaRPr kumimoji="0" sz="2900" b="0" i="0" u="none" strike="noStrike" kern="1200" cap="none" spc="-14" normalizeH="0" baseline="0" noProof="0">
              <a:ln>
                <a:noFill/>
              </a:ln>
              <a:solidFill>
                <a:srgbClr val="232422"/>
              </a:solidFill>
              <a:effectLst/>
              <a:uLnTx/>
              <a:uFillTx/>
              <a:latin typeface="Fira Sans"/>
              <a:ea typeface="+mn-ea"/>
              <a:cs typeface="+mn-cs"/>
            </a:endParaRPr>
          </a:p>
        </p:txBody>
      </p:sp>
      <p:sp>
        <p:nvSpPr>
          <p:cNvPr id="93" name="Rounded Rectangle 92"/>
          <p:cNvSpPr/>
          <p:nvPr/>
        </p:nvSpPr>
        <p:spPr>
          <a:xfrm>
            <a:off x="503046" y="1828800"/>
            <a:ext cx="1152432" cy="292608"/>
          </a:xfrm>
          <a:prstGeom prst="roundRect">
            <a:avLst>
              <a:gd name="adj" fmla="val 18750"/>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TextBox 93"/>
          <p:cNvSpPr txBox="1"/>
          <p:nvPr/>
        </p:nvSpPr>
        <p:spPr>
          <a:xfrm>
            <a:off x="650210" y="1883664"/>
            <a:ext cx="858105"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Entry checking</a:t>
            </a:r>
          </a:p>
        </p:txBody>
      </p:sp>
      <p:sp>
        <p:nvSpPr>
          <p:cNvPr id="95" name="Rounded Rectangle 94"/>
          <p:cNvSpPr/>
          <p:nvPr/>
        </p:nvSpPr>
        <p:spPr>
          <a:xfrm>
            <a:off x="1756087" y="1828800"/>
            <a:ext cx="1152432" cy="292608"/>
          </a:xfrm>
          <a:prstGeom prst="roundRect">
            <a:avLst>
              <a:gd name="adj" fmla="val 18750"/>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6" name="TextBox 95"/>
          <p:cNvSpPr txBox="1"/>
          <p:nvPr/>
        </p:nvSpPr>
        <p:spPr>
          <a:xfrm>
            <a:off x="1944318" y="1883664"/>
            <a:ext cx="775971"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Mid checking</a:t>
            </a:r>
          </a:p>
        </p:txBody>
      </p:sp>
      <p:sp>
        <p:nvSpPr>
          <p:cNvPr id="97" name="Rounded Rectangle 96"/>
          <p:cNvSpPr/>
          <p:nvPr/>
        </p:nvSpPr>
        <p:spPr>
          <a:xfrm>
            <a:off x="3009128" y="1828800"/>
            <a:ext cx="1152432" cy="292608"/>
          </a:xfrm>
          <a:prstGeom prst="roundRect">
            <a:avLst>
              <a:gd name="adj" fmla="val 18750"/>
            </a:avLst>
          </a:prstGeom>
          <a:solidFill>
            <a:srgbClr val="FFFFFF"/>
          </a:solidFill>
          <a:ln w="10058">
            <a:solidFill>
              <a:srgbClr val="4F6E8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p:cNvSpPr txBox="1"/>
          <p:nvPr/>
        </p:nvSpPr>
        <p:spPr>
          <a:xfrm>
            <a:off x="3055774" y="1883664"/>
            <a:ext cx="105914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3A5570"/>
                </a:solidFill>
                <a:effectLst/>
                <a:uLnTx/>
                <a:uFillTx/>
                <a:latin typeface="Fira Sans"/>
                <a:ea typeface="+mn-ea"/>
                <a:cs typeface="+mn-cs"/>
              </a:rPr>
              <a:t>Premium checking</a:t>
            </a:r>
          </a:p>
        </p:txBody>
      </p:sp>
      <p:sp>
        <p:nvSpPr>
          <p:cNvPr id="2" name="Freeform 1"/>
          <p:cNvSpPr/>
          <p:nvPr/>
        </p:nvSpPr>
        <p:spPr>
          <a:xfrm>
            <a:off x="1079262" y="2121408"/>
            <a:ext cx="795727" cy="237744"/>
          </a:xfrm>
          <a:custGeom>
            <a:avLst/>
            <a:gdLst/>
            <a:ahLst/>
            <a:cxnLst/>
            <a:rect l="l" t="t" r="r" b="b"/>
            <a:pathLst>
              <a:path w="795727" h="237744">
                <a:moveTo>
                  <a:pt x="0" y="0"/>
                </a:moveTo>
                <a:lnTo>
                  <a:pt x="2744" y="17648"/>
                </a:lnTo>
                <a:lnTo>
                  <a:pt x="10427" y="33741"/>
                </a:lnTo>
                <a:lnTo>
                  <a:pt x="21402" y="47915"/>
                </a:lnTo>
                <a:lnTo>
                  <a:pt x="48658" y="71049"/>
                </a:lnTo>
                <a:lnTo>
                  <a:pt x="79390" y="89520"/>
                </a:lnTo>
                <a:lnTo>
                  <a:pt x="128322" y="111740"/>
                </a:lnTo>
                <a:lnTo>
                  <a:pt x="196005" y="135148"/>
                </a:lnTo>
                <a:lnTo>
                  <a:pt x="282437" y="158557"/>
                </a:lnTo>
                <a:lnTo>
                  <a:pt x="387619" y="181051"/>
                </a:lnTo>
                <a:lnTo>
                  <a:pt x="511277" y="202265"/>
                </a:lnTo>
                <a:lnTo>
                  <a:pt x="671063" y="224028"/>
                </a:lnTo>
                <a:lnTo>
                  <a:pt x="795727" y="237744"/>
                </a:lnTo>
              </a:path>
            </a:pathLst>
          </a:custGeom>
          <a:noFill/>
          <a:ln w="1188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2"/>
          <p:cNvSpPr/>
          <p:nvPr/>
        </p:nvSpPr>
        <p:spPr>
          <a:xfrm>
            <a:off x="1833190" y="2324771"/>
            <a:ext cx="78384" cy="70866"/>
          </a:xfrm>
          <a:custGeom>
            <a:avLst/>
            <a:gdLst/>
            <a:ahLst/>
            <a:cxnLst/>
            <a:rect l="l" t="t" r="r" b="b"/>
            <a:pathLst>
              <a:path w="78384" h="70866">
                <a:moveTo>
                  <a:pt x="78384" y="43525"/>
                </a:moveTo>
                <a:lnTo>
                  <a:pt x="0" y="0"/>
                </a:lnTo>
                <a:lnTo>
                  <a:pt x="14360" y="70866"/>
                </a:lnTo>
                <a:lnTo>
                  <a:pt x="78384" y="43525"/>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99" name="Connector 98"/>
          <p:cNvCxnSpPr/>
          <p:nvPr/>
        </p:nvCxnSpPr>
        <p:spPr>
          <a:xfrm>
            <a:off x="2332303" y="2121408"/>
            <a:ext cx="0" cy="201168"/>
          </a:xfrm>
          <a:prstGeom prst="line">
            <a:avLst/>
          </a:prstGeom>
          <a:ln w="11887">
            <a:solidFill>
              <a:srgbClr val="B0742F"/>
            </a:solidFill>
          </a:ln>
          <a:effectLst/>
        </p:spPr>
      </p:cxnSp>
      <p:sp>
        <p:nvSpPr>
          <p:cNvPr id="4" name="Freeform 3"/>
          <p:cNvSpPr/>
          <p:nvPr/>
        </p:nvSpPr>
        <p:spPr>
          <a:xfrm>
            <a:off x="2296998" y="2286000"/>
            <a:ext cx="70610" cy="73152"/>
          </a:xfrm>
          <a:custGeom>
            <a:avLst/>
            <a:gdLst/>
            <a:ahLst/>
            <a:cxnLst/>
            <a:rect l="l" t="t" r="r" b="b"/>
            <a:pathLst>
              <a:path w="70610" h="73152">
                <a:moveTo>
                  <a:pt x="35305" y="73152"/>
                </a:moveTo>
                <a:lnTo>
                  <a:pt x="0" y="2560"/>
                </a:lnTo>
                <a:lnTo>
                  <a:pt x="64939" y="0"/>
                </a:lnTo>
                <a:lnTo>
                  <a:pt x="70610" y="2560"/>
                </a:lnTo>
                <a:lnTo>
                  <a:pt x="35305" y="73152"/>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4"/>
          <p:cNvSpPr/>
          <p:nvPr/>
        </p:nvSpPr>
        <p:spPr>
          <a:xfrm>
            <a:off x="2789617" y="2121408"/>
            <a:ext cx="795727" cy="237744"/>
          </a:xfrm>
          <a:custGeom>
            <a:avLst/>
            <a:gdLst/>
            <a:ahLst/>
            <a:cxnLst/>
            <a:rect l="l" t="t" r="r" b="b"/>
            <a:pathLst>
              <a:path w="795727" h="237744">
                <a:moveTo>
                  <a:pt x="795727" y="0"/>
                </a:moveTo>
                <a:lnTo>
                  <a:pt x="792983" y="17648"/>
                </a:lnTo>
                <a:lnTo>
                  <a:pt x="785301" y="33741"/>
                </a:lnTo>
                <a:lnTo>
                  <a:pt x="774325" y="47915"/>
                </a:lnTo>
                <a:lnTo>
                  <a:pt x="747069" y="71049"/>
                </a:lnTo>
                <a:lnTo>
                  <a:pt x="716338" y="89520"/>
                </a:lnTo>
                <a:lnTo>
                  <a:pt x="667405" y="111740"/>
                </a:lnTo>
                <a:lnTo>
                  <a:pt x="599722" y="135148"/>
                </a:lnTo>
                <a:lnTo>
                  <a:pt x="513290" y="158557"/>
                </a:lnTo>
                <a:lnTo>
                  <a:pt x="408108" y="181051"/>
                </a:lnTo>
                <a:lnTo>
                  <a:pt x="284450" y="202265"/>
                </a:lnTo>
                <a:lnTo>
                  <a:pt x="124664" y="224028"/>
                </a:lnTo>
                <a:lnTo>
                  <a:pt x="0" y="237744"/>
                </a:lnTo>
              </a:path>
            </a:pathLst>
          </a:custGeom>
          <a:noFill/>
          <a:ln w="1188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5"/>
          <p:cNvSpPr/>
          <p:nvPr/>
        </p:nvSpPr>
        <p:spPr>
          <a:xfrm>
            <a:off x="2753032" y="2324771"/>
            <a:ext cx="78384" cy="70866"/>
          </a:xfrm>
          <a:custGeom>
            <a:avLst/>
            <a:gdLst/>
            <a:ahLst/>
            <a:cxnLst/>
            <a:rect l="l" t="t" r="r" b="b"/>
            <a:pathLst>
              <a:path w="78384" h="70866">
                <a:moveTo>
                  <a:pt x="0" y="43525"/>
                </a:moveTo>
                <a:lnTo>
                  <a:pt x="78384" y="0"/>
                </a:lnTo>
                <a:lnTo>
                  <a:pt x="64024" y="70866"/>
                </a:lnTo>
                <a:lnTo>
                  <a:pt x="0" y="43525"/>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Rounded Rectangle 99"/>
          <p:cNvSpPr/>
          <p:nvPr/>
        </p:nvSpPr>
        <p:spPr>
          <a:xfrm>
            <a:off x="1326212" y="2395728"/>
            <a:ext cx="2012183" cy="292608"/>
          </a:xfrm>
          <a:prstGeom prst="roundRect">
            <a:avLst>
              <a:gd name="adj" fmla="val 21875"/>
            </a:avLst>
          </a:prstGeom>
          <a:solidFill>
            <a:srgbClr val="FFFFFF"/>
          </a:solidFill>
          <a:ln w="11887">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TextBox 100"/>
          <p:cNvSpPr txBox="1"/>
          <p:nvPr/>
        </p:nvSpPr>
        <p:spPr>
          <a:xfrm>
            <a:off x="1554320" y="2450592"/>
            <a:ext cx="1555966"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F5C20"/>
                </a:solidFill>
                <a:effectLst/>
                <a:uLnTx/>
                <a:uFillTx/>
                <a:latin typeface="Fira Sans"/>
                <a:ea typeface="+mn-ea"/>
                <a:cs typeface="+mn-cs"/>
              </a:rPr>
              <a:t>Combined eligible balances</a:t>
            </a:r>
          </a:p>
        </p:txBody>
      </p:sp>
      <p:cxnSp>
        <p:nvCxnSpPr>
          <p:cNvPr id="102" name="Connector 101"/>
          <p:cNvCxnSpPr/>
          <p:nvPr/>
        </p:nvCxnSpPr>
        <p:spPr>
          <a:xfrm>
            <a:off x="2332303" y="2688336"/>
            <a:ext cx="0" cy="164592"/>
          </a:xfrm>
          <a:prstGeom prst="line">
            <a:avLst/>
          </a:prstGeom>
          <a:ln w="11887">
            <a:solidFill>
              <a:srgbClr val="B0742F"/>
            </a:solidFill>
          </a:ln>
          <a:effectLst/>
        </p:spPr>
      </p:cxnSp>
      <p:sp>
        <p:nvSpPr>
          <p:cNvPr id="7" name="Freeform 6"/>
          <p:cNvSpPr/>
          <p:nvPr/>
        </p:nvSpPr>
        <p:spPr>
          <a:xfrm>
            <a:off x="2296998" y="2816352"/>
            <a:ext cx="70610" cy="73152"/>
          </a:xfrm>
          <a:custGeom>
            <a:avLst/>
            <a:gdLst/>
            <a:ahLst/>
            <a:cxnLst/>
            <a:rect l="l" t="t" r="r" b="b"/>
            <a:pathLst>
              <a:path w="70610" h="73152">
                <a:moveTo>
                  <a:pt x="35305" y="73152"/>
                </a:moveTo>
                <a:lnTo>
                  <a:pt x="0" y="2560"/>
                </a:lnTo>
                <a:lnTo>
                  <a:pt x="64939" y="0"/>
                </a:lnTo>
                <a:lnTo>
                  <a:pt x="70610" y="2560"/>
                </a:lnTo>
                <a:lnTo>
                  <a:pt x="35305" y="73152"/>
                </a:lnTo>
                <a:close/>
              </a:path>
            </a:pathLst>
          </a:custGeom>
          <a:solidFill>
            <a:srgbClr val="B0742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Rounded Rectangle 102"/>
          <p:cNvSpPr/>
          <p:nvPr/>
        </p:nvSpPr>
        <p:spPr>
          <a:xfrm>
            <a:off x="503046" y="2926080"/>
            <a:ext cx="3658515" cy="457200"/>
          </a:xfrm>
          <a:prstGeom prst="roundRect">
            <a:avLst>
              <a:gd name="adj" fmla="val 16000"/>
            </a:avLst>
          </a:prstGeom>
          <a:solidFill>
            <a:srgbClr val="F6EAD6"/>
          </a:solidFill>
          <a:ln w="12801">
            <a:solidFill>
              <a:srgbClr val="B0742F"/>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TextBox 103"/>
          <p:cNvSpPr txBox="1"/>
          <p:nvPr/>
        </p:nvSpPr>
        <p:spPr>
          <a:xfrm>
            <a:off x="1803556" y="2990088"/>
            <a:ext cx="1057494"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8F5C20"/>
                </a:solidFill>
                <a:effectLst/>
                <a:uLnTx/>
                <a:uFillTx/>
                <a:latin typeface="Fira Sans"/>
                <a:ea typeface="+mn-ea"/>
                <a:cs typeface="+mn-cs"/>
              </a:rPr>
              <a:t>One status system</a:t>
            </a:r>
          </a:p>
        </p:txBody>
      </p:sp>
      <p:sp>
        <p:nvSpPr>
          <p:cNvPr id="105" name="TextBox 104"/>
          <p:cNvSpPr txBox="1"/>
          <p:nvPr/>
        </p:nvSpPr>
        <p:spPr>
          <a:xfrm>
            <a:off x="1574625" y="3145536"/>
            <a:ext cx="1515357"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F5C20"/>
                </a:solidFill>
                <a:effectLst/>
                <a:uLnTx/>
                <a:uFillTx/>
                <a:latin typeface="Fira Sans"/>
                <a:ea typeface="+mn-ea"/>
                <a:cs typeface="+mn-cs"/>
              </a:rPr>
              <a:t>Entry · Mid · Private Client*</a:t>
            </a:r>
          </a:p>
        </p:txBody>
      </p:sp>
      <p:cxnSp>
        <p:nvCxnSpPr>
          <p:cNvPr id="106" name="Connector 105"/>
          <p:cNvCxnSpPr/>
          <p:nvPr/>
        </p:nvCxnSpPr>
        <p:spPr>
          <a:xfrm>
            <a:off x="631094" y="3383280"/>
            <a:ext cx="0" cy="1161288"/>
          </a:xfrm>
          <a:prstGeom prst="line">
            <a:avLst/>
          </a:prstGeom>
          <a:ln w="10972">
            <a:solidFill>
              <a:srgbClr val="9A9A9A"/>
            </a:solidFill>
          </a:ln>
          <a:effectLst/>
        </p:spPr>
      </p:cxnSp>
      <p:cxnSp>
        <p:nvCxnSpPr>
          <p:cNvPr id="107" name="Connector 106"/>
          <p:cNvCxnSpPr/>
          <p:nvPr/>
        </p:nvCxnSpPr>
        <p:spPr>
          <a:xfrm>
            <a:off x="631094" y="3886200"/>
            <a:ext cx="146340" cy="0"/>
          </a:xfrm>
          <a:prstGeom prst="line">
            <a:avLst/>
          </a:prstGeom>
          <a:ln w="11887">
            <a:solidFill>
              <a:srgbClr val="587B52"/>
            </a:solidFill>
          </a:ln>
          <a:effectLst/>
        </p:spPr>
      </p:cxnSp>
      <p:sp>
        <p:nvSpPr>
          <p:cNvPr id="8" name="Freeform 7"/>
          <p:cNvSpPr/>
          <p:nvPr/>
        </p:nvSpPr>
        <p:spPr>
          <a:xfrm>
            <a:off x="740849" y="3850904"/>
            <a:ext cx="73171" cy="70592"/>
          </a:xfrm>
          <a:custGeom>
            <a:avLst/>
            <a:gdLst/>
            <a:ahLst/>
            <a:cxnLst/>
            <a:rect l="l" t="t" r="r" b="b"/>
            <a:pathLst>
              <a:path w="73171" h="70592">
                <a:moveTo>
                  <a:pt x="73171" y="35296"/>
                </a:moveTo>
                <a:lnTo>
                  <a:pt x="2561" y="0"/>
                </a:lnTo>
                <a:lnTo>
                  <a:pt x="0" y="64923"/>
                </a:lnTo>
                <a:lnTo>
                  <a:pt x="2561" y="70592"/>
                </a:lnTo>
                <a:lnTo>
                  <a:pt x="73171" y="35296"/>
                </a:lnTo>
                <a:close/>
              </a:path>
            </a:pathLst>
          </a:custGeom>
          <a:solidFill>
            <a:srgbClr val="587B52"/>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08" name="Connector 107"/>
          <p:cNvCxnSpPr/>
          <p:nvPr/>
        </p:nvCxnSpPr>
        <p:spPr>
          <a:xfrm>
            <a:off x="631094" y="4544568"/>
            <a:ext cx="146340" cy="0"/>
          </a:xfrm>
          <a:prstGeom prst="line">
            <a:avLst/>
          </a:prstGeom>
          <a:ln w="11887">
            <a:solidFill>
              <a:srgbClr val="5D4B73"/>
            </a:solidFill>
          </a:ln>
          <a:effectLst/>
        </p:spPr>
      </p:cxnSp>
      <p:sp>
        <p:nvSpPr>
          <p:cNvPr id="9" name="Freeform 8"/>
          <p:cNvSpPr/>
          <p:nvPr/>
        </p:nvSpPr>
        <p:spPr>
          <a:xfrm>
            <a:off x="740849" y="4509272"/>
            <a:ext cx="73171" cy="70592"/>
          </a:xfrm>
          <a:custGeom>
            <a:avLst/>
            <a:gdLst/>
            <a:ahLst/>
            <a:cxnLst/>
            <a:rect l="l" t="t" r="r" b="b"/>
            <a:pathLst>
              <a:path w="73171" h="70592">
                <a:moveTo>
                  <a:pt x="73171" y="35296"/>
                </a:moveTo>
                <a:lnTo>
                  <a:pt x="2561" y="0"/>
                </a:lnTo>
                <a:lnTo>
                  <a:pt x="0" y="64923"/>
                </a:lnTo>
                <a:lnTo>
                  <a:pt x="2561" y="70592"/>
                </a:lnTo>
                <a:lnTo>
                  <a:pt x="73171" y="35296"/>
                </a:lnTo>
                <a:close/>
              </a:path>
            </a:pathLst>
          </a:custGeom>
          <a:solidFill>
            <a:srgbClr val="5D4B73"/>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9" name="Rounded Rectangle 108"/>
          <p:cNvSpPr/>
          <p:nvPr/>
        </p:nvSpPr>
        <p:spPr>
          <a:xfrm>
            <a:off x="832312" y="3621024"/>
            <a:ext cx="3329248" cy="530352"/>
          </a:xfrm>
          <a:prstGeom prst="roundRect">
            <a:avLst>
              <a:gd name="adj" fmla="val 13793"/>
            </a:avLst>
          </a:prstGeom>
          <a:solidFill>
            <a:srgbClr val="FFFFFF"/>
          </a:solidFill>
          <a:ln w="10972">
            <a:solidFill>
              <a:srgbClr val="587B5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9"/>
          <p:cNvSpPr/>
          <p:nvPr/>
        </p:nvSpPr>
        <p:spPr>
          <a:xfrm>
            <a:off x="859751" y="3648456"/>
            <a:ext cx="3274371" cy="320040"/>
          </a:xfrm>
          <a:custGeom>
            <a:avLst/>
            <a:gdLst/>
            <a:ahLst/>
            <a:cxnLst/>
            <a:rect l="l" t="t" r="r" b="b"/>
            <a:pathLst>
              <a:path w="3274371" h="320040">
                <a:moveTo>
                  <a:pt x="0" y="0"/>
                </a:moveTo>
                <a:lnTo>
                  <a:pt x="3270986" y="0"/>
                </a:lnTo>
                <a:lnTo>
                  <a:pt x="3274371" y="32553"/>
                </a:lnTo>
                <a:lnTo>
                  <a:pt x="3274371" y="212232"/>
                </a:lnTo>
                <a:lnTo>
                  <a:pt x="3273090" y="246888"/>
                </a:lnTo>
                <a:lnTo>
                  <a:pt x="1943129" y="246888"/>
                </a:lnTo>
                <a:lnTo>
                  <a:pt x="1911574" y="251277"/>
                </a:lnTo>
                <a:lnTo>
                  <a:pt x="1911574" y="287213"/>
                </a:lnTo>
                <a:lnTo>
                  <a:pt x="1908464" y="320040"/>
                </a:lnTo>
                <a:lnTo>
                  <a:pt x="1369291" y="320040"/>
                </a:lnTo>
                <a:lnTo>
                  <a:pt x="1362797" y="290596"/>
                </a:lnTo>
                <a:lnTo>
                  <a:pt x="1362797" y="254660"/>
                </a:lnTo>
                <a:lnTo>
                  <a:pt x="1334626" y="246888"/>
                </a:lnTo>
                <a:lnTo>
                  <a:pt x="4665" y="246888"/>
                </a:lnTo>
                <a:lnTo>
                  <a:pt x="0" y="215616"/>
                </a:lnTo>
                <a:lnTo>
                  <a:pt x="0" y="0"/>
                </a:lnTo>
                <a:close/>
              </a:path>
            </a:pathLst>
          </a:custGeom>
          <a:solidFill>
            <a:srgbClr val="E6EFE1"/>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0" name="TextBox 109"/>
          <p:cNvSpPr txBox="1"/>
          <p:nvPr/>
        </p:nvSpPr>
        <p:spPr>
          <a:xfrm>
            <a:off x="1407156" y="3675888"/>
            <a:ext cx="2179560"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42603E"/>
                </a:solidFill>
                <a:effectLst/>
                <a:uLnTx/>
                <a:uFillTx/>
                <a:latin typeface="Fira Sans"/>
                <a:ea typeface="+mn-ea"/>
                <a:cs typeface="+mn-cs"/>
              </a:rPr>
              <a:t>Relationship b</a:t>
            </a:r>
            <a:r>
              <a:rPr kumimoji="0" sz="950" b="0" i="0" u="none" strike="noStrike" kern="1200" cap="none" spc="0" normalizeH="0" baseline="0" noProof="0">
                <a:ln>
                  <a:noFill/>
                </a:ln>
                <a:solidFill>
                  <a:srgbClr val="42603E"/>
                </a:solidFill>
                <a:effectLst/>
                <a:uLnTx/>
                <a:uFillTx/>
                <a:latin typeface="Fira Sans"/>
                <a:ea typeface="+mn-ea"/>
                <a:cs typeface="+mn-cs"/>
              </a:rPr>
              <a:t>enefits step up with the levels</a:t>
            </a:r>
          </a:p>
        </p:txBody>
      </p:sp>
      <p:sp>
        <p:nvSpPr>
          <p:cNvPr id="11" name="Freeform 10"/>
          <p:cNvSpPr/>
          <p:nvPr/>
        </p:nvSpPr>
        <p:spPr>
          <a:xfrm>
            <a:off x="859751" y="3895344"/>
            <a:ext cx="3274371" cy="73152"/>
          </a:xfrm>
          <a:custGeom>
            <a:avLst/>
            <a:gdLst/>
            <a:ahLst/>
            <a:cxnLst/>
            <a:rect l="l" t="t" r="r" b="b"/>
            <a:pathLst>
              <a:path w="3274371" h="73152">
                <a:moveTo>
                  <a:pt x="0" y="0"/>
                </a:moveTo>
                <a:lnTo>
                  <a:pt x="1353650" y="0"/>
                </a:lnTo>
                <a:lnTo>
                  <a:pt x="1362797" y="9144"/>
                </a:lnTo>
                <a:lnTo>
                  <a:pt x="1362797" y="64008"/>
                </a:lnTo>
                <a:lnTo>
                  <a:pt x="1371943" y="73152"/>
                </a:lnTo>
                <a:lnTo>
                  <a:pt x="1902428" y="73152"/>
                </a:lnTo>
                <a:lnTo>
                  <a:pt x="1911574" y="64008"/>
                </a:lnTo>
                <a:lnTo>
                  <a:pt x="1911574" y="9144"/>
                </a:lnTo>
                <a:lnTo>
                  <a:pt x="1920720" y="0"/>
                </a:lnTo>
                <a:lnTo>
                  <a:pt x="3274371" y="0"/>
                </a:lnTo>
              </a:path>
            </a:pathLst>
          </a:custGeom>
          <a:noFill/>
          <a:ln w="10972">
            <a:solidFill>
              <a:srgbClr val="587B52"/>
            </a:solidFill>
            <a:prstDash val="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1" name="TextBox 110"/>
          <p:cNvSpPr txBox="1"/>
          <p:nvPr/>
        </p:nvSpPr>
        <p:spPr>
          <a:xfrm>
            <a:off x="1630234" y="3959352"/>
            <a:ext cx="1733404"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007651"/>
                </a:solidFill>
                <a:effectLst/>
                <a:uLnTx/>
                <a:uFillTx/>
                <a:latin typeface="Fira Sans"/>
                <a:ea typeface="+mn-ea"/>
                <a:cs typeface="+mn-cs"/>
              </a:rPr>
              <a:t>+ </a:t>
            </a:r>
            <a:r>
              <a:rPr kumimoji="0" lang="en-US" sz="950" b="1" i="0" u="none" strike="noStrike" kern="1200" cap="none" spc="0" normalizeH="0" baseline="0" noProof="0">
                <a:ln>
                  <a:noFill/>
                </a:ln>
                <a:solidFill>
                  <a:srgbClr val="007651"/>
                </a:solidFill>
                <a:effectLst/>
                <a:uLnTx/>
                <a:uFillTx/>
                <a:latin typeface="Fira Sans"/>
                <a:ea typeface="+mn-ea"/>
                <a:cs typeface="+mn-cs"/>
              </a:rPr>
              <a:t>Activity + engagement add behavioral perks</a:t>
            </a:r>
            <a:endParaRPr kumimoji="0" sz="950" b="1" i="0" u="none" strike="noStrike" kern="1200" cap="none" spc="0" normalizeH="0" baseline="0" noProof="0">
              <a:ln>
                <a:noFill/>
              </a:ln>
              <a:solidFill>
                <a:srgbClr val="007651"/>
              </a:solidFill>
              <a:effectLst/>
              <a:uLnTx/>
              <a:uFillTx/>
              <a:latin typeface="Fira Sans"/>
              <a:ea typeface="+mn-ea"/>
              <a:cs typeface="+mn-cs"/>
            </a:endParaRPr>
          </a:p>
        </p:txBody>
      </p:sp>
      <p:sp>
        <p:nvSpPr>
          <p:cNvPr id="112" name="Rounded Rectangle 111"/>
          <p:cNvSpPr/>
          <p:nvPr/>
        </p:nvSpPr>
        <p:spPr>
          <a:xfrm>
            <a:off x="832312" y="4389120"/>
            <a:ext cx="3329248" cy="310896"/>
          </a:xfrm>
          <a:prstGeom prst="roundRect">
            <a:avLst>
              <a:gd name="adj" fmla="val 20588"/>
            </a:avLst>
          </a:prstGeom>
          <a:solidFill>
            <a:srgbClr val="FFFFFF"/>
          </a:solidFill>
          <a:ln w="10058">
            <a:solidFill>
              <a:srgbClr val="5D4B73"/>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3" name="TextBox 112"/>
          <p:cNvSpPr txBox="1"/>
          <p:nvPr/>
        </p:nvSpPr>
        <p:spPr>
          <a:xfrm>
            <a:off x="1609381" y="4462365"/>
            <a:ext cx="1775111" cy="173736"/>
          </a:xfrm>
          <a:prstGeom prst="rect">
            <a:avLst/>
          </a:prstGeom>
          <a:noFill/>
        </p:spPr>
        <p:txBody>
          <a:bodyPr wrap="none" lIns="0" tIns="0" rIns="0" bIns="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5D4B73"/>
                </a:solidFill>
                <a:effectLst/>
                <a:uLnTx/>
                <a:uFillTx/>
                <a:latin typeface="Fira Sans"/>
                <a:ea typeface="+mn-ea"/>
                <a:cs typeface="+mn-cs"/>
              </a:rPr>
              <a:t>Service, connected to the levels</a:t>
            </a:r>
          </a:p>
        </p:txBody>
      </p:sp>
      <p:sp>
        <p:nvSpPr>
          <p:cNvPr id="114" name="TextBox 113"/>
          <p:cNvSpPr txBox="1"/>
          <p:nvPr/>
        </p:nvSpPr>
        <p:spPr>
          <a:xfrm>
            <a:off x="503046" y="4855464"/>
            <a:ext cx="893135" cy="192024"/>
          </a:xfrm>
          <a:prstGeom prst="rect">
            <a:avLst/>
          </a:prstGeom>
          <a:noFill/>
        </p:spPr>
        <p:txBody>
          <a:bodyPr wrap="none" lIns="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9A9A9A"/>
                </a:solidFill>
                <a:effectLst/>
                <a:uLnTx/>
                <a:uFillTx/>
                <a:latin typeface="Fira Sans"/>
                <a:ea typeface="+mn-ea"/>
                <a:cs typeface="+mn-cs"/>
              </a:rPr>
              <a:t>*working label</a:t>
            </a:r>
          </a:p>
        </p:txBody>
      </p:sp>
      <p:sp>
        <p:nvSpPr>
          <p:cNvPr id="115" name="TextBox 114"/>
          <p:cNvSpPr txBox="1"/>
          <p:nvPr/>
        </p:nvSpPr>
        <p:spPr>
          <a:xfrm>
            <a:off x="503046" y="5593291"/>
            <a:ext cx="3841440" cy="416052"/>
          </a:xfrm>
          <a:prstGeom prst="rect">
            <a:avLst/>
          </a:prstGeom>
          <a:noFill/>
        </p:spPr>
        <p:txBody>
          <a:bodyPr wrap="square" lIns="0" tIns="0" rIns="0" bIns="0" anchor="t">
            <a:noAutofit/>
          </a:bodyPr>
          <a:lstStyle/>
          <a:p>
            <a:pPr marL="0" marR="0" lvl="0" indent="0" algn="l" defTabSz="457200" rtl="0" eaLnBrk="1" fontAlgn="auto" latinLnBrk="0" hangingPunct="1">
              <a:lnSpc>
                <a:spcPts val="1566"/>
              </a:lnSpc>
              <a:spcBef>
                <a:spcPts val="0"/>
              </a:spcBef>
              <a:spcAft>
                <a:spcPts val="0"/>
              </a:spcAft>
              <a:buClrTx/>
              <a:buSzTx/>
              <a:buFontTx/>
              <a:buNone/>
              <a:tabLst/>
              <a:defRPr/>
            </a:pPr>
            <a:r>
              <a:rPr kumimoji="0" lang="en-US" sz="1050" b="0" i="0" u="none" strike="noStrike" kern="1200" cap="none" spc="0" normalizeH="0" baseline="0" noProof="0">
                <a:ln>
                  <a:noFill/>
                </a:ln>
                <a:solidFill>
                  <a:srgbClr val="575757"/>
                </a:solidFill>
                <a:effectLst/>
                <a:uLnTx/>
                <a:uFillTx/>
                <a:latin typeface="Fira Sans"/>
                <a:ea typeface="+mn-ea"/>
                <a:cs typeface="+mn-cs"/>
              </a:rPr>
              <a:t>We recommend the overall shape. The detailed rules and thresholds still need validation.</a:t>
            </a:r>
          </a:p>
        </p:txBody>
      </p:sp>
      <p:cxnSp>
        <p:nvCxnSpPr>
          <p:cNvPr id="116" name="Connector 115"/>
          <p:cNvCxnSpPr/>
          <p:nvPr/>
        </p:nvCxnSpPr>
        <p:spPr>
          <a:xfrm>
            <a:off x="4847532" y="1815084"/>
            <a:ext cx="6841422" cy="0"/>
          </a:xfrm>
          <a:prstGeom prst="line">
            <a:avLst/>
          </a:prstGeom>
          <a:ln w="9144">
            <a:solidFill>
              <a:srgbClr val="DDDBCE"/>
            </a:solidFill>
          </a:ln>
          <a:effectLst/>
        </p:spPr>
      </p:cxnSp>
      <p:sp>
        <p:nvSpPr>
          <p:cNvPr id="117" name="TextBox 116"/>
          <p:cNvSpPr txBox="1"/>
          <p:nvPr/>
        </p:nvSpPr>
        <p:spPr>
          <a:xfrm>
            <a:off x="4847532" y="1886254"/>
            <a:ext cx="222804" cy="325526"/>
          </a:xfrm>
          <a:prstGeom prst="rect">
            <a:avLst/>
          </a:prstGeom>
          <a:noFill/>
        </p:spPr>
        <p:txBody>
          <a:bodyPr wrap="none" lIns="0" tIns="0" rIns="0" bIns="0" anchor="t">
            <a:noAutofit/>
          </a:bodyPr>
          <a:lstStyle/>
          <a:p>
            <a:pPr marL="0" marR="0" lvl="0" indent="0" algn="l" defTabSz="457200" rtl="0" eaLnBrk="1" fontAlgn="auto" latinLnBrk="0" hangingPunct="1">
              <a:lnSpc>
                <a:spcPts val="2419"/>
              </a:lnSpc>
              <a:spcBef>
                <a:spcPts val="0"/>
              </a:spcBef>
              <a:spcAft>
                <a:spcPts val="0"/>
              </a:spcAft>
              <a:buClrTx/>
              <a:buSzTx/>
              <a:buFontTx/>
              <a:buNone/>
              <a:tabLst/>
              <a:defRPr/>
            </a:pPr>
            <a:r>
              <a:rPr kumimoji="0" sz="1650" b="1" i="0" u="none" strike="noStrike" kern="1200" cap="none" spc="0" normalizeH="0" baseline="0" noProof="0">
                <a:ln>
                  <a:noFill/>
                </a:ln>
                <a:solidFill>
                  <a:srgbClr val="007651"/>
                </a:solidFill>
                <a:effectLst/>
                <a:uLnTx/>
                <a:uFillTx/>
                <a:latin typeface="Fira Sans"/>
                <a:ea typeface="+mn-ea"/>
                <a:cs typeface="+mn-cs"/>
              </a:rPr>
              <a:t>1</a:t>
            </a:r>
          </a:p>
        </p:txBody>
      </p:sp>
      <p:sp>
        <p:nvSpPr>
          <p:cNvPr id="118" name="TextBox 117"/>
          <p:cNvSpPr txBox="1"/>
          <p:nvPr/>
        </p:nvSpPr>
        <p:spPr>
          <a:xfrm>
            <a:off x="5161798" y="1963476"/>
            <a:ext cx="6853514"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all" spc="94" normalizeH="0" baseline="0" noProof="0">
                <a:ln>
                  <a:noFill/>
                </a:ln>
                <a:solidFill>
                  <a:srgbClr val="9A9A9A"/>
                </a:solidFill>
                <a:effectLst/>
                <a:uLnTx/>
                <a:uFillTx/>
                <a:latin typeface="Fira Sans"/>
                <a:ea typeface="+mn-ea"/>
                <a:cs typeface="+mn-cs"/>
              </a:rPr>
              <a:t>THE SHAPE</a:t>
            </a:r>
          </a:p>
        </p:txBody>
      </p:sp>
      <p:sp>
        <p:nvSpPr>
          <p:cNvPr id="119" name="TextBox 118"/>
          <p:cNvSpPr txBox="1"/>
          <p:nvPr/>
        </p:nvSpPr>
        <p:spPr>
          <a:xfrm>
            <a:off x="5161798" y="2149981"/>
            <a:ext cx="5968020" cy="447233"/>
          </a:xfrm>
          <a:prstGeom prst="rect">
            <a:avLst/>
          </a:prstGeom>
          <a:noFill/>
        </p:spPr>
        <p:txBody>
          <a:bodyPr wrap="square" lIns="0" tIns="0" rIns="0" bIns="0" anchor="t">
            <a:noAutofit/>
          </a:bodyPr>
          <a:lstStyle/>
          <a:p>
            <a:pPr marL="0" marR="0" lvl="0" indent="0" algn="l" defTabSz="457200" rtl="0" eaLnBrk="1" fontAlgn="auto" latinLnBrk="0" hangingPunct="1">
              <a:lnSpc>
                <a:spcPts val="1689"/>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Is one set of relationship levels, determined by combined balances and separate from checking choice, the right direction? What challenges or questions does it raise?</a:t>
            </a:r>
          </a:p>
        </p:txBody>
      </p:sp>
      <p:cxnSp>
        <p:nvCxnSpPr>
          <p:cNvPr id="120" name="Connector 119"/>
          <p:cNvCxnSpPr/>
          <p:nvPr/>
        </p:nvCxnSpPr>
        <p:spPr>
          <a:xfrm>
            <a:off x="4847532" y="2737805"/>
            <a:ext cx="6841422" cy="0"/>
          </a:xfrm>
          <a:prstGeom prst="line">
            <a:avLst/>
          </a:prstGeom>
          <a:ln w="9144">
            <a:solidFill>
              <a:srgbClr val="DDDBCE"/>
            </a:solidFill>
          </a:ln>
          <a:effectLst/>
        </p:spPr>
      </p:cxnSp>
      <p:sp>
        <p:nvSpPr>
          <p:cNvPr id="121" name="TextBox 120"/>
          <p:cNvSpPr txBox="1"/>
          <p:nvPr/>
        </p:nvSpPr>
        <p:spPr>
          <a:xfrm>
            <a:off x="4847532" y="2808975"/>
            <a:ext cx="234785" cy="325526"/>
          </a:xfrm>
          <a:prstGeom prst="rect">
            <a:avLst/>
          </a:prstGeom>
          <a:noFill/>
        </p:spPr>
        <p:txBody>
          <a:bodyPr wrap="none" lIns="0" tIns="0" rIns="0" bIns="0" anchor="t">
            <a:noAutofit/>
          </a:bodyPr>
          <a:lstStyle/>
          <a:p>
            <a:pPr marL="0" marR="0" lvl="0" indent="0" algn="l" defTabSz="457200" rtl="0" eaLnBrk="1" fontAlgn="auto" latinLnBrk="0" hangingPunct="1">
              <a:lnSpc>
                <a:spcPts val="2419"/>
              </a:lnSpc>
              <a:spcBef>
                <a:spcPts val="0"/>
              </a:spcBef>
              <a:spcAft>
                <a:spcPts val="0"/>
              </a:spcAft>
              <a:buClrTx/>
              <a:buSzTx/>
              <a:buFontTx/>
              <a:buNone/>
              <a:tabLst/>
              <a:defRPr/>
            </a:pPr>
            <a:r>
              <a:rPr kumimoji="0" sz="1650" b="1" i="0" u="none" strike="noStrike" kern="1200" cap="none" spc="0" normalizeH="0" baseline="0" noProof="0">
                <a:ln>
                  <a:noFill/>
                </a:ln>
                <a:solidFill>
                  <a:srgbClr val="007651"/>
                </a:solidFill>
                <a:effectLst/>
                <a:uLnTx/>
                <a:uFillTx/>
                <a:latin typeface="Fira Sans"/>
                <a:ea typeface="+mn-ea"/>
                <a:cs typeface="+mn-cs"/>
              </a:rPr>
              <a:t>2</a:t>
            </a:r>
          </a:p>
        </p:txBody>
      </p:sp>
      <p:sp>
        <p:nvSpPr>
          <p:cNvPr id="122" name="TextBox 121"/>
          <p:cNvSpPr txBox="1"/>
          <p:nvPr/>
        </p:nvSpPr>
        <p:spPr>
          <a:xfrm>
            <a:off x="5173780" y="2886197"/>
            <a:ext cx="6292183"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all" spc="94" normalizeH="0" baseline="0" noProof="0">
                <a:ln>
                  <a:noFill/>
                </a:ln>
                <a:solidFill>
                  <a:srgbClr val="9A9A9A"/>
                </a:solidFill>
                <a:effectLst/>
                <a:uLnTx/>
                <a:uFillTx/>
                <a:latin typeface="Fira Sans"/>
                <a:ea typeface="+mn-ea"/>
                <a:cs typeface="+mn-cs"/>
              </a:rPr>
              <a:t>LAUNCH SCOPE</a:t>
            </a:r>
          </a:p>
        </p:txBody>
      </p:sp>
      <p:sp>
        <p:nvSpPr>
          <p:cNvPr id="123" name="TextBox 122"/>
          <p:cNvSpPr txBox="1"/>
          <p:nvPr/>
        </p:nvSpPr>
        <p:spPr>
          <a:xfrm>
            <a:off x="5173780" y="3072702"/>
            <a:ext cx="6292183" cy="232806"/>
          </a:xfrm>
          <a:prstGeom prst="rect">
            <a:avLst/>
          </a:prstGeom>
          <a:noFill/>
        </p:spPr>
        <p:txBody>
          <a:bodyPr wrap="none" lIns="0" tIns="0" rIns="0" bIns="0" anchor="t">
            <a:noAutofit/>
          </a:bodyPr>
          <a:lstStyle/>
          <a:p>
            <a:pPr marL="0" marR="0" lvl="0" indent="0" algn="l" defTabSz="457200" rtl="0" eaLnBrk="1" fontAlgn="auto" latinLnBrk="0" hangingPunct="1">
              <a:lnSpc>
                <a:spcPts val="1689"/>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What should launch with the checking continuum, and what should wait for 2028?</a:t>
            </a:r>
          </a:p>
        </p:txBody>
      </p:sp>
      <p:cxnSp>
        <p:nvCxnSpPr>
          <p:cNvPr id="124" name="Connector 123"/>
          <p:cNvCxnSpPr/>
          <p:nvPr/>
        </p:nvCxnSpPr>
        <p:spPr>
          <a:xfrm>
            <a:off x="4847532" y="3446008"/>
            <a:ext cx="6841422" cy="0"/>
          </a:xfrm>
          <a:prstGeom prst="line">
            <a:avLst/>
          </a:prstGeom>
          <a:ln w="9144">
            <a:solidFill>
              <a:srgbClr val="DDDBCE"/>
            </a:solidFill>
          </a:ln>
          <a:effectLst/>
        </p:spPr>
      </p:cxnSp>
      <p:sp>
        <p:nvSpPr>
          <p:cNvPr id="125" name="TextBox 124"/>
          <p:cNvSpPr txBox="1"/>
          <p:nvPr/>
        </p:nvSpPr>
        <p:spPr>
          <a:xfrm>
            <a:off x="4847532" y="3517178"/>
            <a:ext cx="235334" cy="325526"/>
          </a:xfrm>
          <a:prstGeom prst="rect">
            <a:avLst/>
          </a:prstGeom>
          <a:noFill/>
        </p:spPr>
        <p:txBody>
          <a:bodyPr wrap="none" lIns="0" tIns="0" rIns="0" bIns="0" anchor="t">
            <a:noAutofit/>
          </a:bodyPr>
          <a:lstStyle/>
          <a:p>
            <a:pPr marL="0" marR="0" lvl="0" indent="0" algn="l" defTabSz="457200" rtl="0" eaLnBrk="1" fontAlgn="auto" latinLnBrk="0" hangingPunct="1">
              <a:lnSpc>
                <a:spcPts val="2419"/>
              </a:lnSpc>
              <a:spcBef>
                <a:spcPts val="0"/>
              </a:spcBef>
              <a:spcAft>
                <a:spcPts val="0"/>
              </a:spcAft>
              <a:buClrTx/>
              <a:buSzTx/>
              <a:buFontTx/>
              <a:buNone/>
              <a:tabLst/>
              <a:defRPr/>
            </a:pPr>
            <a:r>
              <a:rPr kumimoji="0" sz="1650" b="1" i="0" u="none" strike="noStrike" kern="1200" cap="none" spc="0" normalizeH="0" baseline="0" noProof="0">
                <a:ln>
                  <a:noFill/>
                </a:ln>
                <a:solidFill>
                  <a:srgbClr val="007651"/>
                </a:solidFill>
                <a:effectLst/>
                <a:uLnTx/>
                <a:uFillTx/>
                <a:latin typeface="Fira Sans"/>
                <a:ea typeface="+mn-ea"/>
                <a:cs typeface="+mn-cs"/>
              </a:rPr>
              <a:t>3</a:t>
            </a:r>
          </a:p>
        </p:txBody>
      </p:sp>
      <p:sp>
        <p:nvSpPr>
          <p:cNvPr id="126" name="TextBox 125"/>
          <p:cNvSpPr txBox="1"/>
          <p:nvPr/>
        </p:nvSpPr>
        <p:spPr>
          <a:xfrm>
            <a:off x="5174329" y="3594400"/>
            <a:ext cx="6114613"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all" spc="94" normalizeH="0" baseline="0" noProof="0">
                <a:ln>
                  <a:noFill/>
                </a:ln>
                <a:solidFill>
                  <a:srgbClr val="9A9A9A"/>
                </a:solidFill>
                <a:effectLst/>
                <a:uLnTx/>
                <a:uFillTx/>
                <a:latin typeface="Fira Sans"/>
                <a:ea typeface="+mn-ea"/>
                <a:cs typeface="+mn-cs"/>
              </a:rPr>
              <a:t>SERVICE COMMITMENT</a:t>
            </a:r>
          </a:p>
        </p:txBody>
      </p:sp>
      <p:sp>
        <p:nvSpPr>
          <p:cNvPr id="127" name="TextBox 126"/>
          <p:cNvSpPr txBox="1"/>
          <p:nvPr/>
        </p:nvSpPr>
        <p:spPr>
          <a:xfrm>
            <a:off x="5174329" y="3780905"/>
            <a:ext cx="6114613" cy="232806"/>
          </a:xfrm>
          <a:prstGeom prst="rect">
            <a:avLst/>
          </a:prstGeom>
          <a:noFill/>
        </p:spPr>
        <p:txBody>
          <a:bodyPr wrap="none" lIns="0" tIns="0" rIns="0" bIns="0" anchor="t">
            <a:noAutofit/>
          </a:bodyPr>
          <a:lstStyle/>
          <a:p>
            <a:pPr marL="0" marR="0" lvl="0" indent="0" algn="l" defTabSz="457200" rtl="0" eaLnBrk="1" fontAlgn="auto" latinLnBrk="0" hangingPunct="1">
              <a:lnSpc>
                <a:spcPts val="1689"/>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What service can Citizens consistently deliver at each relationship level?</a:t>
            </a:r>
          </a:p>
        </p:txBody>
      </p:sp>
      <p:cxnSp>
        <p:nvCxnSpPr>
          <p:cNvPr id="128" name="Connector 127"/>
          <p:cNvCxnSpPr/>
          <p:nvPr/>
        </p:nvCxnSpPr>
        <p:spPr>
          <a:xfrm>
            <a:off x="4847532" y="4154211"/>
            <a:ext cx="6841422" cy="0"/>
          </a:xfrm>
          <a:prstGeom prst="line">
            <a:avLst/>
          </a:prstGeom>
          <a:ln w="9144">
            <a:solidFill>
              <a:srgbClr val="DDDBCE"/>
            </a:solidFill>
          </a:ln>
          <a:effectLst/>
        </p:spPr>
      </p:cxnSp>
      <p:sp>
        <p:nvSpPr>
          <p:cNvPr id="129" name="TextBox 128"/>
          <p:cNvSpPr txBox="1"/>
          <p:nvPr/>
        </p:nvSpPr>
        <p:spPr>
          <a:xfrm>
            <a:off x="4847532" y="4225380"/>
            <a:ext cx="243840" cy="325526"/>
          </a:xfrm>
          <a:prstGeom prst="rect">
            <a:avLst/>
          </a:prstGeom>
          <a:noFill/>
        </p:spPr>
        <p:txBody>
          <a:bodyPr wrap="none" lIns="0" tIns="0" rIns="0" bIns="0" anchor="t">
            <a:noAutofit/>
          </a:bodyPr>
          <a:lstStyle/>
          <a:p>
            <a:pPr marL="0" marR="0" lvl="0" indent="0" algn="l" defTabSz="457200" rtl="0" eaLnBrk="1" fontAlgn="auto" latinLnBrk="0" hangingPunct="1">
              <a:lnSpc>
                <a:spcPts val="2419"/>
              </a:lnSpc>
              <a:spcBef>
                <a:spcPts val="0"/>
              </a:spcBef>
              <a:spcAft>
                <a:spcPts val="0"/>
              </a:spcAft>
              <a:buClrTx/>
              <a:buSzTx/>
              <a:buFontTx/>
              <a:buNone/>
              <a:tabLst/>
              <a:defRPr/>
            </a:pPr>
            <a:r>
              <a:rPr kumimoji="0" sz="1650" b="1" i="0" u="none" strike="noStrike" kern="1200" cap="none" spc="0" normalizeH="0" baseline="0" noProof="0">
                <a:ln>
                  <a:noFill/>
                </a:ln>
                <a:solidFill>
                  <a:srgbClr val="007651"/>
                </a:solidFill>
                <a:effectLst/>
                <a:uLnTx/>
                <a:uFillTx/>
                <a:latin typeface="Fira Sans"/>
                <a:ea typeface="+mn-ea"/>
                <a:cs typeface="+mn-cs"/>
              </a:rPr>
              <a:t>4</a:t>
            </a:r>
          </a:p>
        </p:txBody>
      </p:sp>
      <p:sp>
        <p:nvSpPr>
          <p:cNvPr id="130" name="TextBox 129"/>
          <p:cNvSpPr txBox="1"/>
          <p:nvPr/>
        </p:nvSpPr>
        <p:spPr>
          <a:xfrm>
            <a:off x="5182835" y="4302603"/>
            <a:ext cx="6831425"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all" spc="94" normalizeH="0" baseline="0" noProof="0">
                <a:ln>
                  <a:noFill/>
                </a:ln>
                <a:solidFill>
                  <a:srgbClr val="9A9A9A"/>
                </a:solidFill>
                <a:effectLst/>
                <a:uLnTx/>
                <a:uFillTx/>
                <a:latin typeface="Fira Sans"/>
                <a:ea typeface="+mn-ea"/>
                <a:cs typeface="+mn-cs"/>
              </a:rPr>
              <a:t>THE RULES</a:t>
            </a:r>
          </a:p>
        </p:txBody>
      </p:sp>
      <p:sp>
        <p:nvSpPr>
          <p:cNvPr id="131" name="TextBox 130"/>
          <p:cNvSpPr txBox="1"/>
          <p:nvPr/>
        </p:nvSpPr>
        <p:spPr>
          <a:xfrm>
            <a:off x="5182835" y="4489108"/>
            <a:ext cx="5374329" cy="447233"/>
          </a:xfrm>
          <a:prstGeom prst="rect">
            <a:avLst/>
          </a:prstGeom>
          <a:noFill/>
        </p:spPr>
        <p:txBody>
          <a:bodyPr wrap="square" lIns="0" tIns="0" rIns="0" bIns="0" anchor="t">
            <a:noAutofit/>
          </a:bodyPr>
          <a:lstStyle/>
          <a:p>
            <a:pPr marL="0" marR="0" lvl="0" indent="0" algn="l" defTabSz="457200" rtl="0" eaLnBrk="1" fontAlgn="auto" latinLnBrk="0" hangingPunct="1">
              <a:lnSpc>
                <a:spcPts val="1689"/>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Which balances count, whose balances can be combined, when are levels measured, and who owns the rules?</a:t>
            </a:r>
          </a:p>
        </p:txBody>
      </p:sp>
      <p:cxnSp>
        <p:nvCxnSpPr>
          <p:cNvPr id="132" name="Connector 131"/>
          <p:cNvCxnSpPr/>
          <p:nvPr/>
        </p:nvCxnSpPr>
        <p:spPr>
          <a:xfrm>
            <a:off x="4847532" y="5076932"/>
            <a:ext cx="6841422" cy="0"/>
          </a:xfrm>
          <a:prstGeom prst="line">
            <a:avLst/>
          </a:prstGeom>
          <a:ln w="9144">
            <a:solidFill>
              <a:srgbClr val="DDDBCE"/>
            </a:solidFill>
          </a:ln>
          <a:effectLst/>
        </p:spPr>
      </p:cxnSp>
      <p:cxnSp>
        <p:nvCxnSpPr>
          <p:cNvPr id="133" name="Connector 132"/>
          <p:cNvCxnSpPr/>
          <p:nvPr/>
        </p:nvCxnSpPr>
        <p:spPr>
          <a:xfrm>
            <a:off x="4847532" y="6145352"/>
            <a:ext cx="6841422" cy="0"/>
          </a:xfrm>
          <a:prstGeom prst="line">
            <a:avLst/>
          </a:prstGeom>
          <a:ln w="9144">
            <a:solidFill>
              <a:srgbClr val="DDDBCE"/>
            </a:solidFill>
          </a:ln>
          <a:effectLst/>
        </p:spPr>
      </p:cxnSp>
      <p:sp>
        <p:nvSpPr>
          <p:cNvPr id="134" name="TextBox 133"/>
          <p:cNvSpPr txBox="1"/>
          <p:nvPr/>
        </p:nvSpPr>
        <p:spPr>
          <a:xfrm>
            <a:off x="4847532" y="5148101"/>
            <a:ext cx="237529" cy="325526"/>
          </a:xfrm>
          <a:prstGeom prst="rect">
            <a:avLst/>
          </a:prstGeom>
          <a:noFill/>
        </p:spPr>
        <p:txBody>
          <a:bodyPr wrap="none" lIns="0" tIns="0" rIns="0" bIns="0" anchor="t">
            <a:noAutofit/>
          </a:bodyPr>
          <a:lstStyle/>
          <a:p>
            <a:pPr marL="0" marR="0" lvl="0" indent="0" algn="l" defTabSz="457200" rtl="0" eaLnBrk="1" fontAlgn="auto" latinLnBrk="0" hangingPunct="1">
              <a:lnSpc>
                <a:spcPts val="2419"/>
              </a:lnSpc>
              <a:spcBef>
                <a:spcPts val="0"/>
              </a:spcBef>
              <a:spcAft>
                <a:spcPts val="0"/>
              </a:spcAft>
              <a:buClrTx/>
              <a:buSzTx/>
              <a:buFontTx/>
              <a:buNone/>
              <a:tabLst/>
              <a:defRPr/>
            </a:pPr>
            <a:r>
              <a:rPr kumimoji="0" sz="1650" b="1" i="0" u="none" strike="noStrike" kern="1200" cap="none" spc="0" normalizeH="0" baseline="0" noProof="0">
                <a:ln>
                  <a:noFill/>
                </a:ln>
                <a:solidFill>
                  <a:srgbClr val="007651"/>
                </a:solidFill>
                <a:effectLst/>
                <a:uLnTx/>
                <a:uFillTx/>
                <a:latin typeface="Fira Sans"/>
                <a:ea typeface="+mn-ea"/>
                <a:cs typeface="+mn-cs"/>
              </a:rPr>
              <a:t>5</a:t>
            </a:r>
          </a:p>
        </p:txBody>
      </p:sp>
      <p:sp>
        <p:nvSpPr>
          <p:cNvPr id="135" name="TextBox 134"/>
          <p:cNvSpPr txBox="1"/>
          <p:nvPr/>
        </p:nvSpPr>
        <p:spPr>
          <a:xfrm>
            <a:off x="5176524" y="5225324"/>
            <a:ext cx="6651838" cy="182880"/>
          </a:xfrm>
          <a:prstGeom prst="rect">
            <a:avLst/>
          </a:prstGeom>
          <a:noFill/>
        </p:spPr>
        <p:txBody>
          <a:bodyPr wrap="none" lIns="0" tIns="0" rIns="0" bIns="0" anchor="t">
            <a:noAutofit/>
          </a:bodyPr>
          <a:lstStyle/>
          <a:p>
            <a:pPr marL="0" marR="0" lvl="0" indent="0" algn="l" defTabSz="457200" rtl="0" eaLnBrk="1" fontAlgn="auto" latinLnBrk="0" hangingPunct="1">
              <a:lnSpc>
                <a:spcPts val="1296"/>
              </a:lnSpc>
              <a:spcBef>
                <a:spcPts val="0"/>
              </a:spcBef>
              <a:spcAft>
                <a:spcPts val="0"/>
              </a:spcAft>
              <a:buClrTx/>
              <a:buSzTx/>
              <a:buFontTx/>
              <a:buNone/>
              <a:tabLst/>
              <a:defRPr/>
            </a:pPr>
            <a:r>
              <a:rPr kumimoji="0" sz="950" b="1" i="0" u="none" strike="noStrike" kern="1200" cap="all" spc="94" normalizeH="0" baseline="0" noProof="0">
                <a:ln>
                  <a:noFill/>
                </a:ln>
                <a:solidFill>
                  <a:srgbClr val="9A9A9A"/>
                </a:solidFill>
                <a:effectLst/>
                <a:uLnTx/>
                <a:uFillTx/>
                <a:latin typeface="Fira Sans"/>
                <a:ea typeface="+mn-ea"/>
                <a:cs typeface="+mn-cs"/>
              </a:rPr>
              <a:t>NAMING AHEAD</a:t>
            </a:r>
          </a:p>
        </p:txBody>
      </p:sp>
      <p:sp>
        <p:nvSpPr>
          <p:cNvPr id="136" name="TextBox 135"/>
          <p:cNvSpPr txBox="1"/>
          <p:nvPr/>
        </p:nvSpPr>
        <p:spPr>
          <a:xfrm>
            <a:off x="5176525" y="5411829"/>
            <a:ext cx="5722384" cy="370135"/>
          </a:xfrm>
          <a:prstGeom prst="rect">
            <a:avLst/>
          </a:prstGeom>
          <a:noFill/>
        </p:spPr>
        <p:txBody>
          <a:bodyPr wrap="square" lIns="0" tIns="0" rIns="0" bIns="0" anchor="t">
            <a:noAutofit/>
          </a:bodyPr>
          <a:lstStyle/>
          <a:p>
            <a:pPr marL="0" marR="0" lvl="0" indent="0" algn="l" defTabSz="457200" rtl="0" eaLnBrk="1" fontAlgn="auto" latinLnBrk="0" hangingPunct="1">
              <a:lnSpc>
                <a:spcPts val="1689"/>
              </a:lnSpc>
              <a:spcBef>
                <a:spcPts val="0"/>
              </a:spcBef>
              <a:spcAft>
                <a:spcPts val="0"/>
              </a:spcAft>
              <a:buClrTx/>
              <a:buSzTx/>
              <a:buFontTx/>
              <a:buNone/>
              <a:tabLst/>
              <a:defRPr/>
            </a:pPr>
            <a:r>
              <a:rPr kumimoji="0" lang="en-US" sz="1200" b="0" i="0" u="none" strike="noStrike" kern="1200" cap="none" spc="0" normalizeH="0" baseline="0" noProof="0">
                <a:ln>
                  <a:noFill/>
                </a:ln>
                <a:solidFill>
                  <a:srgbClr val="232422"/>
                </a:solidFill>
                <a:effectLst/>
                <a:uLnTx/>
                <a:uFillTx/>
                <a:latin typeface="Fira Sans"/>
                <a:ea typeface="+mn-ea"/>
                <a:cs typeface="+mn-cs"/>
              </a:rPr>
              <a:t>Would we be comfortable naming the relationship program and its levels before the 2028 version of the program is fully designed? Could we use </a:t>
            </a:r>
            <a:r>
              <a:rPr kumimoji="0" lang="en-US" sz="1200" b="0" i="0" u="none" strike="noStrike" kern="1200" cap="none" spc="0" normalizeH="0" baseline="0" noProof="0" err="1">
                <a:ln>
                  <a:noFill/>
                </a:ln>
                <a:solidFill>
                  <a:srgbClr val="232422"/>
                </a:solidFill>
                <a:effectLst/>
                <a:uLnTx/>
                <a:uFillTx/>
                <a:latin typeface="Fira Sans"/>
                <a:ea typeface="+mn-ea"/>
                <a:cs typeface="+mn-cs"/>
              </a:rPr>
              <a:t>CitizensPlus</a:t>
            </a:r>
            <a:r>
              <a:rPr kumimoji="0" lang="en-US" sz="1200" b="0" i="0" u="none" strike="noStrike" kern="1200" cap="none" spc="0" normalizeH="0" baseline="0" noProof="0">
                <a:ln>
                  <a:noFill/>
                </a:ln>
                <a:solidFill>
                  <a:srgbClr val="232422"/>
                </a:solidFill>
                <a:effectLst/>
                <a:uLnTx/>
                <a:uFillTx/>
                <a:latin typeface="Fira Sans"/>
                <a:ea typeface="+mn-ea"/>
                <a:cs typeface="+mn-cs"/>
              </a:rPr>
              <a:t>?</a:t>
            </a:r>
          </a:p>
        </p:txBody>
      </p:sp>
      <p:cxnSp>
        <p:nvCxnSpPr>
          <p:cNvPr id="137" name="Connector 136"/>
          <p:cNvCxnSpPr/>
          <p:nvPr/>
        </p:nvCxnSpPr>
        <p:spPr>
          <a:xfrm>
            <a:off x="503046" y="6414516"/>
            <a:ext cx="11185908" cy="0"/>
          </a:xfrm>
          <a:prstGeom prst="line">
            <a:avLst/>
          </a:prstGeom>
          <a:ln w="9144">
            <a:solidFill>
              <a:srgbClr val="DDDBCE"/>
            </a:solidFill>
          </a:ln>
          <a:effectLst/>
        </p:spPr>
      </p:cxnSp>
      <p:sp>
        <p:nvSpPr>
          <p:cNvPr id="138" name="TextBox 137"/>
          <p:cNvSpPr txBox="1"/>
          <p:nvPr/>
        </p:nvSpPr>
        <p:spPr>
          <a:xfrm>
            <a:off x="503046" y="6491373"/>
            <a:ext cx="11688954" cy="160934"/>
          </a:xfrm>
          <a:prstGeom prst="rect">
            <a:avLst/>
          </a:prstGeom>
          <a:noFill/>
        </p:spPr>
        <p:txBody>
          <a:bodyPr wrap="non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r>
              <a:rPr kumimoji="0" sz="800" b="0" i="0" u="none" strike="noStrike" kern="1200" cap="none" spc="0" normalizeH="0" baseline="0" noProof="0">
                <a:ln>
                  <a:noFill/>
                </a:ln>
                <a:solidFill>
                  <a:srgbClr val="9A9A9A"/>
                </a:solidFill>
                <a:effectLst/>
                <a:uLnTx/>
                <a:uFillTx/>
                <a:latin typeface="Fira Mono"/>
                <a:ea typeface="+mn-ea"/>
                <a:cs typeface="+mn-cs"/>
              </a:rPr>
              <a:t>For discussion · August 2026 · Private Client is a working label throughout</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DFAF4"/>
        </a:solidFill>
        <a:effectLst/>
      </p:bgPr>
    </p:bg>
    <p:spTree>
      <p:nvGrpSpPr>
        <p:cNvPr id="1" name=""/>
        <p:cNvGrpSpPr/>
        <p:nvPr/>
      </p:nvGrpSpPr>
      <p:grpSpPr>
        <a:xfrm>
          <a:off x="0" y="0"/>
          <a:ext cx="0" cy="0"/>
          <a:chOff x="0" y="0"/>
          <a:chExt cx="0" cy="0"/>
        </a:xfrm>
      </p:grpSpPr>
      <p:sp>
        <p:nvSpPr>
          <p:cNvPr id="91" name="TextBox 90"/>
          <p:cNvSpPr txBox="1"/>
          <p:nvPr/>
        </p:nvSpPr>
        <p:spPr>
          <a:xfrm>
            <a:off x="503046" y="366045"/>
            <a:ext cx="541369" cy="215798"/>
          </a:xfrm>
          <a:prstGeom prst="rect">
            <a:avLst/>
          </a:prstGeom>
          <a:noFill/>
        </p:spPr>
        <p:txBody>
          <a:bodyPr wrap="square" lIns="0" tIns="0" rIns="0" bIns="0" anchor="t">
            <a:noAutofit/>
          </a:bodyPr>
          <a:lstStyle/>
          <a:p>
            <a:pPr marL="0" marR="0" lvl="0" indent="0" algn="l" defTabSz="457200" rtl="0" eaLnBrk="1" fontAlgn="auto" latinLnBrk="0" hangingPunct="1">
              <a:lnSpc>
                <a:spcPts val="1555"/>
              </a:lnSpc>
              <a:spcBef>
                <a:spcPts val="0"/>
              </a:spcBef>
              <a:spcAft>
                <a:spcPts val="0"/>
              </a:spcAft>
              <a:buClrTx/>
              <a:buSzTx/>
              <a:buFontTx/>
              <a:buNone/>
              <a:tabLst/>
              <a:defRPr/>
            </a:pPr>
            <a:r>
              <a:rPr kumimoji="0" sz="1100" b="0" i="0" u="none" strike="noStrike" kern="1200" cap="all" spc="130" normalizeH="0" baseline="0" noProof="0">
                <a:ln>
                  <a:noFill/>
                </a:ln>
                <a:solidFill>
                  <a:srgbClr val="9A9A9A"/>
                </a:solidFill>
                <a:effectLst/>
                <a:uLnTx/>
                <a:uFillTx/>
                <a:latin typeface="Fira Sans Medium"/>
                <a:ea typeface="+mn-ea"/>
                <a:cs typeface="+mn-cs"/>
              </a:rPr>
              <a:t>CLOSE</a:t>
            </a:r>
          </a:p>
        </p:txBody>
      </p:sp>
      <p:sp>
        <p:nvSpPr>
          <p:cNvPr id="92" name="TextBox 91"/>
          <p:cNvSpPr txBox="1"/>
          <p:nvPr/>
        </p:nvSpPr>
        <p:spPr>
          <a:xfrm>
            <a:off x="503046" y="743648"/>
            <a:ext cx="11745204" cy="925281"/>
          </a:xfrm>
          <a:prstGeom prst="rect">
            <a:avLst/>
          </a:prstGeom>
          <a:noFill/>
        </p:spPr>
        <p:txBody>
          <a:bodyPr wrap="square" lIns="0" tIns="0" rIns="0" bIns="0" anchor="t">
            <a:noAutofit/>
          </a:bodyPr>
          <a:lstStyle/>
          <a:p>
            <a:pPr marL="0" marR="0" lvl="0" indent="0" algn="l" defTabSz="457200" rtl="0" eaLnBrk="1" fontAlgn="auto" latinLnBrk="0" hangingPunct="1">
              <a:lnSpc>
                <a:spcPts val="3571"/>
              </a:lnSpc>
              <a:spcBef>
                <a:spcPts val="0"/>
              </a:spcBef>
              <a:spcAft>
                <a:spcPts val="0"/>
              </a:spcAft>
              <a:buClrTx/>
              <a:buSzTx/>
              <a:buFontTx/>
              <a:buNone/>
              <a:tabLst/>
              <a:defRPr/>
            </a:pPr>
            <a:r>
              <a:rPr kumimoji="0" lang="en-US" sz="2900" b="0" i="0" u="none" strike="noStrike" kern="1200" cap="none" spc="-14" normalizeH="0" baseline="0" noProof="0">
                <a:ln>
                  <a:noFill/>
                </a:ln>
                <a:solidFill>
                  <a:srgbClr val="232422"/>
                </a:solidFill>
                <a:effectLst/>
                <a:uLnTx/>
                <a:uFillTx/>
                <a:latin typeface="Fira Sans"/>
                <a:ea typeface="+mn-ea"/>
                <a:cs typeface="+mn-cs"/>
              </a:rPr>
              <a:t>Next Steps</a:t>
            </a:r>
            <a:endParaRPr kumimoji="0" sz="2900" b="0" i="0" u="none" strike="noStrike" kern="1200" cap="none" spc="-14" normalizeH="0" baseline="0" noProof="0">
              <a:ln>
                <a:noFill/>
              </a:ln>
              <a:solidFill>
                <a:srgbClr val="232422"/>
              </a:solidFill>
              <a:effectLst/>
              <a:uLnTx/>
              <a:uFillTx/>
              <a:latin typeface="Fira Sans"/>
              <a:ea typeface="+mn-ea"/>
              <a:cs typeface="+mn-cs"/>
            </a:endParaRPr>
          </a:p>
        </p:txBody>
      </p:sp>
      <p:cxnSp>
        <p:nvCxnSpPr>
          <p:cNvPr id="93" name="Connector 92"/>
          <p:cNvCxnSpPr/>
          <p:nvPr/>
        </p:nvCxnSpPr>
        <p:spPr>
          <a:xfrm>
            <a:off x="503046" y="1994425"/>
            <a:ext cx="11185908" cy="0"/>
          </a:xfrm>
          <a:prstGeom prst="line">
            <a:avLst/>
          </a:prstGeom>
          <a:ln w="9144">
            <a:solidFill>
              <a:srgbClr val="DDDBCE"/>
            </a:solidFill>
          </a:ln>
          <a:effectLst/>
        </p:spPr>
      </p:cxnSp>
      <p:sp>
        <p:nvSpPr>
          <p:cNvPr id="94" name="TextBox 93"/>
          <p:cNvSpPr txBox="1"/>
          <p:nvPr/>
        </p:nvSpPr>
        <p:spPr>
          <a:xfrm>
            <a:off x="503046" y="2229466"/>
            <a:ext cx="196645"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Medium"/>
                <a:ea typeface="+mn-ea"/>
                <a:cs typeface="+mn-cs"/>
              </a:rPr>
              <a:t>1</a:t>
            </a:r>
          </a:p>
        </p:txBody>
      </p:sp>
      <p:sp>
        <p:nvSpPr>
          <p:cNvPr id="95" name="TextBox 94"/>
          <p:cNvSpPr txBox="1"/>
          <p:nvPr/>
        </p:nvSpPr>
        <p:spPr>
          <a:xfrm>
            <a:off x="974080" y="2264266"/>
            <a:ext cx="9162892"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lang="en-US" sz="1950" b="0" i="0" u="none" strike="noStrike" kern="1200" cap="none" spc="0" normalizeH="0" baseline="0" noProof="0">
                <a:ln>
                  <a:noFill/>
                </a:ln>
                <a:solidFill>
                  <a:srgbClr val="232422"/>
                </a:solidFill>
                <a:effectLst/>
                <a:uLnTx/>
                <a:uFillTx/>
                <a:latin typeface="Fira Sans"/>
                <a:ea typeface="+mn-ea"/>
                <a:cs typeface="+mn-cs"/>
              </a:rPr>
              <a:t>Gather feedback on the findings and initial recommendation</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97" name="Connector 96"/>
          <p:cNvCxnSpPr/>
          <p:nvPr/>
        </p:nvCxnSpPr>
        <p:spPr>
          <a:xfrm>
            <a:off x="503046" y="3143277"/>
            <a:ext cx="11185908" cy="0"/>
          </a:xfrm>
          <a:prstGeom prst="line">
            <a:avLst/>
          </a:prstGeom>
          <a:ln w="9144">
            <a:solidFill>
              <a:srgbClr val="DDDBCE"/>
            </a:solidFill>
          </a:ln>
          <a:effectLst/>
        </p:spPr>
      </p:cxnSp>
      <p:sp>
        <p:nvSpPr>
          <p:cNvPr id="98" name="TextBox 97"/>
          <p:cNvSpPr txBox="1"/>
          <p:nvPr/>
        </p:nvSpPr>
        <p:spPr>
          <a:xfrm>
            <a:off x="503046" y="3378319"/>
            <a:ext cx="212377"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Medium"/>
                <a:ea typeface="+mn-ea"/>
                <a:cs typeface="+mn-cs"/>
              </a:rPr>
              <a:t>2</a:t>
            </a:r>
          </a:p>
        </p:txBody>
      </p:sp>
      <p:sp>
        <p:nvSpPr>
          <p:cNvPr id="99" name="TextBox 98"/>
          <p:cNvSpPr txBox="1"/>
          <p:nvPr/>
        </p:nvSpPr>
        <p:spPr>
          <a:xfrm>
            <a:off x="989810" y="3413118"/>
            <a:ext cx="9220990"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lang="en-US" sz="1950" b="0" i="0" u="none" strike="noStrike" kern="1200" cap="none" spc="0" normalizeH="0" baseline="0" noProof="0">
                <a:ln>
                  <a:noFill/>
                </a:ln>
                <a:solidFill>
                  <a:srgbClr val="232422"/>
                </a:solidFill>
                <a:effectLst/>
                <a:uLnTx/>
                <a:uFillTx/>
                <a:latin typeface="Fira Sans"/>
                <a:ea typeface="+mn-ea"/>
                <a:cs typeface="+mn-cs"/>
              </a:rPr>
              <a:t>Incorporate feedback and confirm the high-level ecosystem direction</a:t>
            </a:r>
          </a:p>
        </p:txBody>
      </p:sp>
      <p:cxnSp>
        <p:nvCxnSpPr>
          <p:cNvPr id="101" name="Connector 100"/>
          <p:cNvCxnSpPr/>
          <p:nvPr/>
        </p:nvCxnSpPr>
        <p:spPr>
          <a:xfrm>
            <a:off x="503046" y="4292129"/>
            <a:ext cx="11185908" cy="0"/>
          </a:xfrm>
          <a:prstGeom prst="line">
            <a:avLst/>
          </a:prstGeom>
          <a:ln w="9144">
            <a:solidFill>
              <a:srgbClr val="DDDBCE"/>
            </a:solidFill>
          </a:ln>
          <a:effectLst/>
        </p:spPr>
      </p:cxnSp>
      <p:sp>
        <p:nvSpPr>
          <p:cNvPr id="102" name="TextBox 101"/>
          <p:cNvSpPr txBox="1"/>
          <p:nvPr/>
        </p:nvSpPr>
        <p:spPr>
          <a:xfrm>
            <a:off x="503046" y="4527171"/>
            <a:ext cx="213200" cy="413309"/>
          </a:xfrm>
          <a:prstGeom prst="rect">
            <a:avLst/>
          </a:prstGeom>
          <a:noFill/>
        </p:spPr>
        <p:txBody>
          <a:bodyPr wrap="square" lIns="0" tIns="0" rIns="0" bIns="0" anchor="t">
            <a:noAutofit/>
          </a:bodyPr>
          <a:lstStyle/>
          <a:p>
            <a:pPr marL="0" marR="0" lvl="0" indent="0" algn="l" defTabSz="457200" rtl="0" eaLnBrk="1" fontAlgn="auto" latinLnBrk="0" hangingPunct="1">
              <a:lnSpc>
                <a:spcPts val="3110"/>
              </a:lnSpc>
              <a:spcBef>
                <a:spcPts val="0"/>
              </a:spcBef>
              <a:spcAft>
                <a:spcPts val="0"/>
              </a:spcAft>
              <a:buClrTx/>
              <a:buSzTx/>
              <a:buFontTx/>
              <a:buNone/>
              <a:tabLst/>
              <a:defRPr/>
            </a:pPr>
            <a:r>
              <a:rPr kumimoji="0" sz="2150" b="0" i="0" u="none" strike="noStrike" kern="1200" cap="none" spc="0" normalizeH="0" baseline="0" noProof="0">
                <a:ln>
                  <a:noFill/>
                </a:ln>
                <a:solidFill>
                  <a:srgbClr val="007651"/>
                </a:solidFill>
                <a:effectLst/>
                <a:uLnTx/>
                <a:uFillTx/>
                <a:latin typeface="Fira Sans Medium"/>
                <a:ea typeface="+mn-ea"/>
                <a:cs typeface="+mn-cs"/>
              </a:rPr>
              <a:t>3</a:t>
            </a:r>
          </a:p>
        </p:txBody>
      </p:sp>
      <p:sp>
        <p:nvSpPr>
          <p:cNvPr id="103" name="TextBox 102"/>
          <p:cNvSpPr txBox="1"/>
          <p:nvPr/>
        </p:nvSpPr>
        <p:spPr>
          <a:xfrm>
            <a:off x="990634" y="4561970"/>
            <a:ext cx="9727583" cy="369418"/>
          </a:xfrm>
          <a:prstGeom prst="rect">
            <a:avLst/>
          </a:prstGeom>
          <a:noFill/>
        </p:spPr>
        <p:txBody>
          <a:bodyPr wrap="square" lIns="0" tIns="0" rIns="0" bIns="0" anchor="t">
            <a:noAutofit/>
          </a:bodyPr>
          <a:lstStyle/>
          <a:p>
            <a:pPr marL="0" marR="0" lvl="0" indent="0" algn="l" defTabSz="457200" rtl="0" eaLnBrk="1" fontAlgn="auto" latinLnBrk="0" hangingPunct="1">
              <a:lnSpc>
                <a:spcPts val="2764"/>
              </a:lnSpc>
              <a:spcBef>
                <a:spcPts val="0"/>
              </a:spcBef>
              <a:spcAft>
                <a:spcPts val="0"/>
              </a:spcAft>
              <a:buClrTx/>
              <a:buSzTx/>
              <a:buFontTx/>
              <a:buNone/>
              <a:tabLst/>
              <a:defRPr/>
            </a:pPr>
            <a:r>
              <a:rPr kumimoji="0" lang="en-US" sz="1950" b="0" i="0" u="none" strike="noStrike" kern="1200" cap="none" spc="0" normalizeH="0" baseline="0" noProof="0">
                <a:ln>
                  <a:noFill/>
                </a:ln>
                <a:solidFill>
                  <a:srgbClr val="232422"/>
                </a:solidFill>
                <a:effectLst/>
                <a:uLnTx/>
                <a:uFillTx/>
                <a:latin typeface="Fira Sans"/>
                <a:ea typeface="+mn-ea"/>
                <a:cs typeface="+mn-cs"/>
              </a:rPr>
              <a:t>Kick off positioning and naming from the agreed direction</a:t>
            </a:r>
            <a:endParaRPr kumimoji="0" lang="en-US" sz="1400" b="0" i="0" u="none" strike="noStrike" kern="1200" cap="none" spc="0" normalizeH="0" baseline="0" noProof="0">
              <a:ln>
                <a:noFill/>
              </a:ln>
              <a:solidFill>
                <a:prstClr val="black">
                  <a:lumMod val="49000"/>
                  <a:lumOff val="51000"/>
                </a:prstClr>
              </a:solidFill>
              <a:effectLst/>
              <a:uLnTx/>
              <a:uFillTx/>
              <a:latin typeface="Calibri"/>
              <a:ea typeface="Calibri"/>
              <a:cs typeface="Calibri"/>
            </a:endParaRPr>
          </a:p>
        </p:txBody>
      </p:sp>
      <p:cxnSp>
        <p:nvCxnSpPr>
          <p:cNvPr id="105" name="Connector 104"/>
          <p:cNvCxnSpPr/>
          <p:nvPr/>
        </p:nvCxnSpPr>
        <p:spPr>
          <a:xfrm>
            <a:off x="503046" y="5440981"/>
            <a:ext cx="11185908" cy="0"/>
          </a:xfrm>
          <a:prstGeom prst="line">
            <a:avLst/>
          </a:prstGeom>
          <a:ln w="9144">
            <a:solidFill>
              <a:srgbClr val="DDDBCE"/>
            </a:solidFill>
          </a:ln>
          <a:effectLst/>
        </p:spPr>
      </p:cxnSp>
      <p:sp>
        <p:nvSpPr>
          <p:cNvPr id="107" name="TextBox 106"/>
          <p:cNvSpPr txBox="1"/>
          <p:nvPr/>
        </p:nvSpPr>
        <p:spPr>
          <a:xfrm>
            <a:off x="503046" y="6491373"/>
            <a:ext cx="11745204" cy="160934"/>
          </a:xfrm>
          <a:prstGeom prst="rect">
            <a:avLst/>
          </a:prstGeom>
          <a:noFill/>
        </p:spPr>
        <p:txBody>
          <a:bodyPr wrap="square" lIns="0" tIns="0" rIns="0" bIns="0" anchor="t">
            <a:noAutofit/>
          </a:bodyPr>
          <a:lstStyle/>
          <a:p>
            <a:pPr marL="0" marR="0" lvl="0" indent="0" algn="l" defTabSz="457200" rtl="0" eaLnBrk="1" fontAlgn="auto" latinLnBrk="0" hangingPunct="1">
              <a:lnSpc>
                <a:spcPts val="1123"/>
              </a:lnSpc>
              <a:spcBef>
                <a:spcPts val="0"/>
              </a:spcBef>
              <a:spcAft>
                <a:spcPts val="0"/>
              </a:spcAft>
              <a:buClrTx/>
              <a:buSzTx/>
              <a:buFontTx/>
              <a:buNone/>
              <a:tabLst/>
              <a:defRPr/>
            </a:pPr>
            <a:endParaRPr kumimoji="0" sz="800" b="0" i="0" u="none" strike="noStrike" kern="1200" cap="none" spc="0" normalizeH="0" baseline="0" noProof="0">
              <a:ln>
                <a:noFill/>
              </a:ln>
              <a:solidFill>
                <a:srgbClr val="9A9A9A"/>
              </a:solidFill>
              <a:effectLst/>
              <a:uLnTx/>
              <a:uFillTx/>
              <a:latin typeface="Fira Mono"/>
              <a:ea typeface="+mn-ea"/>
              <a:cs typeface="+mn-cs"/>
            </a:endParaRP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a:ln>
                  <a:noFill/>
                </a:ln>
                <a:solidFill>
                  <a:srgbClr val="9A9A9A"/>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950" b="0" i="0" u="none" strike="noStrike" kern="1200" cap="none" spc="0" normalizeH="0" baseline="0" noProof="0">
              <a:ln>
                <a:noFill/>
              </a:ln>
              <a:solidFill>
                <a:srgbClr val="9A9A9A"/>
              </a:solidFill>
              <a:effectLst/>
              <a:uLnTx/>
              <a:uFillTx/>
              <a:latin typeface="Fira Mono"/>
              <a:ea typeface="+mn-ea"/>
              <a:cs typeface="+mn-cs"/>
            </a:endParaRPr>
          </a:p>
        </p:txBody>
      </p:sp>
    </p:spTree>
    <p:extLst>
      <p:ext uri="{BB962C8B-B14F-4D97-AF65-F5344CB8AC3E}">
        <p14:creationId xmlns:p14="http://schemas.microsoft.com/office/powerpoint/2010/main" val="15458540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217651"/>
        </a:solidFill>
        <a:effectLst/>
      </p:bgPr>
    </p:bg>
    <p:spTree>
      <p:nvGrpSpPr>
        <p:cNvPr id="1" name=""/>
        <p:cNvGrpSpPr/>
        <p:nvPr/>
      </p:nvGrpSpPr>
      <p:grpSpPr>
        <a:xfrm>
          <a:off x="0" y="0"/>
          <a:ext cx="0" cy="0"/>
          <a:chOff x="0" y="0"/>
          <a:chExt cx="0" cy="0"/>
        </a:xfrm>
      </p:grpSpPr>
      <p:sp>
        <p:nvSpPr>
          <p:cNvPr id="92" name="TextBox 91"/>
          <p:cNvSpPr txBox="1"/>
          <p:nvPr/>
        </p:nvSpPr>
        <p:spPr>
          <a:xfrm>
            <a:off x="503046" y="358054"/>
            <a:ext cx="707557" cy="270662"/>
          </a:xfrm>
          <a:prstGeom prst="rect">
            <a:avLst/>
          </a:prstGeom>
          <a:noFill/>
        </p:spPr>
        <p:txBody>
          <a:bodyPr wrap="square" lIns="0" tIns="0" rIns="0" bIns="0" anchor="t">
            <a:noAutofit/>
          </a:bodyPr>
          <a:lstStyle/>
          <a:p>
            <a:pPr marL="0" marR="0" lvl="0" indent="0" algn="l" defTabSz="457200" rtl="0" eaLnBrk="1" fontAlgn="auto" latinLnBrk="0" hangingPunct="1">
              <a:lnSpc>
                <a:spcPts val="1987"/>
              </a:lnSpc>
              <a:spcBef>
                <a:spcPts val="0"/>
              </a:spcBef>
              <a:spcAft>
                <a:spcPts val="0"/>
              </a:spcAft>
              <a:buClrTx/>
              <a:buSzTx/>
              <a:buFontTx/>
              <a:buNone/>
              <a:tabLst/>
              <a:defRPr/>
            </a:pPr>
            <a:r>
              <a:rPr kumimoji="0" lang="en-US" sz="1350" b="0" i="0" u="none" strike="noStrike" kern="1200" cap="none" spc="14" normalizeH="0" baseline="0" noProof="0">
                <a:ln>
                  <a:noFill/>
                </a:ln>
                <a:solidFill>
                  <a:srgbClr val="FFFFFF"/>
                </a:solidFill>
                <a:effectLst/>
                <a:uLnTx/>
                <a:uFillTx/>
                <a:latin typeface="Fira Sans" panose="020B0503050000020004" pitchFamily="34" charset="0"/>
                <a:ea typeface="+mn-ea"/>
                <a:cs typeface="+mn-cs"/>
              </a:rPr>
              <a:t>Citizens</a:t>
            </a:r>
          </a:p>
        </p:txBody>
      </p:sp>
      <p:sp>
        <p:nvSpPr>
          <p:cNvPr id="93" name="TextBox 92"/>
          <p:cNvSpPr txBox="1"/>
          <p:nvPr/>
        </p:nvSpPr>
        <p:spPr>
          <a:xfrm>
            <a:off x="503046" y="4953093"/>
            <a:ext cx="2816832" cy="863194"/>
          </a:xfrm>
          <a:prstGeom prst="rect">
            <a:avLst/>
          </a:prstGeom>
          <a:noFill/>
        </p:spPr>
        <p:txBody>
          <a:bodyPr wrap="square" lIns="0" tIns="0" rIns="0" bIns="0" anchor="t">
            <a:noAutofit/>
          </a:bodyPr>
          <a:lstStyle/>
          <a:p>
            <a:pPr marL="0" marR="0" lvl="0" indent="0" algn="l" defTabSz="457200" rtl="0" eaLnBrk="1" fontAlgn="auto" latinLnBrk="0" hangingPunct="1">
              <a:lnSpc>
                <a:spcPts val="6652"/>
              </a:lnSpc>
              <a:spcBef>
                <a:spcPts val="0"/>
              </a:spcBef>
              <a:spcAft>
                <a:spcPts val="0"/>
              </a:spcAft>
              <a:buClrTx/>
              <a:buSzTx/>
              <a:buFontTx/>
              <a:buNone/>
              <a:tabLst/>
              <a:defRPr/>
            </a:pPr>
            <a:r>
              <a:rPr kumimoji="0" sz="4600" b="0" i="0" u="none" strike="noStrike" kern="1200" cap="none" spc="0" normalizeH="0" baseline="0" noProof="0">
                <a:ln>
                  <a:noFill/>
                </a:ln>
                <a:solidFill>
                  <a:srgbClr val="FFFFFF"/>
                </a:solidFill>
                <a:effectLst/>
                <a:uLnTx/>
                <a:uFillTx/>
                <a:latin typeface="Fira Sans Light"/>
                <a:ea typeface="+mn-ea"/>
                <a:cs typeface="+mn-cs"/>
              </a:rPr>
              <a:t>Thank you</a:t>
            </a:r>
          </a:p>
        </p:txBody>
      </p:sp>
      <p:sp>
        <p:nvSpPr>
          <p:cNvPr id="90" name="Slide Number"/>
          <p:cNvSpPr>
            <a:spLocks noGrp="1"/>
          </p:cNvSpPr>
          <p:nvPr>
            <p:ph type="sldNum" sz="quarter" idx="12"/>
          </p:nvPr>
        </p:nvSpPr>
        <p:spPr>
          <a:xfrm>
            <a:off x="10957251" y="6473952"/>
            <a:ext cx="731702" cy="164592"/>
          </a:xfrm>
        </p:spPr>
        <p:txBody>
          <a:bodyPr lIns="0" tIns="0" rIns="0" bIns="0"/>
          <a:lstStyle/>
          <a:p>
            <a:pPr marL="0" marR="0" lvl="0" indent="0" algn="r" defTabSz="457200" rtl="0" eaLnBrk="1" fontAlgn="auto" latinLnBrk="0" hangingPunct="1">
              <a:lnSpc>
                <a:spcPct val="100000"/>
              </a:lnSpc>
              <a:spcBef>
                <a:spcPts val="0"/>
              </a:spcBef>
              <a:spcAft>
                <a:spcPts val="0"/>
              </a:spcAft>
              <a:buClrTx/>
              <a:buSzTx/>
              <a:buFontTx/>
              <a:buNone/>
              <a:tabLst/>
              <a:defRPr/>
            </a:pPr>
            <a:fld id="{B7C447A1-2E34-4F61-9F55-3C1A0E5D2B10}" type="slidenum">
              <a:rPr kumimoji="0" lang="en-US" sz="950" b="0" i="0" u="none" strike="noStrike" kern="1200" cap="none" spc="0" normalizeH="0" baseline="0" noProof="0" dirty="0">
                <a:ln>
                  <a:noFill/>
                </a:ln>
                <a:solidFill>
                  <a:prstClr val="black">
                    <a:tint val="75000"/>
                  </a:prstClr>
                </a:solidFill>
                <a:effectLst/>
                <a:uLnTx/>
                <a:uFillTx/>
                <a:latin typeface="Fira Mono"/>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950" b="0" i="0" u="none" strike="noStrike" kern="1200" cap="none" spc="0" normalizeH="0" baseline="0" noProof="0">
              <a:ln>
                <a:noFill/>
              </a:ln>
              <a:solidFill>
                <a:prstClr val="black">
                  <a:tint val="75000"/>
                </a:prstClr>
              </a:solidFill>
              <a:effectLst/>
              <a:uLnTx/>
              <a:uFillTx/>
              <a:latin typeface="Fira Mono"/>
              <a:ea typeface="+mn-ea"/>
              <a:cs typeface="+mn-cs"/>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TotalTime>
  <Words>6508</Words>
  <Application>Microsoft Macintosh PowerPoint</Application>
  <PresentationFormat>Widescreen</PresentationFormat>
  <Paragraphs>978</Paragraphs>
  <Slides>44</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Aptos</vt:lpstr>
      <vt:lpstr>Arial</vt:lpstr>
      <vt:lpstr>Calibri</vt:lpstr>
      <vt:lpstr>Fira Mono</vt:lpstr>
      <vt:lpstr>Fira Sans</vt:lpstr>
      <vt:lpstr>Fira Sans Light</vt:lpstr>
      <vt:lpstr>Fira Sans Medium</vt:lpstr>
      <vt:lpstr>Fira Sans SemiBold</vt:lpstr>
      <vt:lpstr>WPP</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Anita Clifford</dc:creator>
  <cp:lastModifiedBy>Anita Clifford</cp:lastModifiedBy>
  <cp:revision>1</cp:revision>
  <dcterms:created xsi:type="dcterms:W3CDTF">2026-09-14T19:45:03Z</dcterms:created>
  <dcterms:modified xsi:type="dcterms:W3CDTF">2026-09-14T19:46:48Z</dcterms:modified>
</cp:coreProperties>
</file>